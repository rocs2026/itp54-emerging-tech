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10287000" cx="18288000"/>
  <p:notesSz cx="6858000" cy="9144000"/>
  <p:embeddedFontLst>
    <p:embeddedFont>
      <p:font typeface="Montserrat SemiBold"/>
      <p:regular r:id="rId31"/>
      <p:bold r:id="rId32"/>
      <p:italic r:id="rId33"/>
      <p:boldItalic r:id="rId34"/>
    </p:embeddedFont>
    <p:embeddedFont>
      <p:font typeface="Raleway"/>
      <p:regular r:id="rId35"/>
      <p:bold r:id="rId36"/>
      <p:italic r:id="rId37"/>
      <p:boldItalic r:id="rId38"/>
    </p:embeddedFont>
    <p:embeddedFont>
      <p:font typeface="Montserrat Black"/>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lack-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SemiBold-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MontserratSemiBold-italic.fntdata"/><Relationship Id="rId10" Type="http://schemas.openxmlformats.org/officeDocument/2006/relationships/slide" Target="slides/slide5.xml"/><Relationship Id="rId32" Type="http://schemas.openxmlformats.org/officeDocument/2006/relationships/font" Target="fonts/MontserratSemiBold-bold.fntdata"/><Relationship Id="rId13" Type="http://schemas.openxmlformats.org/officeDocument/2006/relationships/slide" Target="slides/slide8.xml"/><Relationship Id="rId35" Type="http://schemas.openxmlformats.org/officeDocument/2006/relationships/font" Target="fonts/Raleway-regular.fntdata"/><Relationship Id="rId12" Type="http://schemas.openxmlformats.org/officeDocument/2006/relationships/slide" Target="slides/slide7.xml"/><Relationship Id="rId34" Type="http://schemas.openxmlformats.org/officeDocument/2006/relationships/font" Target="fonts/MontserratSemiBold-boldItalic.fntdata"/><Relationship Id="rId15" Type="http://schemas.openxmlformats.org/officeDocument/2006/relationships/slide" Target="slides/slide10.xml"/><Relationship Id="rId37" Type="http://schemas.openxmlformats.org/officeDocument/2006/relationships/font" Target="fonts/Raleway-italic.fntdata"/><Relationship Id="rId14" Type="http://schemas.openxmlformats.org/officeDocument/2006/relationships/slide" Target="slides/slide9.xml"/><Relationship Id="rId36" Type="http://schemas.openxmlformats.org/officeDocument/2006/relationships/font" Target="fonts/Raleway-bold.fntdata"/><Relationship Id="rId17" Type="http://schemas.openxmlformats.org/officeDocument/2006/relationships/slide" Target="slides/slide12.xml"/><Relationship Id="rId39" Type="http://schemas.openxmlformats.org/officeDocument/2006/relationships/font" Target="fonts/MontserratBlack-bold.fntdata"/><Relationship Id="rId16" Type="http://schemas.openxmlformats.org/officeDocument/2006/relationships/slide" Target="slides/slide11.xml"/><Relationship Id="rId38" Type="http://schemas.openxmlformats.org/officeDocument/2006/relationships/font" Target="fonts/Raleway-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h5abfec9044fb514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h5abfec9044fb5140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h5abfec9044fb5140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h5abfec9044fb5140_0_1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h5abfec9044fb5140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h5abfec9044fb5140_0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5abfec9044fb5140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h5abfec9044fb5140_0_2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h5abfec9044fb5140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h5abfec9044fb5140_0_2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h5abfec9044fb5140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h5abfec9044fb5140_0_2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h5abfec9044fb514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h5abfec9044fb5140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h5abfec9044fb514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h5abfec9044fb5140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h5abfec9044fb514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h5abfec9044fb5140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h5abfec9044fb5140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h5abfec9044fb5140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5abfec9044fb514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h5abfec9044fb5140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h5abfec9044fb5140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h5abfec9044fb5140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h5abfec9044fb5140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h5abfec9044fb5140_0_1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5abfec9044fb514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h5abfec9044fb5140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h5abfec9044fb5140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h5abfec9044fb5140_0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jpg"/><Relationship Id="rId6" Type="http://schemas.openxmlformats.org/officeDocument/2006/relationships/image" Target="../media/image5.jpg"/><Relationship Id="rId7"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jpg"/><Relationship Id="rId6"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jpg"/><Relationship Id="rId6"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jpg"/><Relationship Id="rId6"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jpg"/><Relationship Id="rId6"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jpg"/><Relationship Id="rId6"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jpg"/><Relationship Id="rId6"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jpg"/><Relationship Id="rId6"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jpg"/><Relationship Id="rId6"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jpg"/><Relationship Id="rId6"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jpg"/><Relationship Id="rId6"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83" name="Shape 83"/>
        <p:cNvGrpSpPr/>
        <p:nvPr/>
      </p:nvGrpSpPr>
      <p:grpSpPr>
        <a:xfrm>
          <a:off x="0" y="0"/>
          <a:ext cx="0" cy="0"/>
          <a:chOff x="0" y="0"/>
          <a:chExt cx="0" cy="0"/>
        </a:xfrm>
      </p:grpSpPr>
      <p:grpSp>
        <p:nvGrpSpPr>
          <p:cNvPr id="84" name="Google Shape;84;p13"/>
          <p:cNvGrpSpPr/>
          <p:nvPr/>
        </p:nvGrpSpPr>
        <p:grpSpPr>
          <a:xfrm>
            <a:off x="11756814" y="-548268"/>
            <a:ext cx="6531186" cy="11786439"/>
            <a:chOff x="0" y="-38100"/>
            <a:chExt cx="1720148" cy="3104247"/>
          </a:xfrm>
        </p:grpSpPr>
        <p:sp>
          <p:nvSpPr>
            <p:cNvPr id="85" name="Google Shape;85;p13"/>
            <p:cNvSpPr/>
            <p:nvPr/>
          </p:nvSpPr>
          <p:spPr>
            <a:xfrm>
              <a:off x="0" y="0"/>
              <a:ext cx="1720148" cy="3066147"/>
            </a:xfrm>
            <a:custGeom>
              <a:rect b="b" l="l" r="r" t="t"/>
              <a:pathLst>
                <a:path extrusionOk="0" h="3066147" w="1720148">
                  <a:moveTo>
                    <a:pt x="0" y="0"/>
                  </a:moveTo>
                  <a:lnTo>
                    <a:pt x="1720148" y="0"/>
                  </a:lnTo>
                  <a:lnTo>
                    <a:pt x="1720148" y="3066147"/>
                  </a:lnTo>
                  <a:lnTo>
                    <a:pt x="0" y="3066147"/>
                  </a:lnTo>
                  <a:close/>
                </a:path>
              </a:pathLst>
            </a:custGeom>
            <a:gradFill>
              <a:gsLst>
                <a:gs pos="0">
                  <a:srgbClr val="000000">
                    <a:alpha val="0"/>
                  </a:srgbClr>
                </a:gs>
                <a:gs pos="100000">
                  <a:srgbClr val="000000"/>
                </a:gs>
              </a:gsLst>
              <a:lin ang="0" scaled="0"/>
            </a:gradFill>
            <a:ln>
              <a:noFill/>
            </a:ln>
          </p:spPr>
        </p:sp>
        <p:sp>
          <p:nvSpPr>
            <p:cNvPr id="86" name="Google Shape;86;p13"/>
            <p:cNvSpPr txBox="1"/>
            <p:nvPr/>
          </p:nvSpPr>
          <p:spPr>
            <a:xfrm>
              <a:off x="0" y="-38100"/>
              <a:ext cx="1720148" cy="3104247"/>
            </a:xfrm>
            <a:prstGeom prst="rect">
              <a:avLst/>
            </a:prstGeom>
            <a:noFill/>
            <a:ln>
              <a:noFill/>
            </a:ln>
          </p:spPr>
          <p:txBody>
            <a:bodyPr anchorCtr="0" anchor="ctr" bIns="50800" lIns="50800" spcFirstLastPara="1" rIns="50800" wrap="square" tIns="50800">
              <a:noAutofit/>
            </a:bodyPr>
            <a:lstStyle/>
            <a:p>
              <a:pPr indent="0" lvl="0" marL="0" marR="0" rtl="0" algn="ctr">
                <a:lnSpc>
                  <a:spcPct val="11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 name="Google Shape;87;p13"/>
          <p:cNvSpPr/>
          <p:nvPr/>
        </p:nvSpPr>
        <p:spPr>
          <a:xfrm rot="674092">
            <a:off x="-3513169" y="8339629"/>
            <a:ext cx="19149891" cy="6989710"/>
          </a:xfrm>
          <a:custGeom>
            <a:rect b="b" l="l" r="r" t="t"/>
            <a:pathLst>
              <a:path extrusionOk="0" h="6989710" w="19149891">
                <a:moveTo>
                  <a:pt x="0" y="0"/>
                </a:moveTo>
                <a:lnTo>
                  <a:pt x="19149891" y="0"/>
                </a:lnTo>
                <a:lnTo>
                  <a:pt x="19149891" y="6989710"/>
                </a:lnTo>
                <a:lnTo>
                  <a:pt x="0" y="6989710"/>
                </a:lnTo>
                <a:lnTo>
                  <a:pt x="0" y="0"/>
                </a:lnTo>
                <a:close/>
              </a:path>
            </a:pathLst>
          </a:custGeom>
          <a:blipFill rotWithShape="1">
            <a:blip r:embed="rId3">
              <a:alphaModFix amt="80000"/>
            </a:blip>
            <a:stretch>
              <a:fillRect b="0" l="0" r="0" t="0"/>
            </a:stretch>
          </a:blipFill>
          <a:ln>
            <a:noFill/>
          </a:ln>
        </p:spPr>
      </p:sp>
      <p:sp>
        <p:nvSpPr>
          <p:cNvPr id="88" name="Google Shape;88;p13"/>
          <p:cNvSpPr/>
          <p:nvPr/>
        </p:nvSpPr>
        <p:spPr>
          <a:xfrm rot="-9971081">
            <a:off x="1076036" y="-4819412"/>
            <a:ext cx="19149891" cy="6989710"/>
          </a:xfrm>
          <a:custGeom>
            <a:rect b="b" l="l" r="r" t="t"/>
            <a:pathLst>
              <a:path extrusionOk="0" h="6989710" w="19149891">
                <a:moveTo>
                  <a:pt x="19149891" y="6989710"/>
                </a:moveTo>
                <a:lnTo>
                  <a:pt x="0" y="6989710"/>
                </a:lnTo>
                <a:lnTo>
                  <a:pt x="0" y="0"/>
                </a:lnTo>
                <a:lnTo>
                  <a:pt x="19149891" y="0"/>
                </a:lnTo>
                <a:lnTo>
                  <a:pt x="19149891" y="6989710"/>
                </a:lnTo>
                <a:close/>
              </a:path>
            </a:pathLst>
          </a:custGeom>
          <a:blipFill rotWithShape="1">
            <a:blip r:embed="rId3">
              <a:alphaModFix amt="43000"/>
            </a:blip>
            <a:stretch>
              <a:fillRect b="0" l="0" r="0" t="0"/>
            </a:stretch>
          </a:blipFill>
          <a:ln>
            <a:noFill/>
          </a:ln>
        </p:spPr>
      </p:sp>
      <p:sp>
        <p:nvSpPr>
          <p:cNvPr id="89" name="Google Shape;89;p13"/>
          <p:cNvSpPr/>
          <p:nvPr/>
        </p:nvSpPr>
        <p:spPr>
          <a:xfrm>
            <a:off x="2076543" y="1776216"/>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sp>
        <p:nvSpPr>
          <p:cNvPr id="90" name="Google Shape;90;p13"/>
          <p:cNvSpPr txBox="1"/>
          <p:nvPr/>
        </p:nvSpPr>
        <p:spPr>
          <a:xfrm>
            <a:off x="1971793" y="3076092"/>
            <a:ext cx="9506100" cy="32352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11062" u="none" cap="none" strike="noStrike">
                <a:solidFill>
                  <a:srgbClr val="FFFFFF"/>
                </a:solidFill>
                <a:latin typeface="Montserrat SemiBold"/>
                <a:ea typeface="Montserrat SemiBold"/>
                <a:cs typeface="Montserrat SemiBold"/>
                <a:sym typeface="Montserrat SemiBold"/>
              </a:rPr>
              <a:t>Internet of Things</a:t>
            </a:r>
            <a:endParaRPr/>
          </a:p>
        </p:txBody>
      </p:sp>
      <p:sp>
        <p:nvSpPr>
          <p:cNvPr id="91" name="Google Shape;91;p13"/>
          <p:cNvSpPr txBox="1"/>
          <p:nvPr/>
        </p:nvSpPr>
        <p:spPr>
          <a:xfrm>
            <a:off x="2076543" y="7622986"/>
            <a:ext cx="5482510" cy="483279"/>
          </a:xfrm>
          <a:prstGeom prst="rect">
            <a:avLst/>
          </a:prstGeom>
          <a:noFill/>
          <a:ln>
            <a:noFill/>
          </a:ln>
        </p:spPr>
        <p:txBody>
          <a:bodyPr anchorCtr="0" anchor="t" bIns="0" lIns="0" spcFirstLastPara="1" rIns="0" wrap="square" tIns="0">
            <a:spAutoFit/>
          </a:bodyPr>
          <a:lstStyle/>
          <a:p>
            <a:pPr indent="0" lvl="0" marL="0" marR="0" rtl="0" algn="l">
              <a:lnSpc>
                <a:spcPct val="94975"/>
              </a:lnSpc>
              <a:spcBef>
                <a:spcPts val="0"/>
              </a:spcBef>
              <a:spcAft>
                <a:spcPts val="0"/>
              </a:spcAft>
              <a:buNone/>
            </a:pPr>
            <a:r>
              <a:rPr b="0" i="1" lang="en-US" sz="3682" u="none" cap="none" strike="noStrike">
                <a:solidFill>
                  <a:srgbClr val="FFFFFF"/>
                </a:solidFill>
                <a:latin typeface="Raleway"/>
                <a:ea typeface="Raleway"/>
                <a:cs typeface="Raleway"/>
                <a:sym typeface="Raleway"/>
              </a:rPr>
              <a:t>Transforming the Future</a:t>
            </a:r>
            <a:endParaRPr/>
          </a:p>
        </p:txBody>
      </p:sp>
      <p:sp>
        <p:nvSpPr>
          <p:cNvPr id="92" name="Google Shape;92;p13"/>
          <p:cNvSpPr txBox="1"/>
          <p:nvPr/>
        </p:nvSpPr>
        <p:spPr>
          <a:xfrm>
            <a:off x="2076543" y="5951268"/>
            <a:ext cx="9506012" cy="1427564"/>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1" i="0" lang="en-US" sz="11062" u="none" cap="none" strike="noStrike">
                <a:solidFill>
                  <a:srgbClr val="36E9FD"/>
                </a:solidFill>
                <a:latin typeface="Montserrat Black"/>
                <a:ea typeface="Montserrat Black"/>
                <a:cs typeface="Montserrat Black"/>
                <a:sym typeface="Montserrat Black"/>
              </a:rPr>
              <a:t>(IoT)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96" name="Shape 96"/>
        <p:cNvGrpSpPr/>
        <p:nvPr/>
      </p:nvGrpSpPr>
      <p:grpSpPr>
        <a:xfrm>
          <a:off x="0" y="0"/>
          <a:ext cx="0" cy="0"/>
          <a:chOff x="0" y="0"/>
          <a:chExt cx="0" cy="0"/>
        </a:xfrm>
      </p:grpSpPr>
      <p:sp>
        <p:nvSpPr>
          <p:cNvPr id="97" name="Google Shape;97;p14"/>
          <p:cNvSpPr/>
          <p:nvPr/>
        </p:nvSpPr>
        <p:spPr>
          <a:xfrm rot="1572293">
            <a:off x="-5799371" y="6668368"/>
            <a:ext cx="19149891" cy="6989710"/>
          </a:xfrm>
          <a:custGeom>
            <a:rect b="b" l="l" r="r" t="t"/>
            <a:pathLst>
              <a:path extrusionOk="0" h="6989710" w="19149891">
                <a:moveTo>
                  <a:pt x="0" y="0"/>
                </a:moveTo>
                <a:lnTo>
                  <a:pt x="19149891" y="0"/>
                </a:lnTo>
                <a:lnTo>
                  <a:pt x="19149891" y="6989710"/>
                </a:lnTo>
                <a:lnTo>
                  <a:pt x="0" y="6989710"/>
                </a:lnTo>
                <a:lnTo>
                  <a:pt x="0" y="0"/>
                </a:lnTo>
                <a:close/>
              </a:path>
            </a:pathLst>
          </a:custGeom>
          <a:blipFill rotWithShape="1">
            <a:blip r:embed="rId3">
              <a:alphaModFix amt="80000"/>
            </a:blip>
            <a:stretch>
              <a:fillRect b="0" l="0" r="0" t="0"/>
            </a:stretch>
          </a:blipFill>
          <a:ln>
            <a:noFill/>
          </a:ln>
        </p:spPr>
      </p:sp>
      <p:sp>
        <p:nvSpPr>
          <p:cNvPr id="98" name="Google Shape;98;p14"/>
          <p:cNvSpPr/>
          <p:nvPr/>
        </p:nvSpPr>
        <p:spPr>
          <a:xfrm>
            <a:off x="2052822" y="3071015"/>
            <a:ext cx="3970782" cy="8229600"/>
          </a:xfrm>
          <a:custGeom>
            <a:rect b="b" l="l" r="r" t="t"/>
            <a:pathLst>
              <a:path extrusionOk="0" h="8229600" w="3970782">
                <a:moveTo>
                  <a:pt x="0" y="0"/>
                </a:moveTo>
                <a:lnTo>
                  <a:pt x="3970782" y="0"/>
                </a:lnTo>
                <a:lnTo>
                  <a:pt x="3970782" y="8229600"/>
                </a:lnTo>
                <a:lnTo>
                  <a:pt x="0" y="8229600"/>
                </a:lnTo>
                <a:lnTo>
                  <a:pt x="0" y="0"/>
                </a:lnTo>
                <a:close/>
              </a:path>
            </a:pathLst>
          </a:custGeom>
          <a:blipFill rotWithShape="1">
            <a:blip r:embed="rId4">
              <a:alphaModFix/>
            </a:blip>
            <a:stretch>
              <a:fillRect b="0" l="0" r="0" t="0"/>
            </a:stretch>
          </a:blipFill>
          <a:ln>
            <a:noFill/>
          </a:ln>
        </p:spPr>
      </p:sp>
      <p:sp>
        <p:nvSpPr>
          <p:cNvPr id="99" name="Google Shape;99;p14"/>
          <p:cNvSpPr/>
          <p:nvPr/>
        </p:nvSpPr>
        <p:spPr>
          <a:xfrm>
            <a:off x="3775575" y="2080415"/>
            <a:ext cx="2691369" cy="2691369"/>
          </a:xfrm>
          <a:custGeom>
            <a:rect b="b" l="l" r="r" t="t"/>
            <a:pathLst>
              <a:path extrusionOk="0" h="2691369" w="2691369">
                <a:moveTo>
                  <a:pt x="0" y="0"/>
                </a:moveTo>
                <a:lnTo>
                  <a:pt x="2691368" y="0"/>
                </a:lnTo>
                <a:lnTo>
                  <a:pt x="2691368" y="2691368"/>
                </a:lnTo>
                <a:lnTo>
                  <a:pt x="0" y="2691368"/>
                </a:lnTo>
                <a:lnTo>
                  <a:pt x="0" y="0"/>
                </a:lnTo>
                <a:close/>
              </a:path>
            </a:pathLst>
          </a:custGeom>
          <a:blipFill rotWithShape="1">
            <a:blip r:embed="rId5">
              <a:alphaModFix/>
            </a:blip>
            <a:stretch>
              <a:fillRect b="0" l="0" r="0" t="0"/>
            </a:stretch>
          </a:blipFill>
          <a:ln>
            <a:noFill/>
          </a:ln>
        </p:spPr>
      </p:sp>
      <p:sp>
        <p:nvSpPr>
          <p:cNvPr id="100" name="Google Shape;100;p14"/>
          <p:cNvSpPr/>
          <p:nvPr/>
        </p:nvSpPr>
        <p:spPr>
          <a:xfrm flipH="1" rot="-9227707">
            <a:off x="8920761" y="-3494855"/>
            <a:ext cx="19149891" cy="6989710"/>
          </a:xfrm>
          <a:custGeom>
            <a:rect b="b" l="l" r="r" t="t"/>
            <a:pathLst>
              <a:path extrusionOk="0" h="6989710" w="19149891">
                <a:moveTo>
                  <a:pt x="0" y="6989710"/>
                </a:moveTo>
                <a:lnTo>
                  <a:pt x="19149891" y="6989710"/>
                </a:lnTo>
                <a:lnTo>
                  <a:pt x="19149891" y="0"/>
                </a:lnTo>
                <a:lnTo>
                  <a:pt x="0" y="0"/>
                </a:lnTo>
                <a:lnTo>
                  <a:pt x="0" y="6989710"/>
                </a:lnTo>
                <a:close/>
              </a:path>
            </a:pathLst>
          </a:custGeom>
          <a:blipFill rotWithShape="1">
            <a:blip r:embed="rId3">
              <a:alphaModFix amt="80000"/>
            </a:blip>
            <a:stretch>
              <a:fillRect b="0" l="0" r="0" t="0"/>
            </a:stretch>
          </a:blipFill>
          <a:ln>
            <a:noFill/>
          </a:ln>
        </p:spPr>
      </p:sp>
      <p:sp>
        <p:nvSpPr>
          <p:cNvPr id="101" name="Google Shape;101;p14"/>
          <p:cNvSpPr/>
          <p:nvPr/>
        </p:nvSpPr>
        <p:spPr>
          <a:xfrm>
            <a:off x="6837952" y="1559054"/>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6">
              <a:alphaModFix/>
            </a:blip>
            <a:stretch>
              <a:fillRect b="0" l="0" r="0" t="0"/>
            </a:stretch>
          </a:blipFill>
          <a:ln>
            <a:noFill/>
          </a:ln>
        </p:spPr>
      </p:sp>
      <p:sp>
        <p:nvSpPr>
          <p:cNvPr id="102" name="Google Shape;102;p14"/>
          <p:cNvSpPr txBox="1"/>
          <p:nvPr/>
        </p:nvSpPr>
        <p:spPr>
          <a:xfrm>
            <a:off x="7867123" y="1230315"/>
            <a:ext cx="7365900" cy="1863300"/>
          </a:xfrm>
          <a:prstGeom prst="rect">
            <a:avLst/>
          </a:prstGeom>
          <a:noFill/>
          <a:ln>
            <a:noFill/>
          </a:ln>
        </p:spPr>
        <p:txBody>
          <a:bodyPr anchorCtr="0" anchor="t" bIns="0" lIns="0" spcFirstLastPara="1" rIns="0" wrap="square" tIns="0">
            <a:spAutoFit/>
          </a:bodyPr>
          <a:lstStyle/>
          <a:p>
            <a:pPr indent="0" lvl="0" marL="0" marR="0" rtl="0" algn="l">
              <a:lnSpc>
                <a:spcPct val="94995"/>
              </a:lnSpc>
              <a:spcBef>
                <a:spcPts val="0"/>
              </a:spcBef>
              <a:spcAft>
                <a:spcPts val="0"/>
              </a:spcAft>
              <a:buNone/>
            </a:pPr>
            <a:r>
              <a:rPr b="1" i="0" lang="en-US" sz="6372" u="none" cap="none" strike="noStrike">
                <a:solidFill>
                  <a:srgbClr val="FFFFFF"/>
                </a:solidFill>
                <a:latin typeface="Montserrat SemiBold"/>
                <a:ea typeface="Montserrat SemiBold"/>
                <a:cs typeface="Montserrat SemiBold"/>
                <a:sym typeface="Montserrat SemiBold"/>
              </a:rPr>
              <a:t>What is Inte</a:t>
            </a:r>
            <a:r>
              <a:rPr b="1" lang="en-US" sz="6372">
                <a:solidFill>
                  <a:srgbClr val="FFFFFF"/>
                </a:solidFill>
                <a:latin typeface="Montserrat SemiBold"/>
                <a:ea typeface="Montserrat SemiBold"/>
                <a:cs typeface="Montserrat SemiBold"/>
                <a:sym typeface="Montserrat SemiBold"/>
              </a:rPr>
              <a:t>rnet of Things</a:t>
            </a:r>
            <a:r>
              <a:rPr b="1" i="0" lang="en-US" sz="6372" u="none" cap="none" strike="noStrike">
                <a:solidFill>
                  <a:srgbClr val="FFFFFF"/>
                </a:solidFill>
                <a:latin typeface="Montserrat SemiBold"/>
                <a:ea typeface="Montserrat SemiBold"/>
                <a:cs typeface="Montserrat SemiBold"/>
                <a:sym typeface="Montserrat SemiBold"/>
              </a:rPr>
              <a:t>(Iot)</a:t>
            </a:r>
            <a:endParaRPr sz="100"/>
          </a:p>
        </p:txBody>
      </p:sp>
      <p:sp>
        <p:nvSpPr>
          <p:cNvPr id="103" name="Google Shape;103;p14"/>
          <p:cNvSpPr txBox="1"/>
          <p:nvPr/>
        </p:nvSpPr>
        <p:spPr>
          <a:xfrm>
            <a:off x="7852623" y="3343471"/>
            <a:ext cx="8533500" cy="5861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i="1" lang="en-US" sz="2573">
                <a:solidFill>
                  <a:srgbClr val="FFFFFF"/>
                </a:solidFill>
                <a:latin typeface="Raleway"/>
                <a:ea typeface="Raleway"/>
                <a:cs typeface="Raleway"/>
                <a:sym typeface="Raleway"/>
              </a:rPr>
              <a:t>concept of the connected physical devices or appliances through the</a:t>
            </a:r>
            <a:endParaRPr i="1" sz="2573">
              <a:solidFill>
                <a:srgbClr val="FFFFFF"/>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i="1" lang="en-US" sz="2573">
                <a:solidFill>
                  <a:srgbClr val="FFFFFF"/>
                </a:solidFill>
                <a:latin typeface="Raleway"/>
                <a:ea typeface="Raleway"/>
                <a:cs typeface="Raleway"/>
                <a:sym typeface="Raleway"/>
              </a:rPr>
              <a:t>Internet. In other words, the network of connected devices such as</a:t>
            </a:r>
            <a:endParaRPr i="1" sz="2573">
              <a:solidFill>
                <a:srgbClr val="FFFFFF"/>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i="1" lang="en-US" sz="2573">
                <a:solidFill>
                  <a:srgbClr val="FFFFFF"/>
                </a:solidFill>
                <a:latin typeface="Raleway"/>
                <a:ea typeface="Raleway"/>
                <a:cs typeface="Raleway"/>
                <a:sym typeface="Raleway"/>
              </a:rPr>
              <a:t>home appliances, office equipment, industrial machines, motor</a:t>
            </a:r>
            <a:endParaRPr i="1" sz="2573">
              <a:solidFill>
                <a:srgbClr val="FFFFFF"/>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i="1" lang="en-US" sz="2573">
                <a:solidFill>
                  <a:srgbClr val="FFFFFF"/>
                </a:solidFill>
                <a:latin typeface="Raleway"/>
                <a:ea typeface="Raleway"/>
                <a:cs typeface="Raleway"/>
                <a:sym typeface="Raleway"/>
              </a:rPr>
              <a:t>vehicles, and many such types of things that can be controlled through</a:t>
            </a:r>
            <a:endParaRPr i="1" sz="2573">
              <a:solidFill>
                <a:srgbClr val="FFFFFF"/>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i="1" lang="en-US" sz="2573">
                <a:solidFill>
                  <a:srgbClr val="FFFFFF"/>
                </a:solidFill>
                <a:latin typeface="Raleway"/>
                <a:ea typeface="Raleway"/>
                <a:cs typeface="Raleway"/>
                <a:sym typeface="Raleway"/>
              </a:rPr>
              <a:t>built-in embedded software applications through the</a:t>
            </a:r>
            <a:endParaRPr i="1" sz="2573">
              <a:solidFill>
                <a:srgbClr val="FFFFFF"/>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i="1" lang="en-US" sz="2573">
                <a:solidFill>
                  <a:srgbClr val="FFFFFF"/>
                </a:solidFill>
                <a:latin typeface="Raleway"/>
                <a:ea typeface="Raleway"/>
                <a:cs typeface="Raleway"/>
                <a:sym typeface="Raleway"/>
              </a:rPr>
              <a:t>intercommunication with mobile applications or other centralized</a:t>
            </a:r>
            <a:endParaRPr i="1" sz="2573">
              <a:solidFill>
                <a:srgbClr val="FFFFFF"/>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i="1" lang="en-US" sz="2573">
                <a:solidFill>
                  <a:srgbClr val="FFFFFF"/>
                </a:solidFill>
                <a:latin typeface="Raleway"/>
                <a:ea typeface="Raleway"/>
                <a:cs typeface="Raleway"/>
                <a:sym typeface="Raleway"/>
              </a:rPr>
              <a:t>platforms.</a:t>
            </a:r>
            <a:endParaRPr i="1" sz="2573">
              <a:solidFill>
                <a:srgbClr val="FFFFFF"/>
              </a:solidFill>
              <a:latin typeface="Raleway"/>
              <a:ea typeface="Raleway"/>
              <a:cs typeface="Raleway"/>
              <a:sym typeface="Raleway"/>
            </a:endParaRPr>
          </a:p>
          <a:p>
            <a:pPr indent="0" lvl="0" marL="0" marR="0" rtl="0" algn="l">
              <a:lnSpc>
                <a:spcPct val="115000"/>
              </a:lnSpc>
              <a:spcBef>
                <a:spcPts val="0"/>
              </a:spcBef>
              <a:spcAft>
                <a:spcPts val="0"/>
              </a:spcAft>
              <a:buNone/>
            </a:pPr>
            <a:r>
              <a:t/>
            </a:r>
            <a:endParaRPr i="1" sz="2573">
              <a:solidFill>
                <a:srgbClr val="FFFFFF"/>
              </a:solidFill>
              <a:latin typeface="Raleway"/>
              <a:ea typeface="Raleway"/>
              <a:cs typeface="Raleway"/>
              <a:sym typeface="Raleway"/>
            </a:endParaRPr>
          </a:p>
        </p:txBody>
      </p:sp>
      <p:sp>
        <p:nvSpPr>
          <p:cNvPr id="104" name="Google Shape;104;p14"/>
          <p:cNvSpPr txBox="1"/>
          <p:nvPr/>
        </p:nvSpPr>
        <p:spPr>
          <a:xfrm>
            <a:off x="1300724" y="1599114"/>
            <a:ext cx="1074675" cy="515778"/>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108" name="Shape 108"/>
        <p:cNvGrpSpPr/>
        <p:nvPr/>
      </p:nvGrpSpPr>
      <p:grpSpPr>
        <a:xfrm>
          <a:off x="0" y="0"/>
          <a:ext cx="0" cy="0"/>
          <a:chOff x="0" y="0"/>
          <a:chExt cx="0" cy="0"/>
        </a:xfrm>
      </p:grpSpPr>
      <p:sp>
        <p:nvSpPr>
          <p:cNvPr id="109" name="Google Shape;109;p15"/>
          <p:cNvSpPr/>
          <p:nvPr/>
        </p:nvSpPr>
        <p:spPr>
          <a:xfrm rot="1572293">
            <a:off x="-5799371" y="6668368"/>
            <a:ext cx="19149891" cy="6989710"/>
          </a:xfrm>
          <a:custGeom>
            <a:rect b="b" l="l" r="r" t="t"/>
            <a:pathLst>
              <a:path extrusionOk="0" h="6989710" w="19149891">
                <a:moveTo>
                  <a:pt x="0" y="0"/>
                </a:moveTo>
                <a:lnTo>
                  <a:pt x="19149891" y="0"/>
                </a:lnTo>
                <a:lnTo>
                  <a:pt x="19149891" y="6989710"/>
                </a:lnTo>
                <a:lnTo>
                  <a:pt x="0" y="6989710"/>
                </a:lnTo>
                <a:lnTo>
                  <a:pt x="0" y="0"/>
                </a:lnTo>
                <a:close/>
              </a:path>
            </a:pathLst>
          </a:custGeom>
          <a:blipFill rotWithShape="1">
            <a:blip r:embed="rId3">
              <a:alphaModFix amt="80000"/>
            </a:blip>
            <a:stretch>
              <a:fillRect b="0" l="0" r="0" t="0"/>
            </a:stretch>
          </a:blipFill>
          <a:ln>
            <a:noFill/>
          </a:ln>
        </p:spPr>
      </p:sp>
      <p:sp>
        <p:nvSpPr>
          <p:cNvPr id="110" name="Google Shape;110;p15"/>
          <p:cNvSpPr/>
          <p:nvPr/>
        </p:nvSpPr>
        <p:spPr>
          <a:xfrm>
            <a:off x="2052822" y="3071015"/>
            <a:ext cx="3970782" cy="8229600"/>
          </a:xfrm>
          <a:custGeom>
            <a:rect b="b" l="l" r="r" t="t"/>
            <a:pathLst>
              <a:path extrusionOk="0" h="8229600" w="3970782">
                <a:moveTo>
                  <a:pt x="0" y="0"/>
                </a:moveTo>
                <a:lnTo>
                  <a:pt x="3970782" y="0"/>
                </a:lnTo>
                <a:lnTo>
                  <a:pt x="3970782" y="8229600"/>
                </a:lnTo>
                <a:lnTo>
                  <a:pt x="0" y="8229600"/>
                </a:lnTo>
                <a:lnTo>
                  <a:pt x="0" y="0"/>
                </a:lnTo>
                <a:close/>
              </a:path>
            </a:pathLst>
          </a:custGeom>
          <a:blipFill rotWithShape="1">
            <a:blip r:embed="rId4">
              <a:alphaModFix/>
            </a:blip>
            <a:stretch>
              <a:fillRect b="0" l="0" r="0" t="0"/>
            </a:stretch>
          </a:blipFill>
          <a:ln>
            <a:noFill/>
          </a:ln>
        </p:spPr>
      </p:sp>
      <p:sp>
        <p:nvSpPr>
          <p:cNvPr id="111" name="Google Shape;111;p15"/>
          <p:cNvSpPr/>
          <p:nvPr/>
        </p:nvSpPr>
        <p:spPr>
          <a:xfrm>
            <a:off x="3775575" y="2080415"/>
            <a:ext cx="2691369" cy="2691369"/>
          </a:xfrm>
          <a:custGeom>
            <a:rect b="b" l="l" r="r" t="t"/>
            <a:pathLst>
              <a:path extrusionOk="0" h="2691369" w="2691369">
                <a:moveTo>
                  <a:pt x="0" y="0"/>
                </a:moveTo>
                <a:lnTo>
                  <a:pt x="2691368" y="0"/>
                </a:lnTo>
                <a:lnTo>
                  <a:pt x="2691368" y="2691368"/>
                </a:lnTo>
                <a:lnTo>
                  <a:pt x="0" y="2691368"/>
                </a:lnTo>
                <a:lnTo>
                  <a:pt x="0" y="0"/>
                </a:lnTo>
                <a:close/>
              </a:path>
            </a:pathLst>
          </a:custGeom>
          <a:blipFill rotWithShape="1">
            <a:blip r:embed="rId5">
              <a:alphaModFix/>
            </a:blip>
            <a:stretch>
              <a:fillRect b="0" l="0" r="0" t="0"/>
            </a:stretch>
          </a:blipFill>
          <a:ln>
            <a:noFill/>
          </a:ln>
        </p:spPr>
      </p:sp>
      <p:sp>
        <p:nvSpPr>
          <p:cNvPr id="112" name="Google Shape;112;p15"/>
          <p:cNvSpPr/>
          <p:nvPr/>
        </p:nvSpPr>
        <p:spPr>
          <a:xfrm flipH="1" rot="-9227707">
            <a:off x="8920761" y="-3494855"/>
            <a:ext cx="19149891" cy="6989710"/>
          </a:xfrm>
          <a:custGeom>
            <a:rect b="b" l="l" r="r" t="t"/>
            <a:pathLst>
              <a:path extrusionOk="0" h="6989710" w="19149891">
                <a:moveTo>
                  <a:pt x="0" y="6989710"/>
                </a:moveTo>
                <a:lnTo>
                  <a:pt x="19149891" y="6989710"/>
                </a:lnTo>
                <a:lnTo>
                  <a:pt x="19149891" y="0"/>
                </a:lnTo>
                <a:lnTo>
                  <a:pt x="0" y="0"/>
                </a:lnTo>
                <a:lnTo>
                  <a:pt x="0" y="6989710"/>
                </a:lnTo>
                <a:close/>
              </a:path>
            </a:pathLst>
          </a:custGeom>
          <a:blipFill rotWithShape="1">
            <a:blip r:embed="rId3">
              <a:alphaModFix amt="80000"/>
            </a:blip>
            <a:stretch>
              <a:fillRect b="0" l="0" r="0" t="0"/>
            </a:stretch>
          </a:blipFill>
          <a:ln>
            <a:noFill/>
          </a:ln>
        </p:spPr>
      </p:sp>
      <p:sp>
        <p:nvSpPr>
          <p:cNvPr id="113" name="Google Shape;113;p15"/>
          <p:cNvSpPr/>
          <p:nvPr/>
        </p:nvSpPr>
        <p:spPr>
          <a:xfrm>
            <a:off x="6635623" y="1578083"/>
            <a:ext cx="658167" cy="595940"/>
          </a:xfrm>
          <a:custGeom>
            <a:rect b="b" l="l" r="r" t="t"/>
            <a:pathLst>
              <a:path extrusionOk="0" h="595940" w="658167">
                <a:moveTo>
                  <a:pt x="0" y="0"/>
                </a:moveTo>
                <a:lnTo>
                  <a:pt x="658166" y="0"/>
                </a:lnTo>
                <a:lnTo>
                  <a:pt x="658166" y="595940"/>
                </a:lnTo>
                <a:lnTo>
                  <a:pt x="0" y="595940"/>
                </a:lnTo>
                <a:lnTo>
                  <a:pt x="0" y="0"/>
                </a:lnTo>
                <a:close/>
              </a:path>
            </a:pathLst>
          </a:custGeom>
          <a:blipFill rotWithShape="1">
            <a:blip r:embed="rId6">
              <a:alphaModFix/>
            </a:blip>
            <a:stretch>
              <a:fillRect b="0" l="0" r="0" t="0"/>
            </a:stretch>
          </a:blipFill>
          <a:ln>
            <a:noFill/>
          </a:ln>
        </p:spPr>
      </p:sp>
      <p:sp>
        <p:nvSpPr>
          <p:cNvPr id="114" name="Google Shape;114;p15"/>
          <p:cNvSpPr txBox="1"/>
          <p:nvPr/>
        </p:nvSpPr>
        <p:spPr>
          <a:xfrm>
            <a:off x="7945523" y="1536536"/>
            <a:ext cx="8344500" cy="1629600"/>
          </a:xfrm>
          <a:prstGeom prst="rect">
            <a:avLst/>
          </a:prstGeom>
          <a:noFill/>
          <a:ln>
            <a:noFill/>
          </a:ln>
        </p:spPr>
        <p:txBody>
          <a:bodyPr anchorCtr="0" anchor="t" bIns="0" lIns="0" spcFirstLastPara="1" rIns="0" wrap="square" tIns="0">
            <a:spAutoFit/>
          </a:bodyPr>
          <a:lstStyle/>
          <a:p>
            <a:pPr indent="0" lvl="0" marL="0" marR="0" rtl="0" algn="l">
              <a:lnSpc>
                <a:spcPct val="94995"/>
              </a:lnSpc>
              <a:spcBef>
                <a:spcPts val="0"/>
              </a:spcBef>
              <a:spcAft>
                <a:spcPts val="0"/>
              </a:spcAft>
              <a:buNone/>
            </a:pPr>
            <a:r>
              <a:rPr b="1" i="0" lang="en-US" sz="5572" u="none" cap="none" strike="noStrike">
                <a:solidFill>
                  <a:srgbClr val="FFFFFF"/>
                </a:solidFill>
                <a:latin typeface="Montserrat SemiBold"/>
                <a:ea typeface="Montserrat SemiBold"/>
                <a:cs typeface="Montserrat SemiBold"/>
                <a:sym typeface="Montserrat SemiBold"/>
              </a:rPr>
              <a:t>Importance of</a:t>
            </a:r>
            <a:r>
              <a:rPr b="1" lang="en-US" sz="5572">
                <a:solidFill>
                  <a:srgbClr val="FFFFFF"/>
                </a:solidFill>
                <a:latin typeface="Montserrat SemiBold"/>
                <a:ea typeface="Montserrat SemiBold"/>
                <a:cs typeface="Montserrat SemiBold"/>
                <a:sym typeface="Montserrat SemiBold"/>
              </a:rPr>
              <a:t> Internet of Things(IoT)</a:t>
            </a:r>
            <a:endParaRPr sz="300"/>
          </a:p>
        </p:txBody>
      </p:sp>
      <p:sp>
        <p:nvSpPr>
          <p:cNvPr id="115" name="Google Shape;115;p15"/>
          <p:cNvSpPr txBox="1"/>
          <p:nvPr/>
        </p:nvSpPr>
        <p:spPr>
          <a:xfrm>
            <a:off x="7945523" y="3968321"/>
            <a:ext cx="8533500" cy="5469900"/>
          </a:xfrm>
          <a:prstGeom prst="rect">
            <a:avLst/>
          </a:prstGeom>
          <a:noFill/>
          <a:ln>
            <a:noFill/>
          </a:ln>
        </p:spPr>
        <p:txBody>
          <a:bodyPr anchorCtr="0" anchor="t" bIns="0" lIns="0" spcFirstLastPara="1" rIns="0" wrap="square" tIns="0">
            <a:spAutoFit/>
          </a:bodyPr>
          <a:lstStyle/>
          <a:p>
            <a:pPr indent="0" lvl="0" marL="0" marR="0" rtl="0" algn="l">
              <a:lnSpc>
                <a:spcPct val="183015"/>
              </a:lnSpc>
              <a:spcBef>
                <a:spcPts val="0"/>
              </a:spcBef>
              <a:spcAft>
                <a:spcPts val="0"/>
              </a:spcAft>
              <a:buNone/>
            </a:pPr>
            <a:r>
              <a:rPr b="0" i="1" lang="en-US" sz="2573" u="none" cap="none" strike="noStrike">
                <a:solidFill>
                  <a:srgbClr val="FFFFFF"/>
                </a:solidFill>
                <a:latin typeface="Raleway"/>
                <a:ea typeface="Raleway"/>
                <a:cs typeface="Raleway"/>
                <a:sym typeface="Raleway"/>
              </a:rPr>
              <a:t>IoT encompasses more than just physical device connections to the internet; it also plays a role in human daily activities. such as:</a:t>
            </a:r>
            <a:endParaRPr/>
          </a:p>
          <a:p>
            <a:pPr indent="-277819" lvl="1" marL="555638" marR="0" rtl="0" algn="l">
              <a:lnSpc>
                <a:spcPct val="183015"/>
              </a:lnSpc>
              <a:spcBef>
                <a:spcPts val="0"/>
              </a:spcBef>
              <a:spcAft>
                <a:spcPts val="0"/>
              </a:spcAft>
              <a:buClr>
                <a:srgbClr val="FFFFFF"/>
              </a:buClr>
              <a:buSzPts val="2573"/>
              <a:buFont typeface="Arial"/>
              <a:buChar char="•"/>
            </a:pPr>
            <a:r>
              <a:rPr b="0" i="1" lang="en-US" sz="2573" u="none" cap="none" strike="noStrike">
                <a:solidFill>
                  <a:srgbClr val="FFFFFF"/>
                </a:solidFill>
                <a:latin typeface="Raleway"/>
                <a:ea typeface="Raleway"/>
                <a:cs typeface="Raleway"/>
                <a:sym typeface="Raleway"/>
              </a:rPr>
              <a:t>Efficiency</a:t>
            </a:r>
            <a:endParaRPr/>
          </a:p>
          <a:p>
            <a:pPr indent="-277819" lvl="1" marL="555638" marR="0" rtl="0" algn="l">
              <a:lnSpc>
                <a:spcPct val="183015"/>
              </a:lnSpc>
              <a:spcBef>
                <a:spcPts val="0"/>
              </a:spcBef>
              <a:spcAft>
                <a:spcPts val="0"/>
              </a:spcAft>
              <a:buClr>
                <a:srgbClr val="FFFFFF"/>
              </a:buClr>
              <a:buSzPts val="2573"/>
              <a:buFont typeface="Arial"/>
              <a:buChar char="•"/>
            </a:pPr>
            <a:r>
              <a:rPr b="0" i="1" lang="en-US" sz="2573" u="none" cap="none" strike="noStrike">
                <a:solidFill>
                  <a:srgbClr val="FFFFFF"/>
                </a:solidFill>
                <a:latin typeface="Raleway"/>
                <a:ea typeface="Raleway"/>
                <a:cs typeface="Raleway"/>
                <a:sym typeface="Raleway"/>
              </a:rPr>
              <a:t>Reduces Costs</a:t>
            </a:r>
            <a:endParaRPr/>
          </a:p>
          <a:p>
            <a:pPr indent="-277819" lvl="1" marL="555638" marR="0" rtl="0" algn="l">
              <a:lnSpc>
                <a:spcPct val="183015"/>
              </a:lnSpc>
              <a:spcBef>
                <a:spcPts val="0"/>
              </a:spcBef>
              <a:spcAft>
                <a:spcPts val="0"/>
              </a:spcAft>
              <a:buClr>
                <a:srgbClr val="FFFFFF"/>
              </a:buClr>
              <a:buSzPts val="2573"/>
              <a:buFont typeface="Arial"/>
              <a:buChar char="•"/>
            </a:pPr>
            <a:r>
              <a:rPr b="0" i="1" lang="en-US" sz="2573" u="none" cap="none" strike="noStrike">
                <a:solidFill>
                  <a:srgbClr val="FFFFFF"/>
                </a:solidFill>
                <a:latin typeface="Raleway"/>
                <a:ea typeface="Raleway"/>
                <a:cs typeface="Raleway"/>
                <a:sym typeface="Raleway"/>
              </a:rPr>
              <a:t>Enhances Quality of Life</a:t>
            </a:r>
            <a:endParaRPr/>
          </a:p>
          <a:p>
            <a:pPr indent="-277819" lvl="1" marL="555638" marR="0" rtl="0" algn="l">
              <a:lnSpc>
                <a:spcPct val="183015"/>
              </a:lnSpc>
              <a:spcBef>
                <a:spcPts val="0"/>
              </a:spcBef>
              <a:spcAft>
                <a:spcPts val="0"/>
              </a:spcAft>
              <a:buClr>
                <a:srgbClr val="FFFFFF"/>
              </a:buClr>
              <a:buSzPts val="2573"/>
              <a:buFont typeface="Arial"/>
              <a:buChar char="•"/>
            </a:pPr>
            <a:r>
              <a:rPr b="0" i="1" lang="en-US" sz="2573" u="none" cap="none" strike="noStrike">
                <a:solidFill>
                  <a:srgbClr val="FFFFFF"/>
                </a:solidFill>
                <a:latin typeface="Raleway"/>
                <a:ea typeface="Raleway"/>
                <a:cs typeface="Raleway"/>
                <a:sym typeface="Raleway"/>
              </a:rPr>
              <a:t>Improves Safety and Security</a:t>
            </a:r>
            <a:endParaRPr/>
          </a:p>
          <a:p>
            <a:pPr indent="-277819" lvl="1" marL="555638" marR="0" rtl="0" algn="l">
              <a:lnSpc>
                <a:spcPct val="183015"/>
              </a:lnSpc>
              <a:spcBef>
                <a:spcPts val="0"/>
              </a:spcBef>
              <a:spcAft>
                <a:spcPts val="0"/>
              </a:spcAft>
              <a:buClr>
                <a:srgbClr val="FFFFFF"/>
              </a:buClr>
              <a:buSzPts val="2573"/>
              <a:buFont typeface="Arial"/>
              <a:buChar char="•"/>
            </a:pPr>
            <a:r>
              <a:rPr b="0" i="1" lang="en-US" sz="2573" u="none" cap="none" strike="noStrike">
                <a:solidFill>
                  <a:srgbClr val="FFFFFF"/>
                </a:solidFill>
                <a:latin typeface="Raleway"/>
                <a:ea typeface="Raleway"/>
                <a:cs typeface="Raleway"/>
                <a:sym typeface="Raleway"/>
              </a:rPr>
              <a:t>Automation</a:t>
            </a:r>
            <a:endParaRPr/>
          </a:p>
        </p:txBody>
      </p:sp>
      <p:sp>
        <p:nvSpPr>
          <p:cNvPr id="116" name="Google Shape;116;p15"/>
          <p:cNvSpPr txBox="1"/>
          <p:nvPr/>
        </p:nvSpPr>
        <p:spPr>
          <a:xfrm>
            <a:off x="1300724" y="1599114"/>
            <a:ext cx="1074675" cy="515778"/>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120" name="Shape 120"/>
        <p:cNvGrpSpPr/>
        <p:nvPr/>
      </p:nvGrpSpPr>
      <p:grpSpPr>
        <a:xfrm>
          <a:off x="0" y="0"/>
          <a:ext cx="0" cy="0"/>
          <a:chOff x="0" y="0"/>
          <a:chExt cx="0" cy="0"/>
        </a:xfrm>
      </p:grpSpPr>
      <p:sp>
        <p:nvSpPr>
          <p:cNvPr id="121" name="Google Shape;121;p16"/>
          <p:cNvSpPr/>
          <p:nvPr/>
        </p:nvSpPr>
        <p:spPr>
          <a:xfrm rot="1574698">
            <a:off x="-5806186" y="6675838"/>
            <a:ext cx="19162454" cy="6994295"/>
          </a:xfrm>
          <a:custGeom>
            <a:rect b="b" l="l" r="r" t="t"/>
            <a:pathLst>
              <a:path extrusionOk="0" h="6989710" w="19149891">
                <a:moveTo>
                  <a:pt x="0" y="0"/>
                </a:moveTo>
                <a:lnTo>
                  <a:pt x="19149891" y="0"/>
                </a:lnTo>
                <a:lnTo>
                  <a:pt x="19149891" y="6989710"/>
                </a:lnTo>
                <a:lnTo>
                  <a:pt x="0" y="6989710"/>
                </a:lnTo>
                <a:lnTo>
                  <a:pt x="0" y="0"/>
                </a:lnTo>
                <a:close/>
              </a:path>
            </a:pathLst>
          </a:custGeom>
          <a:blipFill rotWithShape="1">
            <a:blip r:embed="rId3">
              <a:alphaModFix amt="80000"/>
            </a:blip>
            <a:stretch>
              <a:fillRect b="0" l="0" r="0" t="0"/>
            </a:stretch>
          </a:blipFill>
          <a:ln>
            <a:noFill/>
          </a:ln>
        </p:spPr>
      </p:sp>
      <p:sp>
        <p:nvSpPr>
          <p:cNvPr id="122" name="Google Shape;122;p16"/>
          <p:cNvSpPr/>
          <p:nvPr/>
        </p:nvSpPr>
        <p:spPr>
          <a:xfrm>
            <a:off x="2052822" y="3071015"/>
            <a:ext cx="3970782" cy="8229600"/>
          </a:xfrm>
          <a:custGeom>
            <a:rect b="b" l="l" r="r" t="t"/>
            <a:pathLst>
              <a:path extrusionOk="0" h="8229600" w="3970782">
                <a:moveTo>
                  <a:pt x="0" y="0"/>
                </a:moveTo>
                <a:lnTo>
                  <a:pt x="3970782" y="0"/>
                </a:lnTo>
                <a:lnTo>
                  <a:pt x="3970782" y="8229600"/>
                </a:lnTo>
                <a:lnTo>
                  <a:pt x="0" y="8229600"/>
                </a:lnTo>
                <a:lnTo>
                  <a:pt x="0" y="0"/>
                </a:lnTo>
                <a:close/>
              </a:path>
            </a:pathLst>
          </a:custGeom>
          <a:blipFill rotWithShape="1">
            <a:blip r:embed="rId4">
              <a:alphaModFix/>
            </a:blip>
            <a:stretch>
              <a:fillRect b="0" l="0" r="0" t="0"/>
            </a:stretch>
          </a:blipFill>
          <a:ln>
            <a:noFill/>
          </a:ln>
        </p:spPr>
      </p:sp>
      <p:sp>
        <p:nvSpPr>
          <p:cNvPr id="123" name="Google Shape;123;p16"/>
          <p:cNvSpPr/>
          <p:nvPr/>
        </p:nvSpPr>
        <p:spPr>
          <a:xfrm>
            <a:off x="3775575" y="2080415"/>
            <a:ext cx="2691369" cy="2691369"/>
          </a:xfrm>
          <a:custGeom>
            <a:rect b="b" l="l" r="r" t="t"/>
            <a:pathLst>
              <a:path extrusionOk="0" h="2691369" w="2691369">
                <a:moveTo>
                  <a:pt x="0" y="0"/>
                </a:moveTo>
                <a:lnTo>
                  <a:pt x="2691368" y="0"/>
                </a:lnTo>
                <a:lnTo>
                  <a:pt x="2691368" y="2691368"/>
                </a:lnTo>
                <a:lnTo>
                  <a:pt x="0" y="2691368"/>
                </a:lnTo>
                <a:lnTo>
                  <a:pt x="0" y="0"/>
                </a:lnTo>
                <a:close/>
              </a:path>
            </a:pathLst>
          </a:custGeom>
          <a:blipFill rotWithShape="1">
            <a:blip r:embed="rId5">
              <a:alphaModFix/>
            </a:blip>
            <a:stretch>
              <a:fillRect b="0" l="0" r="0" t="0"/>
            </a:stretch>
          </a:blipFill>
          <a:ln>
            <a:noFill/>
          </a:ln>
        </p:spPr>
      </p:sp>
      <p:sp>
        <p:nvSpPr>
          <p:cNvPr id="124" name="Google Shape;124;p16"/>
          <p:cNvSpPr/>
          <p:nvPr/>
        </p:nvSpPr>
        <p:spPr>
          <a:xfrm flipH="1" rot="-9225302">
            <a:off x="8920361" y="-3489337"/>
            <a:ext cx="19162454" cy="6994295"/>
          </a:xfrm>
          <a:custGeom>
            <a:rect b="b" l="l" r="r" t="t"/>
            <a:pathLst>
              <a:path extrusionOk="0" h="6989710" w="19149891">
                <a:moveTo>
                  <a:pt x="0" y="6989710"/>
                </a:moveTo>
                <a:lnTo>
                  <a:pt x="19149891" y="6989710"/>
                </a:lnTo>
                <a:lnTo>
                  <a:pt x="19149891" y="0"/>
                </a:lnTo>
                <a:lnTo>
                  <a:pt x="0" y="0"/>
                </a:lnTo>
                <a:lnTo>
                  <a:pt x="0" y="6989710"/>
                </a:lnTo>
                <a:close/>
              </a:path>
            </a:pathLst>
          </a:custGeom>
          <a:blipFill rotWithShape="1">
            <a:blip r:embed="rId3">
              <a:alphaModFix amt="80000"/>
            </a:blip>
            <a:stretch>
              <a:fillRect b="0" l="0" r="0" t="0"/>
            </a:stretch>
          </a:blipFill>
          <a:ln>
            <a:noFill/>
          </a:ln>
        </p:spPr>
      </p:sp>
      <p:sp>
        <p:nvSpPr>
          <p:cNvPr id="125" name="Google Shape;125;p16"/>
          <p:cNvSpPr/>
          <p:nvPr/>
        </p:nvSpPr>
        <p:spPr>
          <a:xfrm>
            <a:off x="6635623" y="1578083"/>
            <a:ext cx="658167" cy="595940"/>
          </a:xfrm>
          <a:custGeom>
            <a:rect b="b" l="l" r="r" t="t"/>
            <a:pathLst>
              <a:path extrusionOk="0" h="595940" w="658167">
                <a:moveTo>
                  <a:pt x="0" y="0"/>
                </a:moveTo>
                <a:lnTo>
                  <a:pt x="658166" y="0"/>
                </a:lnTo>
                <a:lnTo>
                  <a:pt x="658166" y="595940"/>
                </a:lnTo>
                <a:lnTo>
                  <a:pt x="0" y="595940"/>
                </a:lnTo>
                <a:lnTo>
                  <a:pt x="0" y="0"/>
                </a:lnTo>
                <a:close/>
              </a:path>
            </a:pathLst>
          </a:custGeom>
          <a:blipFill rotWithShape="1">
            <a:blip r:embed="rId6">
              <a:alphaModFix/>
            </a:blip>
            <a:stretch>
              <a:fillRect b="0" l="0" r="0" t="0"/>
            </a:stretch>
          </a:blipFill>
          <a:ln>
            <a:noFill/>
          </a:ln>
        </p:spPr>
      </p:sp>
      <p:sp>
        <p:nvSpPr>
          <p:cNvPr id="126" name="Google Shape;126;p16"/>
          <p:cNvSpPr txBox="1"/>
          <p:nvPr/>
        </p:nvSpPr>
        <p:spPr>
          <a:xfrm>
            <a:off x="7945523" y="1536536"/>
            <a:ext cx="8344500" cy="2506800"/>
          </a:xfrm>
          <a:prstGeom prst="rect">
            <a:avLst/>
          </a:prstGeom>
          <a:noFill/>
          <a:ln>
            <a:noFill/>
          </a:ln>
        </p:spPr>
        <p:txBody>
          <a:bodyPr anchorCtr="0" anchor="t" bIns="0" lIns="0" spcFirstLastPara="1" rIns="0" wrap="square" tIns="0">
            <a:spAutoFit/>
          </a:bodyPr>
          <a:lstStyle/>
          <a:p>
            <a:pPr indent="0" lvl="0" marL="0" marR="0" rtl="0" algn="l">
              <a:lnSpc>
                <a:spcPct val="94995"/>
              </a:lnSpc>
              <a:spcBef>
                <a:spcPts val="0"/>
              </a:spcBef>
              <a:spcAft>
                <a:spcPts val="0"/>
              </a:spcAft>
              <a:buNone/>
            </a:pPr>
            <a:r>
              <a:rPr b="1" i="0" lang="en-US" sz="8572" u="none" cap="none" strike="noStrike">
                <a:solidFill>
                  <a:srgbClr val="FFFFFF"/>
                </a:solidFill>
                <a:latin typeface="Montserrat SemiBold"/>
                <a:ea typeface="Montserrat SemiBold"/>
                <a:cs typeface="Montserrat SemiBold"/>
                <a:sym typeface="Montserrat SemiBold"/>
              </a:rPr>
              <a:t>Importance of Iot</a:t>
            </a:r>
            <a:endParaRPr/>
          </a:p>
        </p:txBody>
      </p:sp>
      <p:sp>
        <p:nvSpPr>
          <p:cNvPr id="127" name="Google Shape;127;p16"/>
          <p:cNvSpPr txBox="1"/>
          <p:nvPr/>
        </p:nvSpPr>
        <p:spPr>
          <a:xfrm>
            <a:off x="7825550" y="4453900"/>
            <a:ext cx="8653500" cy="45546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i="1" lang="en-US" sz="2573">
                <a:solidFill>
                  <a:srgbClr val="FFFFFF"/>
                </a:solidFill>
                <a:latin typeface="Raleway"/>
                <a:ea typeface="Raleway"/>
                <a:cs typeface="Raleway"/>
                <a:sym typeface="Raleway"/>
              </a:rPr>
              <a:t>The concept of IoT is so important because it sits at the core of numerous automation schemes such as home, automation, office automation, industrial automation, and many other automated processes in all domains of businesses. When all machines and devices can communicate and take action and instructions, the whole world will become very much connected and efficient. </a:t>
            </a:r>
            <a:endParaRPr i="1" sz="2573">
              <a:solidFill>
                <a:srgbClr val="FFFFFF"/>
              </a:solidFill>
              <a:latin typeface="Raleway"/>
              <a:ea typeface="Raleway"/>
              <a:cs typeface="Raleway"/>
              <a:sym typeface="Raleway"/>
            </a:endParaRPr>
          </a:p>
          <a:p>
            <a:pPr indent="0" lvl="0" marL="0" marR="0" rtl="0" algn="l">
              <a:lnSpc>
                <a:spcPct val="150000"/>
              </a:lnSpc>
              <a:spcBef>
                <a:spcPts val="0"/>
              </a:spcBef>
              <a:spcAft>
                <a:spcPts val="0"/>
              </a:spcAft>
              <a:buNone/>
            </a:pPr>
            <a:r>
              <a:t/>
            </a:r>
            <a:endParaRPr i="1" sz="2573">
              <a:solidFill>
                <a:srgbClr val="FFFFFF"/>
              </a:solidFill>
              <a:latin typeface="Raleway"/>
              <a:ea typeface="Raleway"/>
              <a:cs typeface="Raleway"/>
              <a:sym typeface="Raleway"/>
            </a:endParaRPr>
          </a:p>
        </p:txBody>
      </p:sp>
      <p:sp>
        <p:nvSpPr>
          <p:cNvPr id="128" name="Google Shape;128;p16"/>
          <p:cNvSpPr txBox="1"/>
          <p:nvPr/>
        </p:nvSpPr>
        <p:spPr>
          <a:xfrm>
            <a:off x="1300724" y="1599114"/>
            <a:ext cx="1074600" cy="484200"/>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02</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132" name="Shape 132"/>
        <p:cNvGrpSpPr/>
        <p:nvPr/>
      </p:nvGrpSpPr>
      <p:grpSpPr>
        <a:xfrm>
          <a:off x="0" y="0"/>
          <a:ext cx="0" cy="0"/>
          <a:chOff x="0" y="0"/>
          <a:chExt cx="0" cy="0"/>
        </a:xfrm>
      </p:grpSpPr>
      <p:sp>
        <p:nvSpPr>
          <p:cNvPr id="133" name="Google Shape;133;p17"/>
          <p:cNvSpPr/>
          <p:nvPr/>
        </p:nvSpPr>
        <p:spPr>
          <a:xfrm rot="1574698">
            <a:off x="-5806186" y="6675838"/>
            <a:ext cx="19162454" cy="6994295"/>
          </a:xfrm>
          <a:custGeom>
            <a:rect b="b" l="l" r="r" t="t"/>
            <a:pathLst>
              <a:path extrusionOk="0" h="6989710" w="19149891">
                <a:moveTo>
                  <a:pt x="0" y="0"/>
                </a:moveTo>
                <a:lnTo>
                  <a:pt x="19149891" y="0"/>
                </a:lnTo>
                <a:lnTo>
                  <a:pt x="19149891" y="6989710"/>
                </a:lnTo>
                <a:lnTo>
                  <a:pt x="0" y="6989710"/>
                </a:lnTo>
                <a:lnTo>
                  <a:pt x="0" y="0"/>
                </a:lnTo>
                <a:close/>
              </a:path>
            </a:pathLst>
          </a:custGeom>
          <a:blipFill rotWithShape="1">
            <a:blip r:embed="rId3">
              <a:alphaModFix amt="80000"/>
            </a:blip>
            <a:stretch>
              <a:fillRect b="0" l="0" r="0" t="0"/>
            </a:stretch>
          </a:blipFill>
          <a:ln>
            <a:noFill/>
          </a:ln>
        </p:spPr>
      </p:sp>
      <p:sp>
        <p:nvSpPr>
          <p:cNvPr id="134" name="Google Shape;134;p17"/>
          <p:cNvSpPr/>
          <p:nvPr/>
        </p:nvSpPr>
        <p:spPr>
          <a:xfrm>
            <a:off x="2052822" y="3071015"/>
            <a:ext cx="3970782" cy="8229600"/>
          </a:xfrm>
          <a:custGeom>
            <a:rect b="b" l="l" r="r" t="t"/>
            <a:pathLst>
              <a:path extrusionOk="0" h="8229600" w="3970782">
                <a:moveTo>
                  <a:pt x="0" y="0"/>
                </a:moveTo>
                <a:lnTo>
                  <a:pt x="3970782" y="0"/>
                </a:lnTo>
                <a:lnTo>
                  <a:pt x="3970782" y="8229600"/>
                </a:lnTo>
                <a:lnTo>
                  <a:pt x="0" y="8229600"/>
                </a:lnTo>
                <a:lnTo>
                  <a:pt x="0" y="0"/>
                </a:lnTo>
                <a:close/>
              </a:path>
            </a:pathLst>
          </a:custGeom>
          <a:blipFill rotWithShape="1">
            <a:blip r:embed="rId4">
              <a:alphaModFix/>
            </a:blip>
            <a:stretch>
              <a:fillRect b="0" l="0" r="0" t="0"/>
            </a:stretch>
          </a:blipFill>
          <a:ln>
            <a:noFill/>
          </a:ln>
        </p:spPr>
      </p:sp>
      <p:sp>
        <p:nvSpPr>
          <p:cNvPr id="135" name="Google Shape;135;p17"/>
          <p:cNvSpPr/>
          <p:nvPr/>
        </p:nvSpPr>
        <p:spPr>
          <a:xfrm>
            <a:off x="3775575" y="2080415"/>
            <a:ext cx="2691369" cy="2691369"/>
          </a:xfrm>
          <a:custGeom>
            <a:rect b="b" l="l" r="r" t="t"/>
            <a:pathLst>
              <a:path extrusionOk="0" h="2691369" w="2691369">
                <a:moveTo>
                  <a:pt x="0" y="0"/>
                </a:moveTo>
                <a:lnTo>
                  <a:pt x="2691368" y="0"/>
                </a:lnTo>
                <a:lnTo>
                  <a:pt x="2691368" y="2691368"/>
                </a:lnTo>
                <a:lnTo>
                  <a:pt x="0" y="2691368"/>
                </a:lnTo>
                <a:lnTo>
                  <a:pt x="0" y="0"/>
                </a:lnTo>
                <a:close/>
              </a:path>
            </a:pathLst>
          </a:custGeom>
          <a:blipFill rotWithShape="1">
            <a:blip r:embed="rId5">
              <a:alphaModFix/>
            </a:blip>
            <a:stretch>
              <a:fillRect b="0" l="0" r="0" t="0"/>
            </a:stretch>
          </a:blipFill>
          <a:ln>
            <a:noFill/>
          </a:ln>
        </p:spPr>
      </p:sp>
      <p:sp>
        <p:nvSpPr>
          <p:cNvPr id="136" name="Google Shape;136;p17"/>
          <p:cNvSpPr/>
          <p:nvPr/>
        </p:nvSpPr>
        <p:spPr>
          <a:xfrm flipH="1" rot="-9225302">
            <a:off x="8920361" y="-3489337"/>
            <a:ext cx="19162454" cy="6994295"/>
          </a:xfrm>
          <a:custGeom>
            <a:rect b="b" l="l" r="r" t="t"/>
            <a:pathLst>
              <a:path extrusionOk="0" h="6989710" w="19149891">
                <a:moveTo>
                  <a:pt x="0" y="6989710"/>
                </a:moveTo>
                <a:lnTo>
                  <a:pt x="19149891" y="6989710"/>
                </a:lnTo>
                <a:lnTo>
                  <a:pt x="19149891" y="0"/>
                </a:lnTo>
                <a:lnTo>
                  <a:pt x="0" y="0"/>
                </a:lnTo>
                <a:lnTo>
                  <a:pt x="0" y="6989710"/>
                </a:lnTo>
                <a:close/>
              </a:path>
            </a:pathLst>
          </a:custGeom>
          <a:blipFill rotWithShape="1">
            <a:blip r:embed="rId3">
              <a:alphaModFix amt="80000"/>
            </a:blip>
            <a:stretch>
              <a:fillRect b="0" l="0" r="0" t="0"/>
            </a:stretch>
          </a:blipFill>
          <a:ln>
            <a:noFill/>
          </a:ln>
        </p:spPr>
      </p:sp>
      <p:sp>
        <p:nvSpPr>
          <p:cNvPr id="137" name="Google Shape;137;p17"/>
          <p:cNvSpPr/>
          <p:nvPr/>
        </p:nvSpPr>
        <p:spPr>
          <a:xfrm>
            <a:off x="6635623" y="1578083"/>
            <a:ext cx="658167" cy="595940"/>
          </a:xfrm>
          <a:custGeom>
            <a:rect b="b" l="l" r="r" t="t"/>
            <a:pathLst>
              <a:path extrusionOk="0" h="595940" w="658167">
                <a:moveTo>
                  <a:pt x="0" y="0"/>
                </a:moveTo>
                <a:lnTo>
                  <a:pt x="658166" y="0"/>
                </a:lnTo>
                <a:lnTo>
                  <a:pt x="658166" y="595940"/>
                </a:lnTo>
                <a:lnTo>
                  <a:pt x="0" y="595940"/>
                </a:lnTo>
                <a:lnTo>
                  <a:pt x="0" y="0"/>
                </a:lnTo>
                <a:close/>
              </a:path>
            </a:pathLst>
          </a:custGeom>
          <a:blipFill rotWithShape="1">
            <a:blip r:embed="rId6">
              <a:alphaModFix/>
            </a:blip>
            <a:stretch>
              <a:fillRect b="0" l="0" r="0" t="0"/>
            </a:stretch>
          </a:blipFill>
          <a:ln>
            <a:noFill/>
          </a:ln>
        </p:spPr>
      </p:sp>
      <p:sp>
        <p:nvSpPr>
          <p:cNvPr id="138" name="Google Shape;138;p17"/>
          <p:cNvSpPr txBox="1"/>
          <p:nvPr/>
        </p:nvSpPr>
        <p:spPr>
          <a:xfrm>
            <a:off x="7945523" y="1536536"/>
            <a:ext cx="8344500" cy="1754700"/>
          </a:xfrm>
          <a:prstGeom prst="rect">
            <a:avLst/>
          </a:prstGeom>
          <a:noFill/>
          <a:ln>
            <a:noFill/>
          </a:ln>
        </p:spPr>
        <p:txBody>
          <a:bodyPr anchorCtr="0" anchor="t" bIns="0" lIns="0" spcFirstLastPara="1" rIns="0" wrap="square" tIns="0">
            <a:spAutoFit/>
          </a:bodyPr>
          <a:lstStyle/>
          <a:p>
            <a:pPr indent="0" lvl="0" marL="0" marR="0" rtl="0" algn="l">
              <a:lnSpc>
                <a:spcPct val="94995"/>
              </a:lnSpc>
              <a:spcBef>
                <a:spcPts val="0"/>
              </a:spcBef>
              <a:spcAft>
                <a:spcPts val="0"/>
              </a:spcAft>
              <a:buNone/>
            </a:pPr>
            <a:r>
              <a:rPr b="1" lang="en-US" sz="6000">
                <a:solidFill>
                  <a:srgbClr val="FFFFFF"/>
                </a:solidFill>
                <a:latin typeface="Montserrat SemiBold"/>
                <a:ea typeface="Montserrat SemiBold"/>
                <a:cs typeface="Montserrat SemiBold"/>
                <a:sym typeface="Montserrat SemiBold"/>
              </a:rPr>
              <a:t>Architecture of IoT Ecosystem</a:t>
            </a:r>
            <a:endParaRPr sz="6000"/>
          </a:p>
        </p:txBody>
      </p:sp>
      <p:sp>
        <p:nvSpPr>
          <p:cNvPr id="139" name="Google Shape;139;p17"/>
          <p:cNvSpPr txBox="1"/>
          <p:nvPr/>
        </p:nvSpPr>
        <p:spPr>
          <a:xfrm>
            <a:off x="7825550" y="4453900"/>
            <a:ext cx="8653500" cy="3366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i="1" lang="en-US" sz="2573">
                <a:solidFill>
                  <a:srgbClr val="FFFFFF"/>
                </a:solidFill>
                <a:latin typeface="Raleway"/>
                <a:ea typeface="Raleway"/>
                <a:cs typeface="Raleway"/>
                <a:sym typeface="Raleway"/>
              </a:rPr>
              <a:t>Researchers and industry experts have not settled on a single standard architecture for the IoT ecosystem. Instead, several primary models are recognized based on the complexity and scope of the deployment</a:t>
            </a:r>
            <a:endParaRPr i="1" sz="2573">
              <a:solidFill>
                <a:srgbClr val="FFFFFF"/>
              </a:solidFill>
              <a:latin typeface="Raleway"/>
              <a:ea typeface="Raleway"/>
              <a:cs typeface="Raleway"/>
              <a:sym typeface="Raleway"/>
            </a:endParaRPr>
          </a:p>
          <a:p>
            <a:pPr indent="0" lvl="0" marL="0" marR="0" rtl="0" algn="l">
              <a:lnSpc>
                <a:spcPct val="150000"/>
              </a:lnSpc>
              <a:spcBef>
                <a:spcPts val="0"/>
              </a:spcBef>
              <a:spcAft>
                <a:spcPts val="0"/>
              </a:spcAft>
              <a:buNone/>
            </a:pPr>
            <a:r>
              <a:t/>
            </a:r>
            <a:endParaRPr i="1" sz="2573">
              <a:solidFill>
                <a:srgbClr val="FFFFFF"/>
              </a:solidFill>
              <a:latin typeface="Raleway"/>
              <a:ea typeface="Raleway"/>
              <a:cs typeface="Raleway"/>
              <a:sym typeface="Raleway"/>
            </a:endParaRPr>
          </a:p>
          <a:p>
            <a:pPr indent="0" lvl="0" marL="0" marR="0" rtl="0" algn="l">
              <a:lnSpc>
                <a:spcPct val="150000"/>
              </a:lnSpc>
              <a:spcBef>
                <a:spcPts val="0"/>
              </a:spcBef>
              <a:spcAft>
                <a:spcPts val="0"/>
              </a:spcAft>
              <a:buNone/>
            </a:pPr>
            <a:r>
              <a:t/>
            </a:r>
            <a:endParaRPr i="1" sz="2573">
              <a:solidFill>
                <a:srgbClr val="FFFFFF"/>
              </a:solidFill>
              <a:latin typeface="Raleway"/>
              <a:ea typeface="Raleway"/>
              <a:cs typeface="Raleway"/>
              <a:sym typeface="Raleway"/>
            </a:endParaRPr>
          </a:p>
        </p:txBody>
      </p:sp>
      <p:sp>
        <p:nvSpPr>
          <p:cNvPr id="140" name="Google Shape;140;p17"/>
          <p:cNvSpPr txBox="1"/>
          <p:nvPr/>
        </p:nvSpPr>
        <p:spPr>
          <a:xfrm>
            <a:off x="1300724" y="1599114"/>
            <a:ext cx="1074600" cy="484200"/>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02</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144" name="Shape 144"/>
        <p:cNvGrpSpPr/>
        <p:nvPr/>
      </p:nvGrpSpPr>
      <p:grpSpPr>
        <a:xfrm>
          <a:off x="0" y="0"/>
          <a:ext cx="0" cy="0"/>
          <a:chOff x="0" y="0"/>
          <a:chExt cx="0" cy="0"/>
        </a:xfrm>
      </p:grpSpPr>
      <p:sp>
        <p:nvSpPr>
          <p:cNvPr id="145" name="Google Shape;145;p18"/>
          <p:cNvSpPr/>
          <p:nvPr/>
        </p:nvSpPr>
        <p:spPr>
          <a:xfrm rot="1574698">
            <a:off x="-5806186" y="6675838"/>
            <a:ext cx="19162454" cy="6994295"/>
          </a:xfrm>
          <a:custGeom>
            <a:rect b="b" l="l" r="r" t="t"/>
            <a:pathLst>
              <a:path extrusionOk="0" h="6989710" w="19149891">
                <a:moveTo>
                  <a:pt x="0" y="0"/>
                </a:moveTo>
                <a:lnTo>
                  <a:pt x="19149891" y="0"/>
                </a:lnTo>
                <a:lnTo>
                  <a:pt x="19149891" y="6989710"/>
                </a:lnTo>
                <a:lnTo>
                  <a:pt x="0" y="6989710"/>
                </a:lnTo>
                <a:lnTo>
                  <a:pt x="0" y="0"/>
                </a:lnTo>
                <a:close/>
              </a:path>
            </a:pathLst>
          </a:custGeom>
          <a:blipFill rotWithShape="1">
            <a:blip r:embed="rId3">
              <a:alphaModFix amt="80000"/>
            </a:blip>
            <a:stretch>
              <a:fillRect b="0" l="0" r="0" t="0"/>
            </a:stretch>
          </a:blipFill>
          <a:ln>
            <a:noFill/>
          </a:ln>
        </p:spPr>
      </p:sp>
      <p:sp>
        <p:nvSpPr>
          <p:cNvPr id="146" name="Google Shape;146;p18"/>
          <p:cNvSpPr/>
          <p:nvPr/>
        </p:nvSpPr>
        <p:spPr>
          <a:xfrm>
            <a:off x="2052822" y="3071015"/>
            <a:ext cx="3970782" cy="8229600"/>
          </a:xfrm>
          <a:custGeom>
            <a:rect b="b" l="l" r="r" t="t"/>
            <a:pathLst>
              <a:path extrusionOk="0" h="8229600" w="3970782">
                <a:moveTo>
                  <a:pt x="0" y="0"/>
                </a:moveTo>
                <a:lnTo>
                  <a:pt x="3970782" y="0"/>
                </a:lnTo>
                <a:lnTo>
                  <a:pt x="3970782" y="8229600"/>
                </a:lnTo>
                <a:lnTo>
                  <a:pt x="0" y="8229600"/>
                </a:lnTo>
                <a:lnTo>
                  <a:pt x="0" y="0"/>
                </a:lnTo>
                <a:close/>
              </a:path>
            </a:pathLst>
          </a:custGeom>
          <a:blipFill rotWithShape="1">
            <a:blip r:embed="rId4">
              <a:alphaModFix/>
            </a:blip>
            <a:stretch>
              <a:fillRect b="0" l="0" r="0" t="0"/>
            </a:stretch>
          </a:blipFill>
          <a:ln>
            <a:noFill/>
          </a:ln>
        </p:spPr>
      </p:sp>
      <p:sp>
        <p:nvSpPr>
          <p:cNvPr id="147" name="Google Shape;147;p18"/>
          <p:cNvSpPr/>
          <p:nvPr/>
        </p:nvSpPr>
        <p:spPr>
          <a:xfrm>
            <a:off x="3775575" y="2080415"/>
            <a:ext cx="2691369" cy="2691369"/>
          </a:xfrm>
          <a:custGeom>
            <a:rect b="b" l="l" r="r" t="t"/>
            <a:pathLst>
              <a:path extrusionOk="0" h="2691369" w="2691369">
                <a:moveTo>
                  <a:pt x="0" y="0"/>
                </a:moveTo>
                <a:lnTo>
                  <a:pt x="2691368" y="0"/>
                </a:lnTo>
                <a:lnTo>
                  <a:pt x="2691368" y="2691368"/>
                </a:lnTo>
                <a:lnTo>
                  <a:pt x="0" y="2691368"/>
                </a:lnTo>
                <a:lnTo>
                  <a:pt x="0" y="0"/>
                </a:lnTo>
                <a:close/>
              </a:path>
            </a:pathLst>
          </a:custGeom>
          <a:blipFill rotWithShape="1">
            <a:blip r:embed="rId5">
              <a:alphaModFix/>
            </a:blip>
            <a:stretch>
              <a:fillRect b="0" l="0" r="0" t="0"/>
            </a:stretch>
          </a:blipFill>
          <a:ln>
            <a:noFill/>
          </a:ln>
        </p:spPr>
      </p:sp>
      <p:sp>
        <p:nvSpPr>
          <p:cNvPr id="148" name="Google Shape;148;p18"/>
          <p:cNvSpPr/>
          <p:nvPr/>
        </p:nvSpPr>
        <p:spPr>
          <a:xfrm flipH="1" rot="-9225302">
            <a:off x="8920361" y="-3489337"/>
            <a:ext cx="19162454" cy="6994295"/>
          </a:xfrm>
          <a:custGeom>
            <a:rect b="b" l="l" r="r" t="t"/>
            <a:pathLst>
              <a:path extrusionOk="0" h="6989710" w="19149891">
                <a:moveTo>
                  <a:pt x="0" y="6989710"/>
                </a:moveTo>
                <a:lnTo>
                  <a:pt x="19149891" y="6989710"/>
                </a:lnTo>
                <a:lnTo>
                  <a:pt x="19149891" y="0"/>
                </a:lnTo>
                <a:lnTo>
                  <a:pt x="0" y="0"/>
                </a:lnTo>
                <a:lnTo>
                  <a:pt x="0" y="6989710"/>
                </a:lnTo>
                <a:close/>
              </a:path>
            </a:pathLst>
          </a:custGeom>
          <a:blipFill rotWithShape="1">
            <a:blip r:embed="rId3">
              <a:alphaModFix amt="80000"/>
            </a:blip>
            <a:stretch>
              <a:fillRect b="0" l="0" r="0" t="0"/>
            </a:stretch>
          </a:blipFill>
          <a:ln>
            <a:noFill/>
          </a:ln>
        </p:spPr>
      </p:sp>
      <p:sp>
        <p:nvSpPr>
          <p:cNvPr id="149" name="Google Shape;149;p18"/>
          <p:cNvSpPr/>
          <p:nvPr/>
        </p:nvSpPr>
        <p:spPr>
          <a:xfrm>
            <a:off x="6635623" y="1578083"/>
            <a:ext cx="658167" cy="595940"/>
          </a:xfrm>
          <a:custGeom>
            <a:rect b="b" l="l" r="r" t="t"/>
            <a:pathLst>
              <a:path extrusionOk="0" h="595940" w="658167">
                <a:moveTo>
                  <a:pt x="0" y="0"/>
                </a:moveTo>
                <a:lnTo>
                  <a:pt x="658166" y="0"/>
                </a:lnTo>
                <a:lnTo>
                  <a:pt x="658166" y="595940"/>
                </a:lnTo>
                <a:lnTo>
                  <a:pt x="0" y="595940"/>
                </a:lnTo>
                <a:lnTo>
                  <a:pt x="0" y="0"/>
                </a:lnTo>
                <a:close/>
              </a:path>
            </a:pathLst>
          </a:custGeom>
          <a:blipFill rotWithShape="1">
            <a:blip r:embed="rId6">
              <a:alphaModFix/>
            </a:blip>
            <a:stretch>
              <a:fillRect b="0" l="0" r="0" t="0"/>
            </a:stretch>
          </a:blipFill>
          <a:ln>
            <a:noFill/>
          </a:ln>
        </p:spPr>
      </p:sp>
      <p:sp>
        <p:nvSpPr>
          <p:cNvPr id="150" name="Google Shape;150;p18"/>
          <p:cNvSpPr txBox="1"/>
          <p:nvPr/>
        </p:nvSpPr>
        <p:spPr>
          <a:xfrm>
            <a:off x="7945523" y="1536536"/>
            <a:ext cx="8344500" cy="1754700"/>
          </a:xfrm>
          <a:prstGeom prst="rect">
            <a:avLst/>
          </a:prstGeom>
          <a:noFill/>
          <a:ln>
            <a:noFill/>
          </a:ln>
        </p:spPr>
        <p:txBody>
          <a:bodyPr anchorCtr="0" anchor="t" bIns="0" lIns="0" spcFirstLastPara="1" rIns="0" wrap="square" tIns="0">
            <a:spAutoFit/>
          </a:bodyPr>
          <a:lstStyle/>
          <a:p>
            <a:pPr indent="0" lvl="0" marL="0" marR="0" rtl="0" algn="l">
              <a:lnSpc>
                <a:spcPct val="94995"/>
              </a:lnSpc>
              <a:spcBef>
                <a:spcPts val="0"/>
              </a:spcBef>
              <a:spcAft>
                <a:spcPts val="0"/>
              </a:spcAft>
              <a:buNone/>
            </a:pPr>
            <a:r>
              <a:rPr b="1" lang="en-US" sz="6000">
                <a:solidFill>
                  <a:srgbClr val="FFFFFF"/>
                </a:solidFill>
                <a:latin typeface="Montserrat SemiBold"/>
                <a:ea typeface="Montserrat SemiBold"/>
                <a:cs typeface="Montserrat SemiBold"/>
                <a:sym typeface="Montserrat SemiBold"/>
              </a:rPr>
              <a:t>Architecture of IoT Ecosystem</a:t>
            </a:r>
            <a:endParaRPr sz="6000"/>
          </a:p>
        </p:txBody>
      </p:sp>
      <p:sp>
        <p:nvSpPr>
          <p:cNvPr id="151" name="Google Shape;151;p18"/>
          <p:cNvSpPr txBox="1"/>
          <p:nvPr/>
        </p:nvSpPr>
        <p:spPr>
          <a:xfrm>
            <a:off x="7825550" y="4453900"/>
            <a:ext cx="8653500" cy="573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400"/>
              </a:spcBef>
              <a:spcAft>
                <a:spcPts val="0"/>
              </a:spcAft>
              <a:buClr>
                <a:schemeClr val="dk1"/>
              </a:buClr>
              <a:buSzPts val="1100"/>
              <a:buFont typeface="Arial"/>
              <a:buNone/>
            </a:pPr>
            <a:r>
              <a:rPr b="1" lang="en-US" sz="2400">
                <a:solidFill>
                  <a:schemeClr val="lt1"/>
                </a:solidFill>
              </a:rPr>
              <a:t>1. Three-Layer Architecture</a:t>
            </a:r>
            <a:endParaRPr b="1" sz="24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en-US" sz="2200">
                <a:solidFill>
                  <a:schemeClr val="lt1"/>
                </a:solidFill>
              </a:rPr>
              <a:t>The foundational and simplest model, often used for basic IoT applications:</a:t>
            </a:r>
            <a:endParaRPr sz="2200">
              <a:solidFill>
                <a:schemeClr val="lt1"/>
              </a:solidFill>
            </a:endParaRPr>
          </a:p>
          <a:p>
            <a:pPr indent="-368300" lvl="0" marL="457200" rtl="0" algn="l">
              <a:lnSpc>
                <a:spcPct val="115000"/>
              </a:lnSpc>
              <a:spcBef>
                <a:spcPts val="1200"/>
              </a:spcBef>
              <a:spcAft>
                <a:spcPts val="0"/>
              </a:spcAft>
              <a:buClr>
                <a:schemeClr val="lt1"/>
              </a:buClr>
              <a:buSzPts val="2200"/>
              <a:buChar char="●"/>
            </a:pPr>
            <a:r>
              <a:rPr b="1" lang="en-US" sz="2200">
                <a:solidFill>
                  <a:schemeClr val="lt1"/>
                </a:solidFill>
              </a:rPr>
              <a:t>Perception (Sensing) Layer:</a:t>
            </a:r>
            <a:r>
              <a:rPr lang="en-US" sz="2200">
                <a:solidFill>
                  <a:schemeClr val="lt1"/>
                </a:solidFill>
              </a:rPr>
              <a:t> Physical sensors and actuators that collect real-world data (e.g., temperature, motion) and interact with the environment.</a:t>
            </a:r>
            <a:endParaRPr sz="2200">
              <a:solidFill>
                <a:schemeClr val="lt1"/>
              </a:solidFill>
            </a:endParaRPr>
          </a:p>
          <a:p>
            <a:pPr indent="-368300" lvl="0" marL="457200" rtl="0" algn="l">
              <a:lnSpc>
                <a:spcPct val="115000"/>
              </a:lnSpc>
              <a:spcBef>
                <a:spcPts val="0"/>
              </a:spcBef>
              <a:spcAft>
                <a:spcPts val="0"/>
              </a:spcAft>
              <a:buClr>
                <a:schemeClr val="lt1"/>
              </a:buClr>
              <a:buSzPts val="2200"/>
              <a:buChar char="●"/>
            </a:pPr>
            <a:r>
              <a:rPr b="1" lang="en-US" sz="2200">
                <a:solidFill>
                  <a:schemeClr val="lt1"/>
                </a:solidFill>
              </a:rPr>
              <a:t>Network Layer:</a:t>
            </a:r>
            <a:r>
              <a:rPr lang="en-US" sz="2200">
                <a:solidFill>
                  <a:schemeClr val="lt1"/>
                </a:solidFill>
              </a:rPr>
              <a:t> Transmits gathered data from the perception layer to processing units via wireless or wired technologies (e.g., Wi-Fi, 5G, Cellular, Bluetooth).</a:t>
            </a:r>
            <a:endParaRPr sz="2200">
              <a:solidFill>
                <a:schemeClr val="lt1"/>
              </a:solidFill>
            </a:endParaRPr>
          </a:p>
          <a:p>
            <a:pPr indent="-368300" lvl="0" marL="457200" rtl="0" algn="l">
              <a:lnSpc>
                <a:spcPct val="115000"/>
              </a:lnSpc>
              <a:spcBef>
                <a:spcPts val="0"/>
              </a:spcBef>
              <a:spcAft>
                <a:spcPts val="0"/>
              </a:spcAft>
              <a:buClr>
                <a:schemeClr val="lt1"/>
              </a:buClr>
              <a:buSzPts val="2200"/>
              <a:buChar char="●"/>
            </a:pPr>
            <a:r>
              <a:rPr b="1" lang="en-US" sz="2200">
                <a:solidFill>
                  <a:schemeClr val="lt1"/>
                </a:solidFill>
              </a:rPr>
              <a:t>Application Layer:</a:t>
            </a:r>
            <a:r>
              <a:rPr lang="en-US" sz="2200">
                <a:solidFill>
                  <a:schemeClr val="lt1"/>
                </a:solidFill>
              </a:rPr>
              <a:t> Delivers user-facing services and interface capabilities based on processed data (e.g., smart home dashboards, asset tracking systems).</a:t>
            </a:r>
            <a:endParaRPr sz="2200">
              <a:solidFill>
                <a:schemeClr val="lt1"/>
              </a:solidFill>
            </a:endParaRPr>
          </a:p>
          <a:p>
            <a:pPr indent="0" lvl="0" marL="0" marR="0" rtl="0" algn="l">
              <a:lnSpc>
                <a:spcPct val="150000"/>
              </a:lnSpc>
              <a:spcBef>
                <a:spcPts val="1200"/>
              </a:spcBef>
              <a:spcAft>
                <a:spcPts val="0"/>
              </a:spcAft>
              <a:buNone/>
            </a:pPr>
            <a:r>
              <a:t/>
            </a:r>
            <a:endParaRPr i="1" sz="3673">
              <a:solidFill>
                <a:schemeClr val="lt1"/>
              </a:solidFill>
              <a:latin typeface="Raleway"/>
              <a:ea typeface="Raleway"/>
              <a:cs typeface="Raleway"/>
              <a:sym typeface="Raleway"/>
            </a:endParaRPr>
          </a:p>
        </p:txBody>
      </p:sp>
      <p:sp>
        <p:nvSpPr>
          <p:cNvPr id="152" name="Google Shape;152;p18"/>
          <p:cNvSpPr txBox="1"/>
          <p:nvPr/>
        </p:nvSpPr>
        <p:spPr>
          <a:xfrm>
            <a:off x="1300724" y="1599114"/>
            <a:ext cx="1074600" cy="484200"/>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156" name="Shape 156"/>
        <p:cNvGrpSpPr/>
        <p:nvPr/>
      </p:nvGrpSpPr>
      <p:grpSpPr>
        <a:xfrm>
          <a:off x="0" y="0"/>
          <a:ext cx="0" cy="0"/>
          <a:chOff x="0" y="0"/>
          <a:chExt cx="0" cy="0"/>
        </a:xfrm>
      </p:grpSpPr>
      <p:sp>
        <p:nvSpPr>
          <p:cNvPr id="157" name="Google Shape;157;p19"/>
          <p:cNvSpPr/>
          <p:nvPr/>
        </p:nvSpPr>
        <p:spPr>
          <a:xfrm rot="1574698">
            <a:off x="-5806186" y="6675838"/>
            <a:ext cx="19162454" cy="6994295"/>
          </a:xfrm>
          <a:custGeom>
            <a:rect b="b" l="l" r="r" t="t"/>
            <a:pathLst>
              <a:path extrusionOk="0" h="6989710" w="19149891">
                <a:moveTo>
                  <a:pt x="0" y="0"/>
                </a:moveTo>
                <a:lnTo>
                  <a:pt x="19149891" y="0"/>
                </a:lnTo>
                <a:lnTo>
                  <a:pt x="19149891" y="6989710"/>
                </a:lnTo>
                <a:lnTo>
                  <a:pt x="0" y="6989710"/>
                </a:lnTo>
                <a:lnTo>
                  <a:pt x="0" y="0"/>
                </a:lnTo>
                <a:close/>
              </a:path>
            </a:pathLst>
          </a:custGeom>
          <a:blipFill rotWithShape="1">
            <a:blip r:embed="rId3">
              <a:alphaModFix amt="80000"/>
            </a:blip>
            <a:stretch>
              <a:fillRect b="0" l="0" r="0" t="0"/>
            </a:stretch>
          </a:blipFill>
          <a:ln>
            <a:noFill/>
          </a:ln>
        </p:spPr>
      </p:sp>
      <p:sp>
        <p:nvSpPr>
          <p:cNvPr id="158" name="Google Shape;158;p19"/>
          <p:cNvSpPr/>
          <p:nvPr/>
        </p:nvSpPr>
        <p:spPr>
          <a:xfrm>
            <a:off x="2052822" y="3071015"/>
            <a:ext cx="3970782" cy="8229600"/>
          </a:xfrm>
          <a:custGeom>
            <a:rect b="b" l="l" r="r" t="t"/>
            <a:pathLst>
              <a:path extrusionOk="0" h="8229600" w="3970782">
                <a:moveTo>
                  <a:pt x="0" y="0"/>
                </a:moveTo>
                <a:lnTo>
                  <a:pt x="3970782" y="0"/>
                </a:lnTo>
                <a:lnTo>
                  <a:pt x="3970782" y="8229600"/>
                </a:lnTo>
                <a:lnTo>
                  <a:pt x="0" y="8229600"/>
                </a:lnTo>
                <a:lnTo>
                  <a:pt x="0" y="0"/>
                </a:lnTo>
                <a:close/>
              </a:path>
            </a:pathLst>
          </a:custGeom>
          <a:blipFill rotWithShape="1">
            <a:blip r:embed="rId4">
              <a:alphaModFix/>
            </a:blip>
            <a:stretch>
              <a:fillRect b="0" l="0" r="0" t="0"/>
            </a:stretch>
          </a:blipFill>
          <a:ln>
            <a:noFill/>
          </a:ln>
        </p:spPr>
      </p:sp>
      <p:sp>
        <p:nvSpPr>
          <p:cNvPr id="159" name="Google Shape;159;p19"/>
          <p:cNvSpPr/>
          <p:nvPr/>
        </p:nvSpPr>
        <p:spPr>
          <a:xfrm>
            <a:off x="3775575" y="2080415"/>
            <a:ext cx="2691369" cy="2691369"/>
          </a:xfrm>
          <a:custGeom>
            <a:rect b="b" l="l" r="r" t="t"/>
            <a:pathLst>
              <a:path extrusionOk="0" h="2691369" w="2691369">
                <a:moveTo>
                  <a:pt x="0" y="0"/>
                </a:moveTo>
                <a:lnTo>
                  <a:pt x="2691368" y="0"/>
                </a:lnTo>
                <a:lnTo>
                  <a:pt x="2691368" y="2691368"/>
                </a:lnTo>
                <a:lnTo>
                  <a:pt x="0" y="2691368"/>
                </a:lnTo>
                <a:lnTo>
                  <a:pt x="0" y="0"/>
                </a:lnTo>
                <a:close/>
              </a:path>
            </a:pathLst>
          </a:custGeom>
          <a:blipFill rotWithShape="1">
            <a:blip r:embed="rId5">
              <a:alphaModFix/>
            </a:blip>
            <a:stretch>
              <a:fillRect b="0" l="0" r="0" t="0"/>
            </a:stretch>
          </a:blipFill>
          <a:ln>
            <a:noFill/>
          </a:ln>
        </p:spPr>
      </p:sp>
      <p:sp>
        <p:nvSpPr>
          <p:cNvPr id="160" name="Google Shape;160;p19"/>
          <p:cNvSpPr/>
          <p:nvPr/>
        </p:nvSpPr>
        <p:spPr>
          <a:xfrm flipH="1" rot="-9225302">
            <a:off x="8920361" y="-3489337"/>
            <a:ext cx="19162454" cy="6994295"/>
          </a:xfrm>
          <a:custGeom>
            <a:rect b="b" l="l" r="r" t="t"/>
            <a:pathLst>
              <a:path extrusionOk="0" h="6989710" w="19149891">
                <a:moveTo>
                  <a:pt x="0" y="6989710"/>
                </a:moveTo>
                <a:lnTo>
                  <a:pt x="19149891" y="6989710"/>
                </a:lnTo>
                <a:lnTo>
                  <a:pt x="19149891" y="0"/>
                </a:lnTo>
                <a:lnTo>
                  <a:pt x="0" y="0"/>
                </a:lnTo>
                <a:lnTo>
                  <a:pt x="0" y="6989710"/>
                </a:lnTo>
                <a:close/>
              </a:path>
            </a:pathLst>
          </a:custGeom>
          <a:blipFill rotWithShape="1">
            <a:blip r:embed="rId3">
              <a:alphaModFix amt="80000"/>
            </a:blip>
            <a:stretch>
              <a:fillRect b="0" l="0" r="0" t="0"/>
            </a:stretch>
          </a:blipFill>
          <a:ln>
            <a:noFill/>
          </a:ln>
        </p:spPr>
      </p:sp>
      <p:sp>
        <p:nvSpPr>
          <p:cNvPr id="161" name="Google Shape;161;p19"/>
          <p:cNvSpPr/>
          <p:nvPr/>
        </p:nvSpPr>
        <p:spPr>
          <a:xfrm>
            <a:off x="6635623" y="1578083"/>
            <a:ext cx="658167" cy="595940"/>
          </a:xfrm>
          <a:custGeom>
            <a:rect b="b" l="l" r="r" t="t"/>
            <a:pathLst>
              <a:path extrusionOk="0" h="595940" w="658167">
                <a:moveTo>
                  <a:pt x="0" y="0"/>
                </a:moveTo>
                <a:lnTo>
                  <a:pt x="658166" y="0"/>
                </a:lnTo>
                <a:lnTo>
                  <a:pt x="658166" y="595940"/>
                </a:lnTo>
                <a:lnTo>
                  <a:pt x="0" y="595940"/>
                </a:lnTo>
                <a:lnTo>
                  <a:pt x="0" y="0"/>
                </a:lnTo>
                <a:close/>
              </a:path>
            </a:pathLst>
          </a:custGeom>
          <a:blipFill rotWithShape="1">
            <a:blip r:embed="rId6">
              <a:alphaModFix/>
            </a:blip>
            <a:stretch>
              <a:fillRect b="0" l="0" r="0" t="0"/>
            </a:stretch>
          </a:blipFill>
          <a:ln>
            <a:noFill/>
          </a:ln>
        </p:spPr>
      </p:sp>
      <p:sp>
        <p:nvSpPr>
          <p:cNvPr id="162" name="Google Shape;162;p19"/>
          <p:cNvSpPr txBox="1"/>
          <p:nvPr/>
        </p:nvSpPr>
        <p:spPr>
          <a:xfrm>
            <a:off x="7945523" y="1536536"/>
            <a:ext cx="8344500" cy="1754700"/>
          </a:xfrm>
          <a:prstGeom prst="rect">
            <a:avLst/>
          </a:prstGeom>
          <a:noFill/>
          <a:ln>
            <a:noFill/>
          </a:ln>
        </p:spPr>
        <p:txBody>
          <a:bodyPr anchorCtr="0" anchor="t" bIns="0" lIns="0" spcFirstLastPara="1" rIns="0" wrap="square" tIns="0">
            <a:spAutoFit/>
          </a:bodyPr>
          <a:lstStyle/>
          <a:p>
            <a:pPr indent="0" lvl="0" marL="0" marR="0" rtl="0" algn="l">
              <a:lnSpc>
                <a:spcPct val="94995"/>
              </a:lnSpc>
              <a:spcBef>
                <a:spcPts val="0"/>
              </a:spcBef>
              <a:spcAft>
                <a:spcPts val="0"/>
              </a:spcAft>
              <a:buNone/>
            </a:pPr>
            <a:r>
              <a:rPr b="1" lang="en-US" sz="6000">
                <a:solidFill>
                  <a:srgbClr val="FFFFFF"/>
                </a:solidFill>
                <a:latin typeface="Montserrat SemiBold"/>
                <a:ea typeface="Montserrat SemiBold"/>
                <a:cs typeface="Montserrat SemiBold"/>
                <a:sym typeface="Montserrat SemiBold"/>
              </a:rPr>
              <a:t>Architecture of IoT Ecosystem</a:t>
            </a:r>
            <a:endParaRPr sz="6000"/>
          </a:p>
        </p:txBody>
      </p:sp>
      <p:sp>
        <p:nvSpPr>
          <p:cNvPr id="163" name="Google Shape;163;p19"/>
          <p:cNvSpPr txBox="1"/>
          <p:nvPr/>
        </p:nvSpPr>
        <p:spPr>
          <a:xfrm>
            <a:off x="7825550" y="4453900"/>
            <a:ext cx="8653500" cy="550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400"/>
              </a:spcBef>
              <a:spcAft>
                <a:spcPts val="0"/>
              </a:spcAft>
              <a:buClr>
                <a:schemeClr val="dk1"/>
              </a:buClr>
              <a:buSzPts val="1100"/>
              <a:buFont typeface="Arial"/>
              <a:buNone/>
            </a:pPr>
            <a:r>
              <a:rPr b="1" lang="en-US" sz="2400">
                <a:solidFill>
                  <a:schemeClr val="lt1"/>
                </a:solidFill>
              </a:rPr>
              <a:t>2. Four-Layer Architecture</a:t>
            </a:r>
            <a:endParaRPr b="1" sz="24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lt1"/>
                </a:solidFill>
              </a:rPr>
              <a:t>Adds an explicit processing layer to manage data volume before reaching applications:</a:t>
            </a:r>
            <a:endParaRPr sz="2400">
              <a:solidFill>
                <a:schemeClr val="lt1"/>
              </a:solidFill>
            </a:endParaRPr>
          </a:p>
          <a:p>
            <a:pPr indent="-381000" lvl="0" marL="457200" rtl="0" algn="l">
              <a:lnSpc>
                <a:spcPct val="115000"/>
              </a:lnSpc>
              <a:spcBef>
                <a:spcPts val="1200"/>
              </a:spcBef>
              <a:spcAft>
                <a:spcPts val="0"/>
              </a:spcAft>
              <a:buClr>
                <a:schemeClr val="lt1"/>
              </a:buClr>
              <a:buSzPts val="2400"/>
              <a:buChar char="●"/>
            </a:pPr>
            <a:r>
              <a:rPr b="1" lang="en-US" sz="2400">
                <a:solidFill>
                  <a:schemeClr val="lt1"/>
                </a:solidFill>
              </a:rPr>
              <a:t>Perception Layer:</a:t>
            </a:r>
            <a:r>
              <a:rPr lang="en-US" sz="2400">
                <a:solidFill>
                  <a:schemeClr val="lt1"/>
                </a:solidFill>
              </a:rPr>
              <a:t> Data gathering via sensors and hardware.</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b="1" lang="en-US" sz="2400">
                <a:solidFill>
                  <a:schemeClr val="lt1"/>
                </a:solidFill>
              </a:rPr>
              <a:t>Network Layer:</a:t>
            </a:r>
            <a:r>
              <a:rPr lang="en-US" sz="2400">
                <a:solidFill>
                  <a:schemeClr val="lt1"/>
                </a:solidFill>
              </a:rPr>
              <a:t> Secure data transmission.</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b="1" lang="en-US" sz="2400">
                <a:solidFill>
                  <a:schemeClr val="lt1"/>
                </a:solidFill>
              </a:rPr>
              <a:t>Support / Middleware (Processing) Layer:</a:t>
            </a:r>
            <a:r>
              <a:rPr lang="en-US" sz="2400">
                <a:solidFill>
                  <a:schemeClr val="lt1"/>
                </a:solidFill>
              </a:rPr>
              <a:t> Executes data storage, filtering, analytics, and decision-making (e.g., cloud platforms, database systems).</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b="1" lang="en-US" sz="2400">
                <a:solidFill>
                  <a:schemeClr val="lt1"/>
                </a:solidFill>
              </a:rPr>
              <a:t>Application Layer:</a:t>
            </a:r>
            <a:r>
              <a:rPr lang="en-US" sz="2400">
                <a:solidFill>
                  <a:schemeClr val="lt1"/>
                </a:solidFill>
              </a:rPr>
              <a:t> Industry-specific solutions like smart grids, autonomous logistics, or smart healthcare.</a:t>
            </a:r>
            <a:endParaRPr sz="2400">
              <a:solidFill>
                <a:schemeClr val="lt1"/>
              </a:solidFill>
            </a:endParaRPr>
          </a:p>
          <a:p>
            <a:pPr indent="0" lvl="0" marL="0" marR="0" rtl="0" algn="l">
              <a:lnSpc>
                <a:spcPct val="150000"/>
              </a:lnSpc>
              <a:spcBef>
                <a:spcPts val="1200"/>
              </a:spcBef>
              <a:spcAft>
                <a:spcPts val="0"/>
              </a:spcAft>
              <a:buNone/>
            </a:pPr>
            <a:r>
              <a:t/>
            </a:r>
            <a:endParaRPr b="1" sz="2400">
              <a:solidFill>
                <a:schemeClr val="lt1"/>
              </a:solidFill>
            </a:endParaRPr>
          </a:p>
        </p:txBody>
      </p:sp>
      <p:sp>
        <p:nvSpPr>
          <p:cNvPr id="164" name="Google Shape;164;p19"/>
          <p:cNvSpPr txBox="1"/>
          <p:nvPr/>
        </p:nvSpPr>
        <p:spPr>
          <a:xfrm>
            <a:off x="1300724" y="1599114"/>
            <a:ext cx="1074600" cy="484200"/>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168" name="Shape 168"/>
        <p:cNvGrpSpPr/>
        <p:nvPr/>
      </p:nvGrpSpPr>
      <p:grpSpPr>
        <a:xfrm>
          <a:off x="0" y="0"/>
          <a:ext cx="0" cy="0"/>
          <a:chOff x="0" y="0"/>
          <a:chExt cx="0" cy="0"/>
        </a:xfrm>
      </p:grpSpPr>
      <p:sp>
        <p:nvSpPr>
          <p:cNvPr id="169" name="Google Shape;169;p20"/>
          <p:cNvSpPr/>
          <p:nvPr/>
        </p:nvSpPr>
        <p:spPr>
          <a:xfrm rot="1574698">
            <a:off x="-5806186" y="6675838"/>
            <a:ext cx="19162454" cy="6994295"/>
          </a:xfrm>
          <a:custGeom>
            <a:rect b="b" l="l" r="r" t="t"/>
            <a:pathLst>
              <a:path extrusionOk="0" h="6989710" w="19149891">
                <a:moveTo>
                  <a:pt x="0" y="0"/>
                </a:moveTo>
                <a:lnTo>
                  <a:pt x="19149891" y="0"/>
                </a:lnTo>
                <a:lnTo>
                  <a:pt x="19149891" y="6989710"/>
                </a:lnTo>
                <a:lnTo>
                  <a:pt x="0" y="6989710"/>
                </a:lnTo>
                <a:lnTo>
                  <a:pt x="0" y="0"/>
                </a:lnTo>
                <a:close/>
              </a:path>
            </a:pathLst>
          </a:custGeom>
          <a:blipFill rotWithShape="1">
            <a:blip r:embed="rId3">
              <a:alphaModFix amt="80000"/>
            </a:blip>
            <a:stretch>
              <a:fillRect b="0" l="0" r="0" t="0"/>
            </a:stretch>
          </a:blipFill>
          <a:ln>
            <a:noFill/>
          </a:ln>
        </p:spPr>
      </p:sp>
      <p:sp>
        <p:nvSpPr>
          <p:cNvPr id="170" name="Google Shape;170;p20"/>
          <p:cNvSpPr/>
          <p:nvPr/>
        </p:nvSpPr>
        <p:spPr>
          <a:xfrm>
            <a:off x="2052822" y="3071015"/>
            <a:ext cx="3970782" cy="8229600"/>
          </a:xfrm>
          <a:custGeom>
            <a:rect b="b" l="l" r="r" t="t"/>
            <a:pathLst>
              <a:path extrusionOk="0" h="8229600" w="3970782">
                <a:moveTo>
                  <a:pt x="0" y="0"/>
                </a:moveTo>
                <a:lnTo>
                  <a:pt x="3970782" y="0"/>
                </a:lnTo>
                <a:lnTo>
                  <a:pt x="3970782" y="8229600"/>
                </a:lnTo>
                <a:lnTo>
                  <a:pt x="0" y="8229600"/>
                </a:lnTo>
                <a:lnTo>
                  <a:pt x="0" y="0"/>
                </a:lnTo>
                <a:close/>
              </a:path>
            </a:pathLst>
          </a:custGeom>
          <a:blipFill rotWithShape="1">
            <a:blip r:embed="rId4">
              <a:alphaModFix/>
            </a:blip>
            <a:stretch>
              <a:fillRect b="0" l="0" r="0" t="0"/>
            </a:stretch>
          </a:blipFill>
          <a:ln>
            <a:noFill/>
          </a:ln>
        </p:spPr>
      </p:sp>
      <p:sp>
        <p:nvSpPr>
          <p:cNvPr id="171" name="Google Shape;171;p20"/>
          <p:cNvSpPr/>
          <p:nvPr/>
        </p:nvSpPr>
        <p:spPr>
          <a:xfrm>
            <a:off x="3775575" y="2080415"/>
            <a:ext cx="2691369" cy="2691369"/>
          </a:xfrm>
          <a:custGeom>
            <a:rect b="b" l="l" r="r" t="t"/>
            <a:pathLst>
              <a:path extrusionOk="0" h="2691369" w="2691369">
                <a:moveTo>
                  <a:pt x="0" y="0"/>
                </a:moveTo>
                <a:lnTo>
                  <a:pt x="2691368" y="0"/>
                </a:lnTo>
                <a:lnTo>
                  <a:pt x="2691368" y="2691368"/>
                </a:lnTo>
                <a:lnTo>
                  <a:pt x="0" y="2691368"/>
                </a:lnTo>
                <a:lnTo>
                  <a:pt x="0" y="0"/>
                </a:lnTo>
                <a:close/>
              </a:path>
            </a:pathLst>
          </a:custGeom>
          <a:blipFill rotWithShape="1">
            <a:blip r:embed="rId5">
              <a:alphaModFix/>
            </a:blip>
            <a:stretch>
              <a:fillRect b="0" l="0" r="0" t="0"/>
            </a:stretch>
          </a:blipFill>
          <a:ln>
            <a:noFill/>
          </a:ln>
        </p:spPr>
      </p:sp>
      <p:sp>
        <p:nvSpPr>
          <p:cNvPr id="172" name="Google Shape;172;p20"/>
          <p:cNvSpPr/>
          <p:nvPr/>
        </p:nvSpPr>
        <p:spPr>
          <a:xfrm flipH="1" rot="-9225302">
            <a:off x="8920361" y="-3489337"/>
            <a:ext cx="19162454" cy="6994295"/>
          </a:xfrm>
          <a:custGeom>
            <a:rect b="b" l="l" r="r" t="t"/>
            <a:pathLst>
              <a:path extrusionOk="0" h="6989710" w="19149891">
                <a:moveTo>
                  <a:pt x="0" y="6989710"/>
                </a:moveTo>
                <a:lnTo>
                  <a:pt x="19149891" y="6989710"/>
                </a:lnTo>
                <a:lnTo>
                  <a:pt x="19149891" y="0"/>
                </a:lnTo>
                <a:lnTo>
                  <a:pt x="0" y="0"/>
                </a:lnTo>
                <a:lnTo>
                  <a:pt x="0" y="6989710"/>
                </a:lnTo>
                <a:close/>
              </a:path>
            </a:pathLst>
          </a:custGeom>
          <a:blipFill rotWithShape="1">
            <a:blip r:embed="rId3">
              <a:alphaModFix amt="80000"/>
            </a:blip>
            <a:stretch>
              <a:fillRect b="0" l="0" r="0" t="0"/>
            </a:stretch>
          </a:blipFill>
          <a:ln>
            <a:noFill/>
          </a:ln>
        </p:spPr>
      </p:sp>
      <p:sp>
        <p:nvSpPr>
          <p:cNvPr id="173" name="Google Shape;173;p20"/>
          <p:cNvSpPr/>
          <p:nvPr/>
        </p:nvSpPr>
        <p:spPr>
          <a:xfrm>
            <a:off x="6635623" y="1578083"/>
            <a:ext cx="658167" cy="595940"/>
          </a:xfrm>
          <a:custGeom>
            <a:rect b="b" l="l" r="r" t="t"/>
            <a:pathLst>
              <a:path extrusionOk="0" h="595940" w="658167">
                <a:moveTo>
                  <a:pt x="0" y="0"/>
                </a:moveTo>
                <a:lnTo>
                  <a:pt x="658166" y="0"/>
                </a:lnTo>
                <a:lnTo>
                  <a:pt x="658166" y="595940"/>
                </a:lnTo>
                <a:lnTo>
                  <a:pt x="0" y="595940"/>
                </a:lnTo>
                <a:lnTo>
                  <a:pt x="0" y="0"/>
                </a:lnTo>
                <a:close/>
              </a:path>
            </a:pathLst>
          </a:custGeom>
          <a:blipFill rotWithShape="1">
            <a:blip r:embed="rId6">
              <a:alphaModFix/>
            </a:blip>
            <a:stretch>
              <a:fillRect b="0" l="0" r="0" t="0"/>
            </a:stretch>
          </a:blipFill>
          <a:ln>
            <a:noFill/>
          </a:ln>
        </p:spPr>
      </p:sp>
      <p:sp>
        <p:nvSpPr>
          <p:cNvPr id="174" name="Google Shape;174;p20"/>
          <p:cNvSpPr txBox="1"/>
          <p:nvPr/>
        </p:nvSpPr>
        <p:spPr>
          <a:xfrm>
            <a:off x="7945523" y="1536536"/>
            <a:ext cx="8344500" cy="1754700"/>
          </a:xfrm>
          <a:prstGeom prst="rect">
            <a:avLst/>
          </a:prstGeom>
          <a:noFill/>
          <a:ln>
            <a:noFill/>
          </a:ln>
        </p:spPr>
        <p:txBody>
          <a:bodyPr anchorCtr="0" anchor="t" bIns="0" lIns="0" spcFirstLastPara="1" rIns="0" wrap="square" tIns="0">
            <a:spAutoFit/>
          </a:bodyPr>
          <a:lstStyle/>
          <a:p>
            <a:pPr indent="0" lvl="0" marL="0" marR="0" rtl="0" algn="l">
              <a:lnSpc>
                <a:spcPct val="94995"/>
              </a:lnSpc>
              <a:spcBef>
                <a:spcPts val="0"/>
              </a:spcBef>
              <a:spcAft>
                <a:spcPts val="0"/>
              </a:spcAft>
              <a:buNone/>
            </a:pPr>
            <a:r>
              <a:rPr b="1" lang="en-US" sz="6000">
                <a:solidFill>
                  <a:srgbClr val="FFFFFF"/>
                </a:solidFill>
                <a:latin typeface="Montserrat SemiBold"/>
                <a:ea typeface="Montserrat SemiBold"/>
                <a:cs typeface="Montserrat SemiBold"/>
                <a:sym typeface="Montserrat SemiBold"/>
              </a:rPr>
              <a:t>Architecture of IoT Ecosystem</a:t>
            </a:r>
            <a:endParaRPr sz="6000"/>
          </a:p>
        </p:txBody>
      </p:sp>
      <p:sp>
        <p:nvSpPr>
          <p:cNvPr id="175" name="Google Shape;175;p20"/>
          <p:cNvSpPr txBox="1"/>
          <p:nvPr/>
        </p:nvSpPr>
        <p:spPr>
          <a:xfrm>
            <a:off x="7791025" y="3818900"/>
            <a:ext cx="8653500" cy="6354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400"/>
              </a:spcBef>
              <a:spcAft>
                <a:spcPts val="0"/>
              </a:spcAft>
              <a:buClr>
                <a:schemeClr val="dk1"/>
              </a:buClr>
              <a:buSzPts val="1100"/>
              <a:buFont typeface="Arial"/>
              <a:buNone/>
            </a:pPr>
            <a:r>
              <a:rPr b="1" lang="en-US" sz="2400">
                <a:solidFill>
                  <a:schemeClr val="lt1"/>
                </a:solidFill>
              </a:rPr>
              <a:t>3. Five-Layer Architecture</a:t>
            </a:r>
            <a:endParaRPr b="1" sz="24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lt1"/>
                </a:solidFill>
              </a:rPr>
              <a:t>Designed for enterprise-scale or complex industrial IoT (IIoT) setups:</a:t>
            </a:r>
            <a:endParaRPr sz="2400">
              <a:solidFill>
                <a:schemeClr val="lt1"/>
              </a:solidFill>
            </a:endParaRPr>
          </a:p>
          <a:p>
            <a:pPr indent="-381000" lvl="0" marL="457200" rtl="0" algn="l">
              <a:lnSpc>
                <a:spcPct val="115000"/>
              </a:lnSpc>
              <a:spcBef>
                <a:spcPts val="1200"/>
              </a:spcBef>
              <a:spcAft>
                <a:spcPts val="0"/>
              </a:spcAft>
              <a:buClr>
                <a:schemeClr val="lt1"/>
              </a:buClr>
              <a:buSzPts val="2400"/>
              <a:buChar char="●"/>
            </a:pPr>
            <a:r>
              <a:rPr b="1" lang="en-US" sz="2400">
                <a:solidFill>
                  <a:schemeClr val="lt1"/>
                </a:solidFill>
              </a:rPr>
              <a:t>Perception (Objects) Layer:</a:t>
            </a:r>
            <a:r>
              <a:rPr lang="en-US" sz="2400">
                <a:solidFill>
                  <a:schemeClr val="lt1"/>
                </a:solidFill>
              </a:rPr>
              <a:t> Gathers environmental and machine data.</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b="1" lang="en-US" sz="2400">
                <a:solidFill>
                  <a:schemeClr val="lt1"/>
                </a:solidFill>
              </a:rPr>
              <a:t>Transport Layer:</a:t>
            </a:r>
            <a:r>
              <a:rPr lang="en-US" sz="2400">
                <a:solidFill>
                  <a:schemeClr val="lt1"/>
                </a:solidFill>
              </a:rPr>
              <a:t> Transfers data across networks to the processing stage.</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b="1" lang="en-US" sz="2400">
                <a:solidFill>
                  <a:schemeClr val="lt1"/>
                </a:solidFill>
              </a:rPr>
              <a:t>Processing (Middleware) Layer:</a:t>
            </a:r>
            <a:r>
              <a:rPr lang="en-US" sz="2400">
                <a:solidFill>
                  <a:schemeClr val="lt1"/>
                </a:solidFill>
              </a:rPr>
              <a:t> Analyzes, filters, and stores massive datasets.</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b="1" lang="en-US" sz="2400">
                <a:solidFill>
                  <a:schemeClr val="lt1"/>
                </a:solidFill>
              </a:rPr>
              <a:t>Business Layer:</a:t>
            </a:r>
            <a:r>
              <a:rPr lang="en-US" sz="2400">
                <a:solidFill>
                  <a:schemeClr val="lt1"/>
                </a:solidFill>
              </a:rPr>
              <a:t> Manages the overall IoT system logic, business models, user privacy, and strategic workflows.</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b="1" lang="en-US" sz="2400">
                <a:solidFill>
                  <a:schemeClr val="lt1"/>
                </a:solidFill>
              </a:rPr>
              <a:t>Application Layer:</a:t>
            </a:r>
            <a:r>
              <a:rPr lang="en-US" sz="2400">
                <a:solidFill>
                  <a:schemeClr val="lt1"/>
                </a:solidFill>
              </a:rPr>
              <a:t> Final user applications tailored to specific operational needs.</a:t>
            </a:r>
            <a:endParaRPr sz="2400">
              <a:solidFill>
                <a:schemeClr val="lt1"/>
              </a:solidFill>
            </a:endParaRPr>
          </a:p>
          <a:p>
            <a:pPr indent="0" lvl="0" marL="0" marR="0" rtl="0" algn="l">
              <a:lnSpc>
                <a:spcPct val="150000"/>
              </a:lnSpc>
              <a:spcBef>
                <a:spcPts val="1200"/>
              </a:spcBef>
              <a:spcAft>
                <a:spcPts val="0"/>
              </a:spcAft>
              <a:buNone/>
            </a:pPr>
            <a:r>
              <a:t/>
            </a:r>
            <a:endParaRPr b="1" sz="2400">
              <a:solidFill>
                <a:schemeClr val="lt1"/>
              </a:solidFill>
            </a:endParaRPr>
          </a:p>
        </p:txBody>
      </p:sp>
      <p:sp>
        <p:nvSpPr>
          <p:cNvPr id="176" name="Google Shape;176;p20"/>
          <p:cNvSpPr txBox="1"/>
          <p:nvPr/>
        </p:nvSpPr>
        <p:spPr>
          <a:xfrm>
            <a:off x="1300724" y="1599114"/>
            <a:ext cx="1074600" cy="484200"/>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180" name="Shape 180"/>
        <p:cNvGrpSpPr/>
        <p:nvPr/>
      </p:nvGrpSpPr>
      <p:grpSpPr>
        <a:xfrm>
          <a:off x="0" y="0"/>
          <a:ext cx="0" cy="0"/>
          <a:chOff x="0" y="0"/>
          <a:chExt cx="0" cy="0"/>
        </a:xfrm>
      </p:grpSpPr>
      <p:sp>
        <p:nvSpPr>
          <p:cNvPr id="181" name="Google Shape;181;p21"/>
          <p:cNvSpPr/>
          <p:nvPr/>
        </p:nvSpPr>
        <p:spPr>
          <a:xfrm rot="1574698">
            <a:off x="-5806186" y="6675838"/>
            <a:ext cx="19162454" cy="6994295"/>
          </a:xfrm>
          <a:custGeom>
            <a:rect b="b" l="l" r="r" t="t"/>
            <a:pathLst>
              <a:path extrusionOk="0" h="6989710" w="19149891">
                <a:moveTo>
                  <a:pt x="0" y="0"/>
                </a:moveTo>
                <a:lnTo>
                  <a:pt x="19149891" y="0"/>
                </a:lnTo>
                <a:lnTo>
                  <a:pt x="19149891" y="6989710"/>
                </a:lnTo>
                <a:lnTo>
                  <a:pt x="0" y="6989710"/>
                </a:lnTo>
                <a:lnTo>
                  <a:pt x="0" y="0"/>
                </a:lnTo>
                <a:close/>
              </a:path>
            </a:pathLst>
          </a:custGeom>
          <a:blipFill rotWithShape="1">
            <a:blip r:embed="rId3">
              <a:alphaModFix amt="80000"/>
            </a:blip>
            <a:stretch>
              <a:fillRect b="0" l="0" r="0" t="0"/>
            </a:stretch>
          </a:blipFill>
          <a:ln>
            <a:noFill/>
          </a:ln>
        </p:spPr>
      </p:sp>
      <p:sp>
        <p:nvSpPr>
          <p:cNvPr id="182" name="Google Shape;182;p21"/>
          <p:cNvSpPr/>
          <p:nvPr/>
        </p:nvSpPr>
        <p:spPr>
          <a:xfrm>
            <a:off x="2052822" y="3071015"/>
            <a:ext cx="3970782" cy="8229600"/>
          </a:xfrm>
          <a:custGeom>
            <a:rect b="b" l="l" r="r" t="t"/>
            <a:pathLst>
              <a:path extrusionOk="0" h="8229600" w="3970782">
                <a:moveTo>
                  <a:pt x="0" y="0"/>
                </a:moveTo>
                <a:lnTo>
                  <a:pt x="3970782" y="0"/>
                </a:lnTo>
                <a:lnTo>
                  <a:pt x="3970782" y="8229600"/>
                </a:lnTo>
                <a:lnTo>
                  <a:pt x="0" y="8229600"/>
                </a:lnTo>
                <a:lnTo>
                  <a:pt x="0" y="0"/>
                </a:lnTo>
                <a:close/>
              </a:path>
            </a:pathLst>
          </a:custGeom>
          <a:blipFill rotWithShape="1">
            <a:blip r:embed="rId4">
              <a:alphaModFix/>
            </a:blip>
            <a:stretch>
              <a:fillRect b="0" l="0" r="0" t="0"/>
            </a:stretch>
          </a:blipFill>
          <a:ln>
            <a:noFill/>
          </a:ln>
        </p:spPr>
      </p:sp>
      <p:sp>
        <p:nvSpPr>
          <p:cNvPr id="183" name="Google Shape;183;p21"/>
          <p:cNvSpPr/>
          <p:nvPr/>
        </p:nvSpPr>
        <p:spPr>
          <a:xfrm>
            <a:off x="3775575" y="2080415"/>
            <a:ext cx="2691369" cy="2691369"/>
          </a:xfrm>
          <a:custGeom>
            <a:rect b="b" l="l" r="r" t="t"/>
            <a:pathLst>
              <a:path extrusionOk="0" h="2691369" w="2691369">
                <a:moveTo>
                  <a:pt x="0" y="0"/>
                </a:moveTo>
                <a:lnTo>
                  <a:pt x="2691368" y="0"/>
                </a:lnTo>
                <a:lnTo>
                  <a:pt x="2691368" y="2691368"/>
                </a:lnTo>
                <a:lnTo>
                  <a:pt x="0" y="2691368"/>
                </a:lnTo>
                <a:lnTo>
                  <a:pt x="0" y="0"/>
                </a:lnTo>
                <a:close/>
              </a:path>
            </a:pathLst>
          </a:custGeom>
          <a:blipFill rotWithShape="1">
            <a:blip r:embed="rId5">
              <a:alphaModFix/>
            </a:blip>
            <a:stretch>
              <a:fillRect b="0" l="0" r="0" t="0"/>
            </a:stretch>
          </a:blipFill>
          <a:ln>
            <a:noFill/>
          </a:ln>
        </p:spPr>
      </p:sp>
      <p:sp>
        <p:nvSpPr>
          <p:cNvPr id="184" name="Google Shape;184;p21"/>
          <p:cNvSpPr/>
          <p:nvPr/>
        </p:nvSpPr>
        <p:spPr>
          <a:xfrm flipH="1" rot="-9225302">
            <a:off x="8920361" y="-3489337"/>
            <a:ext cx="19162454" cy="6994295"/>
          </a:xfrm>
          <a:custGeom>
            <a:rect b="b" l="l" r="r" t="t"/>
            <a:pathLst>
              <a:path extrusionOk="0" h="6989710" w="19149891">
                <a:moveTo>
                  <a:pt x="0" y="6989710"/>
                </a:moveTo>
                <a:lnTo>
                  <a:pt x="19149891" y="6989710"/>
                </a:lnTo>
                <a:lnTo>
                  <a:pt x="19149891" y="0"/>
                </a:lnTo>
                <a:lnTo>
                  <a:pt x="0" y="0"/>
                </a:lnTo>
                <a:lnTo>
                  <a:pt x="0" y="6989710"/>
                </a:lnTo>
                <a:close/>
              </a:path>
            </a:pathLst>
          </a:custGeom>
          <a:blipFill rotWithShape="1">
            <a:blip r:embed="rId3">
              <a:alphaModFix amt="80000"/>
            </a:blip>
            <a:stretch>
              <a:fillRect b="0" l="0" r="0" t="0"/>
            </a:stretch>
          </a:blipFill>
          <a:ln>
            <a:noFill/>
          </a:ln>
        </p:spPr>
      </p:sp>
      <p:sp>
        <p:nvSpPr>
          <p:cNvPr id="185" name="Google Shape;185;p21"/>
          <p:cNvSpPr/>
          <p:nvPr/>
        </p:nvSpPr>
        <p:spPr>
          <a:xfrm>
            <a:off x="6635623" y="1578083"/>
            <a:ext cx="658167" cy="595940"/>
          </a:xfrm>
          <a:custGeom>
            <a:rect b="b" l="l" r="r" t="t"/>
            <a:pathLst>
              <a:path extrusionOk="0" h="595940" w="658167">
                <a:moveTo>
                  <a:pt x="0" y="0"/>
                </a:moveTo>
                <a:lnTo>
                  <a:pt x="658166" y="0"/>
                </a:lnTo>
                <a:lnTo>
                  <a:pt x="658166" y="595940"/>
                </a:lnTo>
                <a:lnTo>
                  <a:pt x="0" y="595940"/>
                </a:lnTo>
                <a:lnTo>
                  <a:pt x="0" y="0"/>
                </a:lnTo>
                <a:close/>
              </a:path>
            </a:pathLst>
          </a:custGeom>
          <a:blipFill rotWithShape="1">
            <a:blip r:embed="rId6">
              <a:alphaModFix/>
            </a:blip>
            <a:stretch>
              <a:fillRect b="0" l="0" r="0" t="0"/>
            </a:stretch>
          </a:blipFill>
          <a:ln>
            <a:noFill/>
          </a:ln>
        </p:spPr>
      </p:sp>
      <p:sp>
        <p:nvSpPr>
          <p:cNvPr id="186" name="Google Shape;186;p21"/>
          <p:cNvSpPr txBox="1"/>
          <p:nvPr/>
        </p:nvSpPr>
        <p:spPr>
          <a:xfrm>
            <a:off x="7945523" y="1536536"/>
            <a:ext cx="8344500" cy="1588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Clr>
                <a:schemeClr val="dk1"/>
              </a:buClr>
              <a:buSzPts val="1100"/>
              <a:buFont typeface="Arial"/>
              <a:buNone/>
            </a:pPr>
            <a:r>
              <a:rPr b="1" lang="en-US" sz="4800">
                <a:solidFill>
                  <a:schemeClr val="lt1"/>
                </a:solidFill>
              </a:rPr>
              <a:t>What Is Decentralized Internet of Things Concept?</a:t>
            </a:r>
            <a:endParaRPr sz="4800"/>
          </a:p>
        </p:txBody>
      </p:sp>
      <p:sp>
        <p:nvSpPr>
          <p:cNvPr id="187" name="Google Shape;187;p21"/>
          <p:cNvSpPr txBox="1"/>
          <p:nvPr/>
        </p:nvSpPr>
        <p:spPr>
          <a:xfrm>
            <a:off x="7791025" y="3581100"/>
            <a:ext cx="8653500" cy="6705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2000">
                <a:solidFill>
                  <a:schemeClr val="lt1"/>
                </a:solidFill>
              </a:rPr>
              <a:t>What Is Decentralized Internet of Things Concept?</a:t>
            </a:r>
            <a:endParaRPr b="1" sz="20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en-US" sz="2000">
                <a:solidFill>
                  <a:schemeClr val="lt1"/>
                </a:solidFill>
              </a:rPr>
              <a:t>Decentralized IoT—also known as </a:t>
            </a:r>
            <a:r>
              <a:rPr b="1" lang="en-US" sz="2000">
                <a:solidFill>
                  <a:schemeClr val="lt1"/>
                </a:solidFill>
              </a:rPr>
              <a:t>Smart IoT</a:t>
            </a:r>
            <a:r>
              <a:rPr lang="en-US" sz="2000">
                <a:solidFill>
                  <a:schemeClr val="lt1"/>
                </a:solidFill>
              </a:rPr>
              <a:t>—is an advanced architectural framework driven by cutting-edge technologies like </a:t>
            </a:r>
            <a:r>
              <a:rPr b="1" lang="en-US" sz="2000">
                <a:solidFill>
                  <a:schemeClr val="lt1"/>
                </a:solidFill>
              </a:rPr>
              <a:t>Multi-access Edge Computing (MEC)</a:t>
            </a:r>
            <a:r>
              <a:rPr lang="en-US" sz="2000">
                <a:solidFill>
                  <a:schemeClr val="lt1"/>
                </a:solidFill>
              </a:rPr>
              <a:t>, </a:t>
            </a:r>
            <a:r>
              <a:rPr b="1" lang="en-US" sz="2000">
                <a:solidFill>
                  <a:schemeClr val="lt1"/>
                </a:solidFill>
              </a:rPr>
              <a:t>Blockchain (Distributed Ledger Technology)</a:t>
            </a:r>
            <a:r>
              <a:rPr lang="en-US" sz="2000">
                <a:solidFill>
                  <a:schemeClr val="lt1"/>
                </a:solidFill>
              </a:rPr>
              <a:t>, </a:t>
            </a:r>
            <a:r>
              <a:rPr b="1" lang="en-US" sz="2000">
                <a:solidFill>
                  <a:schemeClr val="lt1"/>
                </a:solidFill>
              </a:rPr>
              <a:t>Artificial Intelligence (AI)</a:t>
            </a:r>
            <a:r>
              <a:rPr lang="en-US" sz="2000">
                <a:solidFill>
                  <a:schemeClr val="lt1"/>
                </a:solidFill>
              </a:rPr>
              <a:t>, and </a:t>
            </a:r>
            <a:r>
              <a:rPr b="1" lang="en-US" sz="2000">
                <a:solidFill>
                  <a:schemeClr val="lt1"/>
                </a:solidFill>
              </a:rPr>
              <a:t>Machine Learning (ML)</a:t>
            </a:r>
            <a:r>
              <a:rPr lang="en-US" sz="2000">
                <a:solidFill>
                  <a:schemeClr val="lt1"/>
                </a:solidFill>
              </a:rPr>
              <a:t>. By shifting away from traditional centralized cloud models, it provides businesses with a highly reliable, cost-effective, secure, and performant ecosystem.</a:t>
            </a:r>
            <a:endParaRPr sz="2000">
              <a:solidFill>
                <a:schemeClr val="lt1"/>
              </a:solidFill>
            </a:endParaRPr>
          </a:p>
          <a:p>
            <a:pPr indent="0" lvl="0" marL="0" rtl="0" algn="l">
              <a:lnSpc>
                <a:spcPct val="115000"/>
              </a:lnSpc>
              <a:spcBef>
                <a:spcPts val="1400"/>
              </a:spcBef>
              <a:spcAft>
                <a:spcPts val="0"/>
              </a:spcAft>
              <a:buClr>
                <a:schemeClr val="dk1"/>
              </a:buClr>
              <a:buSzPts val="1100"/>
              <a:buFont typeface="Arial"/>
              <a:buNone/>
            </a:pPr>
            <a:r>
              <a:rPr b="1" lang="en-US" sz="2000">
                <a:solidFill>
                  <a:schemeClr val="lt1"/>
                </a:solidFill>
              </a:rPr>
              <a:t>Key Components</a:t>
            </a:r>
            <a:endParaRPr b="1" sz="2000">
              <a:solidFill>
                <a:schemeClr val="lt1"/>
              </a:solidFill>
            </a:endParaRPr>
          </a:p>
          <a:p>
            <a:pPr indent="-355600" lvl="0" marL="457200" rtl="0" algn="l">
              <a:lnSpc>
                <a:spcPct val="115000"/>
              </a:lnSpc>
              <a:spcBef>
                <a:spcPts val="1200"/>
              </a:spcBef>
              <a:spcAft>
                <a:spcPts val="0"/>
              </a:spcAft>
              <a:buClr>
                <a:schemeClr val="lt1"/>
              </a:buClr>
              <a:buSzPts val="2000"/>
              <a:buChar char="●"/>
            </a:pPr>
            <a:r>
              <a:rPr b="1" lang="en-US" sz="2000">
                <a:solidFill>
                  <a:schemeClr val="lt1"/>
                </a:solidFill>
              </a:rPr>
              <a:t>Multi-Access Edge Computing (MEC):</a:t>
            </a:r>
            <a:r>
              <a:rPr lang="en-US" sz="2000">
                <a:solidFill>
                  <a:schemeClr val="lt1"/>
                </a:solidFill>
              </a:rPr>
              <a:t> Shifts compute power, data processing, and software-defined resources closer to the network edge, significantly boosting scalability, speed, and efficiency.</a:t>
            </a:r>
            <a:endParaRPr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US" sz="2000">
                <a:solidFill>
                  <a:schemeClr val="lt1"/>
                </a:solidFill>
              </a:rPr>
              <a:t>Blockchain Technology:</a:t>
            </a:r>
            <a:r>
              <a:rPr lang="en-US" sz="2000">
                <a:solidFill>
                  <a:schemeClr val="lt1"/>
                </a:solidFill>
              </a:rPr>
              <a:t> Establishes strong trust, data integrity, and security across the network by eliminating single points of failure without relying on a central authority.</a:t>
            </a:r>
            <a:endParaRPr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US" sz="2000">
                <a:solidFill>
                  <a:schemeClr val="lt1"/>
                </a:solidFill>
              </a:rPr>
              <a:t>AI &amp; Machine Learning:</a:t>
            </a:r>
            <a:r>
              <a:rPr lang="en-US" sz="2000">
                <a:solidFill>
                  <a:schemeClr val="lt1"/>
                </a:solidFill>
              </a:rPr>
              <a:t> Enables edge devices to process localized data autonomously and make intelligent, real-time decisions.</a:t>
            </a:r>
            <a:endParaRPr sz="2000">
              <a:solidFill>
                <a:schemeClr val="lt1"/>
              </a:solidFill>
            </a:endParaRPr>
          </a:p>
          <a:p>
            <a:pPr indent="0" lvl="0" marL="0" marR="0" rtl="0" algn="l">
              <a:lnSpc>
                <a:spcPct val="150000"/>
              </a:lnSpc>
              <a:spcBef>
                <a:spcPts val="1200"/>
              </a:spcBef>
              <a:spcAft>
                <a:spcPts val="0"/>
              </a:spcAft>
              <a:buNone/>
            </a:pPr>
            <a:r>
              <a:t/>
            </a:r>
            <a:endParaRPr b="1" sz="2600">
              <a:solidFill>
                <a:schemeClr val="lt1"/>
              </a:solidFill>
            </a:endParaRPr>
          </a:p>
        </p:txBody>
      </p:sp>
      <p:sp>
        <p:nvSpPr>
          <p:cNvPr id="188" name="Google Shape;188;p21"/>
          <p:cNvSpPr txBox="1"/>
          <p:nvPr/>
        </p:nvSpPr>
        <p:spPr>
          <a:xfrm>
            <a:off x="1300724" y="1599114"/>
            <a:ext cx="1074600" cy="484200"/>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61B70"/>
            </a:gs>
            <a:gs pos="100000">
              <a:srgbClr val="000000"/>
            </a:gs>
          </a:gsLst>
          <a:lin ang="0" scaled="0"/>
        </a:gradFill>
      </p:bgPr>
    </p:bg>
    <p:spTree>
      <p:nvGrpSpPr>
        <p:cNvPr id="192" name="Shape 192"/>
        <p:cNvGrpSpPr/>
        <p:nvPr/>
      </p:nvGrpSpPr>
      <p:grpSpPr>
        <a:xfrm>
          <a:off x="0" y="0"/>
          <a:ext cx="0" cy="0"/>
          <a:chOff x="0" y="0"/>
          <a:chExt cx="0" cy="0"/>
        </a:xfrm>
      </p:grpSpPr>
      <p:sp>
        <p:nvSpPr>
          <p:cNvPr id="193" name="Google Shape;193;p22"/>
          <p:cNvSpPr/>
          <p:nvPr/>
        </p:nvSpPr>
        <p:spPr>
          <a:xfrm rot="-1314761">
            <a:off x="5680419" y="6404287"/>
            <a:ext cx="19149891" cy="6989710"/>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194" name="Google Shape;194;p22"/>
          <p:cNvSpPr/>
          <p:nvPr/>
        </p:nvSpPr>
        <p:spPr>
          <a:xfrm flipH="1" rot="-9227707">
            <a:off x="3960635" y="-5525403"/>
            <a:ext cx="19149891" cy="6989710"/>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195" name="Google Shape;195;p22"/>
          <p:cNvSpPr/>
          <p:nvPr/>
        </p:nvSpPr>
        <p:spPr>
          <a:xfrm>
            <a:off x="3832242" y="1041274"/>
            <a:ext cx="658167" cy="595940"/>
          </a:xfrm>
          <a:custGeom>
            <a:rect b="b" l="l" r="r" t="t"/>
            <a:pathLst>
              <a:path extrusionOk="0" h="595940" w="658167">
                <a:moveTo>
                  <a:pt x="0" y="0"/>
                </a:moveTo>
                <a:lnTo>
                  <a:pt x="658166" y="0"/>
                </a:lnTo>
                <a:lnTo>
                  <a:pt x="658166" y="595940"/>
                </a:lnTo>
                <a:lnTo>
                  <a:pt x="0" y="595940"/>
                </a:lnTo>
                <a:lnTo>
                  <a:pt x="0" y="0"/>
                </a:lnTo>
                <a:close/>
              </a:path>
            </a:pathLst>
          </a:custGeom>
          <a:blipFill rotWithShape="1">
            <a:blip r:embed="rId4">
              <a:alphaModFix/>
            </a:blip>
            <a:stretch>
              <a:fillRect b="0" l="0" r="0" t="0"/>
            </a:stretch>
          </a:blipFill>
          <a:ln>
            <a:noFill/>
          </a:ln>
        </p:spPr>
      </p:sp>
      <p:grpSp>
        <p:nvGrpSpPr>
          <p:cNvPr id="196" name="Google Shape;196;p22"/>
          <p:cNvGrpSpPr/>
          <p:nvPr/>
        </p:nvGrpSpPr>
        <p:grpSpPr>
          <a:xfrm>
            <a:off x="3330439" y="6632284"/>
            <a:ext cx="2810399" cy="2797887"/>
            <a:chOff x="-33258" y="-75"/>
            <a:chExt cx="14906544" cy="14840178"/>
          </a:xfrm>
        </p:grpSpPr>
        <p:sp>
          <p:nvSpPr>
            <p:cNvPr id="197" name="Google Shape;197;p22"/>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2"/>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2"/>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5">
                <a:alphaModFix/>
              </a:blip>
              <a:stretch>
                <a:fillRect b="0" l="-45391" r="-45391"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 name="Google Shape;200;p22"/>
          <p:cNvGrpSpPr/>
          <p:nvPr/>
        </p:nvGrpSpPr>
        <p:grpSpPr>
          <a:xfrm>
            <a:off x="7428211" y="6567979"/>
            <a:ext cx="2810399" cy="2797887"/>
            <a:chOff x="-33258" y="-75"/>
            <a:chExt cx="14906544" cy="14840178"/>
          </a:xfrm>
        </p:grpSpPr>
        <p:sp>
          <p:nvSpPr>
            <p:cNvPr id="201" name="Google Shape;201;p22"/>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2"/>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2"/>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6">
                <a:alphaModFix/>
              </a:blip>
              <a:stretch>
                <a:fillRect b="0" l="-38599" r="-38599"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 name="Google Shape;204;p22"/>
          <p:cNvGrpSpPr/>
          <p:nvPr/>
        </p:nvGrpSpPr>
        <p:grpSpPr>
          <a:xfrm>
            <a:off x="11466375" y="6632284"/>
            <a:ext cx="2810399" cy="2797887"/>
            <a:chOff x="-33258" y="-75"/>
            <a:chExt cx="14906544" cy="14840178"/>
          </a:xfrm>
        </p:grpSpPr>
        <p:sp>
          <p:nvSpPr>
            <p:cNvPr id="205" name="Google Shape;205;p22"/>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2"/>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2"/>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7">
                <a:alphaModFix/>
              </a:blip>
              <a:stretch>
                <a:fillRect b="0" l="-25213" r="-25213"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8" name="Google Shape;208;p22"/>
          <p:cNvSpPr txBox="1"/>
          <p:nvPr/>
        </p:nvSpPr>
        <p:spPr>
          <a:xfrm>
            <a:off x="4161325" y="888834"/>
            <a:ext cx="9965350" cy="1100845"/>
          </a:xfrm>
          <a:prstGeom prst="rect">
            <a:avLst/>
          </a:prstGeom>
          <a:noFill/>
          <a:ln>
            <a:noFill/>
          </a:ln>
        </p:spPr>
        <p:txBody>
          <a:bodyPr anchorCtr="0" anchor="t" bIns="0" lIns="0" spcFirstLastPara="1" rIns="0" wrap="square" tIns="0">
            <a:spAutoFit/>
          </a:bodyPr>
          <a:lstStyle/>
          <a:p>
            <a:pPr indent="0" lvl="0" marL="0" marR="0" rtl="0" algn="ctr">
              <a:lnSpc>
                <a:spcPct val="94995"/>
              </a:lnSpc>
              <a:spcBef>
                <a:spcPts val="0"/>
              </a:spcBef>
              <a:spcAft>
                <a:spcPts val="0"/>
              </a:spcAft>
              <a:buNone/>
            </a:pPr>
            <a:r>
              <a:rPr b="1" i="0" lang="en-US" sz="8572" u="none" cap="none" strike="noStrike">
                <a:solidFill>
                  <a:srgbClr val="36E9FD"/>
                </a:solidFill>
                <a:latin typeface="Montserrat SemiBold"/>
                <a:ea typeface="Montserrat SemiBold"/>
                <a:cs typeface="Montserrat SemiBold"/>
                <a:sym typeface="Montserrat SemiBold"/>
              </a:rPr>
              <a:t>Evolution of IoT</a:t>
            </a:r>
            <a:endParaRPr/>
          </a:p>
        </p:txBody>
      </p:sp>
      <p:sp>
        <p:nvSpPr>
          <p:cNvPr id="209" name="Google Shape;209;p22"/>
          <p:cNvSpPr txBox="1"/>
          <p:nvPr/>
        </p:nvSpPr>
        <p:spPr>
          <a:xfrm>
            <a:off x="2316675" y="2371175"/>
            <a:ext cx="13538100" cy="3663900"/>
          </a:xfrm>
          <a:prstGeom prst="rect">
            <a:avLst/>
          </a:prstGeom>
          <a:noFill/>
          <a:ln>
            <a:noFill/>
          </a:ln>
        </p:spPr>
        <p:txBody>
          <a:bodyPr anchorCtr="0" anchor="t" bIns="0" lIns="0" spcFirstLastPara="1" rIns="0" wrap="square" tIns="0">
            <a:spAutoFit/>
          </a:bodyPr>
          <a:lstStyle/>
          <a:p>
            <a:pPr indent="0" lvl="0" marL="0" marR="0" rtl="0" algn="ctr">
              <a:lnSpc>
                <a:spcPct val="165021"/>
              </a:lnSpc>
              <a:spcBef>
                <a:spcPts val="0"/>
              </a:spcBef>
              <a:spcAft>
                <a:spcPts val="0"/>
              </a:spcAft>
              <a:buNone/>
            </a:pPr>
            <a:r>
              <a:rPr b="0" i="1" lang="en-US" sz="2573" u="none" cap="none" strike="noStrike">
                <a:solidFill>
                  <a:srgbClr val="FFFFFF"/>
                </a:solidFill>
                <a:latin typeface="Raleway"/>
                <a:ea typeface="Raleway"/>
                <a:cs typeface="Raleway"/>
                <a:sym typeface="Raleway"/>
              </a:rPr>
              <a:t>The Internet of Things (IoT) evolved from early experimental novelties—such as Carnegie Mellon’s web-connected soda machine in 1982—into a massive global infrastructure that officially surpassed the human population in connected devices by 2009. Coined by Kevin Ashton in 1999 around RFID supply chain tracking, the concept accelerated through the 2010s as smartphone proliferation, cheap sensors, and cloud computing fueled a boom in consumer smart home ecosystems and Industrial IoT (IIoT) factory automation.</a:t>
            </a:r>
            <a:endParaRPr/>
          </a:p>
        </p:txBody>
      </p:sp>
      <p:sp>
        <p:nvSpPr>
          <p:cNvPr id="210" name="Google Shape;210;p22"/>
          <p:cNvSpPr txBox="1"/>
          <p:nvPr/>
        </p:nvSpPr>
        <p:spPr>
          <a:xfrm>
            <a:off x="1300724" y="1599114"/>
            <a:ext cx="1154372" cy="515778"/>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61B70"/>
            </a:gs>
            <a:gs pos="100000">
              <a:srgbClr val="000000"/>
            </a:gs>
          </a:gsLst>
          <a:lin ang="0" scaled="0"/>
        </a:gradFill>
      </p:bgPr>
    </p:bg>
    <p:spTree>
      <p:nvGrpSpPr>
        <p:cNvPr id="214" name="Shape 214"/>
        <p:cNvGrpSpPr/>
        <p:nvPr/>
      </p:nvGrpSpPr>
      <p:grpSpPr>
        <a:xfrm>
          <a:off x="0" y="0"/>
          <a:ext cx="0" cy="0"/>
          <a:chOff x="0" y="0"/>
          <a:chExt cx="0" cy="0"/>
        </a:xfrm>
      </p:grpSpPr>
      <p:sp>
        <p:nvSpPr>
          <p:cNvPr id="215" name="Google Shape;215;p23"/>
          <p:cNvSpPr/>
          <p:nvPr/>
        </p:nvSpPr>
        <p:spPr>
          <a:xfrm rot="1582889">
            <a:off x="-4783694" y="7975014"/>
            <a:ext cx="19149891" cy="6989710"/>
          </a:xfrm>
          <a:custGeom>
            <a:rect b="b" l="l" r="r" t="t"/>
            <a:pathLst>
              <a:path extrusionOk="0" h="6989710" w="19149891">
                <a:moveTo>
                  <a:pt x="0" y="0"/>
                </a:moveTo>
                <a:lnTo>
                  <a:pt x="19149891" y="0"/>
                </a:lnTo>
                <a:lnTo>
                  <a:pt x="19149891" y="6989710"/>
                </a:lnTo>
                <a:lnTo>
                  <a:pt x="0" y="6989710"/>
                </a:lnTo>
                <a:lnTo>
                  <a:pt x="0" y="0"/>
                </a:lnTo>
                <a:close/>
              </a:path>
            </a:pathLst>
          </a:custGeom>
          <a:blipFill rotWithShape="1">
            <a:blip r:embed="rId3">
              <a:alphaModFix amt="80000"/>
            </a:blip>
            <a:stretch>
              <a:fillRect b="0" l="0" r="0" t="0"/>
            </a:stretch>
          </a:blipFill>
          <a:ln>
            <a:noFill/>
          </a:ln>
        </p:spPr>
      </p:sp>
      <p:sp>
        <p:nvSpPr>
          <p:cNvPr id="216" name="Google Shape;216;p23"/>
          <p:cNvSpPr/>
          <p:nvPr/>
        </p:nvSpPr>
        <p:spPr>
          <a:xfrm flipH="1" rot="-9227707">
            <a:off x="3960635" y="-5525403"/>
            <a:ext cx="19149891" cy="6989710"/>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217" name="Google Shape;217;p23"/>
          <p:cNvSpPr/>
          <p:nvPr/>
        </p:nvSpPr>
        <p:spPr>
          <a:xfrm>
            <a:off x="6804096" y="1377025"/>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sp>
        <p:nvSpPr>
          <p:cNvPr id="218" name="Google Shape;218;p23"/>
          <p:cNvSpPr/>
          <p:nvPr/>
        </p:nvSpPr>
        <p:spPr>
          <a:xfrm>
            <a:off x="1300724" y="2947113"/>
            <a:ext cx="5970671" cy="5970671"/>
          </a:xfrm>
          <a:custGeom>
            <a:rect b="b" l="l" r="r" t="t"/>
            <a:pathLst>
              <a:path extrusionOk="0" h="5970671" w="5970671">
                <a:moveTo>
                  <a:pt x="0" y="0"/>
                </a:moveTo>
                <a:lnTo>
                  <a:pt x="5970671" y="0"/>
                </a:lnTo>
                <a:lnTo>
                  <a:pt x="5970671" y="5970671"/>
                </a:lnTo>
                <a:lnTo>
                  <a:pt x="0" y="5970671"/>
                </a:lnTo>
                <a:lnTo>
                  <a:pt x="0" y="0"/>
                </a:lnTo>
                <a:close/>
              </a:path>
            </a:pathLst>
          </a:custGeom>
          <a:blipFill rotWithShape="1">
            <a:blip r:embed="rId5">
              <a:alphaModFix/>
            </a:blip>
            <a:stretch>
              <a:fillRect b="0" l="0" r="0" t="0"/>
            </a:stretch>
          </a:blipFill>
          <a:ln>
            <a:noFill/>
          </a:ln>
        </p:spPr>
      </p:sp>
      <p:sp>
        <p:nvSpPr>
          <p:cNvPr id="219" name="Google Shape;219;p23"/>
          <p:cNvSpPr txBox="1"/>
          <p:nvPr/>
        </p:nvSpPr>
        <p:spPr>
          <a:xfrm>
            <a:off x="1300724" y="1599114"/>
            <a:ext cx="1154372" cy="515778"/>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05</a:t>
            </a:r>
            <a:endParaRPr/>
          </a:p>
        </p:txBody>
      </p:sp>
      <p:sp>
        <p:nvSpPr>
          <p:cNvPr id="220" name="Google Shape;220;p23"/>
          <p:cNvSpPr txBox="1"/>
          <p:nvPr/>
        </p:nvSpPr>
        <p:spPr>
          <a:xfrm>
            <a:off x="7965146" y="845175"/>
            <a:ext cx="7511100" cy="1951200"/>
          </a:xfrm>
          <a:prstGeom prst="rect">
            <a:avLst/>
          </a:prstGeom>
          <a:noFill/>
          <a:ln>
            <a:noFill/>
          </a:ln>
        </p:spPr>
        <p:txBody>
          <a:bodyPr anchorCtr="0" anchor="t" bIns="0" lIns="0" spcFirstLastPara="1" rIns="0" wrap="square" tIns="0">
            <a:spAutoFit/>
          </a:bodyPr>
          <a:lstStyle/>
          <a:p>
            <a:pPr indent="0" lvl="0" marL="0" marR="0" rtl="0" algn="l">
              <a:lnSpc>
                <a:spcPct val="94994"/>
              </a:lnSpc>
              <a:spcBef>
                <a:spcPts val="0"/>
              </a:spcBef>
              <a:spcAft>
                <a:spcPts val="0"/>
              </a:spcAft>
              <a:buNone/>
            </a:pPr>
            <a:r>
              <a:rPr b="1" i="0" lang="en-US" sz="6672" u="none" cap="none" strike="noStrike">
                <a:solidFill>
                  <a:srgbClr val="36E9FD"/>
                </a:solidFill>
                <a:latin typeface="Montserrat SemiBold"/>
                <a:ea typeface="Montserrat SemiBold"/>
                <a:cs typeface="Montserrat SemiBold"/>
                <a:sym typeface="Montserrat SemiBold"/>
              </a:rPr>
              <a:t>Early Milestones of "IoT"</a:t>
            </a:r>
            <a:endParaRPr/>
          </a:p>
        </p:txBody>
      </p:sp>
      <p:sp>
        <p:nvSpPr>
          <p:cNvPr id="221" name="Google Shape;221;p23"/>
          <p:cNvSpPr txBox="1"/>
          <p:nvPr/>
        </p:nvSpPr>
        <p:spPr>
          <a:xfrm>
            <a:off x="7640021" y="3109665"/>
            <a:ext cx="8533500" cy="7280400"/>
          </a:xfrm>
          <a:prstGeom prst="rect">
            <a:avLst/>
          </a:prstGeom>
          <a:noFill/>
          <a:ln>
            <a:noFill/>
          </a:ln>
        </p:spPr>
        <p:txBody>
          <a:bodyPr anchorCtr="0" anchor="t" bIns="0" lIns="0" spcFirstLastPara="1" rIns="0" wrap="square" tIns="0">
            <a:spAutoFit/>
          </a:bodyPr>
          <a:lstStyle/>
          <a:p>
            <a:pPr indent="-277819" lvl="1" marL="555638" marR="0" rtl="0" algn="l">
              <a:lnSpc>
                <a:spcPct val="158025"/>
              </a:lnSpc>
              <a:spcBef>
                <a:spcPts val="0"/>
              </a:spcBef>
              <a:spcAft>
                <a:spcPts val="0"/>
              </a:spcAft>
              <a:buClr>
                <a:srgbClr val="FFFFFF"/>
              </a:buClr>
              <a:buSzPts val="2573"/>
              <a:buFont typeface="Arial"/>
              <a:buChar char="•"/>
            </a:pPr>
            <a:r>
              <a:rPr b="0" i="1" lang="en-US" sz="2573" u="none" cap="none" strike="noStrike">
                <a:solidFill>
                  <a:srgbClr val="FFFFFF"/>
                </a:solidFill>
                <a:latin typeface="Raleway"/>
                <a:ea typeface="Raleway"/>
                <a:cs typeface="Raleway"/>
                <a:sym typeface="Raleway"/>
              </a:rPr>
              <a:t>1982 (The First "Thing"): Computer scientists at Carnegie Mellon University connect a Coca-Cola vending machine to check drink availability and temperature remotely.</a:t>
            </a:r>
            <a:endParaRPr/>
          </a:p>
          <a:p>
            <a:pPr indent="-277819" lvl="1" marL="555638" marR="0" rtl="0" algn="l">
              <a:lnSpc>
                <a:spcPct val="158025"/>
              </a:lnSpc>
              <a:spcBef>
                <a:spcPts val="0"/>
              </a:spcBef>
              <a:spcAft>
                <a:spcPts val="0"/>
              </a:spcAft>
              <a:buClr>
                <a:srgbClr val="FFFFFF"/>
              </a:buClr>
              <a:buSzPts val="2573"/>
              <a:buFont typeface="Arial"/>
              <a:buChar char="•"/>
            </a:pPr>
            <a:r>
              <a:rPr b="0" i="1" lang="en-US" sz="2573" u="none" cap="none" strike="noStrike">
                <a:solidFill>
                  <a:srgbClr val="FFFFFF"/>
                </a:solidFill>
                <a:latin typeface="Raleway"/>
                <a:ea typeface="Raleway"/>
                <a:cs typeface="Raleway"/>
                <a:sym typeface="Raleway"/>
              </a:rPr>
              <a:t>1990–1991: John Romkey creates the first internet toaster; Cambridge researchers deploy the Trojan Room coffee pot camera.</a:t>
            </a:r>
            <a:endParaRPr/>
          </a:p>
          <a:p>
            <a:pPr indent="-277819" lvl="1" marL="555638" marR="0" rtl="0" algn="l">
              <a:lnSpc>
                <a:spcPct val="158025"/>
              </a:lnSpc>
              <a:spcBef>
                <a:spcPts val="0"/>
              </a:spcBef>
              <a:spcAft>
                <a:spcPts val="0"/>
              </a:spcAft>
              <a:buClr>
                <a:srgbClr val="FFFFFF"/>
              </a:buClr>
              <a:buSzPts val="2573"/>
              <a:buFont typeface="Arial"/>
              <a:buChar char="•"/>
            </a:pPr>
            <a:r>
              <a:rPr b="0" i="1" lang="en-US" sz="2573" u="none" cap="none" strike="noStrike">
                <a:solidFill>
                  <a:srgbClr val="FFFFFF"/>
                </a:solidFill>
                <a:latin typeface="Raleway"/>
                <a:ea typeface="Raleway"/>
                <a:cs typeface="Raleway"/>
                <a:sym typeface="Raleway"/>
              </a:rPr>
              <a:t>1999 (The Official Name): Kevin Ashton officially coins the phrase "Internet of Things" during a supply chain presentation at Procter &amp; Gamble regarding RFID tracking.</a:t>
            </a:r>
            <a:endParaRPr/>
          </a:p>
          <a:p>
            <a:pPr indent="0" lvl="0" marL="0" marR="0" rtl="0" algn="l">
              <a:lnSpc>
                <a:spcPct val="128993"/>
              </a:lnSpc>
              <a:spcBef>
                <a:spcPts val="0"/>
              </a:spcBef>
              <a:spcAft>
                <a:spcPts val="0"/>
              </a:spcAft>
              <a:buNone/>
            </a:pPr>
            <a:r>
              <a:t/>
            </a:r>
            <a:endParaRPr b="0" i="1" sz="2573" u="none" cap="none" strike="noStrike">
              <a:solidFill>
                <a:srgbClr val="FFFFFF"/>
              </a:solidFill>
              <a:latin typeface="Raleway"/>
              <a:ea typeface="Raleway"/>
              <a:cs typeface="Raleway"/>
              <a:sym typeface="Ralew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225" name="Shape 225"/>
        <p:cNvGrpSpPr/>
        <p:nvPr/>
      </p:nvGrpSpPr>
      <p:grpSpPr>
        <a:xfrm>
          <a:off x="0" y="0"/>
          <a:ext cx="0" cy="0"/>
          <a:chOff x="0" y="0"/>
          <a:chExt cx="0" cy="0"/>
        </a:xfrm>
      </p:grpSpPr>
      <p:sp>
        <p:nvSpPr>
          <p:cNvPr id="226" name="Google Shape;226;p24"/>
          <p:cNvSpPr/>
          <p:nvPr/>
        </p:nvSpPr>
        <p:spPr>
          <a:xfrm rot="-1314761">
            <a:off x="5680419" y="6404287"/>
            <a:ext cx="19149891" cy="6989710"/>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227" name="Google Shape;227;p24"/>
          <p:cNvSpPr/>
          <p:nvPr/>
        </p:nvSpPr>
        <p:spPr>
          <a:xfrm flipH="1" rot="-9227707">
            <a:off x="3960635" y="-5525403"/>
            <a:ext cx="19149891" cy="6989710"/>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228" name="Google Shape;228;p24"/>
          <p:cNvSpPr/>
          <p:nvPr/>
        </p:nvSpPr>
        <p:spPr>
          <a:xfrm>
            <a:off x="5465804" y="1339244"/>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sp>
        <p:nvSpPr>
          <p:cNvPr id="229" name="Google Shape;229;p24"/>
          <p:cNvSpPr txBox="1"/>
          <p:nvPr/>
        </p:nvSpPr>
        <p:spPr>
          <a:xfrm>
            <a:off x="1300724" y="1599114"/>
            <a:ext cx="1154372" cy="515778"/>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04</a:t>
            </a:r>
            <a:endParaRPr/>
          </a:p>
        </p:txBody>
      </p:sp>
      <p:sp>
        <p:nvSpPr>
          <p:cNvPr id="230" name="Google Shape;230;p24"/>
          <p:cNvSpPr txBox="1"/>
          <p:nvPr/>
        </p:nvSpPr>
        <p:spPr>
          <a:xfrm>
            <a:off x="6123971" y="1194040"/>
            <a:ext cx="6185052" cy="920853"/>
          </a:xfrm>
          <a:prstGeom prst="rect">
            <a:avLst/>
          </a:prstGeom>
          <a:noFill/>
          <a:ln>
            <a:noFill/>
          </a:ln>
        </p:spPr>
        <p:txBody>
          <a:bodyPr anchorCtr="0" anchor="t" bIns="0" lIns="0" spcFirstLastPara="1" rIns="0" wrap="square" tIns="0">
            <a:spAutoFit/>
          </a:bodyPr>
          <a:lstStyle/>
          <a:p>
            <a:pPr indent="0" lvl="0" marL="0" marR="0" rtl="0" algn="ctr">
              <a:lnSpc>
                <a:spcPct val="94997"/>
              </a:lnSpc>
              <a:spcBef>
                <a:spcPts val="0"/>
              </a:spcBef>
              <a:spcAft>
                <a:spcPts val="0"/>
              </a:spcAft>
              <a:buNone/>
            </a:pPr>
            <a:r>
              <a:rPr b="1" i="0" lang="en-US" sz="7197" u="none" cap="none" strike="noStrike">
                <a:solidFill>
                  <a:srgbClr val="FFFFFF"/>
                </a:solidFill>
                <a:latin typeface="Montserrat SemiBold"/>
                <a:ea typeface="Montserrat SemiBold"/>
                <a:cs typeface="Montserrat SemiBold"/>
                <a:sym typeface="Montserrat SemiBold"/>
              </a:rPr>
              <a:t>Types of IoT</a:t>
            </a:r>
            <a:endParaRPr/>
          </a:p>
        </p:txBody>
      </p:sp>
      <p:sp>
        <p:nvSpPr>
          <p:cNvPr id="231" name="Google Shape;231;p24"/>
          <p:cNvSpPr txBox="1"/>
          <p:nvPr/>
        </p:nvSpPr>
        <p:spPr>
          <a:xfrm>
            <a:off x="2455096" y="3494933"/>
            <a:ext cx="2478048" cy="557928"/>
          </a:xfrm>
          <a:prstGeom prst="rect">
            <a:avLst/>
          </a:prstGeom>
          <a:noFill/>
          <a:ln>
            <a:noFill/>
          </a:ln>
        </p:spPr>
        <p:txBody>
          <a:bodyPr anchorCtr="0" anchor="t" bIns="0" lIns="0" spcFirstLastPara="1" rIns="0" wrap="square" tIns="0">
            <a:spAutoFit/>
          </a:bodyPr>
          <a:lstStyle/>
          <a:p>
            <a:pPr indent="0" lvl="0" marL="0" marR="0" rtl="0" algn="ctr">
              <a:lnSpc>
                <a:spcPct val="94982"/>
              </a:lnSpc>
              <a:spcBef>
                <a:spcPts val="0"/>
              </a:spcBef>
              <a:spcAft>
                <a:spcPts val="0"/>
              </a:spcAft>
              <a:buNone/>
            </a:pPr>
            <a:r>
              <a:rPr b="1" i="0" lang="en-US" sz="2272" u="none" cap="none" strike="noStrike">
                <a:solidFill>
                  <a:srgbClr val="36E9FD"/>
                </a:solidFill>
                <a:latin typeface="Montserrat SemiBold"/>
                <a:ea typeface="Montserrat SemiBold"/>
                <a:cs typeface="Montserrat SemiBold"/>
                <a:sym typeface="Montserrat SemiBold"/>
              </a:rPr>
              <a:t>CONSUMER IOT (CIOT)</a:t>
            </a:r>
            <a:endParaRPr/>
          </a:p>
        </p:txBody>
      </p:sp>
      <p:sp>
        <p:nvSpPr>
          <p:cNvPr id="232" name="Google Shape;232;p24"/>
          <p:cNvSpPr txBox="1"/>
          <p:nvPr/>
        </p:nvSpPr>
        <p:spPr>
          <a:xfrm>
            <a:off x="1688190" y="4867275"/>
            <a:ext cx="4106698" cy="3857349"/>
          </a:xfrm>
          <a:prstGeom prst="rect">
            <a:avLst/>
          </a:prstGeom>
          <a:noFill/>
          <a:ln>
            <a:noFill/>
          </a:ln>
        </p:spPr>
        <p:txBody>
          <a:bodyPr anchorCtr="0" anchor="t" bIns="0" lIns="0" spcFirstLastPara="1" rIns="0" wrap="square" tIns="0">
            <a:spAutoFit/>
          </a:bodyPr>
          <a:lstStyle/>
          <a:p>
            <a:pPr indent="0" lvl="0" marL="0" marR="0" rtl="0" algn="ctr">
              <a:lnSpc>
                <a:spcPct val="175057"/>
              </a:lnSpc>
              <a:spcBef>
                <a:spcPts val="0"/>
              </a:spcBef>
              <a:spcAft>
                <a:spcPts val="0"/>
              </a:spcAft>
              <a:buNone/>
            </a:pPr>
            <a:r>
              <a:rPr b="0" i="1" lang="en-US" sz="2185" u="none" cap="none" strike="noStrike">
                <a:solidFill>
                  <a:srgbClr val="FFFFFF"/>
                </a:solidFill>
                <a:latin typeface="Raleway"/>
                <a:ea typeface="Raleway"/>
                <a:cs typeface="Raleway"/>
                <a:sym typeface="Raleway"/>
              </a:rPr>
              <a:t>focuses on commonplace home or personal applications. Examples include wearable technology (fitness trackers, smartwatches), home security systems, and smart home appliances (smart thermostats, connected lights).</a:t>
            </a:r>
            <a:endParaRPr/>
          </a:p>
        </p:txBody>
      </p:sp>
      <p:sp>
        <p:nvSpPr>
          <p:cNvPr id="233" name="Google Shape;233;p24"/>
          <p:cNvSpPr txBox="1"/>
          <p:nvPr/>
        </p:nvSpPr>
        <p:spPr>
          <a:xfrm>
            <a:off x="7904976" y="3494933"/>
            <a:ext cx="2478048" cy="557928"/>
          </a:xfrm>
          <a:prstGeom prst="rect">
            <a:avLst/>
          </a:prstGeom>
          <a:noFill/>
          <a:ln>
            <a:noFill/>
          </a:ln>
        </p:spPr>
        <p:txBody>
          <a:bodyPr anchorCtr="0" anchor="t" bIns="0" lIns="0" spcFirstLastPara="1" rIns="0" wrap="square" tIns="0">
            <a:spAutoFit/>
          </a:bodyPr>
          <a:lstStyle/>
          <a:p>
            <a:pPr indent="0" lvl="0" marL="0" marR="0" rtl="0" algn="ctr">
              <a:lnSpc>
                <a:spcPct val="94982"/>
              </a:lnSpc>
              <a:spcBef>
                <a:spcPts val="0"/>
              </a:spcBef>
              <a:spcAft>
                <a:spcPts val="0"/>
              </a:spcAft>
              <a:buNone/>
            </a:pPr>
            <a:r>
              <a:rPr b="1" i="0" lang="en-US" sz="2272" u="none" cap="none" strike="noStrike">
                <a:solidFill>
                  <a:srgbClr val="36E9FD"/>
                </a:solidFill>
                <a:latin typeface="Montserrat SemiBold"/>
                <a:ea typeface="Montserrat SemiBold"/>
                <a:cs typeface="Montserrat SemiBold"/>
                <a:sym typeface="Montserrat SemiBold"/>
              </a:rPr>
              <a:t>INDUSTRIAL IOT(IIOT)</a:t>
            </a:r>
            <a:endParaRPr/>
          </a:p>
        </p:txBody>
      </p:sp>
      <p:sp>
        <p:nvSpPr>
          <p:cNvPr id="234" name="Google Shape;234;p24"/>
          <p:cNvSpPr txBox="1"/>
          <p:nvPr/>
        </p:nvSpPr>
        <p:spPr>
          <a:xfrm>
            <a:off x="7648013" y="4584469"/>
            <a:ext cx="3137100" cy="5046300"/>
          </a:xfrm>
          <a:prstGeom prst="rect">
            <a:avLst/>
          </a:prstGeom>
          <a:noFill/>
          <a:ln>
            <a:noFill/>
          </a:ln>
        </p:spPr>
        <p:txBody>
          <a:bodyPr anchorCtr="0" anchor="t" bIns="0" lIns="0" spcFirstLastPara="1" rIns="0" wrap="square" tIns="0">
            <a:spAutoFit/>
          </a:bodyPr>
          <a:lstStyle/>
          <a:p>
            <a:pPr indent="0" lvl="0" marL="0" marR="0" rtl="0" algn="ctr">
              <a:lnSpc>
                <a:spcPct val="175057"/>
              </a:lnSpc>
              <a:spcBef>
                <a:spcPts val="0"/>
              </a:spcBef>
              <a:spcAft>
                <a:spcPts val="0"/>
              </a:spcAft>
              <a:buNone/>
            </a:pPr>
            <a:r>
              <a:rPr i="1" lang="en-US" sz="2185">
                <a:solidFill>
                  <a:srgbClr val="FFFFFF"/>
                </a:solidFill>
                <a:latin typeface="Raleway"/>
                <a:ea typeface="Raleway"/>
                <a:cs typeface="Raleway"/>
                <a:sym typeface="Raleway"/>
              </a:rPr>
              <a:t>Used across manufacturing, energy, and logistics, it connects factory automation, heavy machinery, and supply chains to monitor asset health, predict equipment failures, and optimize production. </a:t>
            </a:r>
            <a:endParaRPr/>
          </a:p>
        </p:txBody>
      </p:sp>
      <p:sp>
        <p:nvSpPr>
          <p:cNvPr id="235" name="Google Shape;235;p24"/>
          <p:cNvSpPr txBox="1"/>
          <p:nvPr/>
        </p:nvSpPr>
        <p:spPr>
          <a:xfrm>
            <a:off x="12756350" y="3494933"/>
            <a:ext cx="3684870" cy="291228"/>
          </a:xfrm>
          <a:prstGeom prst="rect">
            <a:avLst/>
          </a:prstGeom>
          <a:noFill/>
          <a:ln>
            <a:noFill/>
          </a:ln>
        </p:spPr>
        <p:txBody>
          <a:bodyPr anchorCtr="0" anchor="t" bIns="0" lIns="0" spcFirstLastPara="1" rIns="0" wrap="square" tIns="0">
            <a:spAutoFit/>
          </a:bodyPr>
          <a:lstStyle/>
          <a:p>
            <a:pPr indent="0" lvl="0" marL="0" marR="0" rtl="0" algn="ctr">
              <a:lnSpc>
                <a:spcPct val="94982"/>
              </a:lnSpc>
              <a:spcBef>
                <a:spcPts val="0"/>
              </a:spcBef>
              <a:spcAft>
                <a:spcPts val="0"/>
              </a:spcAft>
              <a:buNone/>
            </a:pPr>
            <a:r>
              <a:rPr b="1" i="0" lang="en-US" sz="2272" u="none" cap="none" strike="noStrike">
                <a:solidFill>
                  <a:srgbClr val="36E9FD"/>
                </a:solidFill>
                <a:latin typeface="Montserrat SemiBold"/>
                <a:ea typeface="Montserrat SemiBold"/>
                <a:cs typeface="Montserrat SemiBold"/>
                <a:sym typeface="Montserrat SemiBold"/>
              </a:rPr>
              <a:t>COMMERCIAL IOT</a:t>
            </a:r>
            <a:endParaRPr/>
          </a:p>
        </p:txBody>
      </p:sp>
      <p:sp>
        <p:nvSpPr>
          <p:cNvPr id="236" name="Google Shape;236;p24"/>
          <p:cNvSpPr txBox="1"/>
          <p:nvPr/>
        </p:nvSpPr>
        <p:spPr>
          <a:xfrm>
            <a:off x="12309023" y="4867275"/>
            <a:ext cx="4750416" cy="4626045"/>
          </a:xfrm>
          <a:prstGeom prst="rect">
            <a:avLst/>
          </a:prstGeom>
          <a:noFill/>
          <a:ln>
            <a:noFill/>
          </a:ln>
        </p:spPr>
        <p:txBody>
          <a:bodyPr anchorCtr="0" anchor="t" bIns="0" lIns="0" spcFirstLastPara="1" rIns="0" wrap="square" tIns="0">
            <a:spAutoFit/>
          </a:bodyPr>
          <a:lstStyle/>
          <a:p>
            <a:pPr indent="0" lvl="0" marL="0" marR="0" rtl="0" algn="ctr">
              <a:lnSpc>
                <a:spcPct val="175057"/>
              </a:lnSpc>
              <a:spcBef>
                <a:spcPts val="0"/>
              </a:spcBef>
              <a:spcAft>
                <a:spcPts val="0"/>
              </a:spcAft>
              <a:buNone/>
            </a:pPr>
            <a:r>
              <a:rPr b="0" i="1" lang="en-US" sz="2185" u="none" cap="none" strike="noStrike">
                <a:solidFill>
                  <a:srgbClr val="FFFFFF"/>
                </a:solidFill>
                <a:latin typeface="Raleway"/>
                <a:ea typeface="Raleway"/>
                <a:cs typeface="Raleway"/>
                <a:sym typeface="Raleway"/>
              </a:rPr>
              <a:t>Utilized in enterprise, retail, and public spaces to improve operational efficiency and customer experience. Examples include smart building automation (HVAC and lighting systems), automated checkout systems, digital signage, and asset tracking in warehouses.</a:t>
            </a:r>
            <a:endParaRPr/>
          </a:p>
          <a:p>
            <a:pPr indent="-97207" lvl="1" marL="471908" marR="0" rtl="0" algn="ctr">
              <a:lnSpc>
                <a:spcPct val="129016"/>
              </a:lnSpc>
              <a:spcBef>
                <a:spcPts val="0"/>
              </a:spcBef>
              <a:spcAft>
                <a:spcPts val="0"/>
              </a:spcAft>
              <a:buClr>
                <a:schemeClr val="dk1"/>
              </a:buClr>
              <a:buSzPts val="2185"/>
              <a:buFont typeface="Arial"/>
              <a:buNone/>
            </a:pPr>
            <a:r>
              <a:t/>
            </a:r>
            <a:endParaRPr b="0" i="1" sz="2185" u="none" cap="none" strike="noStrike">
              <a:solidFill>
                <a:srgbClr val="FFFFFF"/>
              </a:solidFill>
              <a:latin typeface="Raleway"/>
              <a:ea typeface="Raleway"/>
              <a:cs typeface="Raleway"/>
              <a:sym typeface="Raleway"/>
            </a:endParaRPr>
          </a:p>
          <a:p>
            <a:pPr indent="0" lvl="0" marL="0" marR="0" rtl="0" algn="ctr">
              <a:lnSpc>
                <a:spcPct val="129016"/>
              </a:lnSpc>
              <a:spcBef>
                <a:spcPts val="0"/>
              </a:spcBef>
              <a:spcAft>
                <a:spcPts val="0"/>
              </a:spcAft>
              <a:buNone/>
            </a:pPr>
            <a:r>
              <a:t/>
            </a:r>
            <a:endParaRPr b="0" i="1" sz="2185" u="none" cap="none" strike="noStrike">
              <a:solidFill>
                <a:srgbClr val="FFFFFF"/>
              </a:solidFill>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240" name="Shape 240"/>
        <p:cNvGrpSpPr/>
        <p:nvPr/>
      </p:nvGrpSpPr>
      <p:grpSpPr>
        <a:xfrm>
          <a:off x="0" y="0"/>
          <a:ext cx="0" cy="0"/>
          <a:chOff x="0" y="0"/>
          <a:chExt cx="0" cy="0"/>
        </a:xfrm>
      </p:grpSpPr>
      <p:sp>
        <p:nvSpPr>
          <p:cNvPr id="241" name="Google Shape;241;p25"/>
          <p:cNvSpPr/>
          <p:nvPr/>
        </p:nvSpPr>
        <p:spPr>
          <a:xfrm rot="-1314761">
            <a:off x="5680419" y="6404287"/>
            <a:ext cx="19149891" cy="6989710"/>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242" name="Google Shape;242;p25"/>
          <p:cNvSpPr/>
          <p:nvPr/>
        </p:nvSpPr>
        <p:spPr>
          <a:xfrm flipH="1" rot="-9227707">
            <a:off x="3960635" y="-5525403"/>
            <a:ext cx="19149891" cy="6989710"/>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243" name="Google Shape;243;p25"/>
          <p:cNvSpPr/>
          <p:nvPr/>
        </p:nvSpPr>
        <p:spPr>
          <a:xfrm>
            <a:off x="5465804" y="1339244"/>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sp>
        <p:nvSpPr>
          <p:cNvPr id="244" name="Google Shape;244;p25"/>
          <p:cNvSpPr txBox="1"/>
          <p:nvPr/>
        </p:nvSpPr>
        <p:spPr>
          <a:xfrm>
            <a:off x="1300724" y="1599114"/>
            <a:ext cx="1154372" cy="515778"/>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04</a:t>
            </a:r>
            <a:endParaRPr/>
          </a:p>
        </p:txBody>
      </p:sp>
      <p:sp>
        <p:nvSpPr>
          <p:cNvPr id="245" name="Google Shape;245;p25"/>
          <p:cNvSpPr txBox="1"/>
          <p:nvPr/>
        </p:nvSpPr>
        <p:spPr>
          <a:xfrm>
            <a:off x="6123971" y="1194040"/>
            <a:ext cx="6185052" cy="920853"/>
          </a:xfrm>
          <a:prstGeom prst="rect">
            <a:avLst/>
          </a:prstGeom>
          <a:noFill/>
          <a:ln>
            <a:noFill/>
          </a:ln>
        </p:spPr>
        <p:txBody>
          <a:bodyPr anchorCtr="0" anchor="t" bIns="0" lIns="0" spcFirstLastPara="1" rIns="0" wrap="square" tIns="0">
            <a:spAutoFit/>
          </a:bodyPr>
          <a:lstStyle/>
          <a:p>
            <a:pPr indent="0" lvl="0" marL="0" marR="0" rtl="0" algn="ctr">
              <a:lnSpc>
                <a:spcPct val="94997"/>
              </a:lnSpc>
              <a:spcBef>
                <a:spcPts val="0"/>
              </a:spcBef>
              <a:spcAft>
                <a:spcPts val="0"/>
              </a:spcAft>
              <a:buNone/>
            </a:pPr>
            <a:r>
              <a:rPr b="1" i="0" lang="en-US" sz="7197" u="none" cap="none" strike="noStrike">
                <a:solidFill>
                  <a:srgbClr val="FFFFFF"/>
                </a:solidFill>
                <a:latin typeface="Montserrat SemiBold"/>
                <a:ea typeface="Montserrat SemiBold"/>
                <a:cs typeface="Montserrat SemiBold"/>
                <a:sym typeface="Montserrat SemiBold"/>
              </a:rPr>
              <a:t>Types of IoT</a:t>
            </a:r>
            <a:endParaRPr/>
          </a:p>
        </p:txBody>
      </p:sp>
      <p:sp>
        <p:nvSpPr>
          <p:cNvPr id="246" name="Google Shape;246;p25"/>
          <p:cNvSpPr txBox="1"/>
          <p:nvPr/>
        </p:nvSpPr>
        <p:spPr>
          <a:xfrm>
            <a:off x="2455096" y="3494933"/>
            <a:ext cx="2478048" cy="1091328"/>
          </a:xfrm>
          <a:prstGeom prst="rect">
            <a:avLst/>
          </a:prstGeom>
          <a:noFill/>
          <a:ln>
            <a:noFill/>
          </a:ln>
        </p:spPr>
        <p:txBody>
          <a:bodyPr anchorCtr="0" anchor="t" bIns="0" lIns="0" spcFirstLastPara="1" rIns="0" wrap="square" tIns="0">
            <a:spAutoFit/>
          </a:bodyPr>
          <a:lstStyle/>
          <a:p>
            <a:pPr indent="0" lvl="0" marL="0" marR="0" rtl="0" algn="ctr">
              <a:lnSpc>
                <a:spcPct val="94982"/>
              </a:lnSpc>
              <a:spcBef>
                <a:spcPts val="0"/>
              </a:spcBef>
              <a:spcAft>
                <a:spcPts val="0"/>
              </a:spcAft>
              <a:buNone/>
            </a:pPr>
            <a:r>
              <a:rPr b="1" i="0" lang="en-US" sz="2272" u="none" cap="none" strike="noStrike">
                <a:solidFill>
                  <a:srgbClr val="36E9FD"/>
                </a:solidFill>
                <a:latin typeface="Montserrat SemiBold"/>
                <a:ea typeface="Montserrat SemiBold"/>
                <a:cs typeface="Montserrat SemiBold"/>
                <a:sym typeface="Montserrat SemiBold"/>
              </a:rPr>
              <a:t>INFRASTRUCTURE AND SMART CITIES (PUBLIC IOT)</a:t>
            </a:r>
            <a:endParaRPr/>
          </a:p>
        </p:txBody>
      </p:sp>
      <p:sp>
        <p:nvSpPr>
          <p:cNvPr id="247" name="Google Shape;247;p25"/>
          <p:cNvSpPr txBox="1"/>
          <p:nvPr/>
        </p:nvSpPr>
        <p:spPr>
          <a:xfrm>
            <a:off x="1688190" y="4867275"/>
            <a:ext cx="4106698" cy="4343124"/>
          </a:xfrm>
          <a:prstGeom prst="rect">
            <a:avLst/>
          </a:prstGeom>
          <a:noFill/>
          <a:ln>
            <a:noFill/>
          </a:ln>
        </p:spPr>
        <p:txBody>
          <a:bodyPr anchorCtr="0" anchor="t" bIns="0" lIns="0" spcFirstLastPara="1" rIns="0" wrap="square" tIns="0">
            <a:spAutoFit/>
          </a:bodyPr>
          <a:lstStyle/>
          <a:p>
            <a:pPr indent="0" lvl="0" marL="0" marR="0" rtl="0" algn="ctr">
              <a:lnSpc>
                <a:spcPct val="175057"/>
              </a:lnSpc>
              <a:spcBef>
                <a:spcPts val="0"/>
              </a:spcBef>
              <a:spcAft>
                <a:spcPts val="0"/>
              </a:spcAft>
              <a:buNone/>
            </a:pPr>
            <a:r>
              <a:rPr b="0" i="1" lang="en-US" sz="2185" u="none" cap="none" strike="noStrike">
                <a:solidFill>
                  <a:srgbClr val="FFFFFF"/>
                </a:solidFill>
                <a:latin typeface="Raleway"/>
                <a:ea typeface="Raleway"/>
                <a:cs typeface="Raleway"/>
                <a:sym typeface="Raleway"/>
              </a:rPr>
              <a:t>Deployed across municipal environments to manage public resources and infrastructure. Examples include smart grids for energy management, adaptive traffic control systems, smart waste management sensors, and structural health monitoring for bridges and roads.</a:t>
            </a:r>
            <a:endParaRPr/>
          </a:p>
        </p:txBody>
      </p:sp>
      <p:sp>
        <p:nvSpPr>
          <p:cNvPr id="248" name="Google Shape;248;p25"/>
          <p:cNvSpPr txBox="1"/>
          <p:nvPr/>
        </p:nvSpPr>
        <p:spPr>
          <a:xfrm>
            <a:off x="7085179" y="3494933"/>
            <a:ext cx="4011862" cy="824628"/>
          </a:xfrm>
          <a:prstGeom prst="rect">
            <a:avLst/>
          </a:prstGeom>
          <a:noFill/>
          <a:ln>
            <a:noFill/>
          </a:ln>
        </p:spPr>
        <p:txBody>
          <a:bodyPr anchorCtr="0" anchor="t" bIns="0" lIns="0" spcFirstLastPara="1" rIns="0" wrap="square" tIns="0">
            <a:spAutoFit/>
          </a:bodyPr>
          <a:lstStyle/>
          <a:p>
            <a:pPr indent="0" lvl="0" marL="0" marR="0" rtl="0" algn="ctr">
              <a:lnSpc>
                <a:spcPct val="94982"/>
              </a:lnSpc>
              <a:spcBef>
                <a:spcPts val="0"/>
              </a:spcBef>
              <a:spcAft>
                <a:spcPts val="0"/>
              </a:spcAft>
              <a:buNone/>
            </a:pPr>
            <a:r>
              <a:rPr b="1" i="0" lang="en-US" sz="2272" u="none" cap="none" strike="noStrike">
                <a:solidFill>
                  <a:srgbClr val="36E9FD"/>
                </a:solidFill>
                <a:latin typeface="Montserrat SemiBold"/>
                <a:ea typeface="Montserrat SemiBold"/>
                <a:cs typeface="Montserrat SemiBold"/>
                <a:sym typeface="Montserrat SemiBold"/>
              </a:rPr>
              <a:t>INTERNET OF MEDICAL THINGS (IOMT) / HEALTHCARE IOT</a:t>
            </a:r>
            <a:endParaRPr/>
          </a:p>
        </p:txBody>
      </p:sp>
      <p:sp>
        <p:nvSpPr>
          <p:cNvPr id="249" name="Google Shape;249;p25"/>
          <p:cNvSpPr txBox="1"/>
          <p:nvPr/>
        </p:nvSpPr>
        <p:spPr>
          <a:xfrm>
            <a:off x="7648013" y="4867275"/>
            <a:ext cx="3136967" cy="4343124"/>
          </a:xfrm>
          <a:prstGeom prst="rect">
            <a:avLst/>
          </a:prstGeom>
          <a:noFill/>
          <a:ln>
            <a:noFill/>
          </a:ln>
        </p:spPr>
        <p:txBody>
          <a:bodyPr anchorCtr="0" anchor="t" bIns="0" lIns="0" spcFirstLastPara="1" rIns="0" wrap="square" tIns="0">
            <a:spAutoFit/>
          </a:bodyPr>
          <a:lstStyle/>
          <a:p>
            <a:pPr indent="0" lvl="0" marL="0" marR="0" rtl="0" algn="ctr">
              <a:lnSpc>
                <a:spcPct val="175057"/>
              </a:lnSpc>
              <a:spcBef>
                <a:spcPts val="0"/>
              </a:spcBef>
              <a:spcAft>
                <a:spcPts val="0"/>
              </a:spcAft>
              <a:buNone/>
            </a:pPr>
            <a:r>
              <a:rPr b="0" i="1" lang="en-US" sz="2185" u="none" cap="none" strike="noStrike">
                <a:solidFill>
                  <a:srgbClr val="FFFFFF"/>
                </a:solidFill>
                <a:latin typeface="Raleway"/>
                <a:ea typeface="Raleway"/>
                <a:cs typeface="Raleway"/>
                <a:sym typeface="Raleway"/>
              </a:rPr>
              <a:t>Used for medical and health monitoring purposes. Examples include remote patient monitoring devices, smart pills, connected pacemakers, and real-time hospital asset tracking systems.</a:t>
            </a:r>
            <a:endParaRPr/>
          </a:p>
        </p:txBody>
      </p:sp>
      <p:sp>
        <p:nvSpPr>
          <p:cNvPr id="250" name="Google Shape;250;p25"/>
          <p:cNvSpPr txBox="1"/>
          <p:nvPr/>
        </p:nvSpPr>
        <p:spPr>
          <a:xfrm>
            <a:off x="12756350" y="3494933"/>
            <a:ext cx="3684870" cy="557928"/>
          </a:xfrm>
          <a:prstGeom prst="rect">
            <a:avLst/>
          </a:prstGeom>
          <a:noFill/>
          <a:ln>
            <a:noFill/>
          </a:ln>
        </p:spPr>
        <p:txBody>
          <a:bodyPr anchorCtr="0" anchor="t" bIns="0" lIns="0" spcFirstLastPara="1" rIns="0" wrap="square" tIns="0">
            <a:spAutoFit/>
          </a:bodyPr>
          <a:lstStyle/>
          <a:p>
            <a:pPr indent="0" lvl="0" marL="0" marR="0" rtl="0" algn="ctr">
              <a:lnSpc>
                <a:spcPct val="94982"/>
              </a:lnSpc>
              <a:spcBef>
                <a:spcPts val="0"/>
              </a:spcBef>
              <a:spcAft>
                <a:spcPts val="0"/>
              </a:spcAft>
              <a:buNone/>
            </a:pPr>
            <a:r>
              <a:rPr b="1" i="0" lang="en-US" sz="2272" u="none" cap="none" strike="noStrike">
                <a:solidFill>
                  <a:srgbClr val="36E9FD"/>
                </a:solidFill>
                <a:latin typeface="Montserrat SemiBold"/>
                <a:ea typeface="Montserrat SemiBold"/>
                <a:cs typeface="Montserrat SemiBold"/>
                <a:sym typeface="Montserrat SemiBold"/>
              </a:rPr>
              <a:t>AGRICULTURAL IOT (AGRI-IOT)</a:t>
            </a:r>
            <a:endParaRPr/>
          </a:p>
        </p:txBody>
      </p:sp>
      <p:sp>
        <p:nvSpPr>
          <p:cNvPr id="251" name="Google Shape;251;p25"/>
          <p:cNvSpPr txBox="1"/>
          <p:nvPr/>
        </p:nvSpPr>
        <p:spPr>
          <a:xfrm>
            <a:off x="12223577" y="4867275"/>
            <a:ext cx="4750416" cy="3787845"/>
          </a:xfrm>
          <a:prstGeom prst="rect">
            <a:avLst/>
          </a:prstGeom>
          <a:noFill/>
          <a:ln>
            <a:noFill/>
          </a:ln>
        </p:spPr>
        <p:txBody>
          <a:bodyPr anchorCtr="0" anchor="t" bIns="0" lIns="0" spcFirstLastPara="1" rIns="0" wrap="square" tIns="0">
            <a:spAutoFit/>
          </a:bodyPr>
          <a:lstStyle/>
          <a:p>
            <a:pPr indent="-235954" lvl="1" marL="471908" marR="0" rtl="0" algn="ctr">
              <a:lnSpc>
                <a:spcPct val="175057"/>
              </a:lnSpc>
              <a:spcBef>
                <a:spcPts val="0"/>
              </a:spcBef>
              <a:spcAft>
                <a:spcPts val="0"/>
              </a:spcAft>
              <a:buClr>
                <a:srgbClr val="FFFFFF"/>
              </a:buClr>
              <a:buSzPts val="2185"/>
              <a:buFont typeface="Arial"/>
              <a:buChar char="•"/>
            </a:pPr>
            <a:r>
              <a:rPr b="0" i="1" lang="en-US" sz="2185" u="none" cap="none" strike="noStrike">
                <a:solidFill>
                  <a:srgbClr val="FFFFFF"/>
                </a:solidFill>
                <a:latin typeface="Raleway"/>
                <a:ea typeface="Raleway"/>
                <a:cs typeface="Raleway"/>
                <a:sym typeface="Raleway"/>
              </a:rPr>
              <a:t>Deployed in farming environments to automate and optimize agricultural practices. Examples include soil moisture sensors, weather tracking stations, automated irrigation systems, and livestock tracking tags.</a:t>
            </a:r>
            <a:endParaRPr/>
          </a:p>
          <a:p>
            <a:pPr indent="0" lvl="0" marL="0" marR="0" rtl="0" algn="ctr">
              <a:lnSpc>
                <a:spcPct val="129016"/>
              </a:lnSpc>
              <a:spcBef>
                <a:spcPts val="0"/>
              </a:spcBef>
              <a:spcAft>
                <a:spcPts val="0"/>
              </a:spcAft>
              <a:buNone/>
            </a:pPr>
            <a:r>
              <a:t/>
            </a:r>
            <a:endParaRPr b="0" i="1" sz="2185" u="none" cap="none" strike="noStrike">
              <a:solidFill>
                <a:srgbClr val="FFFFFF"/>
              </a:solidFill>
              <a:latin typeface="Raleway"/>
              <a:ea typeface="Raleway"/>
              <a:cs typeface="Raleway"/>
              <a:sym typeface="Ralew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255" name="Shape 255"/>
        <p:cNvGrpSpPr/>
        <p:nvPr/>
      </p:nvGrpSpPr>
      <p:grpSpPr>
        <a:xfrm>
          <a:off x="0" y="0"/>
          <a:ext cx="0" cy="0"/>
          <a:chOff x="0" y="0"/>
          <a:chExt cx="0" cy="0"/>
        </a:xfrm>
      </p:grpSpPr>
      <p:sp>
        <p:nvSpPr>
          <p:cNvPr id="256" name="Google Shape;256;p26"/>
          <p:cNvSpPr/>
          <p:nvPr/>
        </p:nvSpPr>
        <p:spPr>
          <a:xfrm rot="-1314761">
            <a:off x="5680419" y="6404287"/>
            <a:ext cx="19149891" cy="6989710"/>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257" name="Google Shape;257;p26"/>
          <p:cNvSpPr/>
          <p:nvPr/>
        </p:nvSpPr>
        <p:spPr>
          <a:xfrm flipH="1" rot="-9227707">
            <a:off x="3960635" y="-5525403"/>
            <a:ext cx="19149891" cy="6989710"/>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258" name="Google Shape;258;p26"/>
          <p:cNvSpPr/>
          <p:nvPr/>
        </p:nvSpPr>
        <p:spPr>
          <a:xfrm>
            <a:off x="2081562" y="564799"/>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sp>
        <p:nvSpPr>
          <p:cNvPr id="259" name="Google Shape;259;p26"/>
          <p:cNvSpPr txBox="1"/>
          <p:nvPr/>
        </p:nvSpPr>
        <p:spPr>
          <a:xfrm>
            <a:off x="1968137" y="1674917"/>
            <a:ext cx="9049500" cy="7529400"/>
          </a:xfrm>
          <a:prstGeom prst="rect">
            <a:avLst/>
          </a:prstGeom>
          <a:noFill/>
          <a:ln>
            <a:noFill/>
          </a:ln>
        </p:spPr>
        <p:txBody>
          <a:bodyPr anchorCtr="0" anchor="t" bIns="0" lIns="0" spcFirstLastPara="1" rIns="0" wrap="square" tIns="0">
            <a:spAutoFit/>
          </a:bodyPr>
          <a:lstStyle/>
          <a:p>
            <a:pPr indent="0" lvl="0" marL="0" marR="0" rtl="0" algn="l">
              <a:lnSpc>
                <a:spcPct val="128995"/>
              </a:lnSpc>
              <a:spcBef>
                <a:spcPts val="0"/>
              </a:spcBef>
              <a:spcAft>
                <a:spcPts val="0"/>
              </a:spcAft>
              <a:buNone/>
            </a:pPr>
            <a:r>
              <a:rPr b="1" i="1" lang="en-US" sz="3473" u="none" cap="none" strike="noStrike">
                <a:solidFill>
                  <a:srgbClr val="FFFFFF"/>
                </a:solidFill>
                <a:latin typeface="Raleway"/>
                <a:ea typeface="Raleway"/>
                <a:cs typeface="Raleway"/>
                <a:sym typeface="Raleway"/>
              </a:rPr>
              <a:t>Internet of Things platform</a:t>
            </a:r>
            <a:endParaRPr/>
          </a:p>
          <a:p>
            <a:pPr indent="0" lvl="0" marL="0" marR="0" rtl="0" algn="l">
              <a:lnSpc>
                <a:spcPct val="175009"/>
              </a:lnSpc>
              <a:spcBef>
                <a:spcPts val="0"/>
              </a:spcBef>
              <a:spcAft>
                <a:spcPts val="0"/>
              </a:spcAft>
              <a:buNone/>
            </a:pPr>
            <a:r>
              <a:rPr b="0" i="1" lang="en-US" sz="2573" u="none" cap="none" strike="noStrike">
                <a:solidFill>
                  <a:srgbClr val="FFFFFF"/>
                </a:solidFill>
                <a:latin typeface="Raleway"/>
                <a:ea typeface="Raleway"/>
                <a:cs typeface="Raleway"/>
                <a:sym typeface="Raleway"/>
              </a:rPr>
              <a:t>An IoT platform manages device connectivity. It can be a software suite or a cloud service. The purpose of an IoT platform is to manage and monitor hardware, software, processing abilities, and application layers.</a:t>
            </a:r>
            <a:endParaRPr/>
          </a:p>
          <a:p>
            <a:pPr indent="0" lvl="0" marL="0" marR="0" rtl="0" algn="l">
              <a:lnSpc>
                <a:spcPct val="128993"/>
              </a:lnSpc>
              <a:spcBef>
                <a:spcPts val="0"/>
              </a:spcBef>
              <a:spcAft>
                <a:spcPts val="0"/>
              </a:spcAft>
              <a:buNone/>
            </a:pPr>
            <a:r>
              <a:t/>
            </a:r>
            <a:endParaRPr b="0" i="1" sz="2573" u="none" cap="none" strike="noStrike">
              <a:solidFill>
                <a:srgbClr val="FFFFFF"/>
              </a:solidFill>
              <a:latin typeface="Raleway"/>
              <a:ea typeface="Raleway"/>
              <a:cs typeface="Raleway"/>
              <a:sym typeface="Raleway"/>
            </a:endParaRPr>
          </a:p>
          <a:p>
            <a:pPr indent="0" lvl="0" marL="0" marR="0" rtl="0" algn="l">
              <a:lnSpc>
                <a:spcPct val="128991"/>
              </a:lnSpc>
              <a:spcBef>
                <a:spcPts val="0"/>
              </a:spcBef>
              <a:spcAft>
                <a:spcPts val="0"/>
              </a:spcAft>
              <a:buNone/>
            </a:pPr>
            <a:r>
              <a:rPr b="1" i="1" lang="en-US" sz="3470" u="none" cap="none" strike="noStrike">
                <a:solidFill>
                  <a:srgbClr val="FFFFFF"/>
                </a:solidFill>
                <a:latin typeface="Raleway"/>
                <a:ea typeface="Raleway"/>
                <a:cs typeface="Raleway"/>
                <a:sym typeface="Raleway"/>
              </a:rPr>
              <a:t>Sensor technologies</a:t>
            </a:r>
            <a:endParaRPr/>
          </a:p>
          <a:p>
            <a:pPr indent="0" lvl="0" marL="0" marR="0" rtl="0" algn="l">
              <a:lnSpc>
                <a:spcPct val="156004"/>
              </a:lnSpc>
              <a:spcBef>
                <a:spcPts val="0"/>
              </a:spcBef>
              <a:spcAft>
                <a:spcPts val="0"/>
              </a:spcAft>
              <a:buNone/>
            </a:pPr>
            <a:r>
              <a:rPr i="1" lang="en-US" sz="2573">
                <a:solidFill>
                  <a:srgbClr val="FFFFFF"/>
                </a:solidFill>
                <a:latin typeface="Raleway"/>
                <a:ea typeface="Raleway"/>
                <a:cs typeface="Raleway"/>
                <a:sym typeface="Raleway"/>
              </a:rPr>
              <a:t>IoT or "smart" sensors convert physical variables into digital data. For example, temperature sensors detect heat variations, while motion sensors monitor ultrasonic waves to trigger actions when movement disrupts the signal. </a:t>
            </a:r>
            <a:endParaRPr/>
          </a:p>
          <a:p>
            <a:pPr indent="0" lvl="0" marL="0" marR="0" rtl="0" algn="l">
              <a:lnSpc>
                <a:spcPct val="128993"/>
              </a:lnSpc>
              <a:spcBef>
                <a:spcPts val="0"/>
              </a:spcBef>
              <a:spcAft>
                <a:spcPts val="0"/>
              </a:spcAft>
              <a:buNone/>
            </a:pPr>
            <a:r>
              <a:t/>
            </a:r>
            <a:endParaRPr b="0" i="1" sz="2573" u="none" cap="none" strike="noStrike">
              <a:solidFill>
                <a:srgbClr val="FFFFFF"/>
              </a:solidFill>
              <a:latin typeface="Raleway"/>
              <a:ea typeface="Raleway"/>
              <a:cs typeface="Raleway"/>
              <a:sym typeface="Raleway"/>
            </a:endParaRPr>
          </a:p>
        </p:txBody>
      </p:sp>
      <p:grpSp>
        <p:nvGrpSpPr>
          <p:cNvPr id="260" name="Google Shape;260;p26"/>
          <p:cNvGrpSpPr/>
          <p:nvPr/>
        </p:nvGrpSpPr>
        <p:grpSpPr>
          <a:xfrm>
            <a:off x="11384250" y="2447022"/>
            <a:ext cx="6011934" cy="5985168"/>
            <a:chOff x="-33258" y="-75"/>
            <a:chExt cx="14906544" cy="14840178"/>
          </a:xfrm>
        </p:grpSpPr>
        <p:sp>
          <p:nvSpPr>
            <p:cNvPr id="261" name="Google Shape;261;p26"/>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5">
                <a:alphaModFix/>
              </a:blip>
              <a:stretch>
                <a:fillRect b="0" l="-38314" r="-38314"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 name="Google Shape;264;p26"/>
          <p:cNvSpPr/>
          <p:nvPr/>
        </p:nvSpPr>
        <p:spPr>
          <a:xfrm>
            <a:off x="15181260" y="6529729"/>
            <a:ext cx="1785236" cy="1785236"/>
          </a:xfrm>
          <a:custGeom>
            <a:rect b="b" l="l" r="r" t="t"/>
            <a:pathLst>
              <a:path extrusionOk="0" h="1785236" w="1785236">
                <a:moveTo>
                  <a:pt x="0" y="0"/>
                </a:moveTo>
                <a:lnTo>
                  <a:pt x="1785235" y="0"/>
                </a:lnTo>
                <a:lnTo>
                  <a:pt x="1785235" y="1785235"/>
                </a:lnTo>
                <a:lnTo>
                  <a:pt x="0" y="1785235"/>
                </a:lnTo>
                <a:lnTo>
                  <a:pt x="0" y="0"/>
                </a:lnTo>
                <a:close/>
              </a:path>
            </a:pathLst>
          </a:custGeom>
          <a:blipFill rotWithShape="1">
            <a:blip r:embed="rId6">
              <a:alphaModFix/>
            </a:blip>
            <a:stretch>
              <a:fillRect b="0" l="0" r="0" t="0"/>
            </a:stretch>
          </a:blipFill>
          <a:ln>
            <a:noFill/>
          </a:ln>
        </p:spPr>
      </p:sp>
      <p:sp>
        <p:nvSpPr>
          <p:cNvPr id="265" name="Google Shape;265;p26"/>
          <p:cNvSpPr/>
          <p:nvPr/>
        </p:nvSpPr>
        <p:spPr>
          <a:xfrm>
            <a:off x="-183721" y="564812"/>
            <a:ext cx="1785236" cy="1785236"/>
          </a:xfrm>
          <a:custGeom>
            <a:rect b="b" l="l" r="r" t="t"/>
            <a:pathLst>
              <a:path extrusionOk="0" h="1785236" w="1785236">
                <a:moveTo>
                  <a:pt x="0" y="0"/>
                </a:moveTo>
                <a:lnTo>
                  <a:pt x="1785236" y="0"/>
                </a:lnTo>
                <a:lnTo>
                  <a:pt x="1785236" y="1785236"/>
                </a:lnTo>
                <a:lnTo>
                  <a:pt x="0" y="178523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269" name="Shape 269"/>
        <p:cNvGrpSpPr/>
        <p:nvPr/>
      </p:nvGrpSpPr>
      <p:grpSpPr>
        <a:xfrm>
          <a:off x="0" y="0"/>
          <a:ext cx="0" cy="0"/>
          <a:chOff x="0" y="0"/>
          <a:chExt cx="0" cy="0"/>
        </a:xfrm>
      </p:grpSpPr>
      <p:sp>
        <p:nvSpPr>
          <p:cNvPr id="270" name="Google Shape;270;p27"/>
          <p:cNvSpPr txBox="1"/>
          <p:nvPr/>
        </p:nvSpPr>
        <p:spPr>
          <a:xfrm>
            <a:off x="2081562" y="2076792"/>
            <a:ext cx="9049500" cy="86850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1200"/>
              </a:spcBef>
              <a:spcAft>
                <a:spcPts val="0"/>
              </a:spcAft>
              <a:buClr>
                <a:schemeClr val="dk1"/>
              </a:buClr>
              <a:buSzPts val="1100"/>
              <a:buFont typeface="Arial"/>
              <a:buNone/>
            </a:pPr>
            <a:r>
              <a:rPr lang="en-US" sz="3500">
                <a:solidFill>
                  <a:schemeClr val="lt1"/>
                </a:solidFill>
              </a:rPr>
              <a:t>Main features of the Internet of Things (IoT)</a:t>
            </a:r>
            <a:r>
              <a:rPr lang="en-US" sz="2700">
                <a:solidFill>
                  <a:schemeClr val="lt1"/>
                </a:solidFill>
              </a:rPr>
              <a:t>:</a:t>
            </a:r>
            <a:endParaRPr sz="2700">
              <a:solidFill>
                <a:schemeClr val="lt1"/>
              </a:solidFill>
            </a:endParaRPr>
          </a:p>
          <a:p>
            <a:pPr indent="-342900" lvl="0" marL="457200" rtl="0" algn="l">
              <a:lnSpc>
                <a:spcPct val="150000"/>
              </a:lnSpc>
              <a:spcBef>
                <a:spcPts val="1200"/>
              </a:spcBef>
              <a:spcAft>
                <a:spcPts val="0"/>
              </a:spcAft>
              <a:buClr>
                <a:schemeClr val="lt1"/>
              </a:buClr>
              <a:buSzPts val="1800"/>
              <a:buChar char="●"/>
            </a:pPr>
            <a:r>
              <a:rPr b="1" lang="en-US" sz="1800">
                <a:solidFill>
                  <a:schemeClr val="lt1"/>
                </a:solidFill>
              </a:rPr>
              <a:t>Effective Endpoint Management:</a:t>
            </a:r>
            <a:r>
              <a:rPr lang="en-US" sz="1800">
                <a:solidFill>
                  <a:schemeClr val="lt1"/>
                </a:solidFill>
              </a:rPr>
              <a:t> Centralized control and monitoring of all connected devices across the network.</a:t>
            </a:r>
            <a:endParaRPr sz="1800">
              <a:solidFill>
                <a:schemeClr val="lt1"/>
              </a:solidFill>
            </a:endParaRPr>
          </a:p>
          <a:p>
            <a:pPr indent="-342900" lvl="0" marL="457200" rtl="0" algn="l">
              <a:lnSpc>
                <a:spcPct val="150000"/>
              </a:lnSpc>
              <a:spcBef>
                <a:spcPts val="0"/>
              </a:spcBef>
              <a:spcAft>
                <a:spcPts val="0"/>
              </a:spcAft>
              <a:buClr>
                <a:schemeClr val="lt1"/>
              </a:buClr>
              <a:buSzPts val="1800"/>
              <a:buChar char="●"/>
            </a:pPr>
            <a:r>
              <a:rPr b="1" lang="en-US" sz="1800">
                <a:solidFill>
                  <a:schemeClr val="lt1"/>
                </a:solidFill>
              </a:rPr>
              <a:t>High Scalability, Analytics, and System Integration:</a:t>
            </a:r>
            <a:r>
              <a:rPr lang="en-US" sz="1800">
                <a:solidFill>
                  <a:schemeClr val="lt1"/>
                </a:solidFill>
              </a:rPr>
              <a:t> Capability to expand seamlessly while processing large datasets and connecting with existing infrastructure.</a:t>
            </a:r>
            <a:endParaRPr sz="1800">
              <a:solidFill>
                <a:schemeClr val="lt1"/>
              </a:solidFill>
            </a:endParaRPr>
          </a:p>
          <a:p>
            <a:pPr indent="-342900" lvl="0" marL="457200" rtl="0" algn="l">
              <a:lnSpc>
                <a:spcPct val="150000"/>
              </a:lnSpc>
              <a:spcBef>
                <a:spcPts val="0"/>
              </a:spcBef>
              <a:spcAft>
                <a:spcPts val="0"/>
              </a:spcAft>
              <a:buClr>
                <a:schemeClr val="lt1"/>
              </a:buClr>
              <a:buSzPts val="1800"/>
              <a:buChar char="●"/>
            </a:pPr>
            <a:r>
              <a:rPr b="1" lang="en-US" sz="1800">
                <a:solidFill>
                  <a:schemeClr val="lt1"/>
                </a:solidFill>
              </a:rPr>
              <a:t>Robust Automation and Physical Asset Security:</a:t>
            </a:r>
            <a:r>
              <a:rPr lang="en-US" sz="1800">
                <a:solidFill>
                  <a:schemeClr val="lt1"/>
                </a:solidFill>
              </a:rPr>
              <a:t> Automated workflows and protection systems for machinery and equipment.</a:t>
            </a:r>
            <a:endParaRPr sz="1800">
              <a:solidFill>
                <a:schemeClr val="lt1"/>
              </a:solidFill>
            </a:endParaRPr>
          </a:p>
          <a:p>
            <a:pPr indent="-342900" lvl="0" marL="457200" rtl="0" algn="l">
              <a:lnSpc>
                <a:spcPct val="150000"/>
              </a:lnSpc>
              <a:spcBef>
                <a:spcPts val="0"/>
              </a:spcBef>
              <a:spcAft>
                <a:spcPts val="0"/>
              </a:spcAft>
              <a:buClr>
                <a:schemeClr val="lt1"/>
              </a:buClr>
              <a:buSzPts val="1800"/>
              <a:buChar char="●"/>
            </a:pPr>
            <a:r>
              <a:rPr b="1" lang="en-US" sz="1800">
                <a:solidFill>
                  <a:schemeClr val="lt1"/>
                </a:solidFill>
              </a:rPr>
              <a:t>Increased Device Efficiency and Energy Savings:</a:t>
            </a:r>
            <a:r>
              <a:rPr lang="en-US" sz="1800">
                <a:solidFill>
                  <a:schemeClr val="lt1"/>
                </a:solidFill>
              </a:rPr>
              <a:t> Optimized operational performance that minimizes power consumption.</a:t>
            </a:r>
            <a:endParaRPr sz="1800">
              <a:solidFill>
                <a:schemeClr val="lt1"/>
              </a:solidFill>
            </a:endParaRPr>
          </a:p>
          <a:p>
            <a:pPr indent="-342900" lvl="0" marL="457200" rtl="0" algn="l">
              <a:lnSpc>
                <a:spcPct val="150000"/>
              </a:lnSpc>
              <a:spcBef>
                <a:spcPts val="0"/>
              </a:spcBef>
              <a:spcAft>
                <a:spcPts val="0"/>
              </a:spcAft>
              <a:buClr>
                <a:schemeClr val="lt1"/>
              </a:buClr>
              <a:buSzPts val="1800"/>
              <a:buChar char="●"/>
            </a:pPr>
            <a:r>
              <a:rPr b="1" lang="en-US" sz="1800">
                <a:solidFill>
                  <a:schemeClr val="lt1"/>
                </a:solidFill>
              </a:rPr>
              <a:t>Efficient Connectivity:</a:t>
            </a:r>
            <a:r>
              <a:rPr lang="en-US" sz="1800">
                <a:solidFill>
                  <a:schemeClr val="lt1"/>
                </a:solidFill>
              </a:rPr>
              <a:t> Seamless communication between devices and human operators.</a:t>
            </a:r>
            <a:endParaRPr sz="1800">
              <a:solidFill>
                <a:schemeClr val="lt1"/>
              </a:solidFill>
            </a:endParaRPr>
          </a:p>
          <a:p>
            <a:pPr indent="-342900" lvl="0" marL="457200" rtl="0" algn="l">
              <a:lnSpc>
                <a:spcPct val="150000"/>
              </a:lnSpc>
              <a:spcBef>
                <a:spcPts val="0"/>
              </a:spcBef>
              <a:spcAft>
                <a:spcPts val="0"/>
              </a:spcAft>
              <a:buClr>
                <a:schemeClr val="lt1"/>
              </a:buClr>
              <a:buSzPts val="1800"/>
              <a:buChar char="●"/>
            </a:pPr>
            <a:r>
              <a:rPr b="1" lang="en-US" sz="1800">
                <a:solidFill>
                  <a:schemeClr val="lt1"/>
                </a:solidFill>
              </a:rPr>
              <a:t>Deployment of Greater Sensing Capabilities:</a:t>
            </a:r>
            <a:r>
              <a:rPr lang="en-US" sz="1800">
                <a:solidFill>
                  <a:schemeClr val="lt1"/>
                </a:solidFill>
              </a:rPr>
              <a:t> Advanced sensor arrays that capture precise, real-world data.</a:t>
            </a:r>
            <a:endParaRPr sz="1800">
              <a:solidFill>
                <a:schemeClr val="lt1"/>
              </a:solidFill>
            </a:endParaRPr>
          </a:p>
          <a:p>
            <a:pPr indent="-342900" lvl="0" marL="457200" rtl="0" algn="l">
              <a:lnSpc>
                <a:spcPct val="150000"/>
              </a:lnSpc>
              <a:spcBef>
                <a:spcPts val="0"/>
              </a:spcBef>
              <a:spcAft>
                <a:spcPts val="0"/>
              </a:spcAft>
              <a:buClr>
                <a:schemeClr val="lt1"/>
              </a:buClr>
              <a:buSzPts val="1800"/>
              <a:buChar char="●"/>
            </a:pPr>
            <a:r>
              <a:rPr b="1" lang="en-US" sz="1800">
                <a:solidFill>
                  <a:schemeClr val="lt1"/>
                </a:solidFill>
              </a:rPr>
              <a:t>Active Engagement with Everyday Devices:</a:t>
            </a:r>
            <a:r>
              <a:rPr lang="en-US" sz="1800">
                <a:solidFill>
                  <a:schemeClr val="lt1"/>
                </a:solidFill>
              </a:rPr>
              <a:t> Integration of modern connectivity into everyday personal and industrial tools.</a:t>
            </a:r>
            <a:endParaRPr sz="1800">
              <a:solidFill>
                <a:schemeClr val="lt1"/>
              </a:solidFill>
            </a:endParaRPr>
          </a:p>
          <a:p>
            <a:pPr indent="-342900" lvl="0" marL="457200" rtl="0" algn="l">
              <a:lnSpc>
                <a:spcPct val="150000"/>
              </a:lnSpc>
              <a:spcBef>
                <a:spcPts val="0"/>
              </a:spcBef>
              <a:spcAft>
                <a:spcPts val="0"/>
              </a:spcAft>
              <a:buClr>
                <a:schemeClr val="lt1"/>
              </a:buClr>
              <a:buSzPts val="1800"/>
              <a:buChar char="●"/>
            </a:pPr>
            <a:r>
              <a:rPr b="1" lang="en-US" sz="1800">
                <a:solidFill>
                  <a:schemeClr val="lt1"/>
                </a:solidFill>
              </a:rPr>
              <a:t>Incorporation of Cutting-Edge Technologies:</a:t>
            </a:r>
            <a:r>
              <a:rPr lang="en-US" sz="1800">
                <a:solidFill>
                  <a:schemeClr val="lt1"/>
                </a:solidFill>
              </a:rPr>
              <a:t> Integration with artificial intelligence (AI) and machine learning (ML) for predictive and autonomous operations.</a:t>
            </a:r>
            <a:endParaRPr sz="1800">
              <a:solidFill>
                <a:schemeClr val="lt1"/>
              </a:solidFill>
            </a:endParaRPr>
          </a:p>
          <a:p>
            <a:pPr indent="0" lvl="0" marL="0" marR="0" rtl="0" algn="l">
              <a:lnSpc>
                <a:spcPct val="150000"/>
              </a:lnSpc>
              <a:spcBef>
                <a:spcPts val="1200"/>
              </a:spcBef>
              <a:spcAft>
                <a:spcPts val="0"/>
              </a:spcAft>
              <a:buNone/>
            </a:pPr>
            <a:r>
              <a:t/>
            </a:r>
            <a:endParaRPr b="1" i="1" sz="3273">
              <a:solidFill>
                <a:schemeClr val="lt1"/>
              </a:solidFill>
              <a:latin typeface="Raleway"/>
              <a:ea typeface="Raleway"/>
              <a:cs typeface="Raleway"/>
              <a:sym typeface="Raleway"/>
            </a:endParaRPr>
          </a:p>
        </p:txBody>
      </p:sp>
      <p:sp>
        <p:nvSpPr>
          <p:cNvPr id="271" name="Google Shape;271;p27"/>
          <p:cNvSpPr/>
          <p:nvPr/>
        </p:nvSpPr>
        <p:spPr>
          <a:xfrm rot="-1312875">
            <a:off x="5680296" y="6411764"/>
            <a:ext cx="19140433" cy="6986258"/>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272" name="Google Shape;272;p27"/>
          <p:cNvSpPr/>
          <p:nvPr/>
        </p:nvSpPr>
        <p:spPr>
          <a:xfrm flipH="1" rot="-9225302">
            <a:off x="3960235" y="-5519885"/>
            <a:ext cx="19162454" cy="6994295"/>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273" name="Google Shape;273;p27"/>
          <p:cNvSpPr/>
          <p:nvPr/>
        </p:nvSpPr>
        <p:spPr>
          <a:xfrm>
            <a:off x="2081562" y="1041274"/>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grpSp>
        <p:nvGrpSpPr>
          <p:cNvPr id="274" name="Google Shape;274;p27"/>
          <p:cNvGrpSpPr/>
          <p:nvPr/>
        </p:nvGrpSpPr>
        <p:grpSpPr>
          <a:xfrm>
            <a:off x="11384250" y="2447022"/>
            <a:ext cx="6011809" cy="5985044"/>
            <a:chOff x="-33258" y="-75"/>
            <a:chExt cx="14906544" cy="14840178"/>
          </a:xfrm>
        </p:grpSpPr>
        <p:sp>
          <p:nvSpPr>
            <p:cNvPr id="275" name="Google Shape;275;p27"/>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7"/>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5">
                <a:alphaModFix/>
              </a:blip>
              <a:stretch>
                <a:fillRect b="0" l="-38309" r="-3832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8" name="Google Shape;278;p27"/>
          <p:cNvSpPr/>
          <p:nvPr/>
        </p:nvSpPr>
        <p:spPr>
          <a:xfrm>
            <a:off x="15181260" y="6529729"/>
            <a:ext cx="1785236" cy="1785236"/>
          </a:xfrm>
          <a:custGeom>
            <a:rect b="b" l="l" r="r" t="t"/>
            <a:pathLst>
              <a:path extrusionOk="0" h="1785236" w="1785236">
                <a:moveTo>
                  <a:pt x="0" y="0"/>
                </a:moveTo>
                <a:lnTo>
                  <a:pt x="1785235" y="0"/>
                </a:lnTo>
                <a:lnTo>
                  <a:pt x="1785235" y="1785235"/>
                </a:lnTo>
                <a:lnTo>
                  <a:pt x="0" y="1785235"/>
                </a:lnTo>
                <a:lnTo>
                  <a:pt x="0" y="0"/>
                </a:lnTo>
                <a:close/>
              </a:path>
            </a:pathLst>
          </a:custGeom>
          <a:blipFill rotWithShape="1">
            <a:blip r:embed="rId6">
              <a:alphaModFix/>
            </a:blip>
            <a:stretch>
              <a:fillRect b="0" l="0" r="0" t="0"/>
            </a:stretch>
          </a:blipFill>
          <a:ln>
            <a:noFill/>
          </a:ln>
        </p:spPr>
      </p:sp>
      <p:sp>
        <p:nvSpPr>
          <p:cNvPr id="279" name="Google Shape;279;p27"/>
          <p:cNvSpPr/>
          <p:nvPr/>
        </p:nvSpPr>
        <p:spPr>
          <a:xfrm>
            <a:off x="-183721" y="564812"/>
            <a:ext cx="1785236" cy="1785236"/>
          </a:xfrm>
          <a:custGeom>
            <a:rect b="b" l="l" r="r" t="t"/>
            <a:pathLst>
              <a:path extrusionOk="0" h="1785236" w="1785236">
                <a:moveTo>
                  <a:pt x="0" y="0"/>
                </a:moveTo>
                <a:lnTo>
                  <a:pt x="1785236" y="0"/>
                </a:lnTo>
                <a:lnTo>
                  <a:pt x="1785236" y="1785236"/>
                </a:lnTo>
                <a:lnTo>
                  <a:pt x="0" y="178523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283" name="Shape 283"/>
        <p:cNvGrpSpPr/>
        <p:nvPr/>
      </p:nvGrpSpPr>
      <p:grpSpPr>
        <a:xfrm>
          <a:off x="0" y="0"/>
          <a:ext cx="0" cy="0"/>
          <a:chOff x="0" y="0"/>
          <a:chExt cx="0" cy="0"/>
        </a:xfrm>
      </p:grpSpPr>
      <p:sp>
        <p:nvSpPr>
          <p:cNvPr id="284" name="Google Shape;284;p28"/>
          <p:cNvSpPr txBox="1"/>
          <p:nvPr/>
        </p:nvSpPr>
        <p:spPr>
          <a:xfrm>
            <a:off x="1968137" y="1394417"/>
            <a:ext cx="9049500" cy="9578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lang="en-US" sz="3500">
                <a:solidFill>
                  <a:schemeClr val="lt1"/>
                </a:solidFill>
              </a:rPr>
              <a:t>History of Internet of Things</a:t>
            </a:r>
            <a:r>
              <a:rPr lang="en-US" sz="2700">
                <a:solidFill>
                  <a:schemeClr val="lt1"/>
                </a:solidFill>
              </a:rPr>
              <a:t>:</a:t>
            </a:r>
            <a:endParaRPr sz="2700">
              <a:solidFill>
                <a:schemeClr val="lt1"/>
              </a:solidFill>
            </a:endParaRPr>
          </a:p>
          <a:p>
            <a:pPr indent="0" lvl="0" marL="457200" rtl="0" algn="l">
              <a:lnSpc>
                <a:spcPct val="115000"/>
              </a:lnSpc>
              <a:spcBef>
                <a:spcPts val="1200"/>
              </a:spcBef>
              <a:spcAft>
                <a:spcPts val="0"/>
              </a:spcAft>
              <a:buNone/>
            </a:pPr>
            <a:r>
              <a:rPr lang="en-US" sz="1900">
                <a:solidFill>
                  <a:schemeClr val="lt1"/>
                </a:solidFill>
              </a:rPr>
              <a:t>Industrial process automation began in 1950 with the introduction of SCADA systems for sensing and data transmission. Modern IoT automation originated in 1980 when Carnegie Mellon programmers networked a Coke machine to remotely track bottle availability, temperature, and queue times. </a:t>
            </a:r>
            <a:endParaRPr sz="1900">
              <a:solidFill>
                <a:schemeClr val="lt1"/>
              </a:solidFill>
            </a:endParaRPr>
          </a:p>
          <a:p>
            <a:pPr indent="0" lvl="0" marL="457200" rtl="0" algn="l">
              <a:lnSpc>
                <a:spcPct val="115000"/>
              </a:lnSpc>
              <a:spcBef>
                <a:spcPts val="1200"/>
              </a:spcBef>
              <a:spcAft>
                <a:spcPts val="0"/>
              </a:spcAft>
              <a:buClr>
                <a:schemeClr val="dk1"/>
              </a:buClr>
              <a:buSzPts val="1100"/>
              <a:buFont typeface="Arial"/>
              <a:buNone/>
            </a:pPr>
            <a:r>
              <a:rPr b="1" lang="en-US" sz="1800">
                <a:solidFill>
                  <a:schemeClr val="lt1"/>
                </a:solidFill>
              </a:rPr>
              <a:t>1950:</a:t>
            </a:r>
            <a:r>
              <a:rPr lang="en-US" sz="1800">
                <a:solidFill>
                  <a:schemeClr val="lt1"/>
                </a:solidFill>
              </a:rPr>
              <a:t> The predecessor of automation through the Internet of Things traces back to the introduction of Supervisory Control and Data Acquisition (SCADA) systems, which automated industrial processes using complex sensing and transmitting systems.</a:t>
            </a:r>
            <a:endParaRPr sz="1800">
              <a:solidFill>
                <a:schemeClr val="lt1"/>
              </a:solidFill>
            </a:endParaRPr>
          </a:p>
          <a:p>
            <a:pPr indent="0" lvl="0" marL="457200" rtl="0" algn="l">
              <a:lnSpc>
                <a:spcPct val="115000"/>
              </a:lnSpc>
              <a:spcBef>
                <a:spcPts val="1200"/>
              </a:spcBef>
              <a:spcAft>
                <a:spcPts val="0"/>
              </a:spcAft>
              <a:buClr>
                <a:schemeClr val="dk1"/>
              </a:buClr>
              <a:buSzPts val="1100"/>
              <a:buFont typeface="Arial"/>
              <a:buNone/>
            </a:pPr>
            <a:r>
              <a:rPr b="1" lang="en-US" sz="1800">
                <a:solidFill>
                  <a:schemeClr val="lt1"/>
                </a:solidFill>
              </a:rPr>
              <a:t>1980:</a:t>
            </a:r>
            <a:r>
              <a:rPr lang="en-US" sz="1800">
                <a:solidFill>
                  <a:schemeClr val="lt1"/>
                </a:solidFill>
              </a:rPr>
              <a:t> The modern concept of IoT-based automation was marked when programmers at Carnegie Mellon University modified a coke dispenser using computer code to check the temperature, availability, and waiting queue of coke bottles in the dispenser.</a:t>
            </a:r>
            <a:endParaRPr sz="1800">
              <a:solidFill>
                <a:schemeClr val="lt1"/>
              </a:solidFill>
            </a:endParaRPr>
          </a:p>
          <a:p>
            <a:pPr indent="0" lvl="0" marL="457200" rtl="0" algn="l">
              <a:lnSpc>
                <a:spcPct val="115000"/>
              </a:lnSpc>
              <a:spcBef>
                <a:spcPts val="1200"/>
              </a:spcBef>
              <a:spcAft>
                <a:spcPts val="0"/>
              </a:spcAft>
              <a:buClr>
                <a:schemeClr val="dk1"/>
              </a:buClr>
              <a:buSzPts val="1100"/>
              <a:buFont typeface="Arial"/>
              <a:buNone/>
            </a:pPr>
            <a:r>
              <a:rPr b="1" lang="en-US" sz="1800">
                <a:solidFill>
                  <a:schemeClr val="lt1"/>
                </a:solidFill>
              </a:rPr>
              <a:t>1999:</a:t>
            </a:r>
            <a:r>
              <a:rPr lang="en-US" sz="1800">
                <a:solidFill>
                  <a:schemeClr val="lt1"/>
                </a:solidFill>
              </a:rPr>
              <a:t> The term "Internet of Things" was coined by Kevin Ashton, and Radio Frequency Identification (RFID) technology was introduced.</a:t>
            </a:r>
            <a:endParaRPr sz="1800">
              <a:solidFill>
                <a:schemeClr val="lt1"/>
              </a:solidFill>
            </a:endParaRPr>
          </a:p>
          <a:p>
            <a:pPr indent="0" lvl="0" marL="457200" rtl="0" algn="l">
              <a:lnSpc>
                <a:spcPct val="115000"/>
              </a:lnSpc>
              <a:spcBef>
                <a:spcPts val="1200"/>
              </a:spcBef>
              <a:spcAft>
                <a:spcPts val="0"/>
              </a:spcAft>
              <a:buClr>
                <a:schemeClr val="dk1"/>
              </a:buClr>
              <a:buSzPts val="1100"/>
              <a:buFont typeface="Arial"/>
              <a:buNone/>
            </a:pPr>
            <a:r>
              <a:rPr b="1" lang="en-US" sz="1800">
                <a:solidFill>
                  <a:schemeClr val="lt1"/>
                </a:solidFill>
              </a:rPr>
              <a:t>2000:</a:t>
            </a:r>
            <a:r>
              <a:rPr lang="en-US" sz="1800">
                <a:solidFill>
                  <a:schemeClr val="lt1"/>
                </a:solidFill>
              </a:rPr>
              <a:t> The first smart refrigerator was introduced by LG Corporation.</a:t>
            </a:r>
            <a:endParaRPr sz="1800">
              <a:solidFill>
                <a:schemeClr val="lt1"/>
              </a:solidFill>
            </a:endParaRPr>
          </a:p>
          <a:p>
            <a:pPr indent="0" lvl="0" marL="457200" rtl="0" algn="l">
              <a:lnSpc>
                <a:spcPct val="115000"/>
              </a:lnSpc>
              <a:spcBef>
                <a:spcPts val="1200"/>
              </a:spcBef>
              <a:spcAft>
                <a:spcPts val="0"/>
              </a:spcAft>
              <a:buClr>
                <a:schemeClr val="dk1"/>
              </a:buClr>
              <a:buSzPts val="1100"/>
              <a:buFont typeface="Arial"/>
              <a:buNone/>
            </a:pPr>
            <a:r>
              <a:rPr b="1" lang="en-US" sz="1800">
                <a:solidFill>
                  <a:schemeClr val="lt1"/>
                </a:solidFill>
              </a:rPr>
              <a:t>2008:</a:t>
            </a:r>
            <a:r>
              <a:rPr lang="en-US" sz="1800">
                <a:solidFill>
                  <a:schemeClr val="lt1"/>
                </a:solidFill>
              </a:rPr>
              <a:t> The number of connected devices crossed the number of people on the Earth.</a:t>
            </a:r>
            <a:endParaRPr sz="1800">
              <a:solidFill>
                <a:schemeClr val="lt1"/>
              </a:solidFill>
            </a:endParaRPr>
          </a:p>
          <a:p>
            <a:pPr indent="0" lvl="0" marL="457200" rtl="0" algn="l">
              <a:lnSpc>
                <a:spcPct val="115000"/>
              </a:lnSpc>
              <a:spcBef>
                <a:spcPts val="1200"/>
              </a:spcBef>
              <a:spcAft>
                <a:spcPts val="0"/>
              </a:spcAft>
              <a:buClr>
                <a:schemeClr val="dk1"/>
              </a:buClr>
              <a:buSzPts val="1100"/>
              <a:buFont typeface="Arial"/>
              <a:buNone/>
            </a:pPr>
            <a:r>
              <a:rPr b="1" lang="en-US" sz="1800">
                <a:solidFill>
                  <a:schemeClr val="lt1"/>
                </a:solidFill>
              </a:rPr>
              <a:t>2009:</a:t>
            </a:r>
            <a:r>
              <a:rPr lang="en-US" sz="1800">
                <a:solidFill>
                  <a:schemeClr val="lt1"/>
                </a:solidFill>
              </a:rPr>
              <a:t> Google Inc. started testing driverless cars.</a:t>
            </a:r>
            <a:endParaRPr sz="1800">
              <a:solidFill>
                <a:schemeClr val="lt1"/>
              </a:solidFill>
            </a:endParaRPr>
          </a:p>
          <a:p>
            <a:pPr indent="0" lvl="0" marL="457200" rtl="0" algn="l">
              <a:lnSpc>
                <a:spcPct val="115000"/>
              </a:lnSpc>
              <a:spcBef>
                <a:spcPts val="1200"/>
              </a:spcBef>
              <a:spcAft>
                <a:spcPts val="0"/>
              </a:spcAft>
              <a:buClr>
                <a:schemeClr val="dk1"/>
              </a:buClr>
              <a:buSzPts val="1100"/>
              <a:buFont typeface="Arial"/>
              <a:buNone/>
            </a:pPr>
            <a:r>
              <a:rPr b="1" lang="en-US" sz="1800">
                <a:solidFill>
                  <a:schemeClr val="lt1"/>
                </a:solidFill>
              </a:rPr>
              <a:t>2011:</a:t>
            </a:r>
            <a:r>
              <a:rPr lang="en-US" sz="1800">
                <a:solidFill>
                  <a:schemeClr val="lt1"/>
                </a:solidFill>
              </a:rPr>
              <a:t> Google's Nest smart thermostat was introduced in the market.</a:t>
            </a:r>
            <a:endParaRPr sz="1800">
              <a:solidFill>
                <a:schemeClr val="lt1"/>
              </a:solidFill>
            </a:endParaRPr>
          </a:p>
          <a:p>
            <a:pPr indent="0" lvl="0" marL="457200" rtl="0" algn="l">
              <a:lnSpc>
                <a:spcPct val="115000"/>
              </a:lnSpc>
              <a:spcBef>
                <a:spcPts val="1200"/>
              </a:spcBef>
              <a:spcAft>
                <a:spcPts val="0"/>
              </a:spcAft>
              <a:buClr>
                <a:schemeClr val="dk1"/>
              </a:buClr>
              <a:buSzPts val="1100"/>
              <a:buFont typeface="Arial"/>
              <a:buNone/>
            </a:pPr>
            <a:r>
              <a:rPr b="1" lang="en-US" sz="1800">
                <a:solidFill>
                  <a:schemeClr val="lt1"/>
                </a:solidFill>
              </a:rPr>
              <a:t>Present:</a:t>
            </a:r>
            <a:r>
              <a:rPr lang="en-US" sz="1800">
                <a:solidFill>
                  <a:schemeClr val="lt1"/>
                </a:solidFill>
              </a:rPr>
              <a:t> The IoT world has expanded tremendously and is expected to make a significant impact on all walks of life very soon with the adoption of 5G technology.</a:t>
            </a:r>
            <a:endParaRPr sz="1800">
              <a:solidFill>
                <a:schemeClr val="lt1"/>
              </a:solidFill>
            </a:endParaRPr>
          </a:p>
          <a:p>
            <a:pPr indent="0" lvl="0" marL="457200" rtl="0" algn="l">
              <a:lnSpc>
                <a:spcPct val="115000"/>
              </a:lnSpc>
              <a:spcBef>
                <a:spcPts val="1200"/>
              </a:spcBef>
              <a:spcAft>
                <a:spcPts val="0"/>
              </a:spcAft>
              <a:buNone/>
            </a:pPr>
            <a:r>
              <a:t/>
            </a:r>
            <a:endParaRPr sz="1800">
              <a:solidFill>
                <a:schemeClr val="lt1"/>
              </a:solidFill>
            </a:endParaRPr>
          </a:p>
          <a:p>
            <a:pPr indent="0" lvl="0" marL="0" marR="0" rtl="0" algn="l">
              <a:lnSpc>
                <a:spcPct val="128993"/>
              </a:lnSpc>
              <a:spcBef>
                <a:spcPts val="1200"/>
              </a:spcBef>
              <a:spcAft>
                <a:spcPts val="0"/>
              </a:spcAft>
              <a:buNone/>
            </a:pPr>
            <a:r>
              <a:t/>
            </a:r>
            <a:endParaRPr b="1" i="1" sz="3273">
              <a:solidFill>
                <a:schemeClr val="lt1"/>
              </a:solidFill>
              <a:latin typeface="Raleway"/>
              <a:ea typeface="Raleway"/>
              <a:cs typeface="Raleway"/>
              <a:sym typeface="Raleway"/>
            </a:endParaRPr>
          </a:p>
        </p:txBody>
      </p:sp>
      <p:sp>
        <p:nvSpPr>
          <p:cNvPr id="285" name="Google Shape;285;p28"/>
          <p:cNvSpPr/>
          <p:nvPr/>
        </p:nvSpPr>
        <p:spPr>
          <a:xfrm rot="-1312875">
            <a:off x="6595446" y="6878689"/>
            <a:ext cx="19140433" cy="6986258"/>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286" name="Google Shape;286;p28"/>
          <p:cNvSpPr/>
          <p:nvPr/>
        </p:nvSpPr>
        <p:spPr>
          <a:xfrm flipH="1" rot="-9225302">
            <a:off x="3960235" y="-5519885"/>
            <a:ext cx="19162454" cy="6994295"/>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287" name="Google Shape;287;p28"/>
          <p:cNvSpPr/>
          <p:nvPr/>
        </p:nvSpPr>
        <p:spPr>
          <a:xfrm>
            <a:off x="2081562" y="649049"/>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grpSp>
        <p:nvGrpSpPr>
          <p:cNvPr id="288" name="Google Shape;288;p28"/>
          <p:cNvGrpSpPr/>
          <p:nvPr/>
        </p:nvGrpSpPr>
        <p:grpSpPr>
          <a:xfrm>
            <a:off x="11384250" y="2447022"/>
            <a:ext cx="6011809" cy="5985044"/>
            <a:chOff x="-33258" y="-75"/>
            <a:chExt cx="14906544" cy="14840178"/>
          </a:xfrm>
        </p:grpSpPr>
        <p:sp>
          <p:nvSpPr>
            <p:cNvPr id="289" name="Google Shape;289;p28"/>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8"/>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5">
                <a:alphaModFix/>
              </a:blip>
              <a:stretch>
                <a:fillRect b="0" l="-38309" r="-3832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 name="Google Shape;292;p28"/>
          <p:cNvSpPr/>
          <p:nvPr/>
        </p:nvSpPr>
        <p:spPr>
          <a:xfrm>
            <a:off x="15181260" y="6529729"/>
            <a:ext cx="1785236" cy="1785236"/>
          </a:xfrm>
          <a:custGeom>
            <a:rect b="b" l="l" r="r" t="t"/>
            <a:pathLst>
              <a:path extrusionOk="0" h="1785236" w="1785236">
                <a:moveTo>
                  <a:pt x="0" y="0"/>
                </a:moveTo>
                <a:lnTo>
                  <a:pt x="1785235" y="0"/>
                </a:lnTo>
                <a:lnTo>
                  <a:pt x="1785235" y="1785235"/>
                </a:lnTo>
                <a:lnTo>
                  <a:pt x="0" y="1785235"/>
                </a:lnTo>
                <a:lnTo>
                  <a:pt x="0" y="0"/>
                </a:lnTo>
                <a:close/>
              </a:path>
            </a:pathLst>
          </a:custGeom>
          <a:blipFill rotWithShape="1">
            <a:blip r:embed="rId6">
              <a:alphaModFix/>
            </a:blip>
            <a:stretch>
              <a:fillRect b="0" l="0" r="0" t="0"/>
            </a:stretch>
          </a:blipFill>
          <a:ln>
            <a:noFill/>
          </a:ln>
        </p:spPr>
      </p:sp>
      <p:sp>
        <p:nvSpPr>
          <p:cNvPr id="293" name="Google Shape;293;p28"/>
          <p:cNvSpPr/>
          <p:nvPr/>
        </p:nvSpPr>
        <p:spPr>
          <a:xfrm>
            <a:off x="-183721" y="564812"/>
            <a:ext cx="1785236" cy="1785236"/>
          </a:xfrm>
          <a:custGeom>
            <a:rect b="b" l="l" r="r" t="t"/>
            <a:pathLst>
              <a:path extrusionOk="0" h="1785236" w="1785236">
                <a:moveTo>
                  <a:pt x="0" y="0"/>
                </a:moveTo>
                <a:lnTo>
                  <a:pt x="1785236" y="0"/>
                </a:lnTo>
                <a:lnTo>
                  <a:pt x="1785236" y="1785236"/>
                </a:lnTo>
                <a:lnTo>
                  <a:pt x="0" y="178523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297" name="Shape 297"/>
        <p:cNvGrpSpPr/>
        <p:nvPr/>
      </p:nvGrpSpPr>
      <p:grpSpPr>
        <a:xfrm>
          <a:off x="0" y="0"/>
          <a:ext cx="0" cy="0"/>
          <a:chOff x="0" y="0"/>
          <a:chExt cx="0" cy="0"/>
        </a:xfrm>
      </p:grpSpPr>
      <p:sp>
        <p:nvSpPr>
          <p:cNvPr id="298" name="Google Shape;298;p29"/>
          <p:cNvSpPr txBox="1"/>
          <p:nvPr/>
        </p:nvSpPr>
        <p:spPr>
          <a:xfrm>
            <a:off x="1968137" y="1394417"/>
            <a:ext cx="9049500" cy="8371200"/>
          </a:xfrm>
          <a:prstGeom prst="rect">
            <a:avLst/>
          </a:prstGeom>
          <a:noFill/>
          <a:ln>
            <a:noFill/>
          </a:ln>
        </p:spPr>
        <p:txBody>
          <a:bodyPr anchorCtr="0" anchor="t" bIns="0" lIns="0" spcFirstLastPara="1" rIns="0" wrap="square" tIns="0">
            <a:spAutoFit/>
          </a:bodyPr>
          <a:lstStyle/>
          <a:p>
            <a:pPr indent="0" lvl="0" marL="0" rtl="0" algn="l">
              <a:lnSpc>
                <a:spcPct val="128993"/>
              </a:lnSpc>
              <a:spcBef>
                <a:spcPts val="0"/>
              </a:spcBef>
              <a:spcAft>
                <a:spcPts val="0"/>
              </a:spcAft>
              <a:buClr>
                <a:schemeClr val="dk1"/>
              </a:buClr>
              <a:buSzPts val="1100"/>
              <a:buFont typeface="Arial"/>
              <a:buNone/>
            </a:pPr>
            <a:r>
              <a:rPr lang="en-US" sz="4600">
                <a:solidFill>
                  <a:schemeClr val="lt1"/>
                </a:solidFill>
              </a:rPr>
              <a:t>What is Ambient Intelligence in IoT?</a:t>
            </a:r>
            <a:endParaRPr sz="4600">
              <a:solidFill>
                <a:schemeClr val="lt1"/>
              </a:solidFill>
            </a:endParaRPr>
          </a:p>
          <a:p>
            <a:pPr indent="0" lvl="0" marL="0" rtl="0" algn="l">
              <a:lnSpc>
                <a:spcPct val="128993"/>
              </a:lnSpc>
              <a:spcBef>
                <a:spcPts val="0"/>
              </a:spcBef>
              <a:spcAft>
                <a:spcPts val="0"/>
              </a:spcAft>
              <a:buClr>
                <a:schemeClr val="dk1"/>
              </a:buClr>
              <a:buSzPts val="1100"/>
              <a:buFont typeface="Arial"/>
              <a:buNone/>
            </a:pPr>
            <a:r>
              <a:t/>
            </a:r>
            <a:endParaRPr sz="2100">
              <a:solidFill>
                <a:schemeClr val="lt1"/>
              </a:solidFill>
            </a:endParaRPr>
          </a:p>
          <a:p>
            <a:pPr indent="457200" lvl="0" marL="0" rtl="0" algn="l">
              <a:lnSpc>
                <a:spcPct val="150000"/>
              </a:lnSpc>
              <a:spcBef>
                <a:spcPts val="0"/>
              </a:spcBef>
              <a:spcAft>
                <a:spcPts val="0"/>
              </a:spcAft>
              <a:buSzPts val="1100"/>
              <a:buNone/>
            </a:pPr>
            <a:r>
              <a:rPr lang="en-US" sz="2200">
                <a:solidFill>
                  <a:schemeClr val="lt1"/>
                </a:solidFill>
              </a:rPr>
              <a:t>The concept of ambient intelligence, precisely referred to as AmI, is the development of such devices or elements that use pervasive computing, sensing power, adaptivity, and intelligence by collected data from the environment and processing through computing power. The concept of ambient intelligence was coined by Eli Zelkha and colleagues in 1990</a:t>
            </a:r>
            <a:endParaRPr sz="2200">
              <a:solidFill>
                <a:schemeClr val="lt1"/>
              </a:solidFill>
            </a:endParaRPr>
          </a:p>
          <a:p>
            <a:pPr indent="457200" lvl="0" marL="0" rtl="0" algn="l">
              <a:lnSpc>
                <a:spcPct val="150000"/>
              </a:lnSpc>
              <a:spcBef>
                <a:spcPts val="0"/>
              </a:spcBef>
              <a:spcAft>
                <a:spcPts val="0"/>
              </a:spcAft>
              <a:buClr>
                <a:schemeClr val="dk1"/>
              </a:buClr>
              <a:buSzPts val="1100"/>
              <a:buFont typeface="Arial"/>
              <a:buNone/>
            </a:pPr>
            <a:r>
              <a:t/>
            </a:r>
            <a:endParaRPr sz="2200">
              <a:solidFill>
                <a:schemeClr val="lt1"/>
              </a:solidFill>
            </a:endParaRPr>
          </a:p>
          <a:p>
            <a:pPr indent="457200" lvl="0" marL="0" rtl="0" algn="l">
              <a:lnSpc>
                <a:spcPct val="150000"/>
              </a:lnSpc>
              <a:spcBef>
                <a:spcPts val="0"/>
              </a:spcBef>
              <a:spcAft>
                <a:spcPts val="0"/>
              </a:spcAft>
              <a:buClr>
                <a:schemeClr val="dk1"/>
              </a:buClr>
              <a:buSzPts val="1100"/>
              <a:buFont typeface="Arial"/>
              <a:buNone/>
            </a:pPr>
            <a:r>
              <a:rPr lang="en-US" sz="2200">
                <a:solidFill>
                  <a:schemeClr val="lt1"/>
                </a:solidFill>
              </a:rPr>
              <a:t>The main examples of ambient intelligence that have used the high level of sensing devices and </a:t>
            </a:r>
            <a:r>
              <a:rPr lang="en-US" sz="2200">
                <a:solidFill>
                  <a:schemeClr val="lt1"/>
                </a:solidFill>
              </a:rPr>
              <a:t>artificial</a:t>
            </a:r>
            <a:r>
              <a:rPr lang="en-US" sz="2200">
                <a:solidFill>
                  <a:schemeClr val="lt1"/>
                </a:solidFill>
              </a:rPr>
              <a:t> intelligence in their invention</a:t>
            </a:r>
            <a:endParaRPr sz="2200">
              <a:solidFill>
                <a:schemeClr val="lt1"/>
              </a:solidFill>
            </a:endParaRPr>
          </a:p>
          <a:p>
            <a:pPr indent="0" lvl="0" marL="0" rtl="0" algn="l">
              <a:lnSpc>
                <a:spcPct val="150000"/>
              </a:lnSpc>
              <a:spcBef>
                <a:spcPts val="0"/>
              </a:spcBef>
              <a:spcAft>
                <a:spcPts val="0"/>
              </a:spcAft>
              <a:buClr>
                <a:schemeClr val="dk1"/>
              </a:buClr>
              <a:buSzPts val="1100"/>
              <a:buFont typeface="Arial"/>
              <a:buNone/>
            </a:pPr>
            <a:r>
              <a:rPr lang="en-US" sz="2200">
                <a:solidFill>
                  <a:schemeClr val="lt1"/>
                </a:solidFill>
              </a:rPr>
              <a:t>include Neura app, Otter.ai, ElliQ and others. These services helped a</a:t>
            </a:r>
            <a:endParaRPr sz="2200">
              <a:solidFill>
                <a:schemeClr val="lt1"/>
              </a:solidFill>
            </a:endParaRPr>
          </a:p>
          <a:p>
            <a:pPr indent="0" lvl="0" marL="0" rtl="0" algn="l">
              <a:lnSpc>
                <a:spcPct val="150000"/>
              </a:lnSpc>
              <a:spcBef>
                <a:spcPts val="0"/>
              </a:spcBef>
              <a:spcAft>
                <a:spcPts val="0"/>
              </a:spcAft>
              <a:buClr>
                <a:schemeClr val="dk1"/>
              </a:buClr>
              <a:buSzPts val="1100"/>
              <a:buFont typeface="Arial"/>
              <a:buNone/>
            </a:pPr>
            <a:r>
              <a:rPr lang="en-US" sz="2200">
                <a:solidFill>
                  <a:schemeClr val="lt1"/>
                </a:solidFill>
              </a:rPr>
              <a:t>range of categories of people to make their lives so easy</a:t>
            </a:r>
            <a:endParaRPr sz="2200">
              <a:solidFill>
                <a:schemeClr val="lt1"/>
              </a:solidFill>
            </a:endParaRPr>
          </a:p>
          <a:p>
            <a:pPr indent="0" lvl="0" marL="0" rtl="0" algn="l">
              <a:lnSpc>
                <a:spcPct val="128993"/>
              </a:lnSpc>
              <a:spcBef>
                <a:spcPts val="0"/>
              </a:spcBef>
              <a:spcAft>
                <a:spcPts val="0"/>
              </a:spcAft>
              <a:buClr>
                <a:schemeClr val="dk1"/>
              </a:buClr>
              <a:buSzPts val="1100"/>
              <a:buFont typeface="Arial"/>
              <a:buNone/>
            </a:pPr>
            <a:r>
              <a:t/>
            </a:r>
            <a:endParaRPr sz="2100">
              <a:solidFill>
                <a:schemeClr val="lt1"/>
              </a:solidFill>
            </a:endParaRPr>
          </a:p>
          <a:p>
            <a:pPr indent="0" lvl="0" marL="0" marR="0" rtl="0" algn="l">
              <a:lnSpc>
                <a:spcPct val="128993"/>
              </a:lnSpc>
              <a:spcBef>
                <a:spcPts val="0"/>
              </a:spcBef>
              <a:spcAft>
                <a:spcPts val="0"/>
              </a:spcAft>
              <a:buNone/>
            </a:pPr>
            <a:r>
              <a:t/>
            </a:r>
            <a:endParaRPr sz="800">
              <a:solidFill>
                <a:schemeClr val="lt1"/>
              </a:solidFill>
            </a:endParaRPr>
          </a:p>
        </p:txBody>
      </p:sp>
      <p:sp>
        <p:nvSpPr>
          <p:cNvPr id="299" name="Google Shape;299;p29"/>
          <p:cNvSpPr/>
          <p:nvPr/>
        </p:nvSpPr>
        <p:spPr>
          <a:xfrm rot="-1312875">
            <a:off x="5680296" y="6411764"/>
            <a:ext cx="19140433" cy="6986258"/>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300" name="Google Shape;300;p29"/>
          <p:cNvSpPr/>
          <p:nvPr/>
        </p:nvSpPr>
        <p:spPr>
          <a:xfrm flipH="1" rot="-9225302">
            <a:off x="3960235" y="-5519885"/>
            <a:ext cx="19162454" cy="6994295"/>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301" name="Google Shape;301;p29"/>
          <p:cNvSpPr/>
          <p:nvPr/>
        </p:nvSpPr>
        <p:spPr>
          <a:xfrm>
            <a:off x="2081562" y="649049"/>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grpSp>
        <p:nvGrpSpPr>
          <p:cNvPr id="302" name="Google Shape;302;p29"/>
          <p:cNvGrpSpPr/>
          <p:nvPr/>
        </p:nvGrpSpPr>
        <p:grpSpPr>
          <a:xfrm>
            <a:off x="11384250" y="2447022"/>
            <a:ext cx="6011809" cy="5985044"/>
            <a:chOff x="-33258" y="-75"/>
            <a:chExt cx="14906544" cy="14840178"/>
          </a:xfrm>
        </p:grpSpPr>
        <p:sp>
          <p:nvSpPr>
            <p:cNvPr id="303" name="Google Shape;303;p29"/>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9"/>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9"/>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5">
                <a:alphaModFix/>
              </a:blip>
              <a:stretch>
                <a:fillRect b="0" l="-38309" r="-3832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6" name="Google Shape;306;p29"/>
          <p:cNvSpPr/>
          <p:nvPr/>
        </p:nvSpPr>
        <p:spPr>
          <a:xfrm>
            <a:off x="15181260" y="6529729"/>
            <a:ext cx="1785236" cy="1785236"/>
          </a:xfrm>
          <a:custGeom>
            <a:rect b="b" l="l" r="r" t="t"/>
            <a:pathLst>
              <a:path extrusionOk="0" h="1785236" w="1785236">
                <a:moveTo>
                  <a:pt x="0" y="0"/>
                </a:moveTo>
                <a:lnTo>
                  <a:pt x="1785235" y="0"/>
                </a:lnTo>
                <a:lnTo>
                  <a:pt x="1785235" y="1785235"/>
                </a:lnTo>
                <a:lnTo>
                  <a:pt x="0" y="1785235"/>
                </a:lnTo>
                <a:lnTo>
                  <a:pt x="0" y="0"/>
                </a:lnTo>
                <a:close/>
              </a:path>
            </a:pathLst>
          </a:custGeom>
          <a:blipFill rotWithShape="1">
            <a:blip r:embed="rId6">
              <a:alphaModFix/>
            </a:blip>
            <a:stretch>
              <a:fillRect b="0" l="0" r="0" t="0"/>
            </a:stretch>
          </a:blipFill>
          <a:ln>
            <a:noFill/>
          </a:ln>
        </p:spPr>
      </p:sp>
      <p:sp>
        <p:nvSpPr>
          <p:cNvPr id="307" name="Google Shape;307;p29"/>
          <p:cNvSpPr/>
          <p:nvPr/>
        </p:nvSpPr>
        <p:spPr>
          <a:xfrm>
            <a:off x="-183721" y="564812"/>
            <a:ext cx="1785236" cy="1785236"/>
          </a:xfrm>
          <a:custGeom>
            <a:rect b="b" l="l" r="r" t="t"/>
            <a:pathLst>
              <a:path extrusionOk="0" h="1785236" w="1785236">
                <a:moveTo>
                  <a:pt x="0" y="0"/>
                </a:moveTo>
                <a:lnTo>
                  <a:pt x="1785236" y="0"/>
                </a:lnTo>
                <a:lnTo>
                  <a:pt x="1785236" y="1785236"/>
                </a:lnTo>
                <a:lnTo>
                  <a:pt x="0" y="178523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311" name="Shape 311"/>
        <p:cNvGrpSpPr/>
        <p:nvPr/>
      </p:nvGrpSpPr>
      <p:grpSpPr>
        <a:xfrm>
          <a:off x="0" y="0"/>
          <a:ext cx="0" cy="0"/>
          <a:chOff x="0" y="0"/>
          <a:chExt cx="0" cy="0"/>
        </a:xfrm>
      </p:grpSpPr>
      <p:sp>
        <p:nvSpPr>
          <p:cNvPr id="312" name="Google Shape;312;p30"/>
          <p:cNvSpPr txBox="1"/>
          <p:nvPr/>
        </p:nvSpPr>
        <p:spPr>
          <a:xfrm>
            <a:off x="1968137" y="2220542"/>
            <a:ext cx="9049500" cy="7407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5100">
                <a:solidFill>
                  <a:schemeClr val="lt1"/>
                </a:solidFill>
              </a:rPr>
              <a:t>Autonomous Control in IoT</a:t>
            </a:r>
            <a:endParaRPr sz="5100">
              <a:solidFill>
                <a:schemeClr val="lt1"/>
              </a:solidFill>
            </a:endParaRPr>
          </a:p>
          <a:p>
            <a:pPr indent="0" lvl="0" marL="0" rtl="0" algn="l">
              <a:lnSpc>
                <a:spcPct val="115000"/>
              </a:lnSpc>
              <a:spcBef>
                <a:spcPts val="0"/>
              </a:spcBef>
              <a:spcAft>
                <a:spcPts val="0"/>
              </a:spcAft>
              <a:buClr>
                <a:schemeClr val="dk1"/>
              </a:buClr>
              <a:buSzPts val="1100"/>
              <a:buFont typeface="Arial"/>
              <a:buNone/>
            </a:pPr>
            <a:r>
              <a:t/>
            </a:r>
            <a:endParaRPr sz="2400">
              <a:solidFill>
                <a:schemeClr val="lt1"/>
              </a:solidFill>
            </a:endParaRPr>
          </a:p>
          <a:p>
            <a:pPr indent="457200" lvl="0" marL="0" rtl="0" algn="l">
              <a:lnSpc>
                <a:spcPct val="150000"/>
              </a:lnSpc>
              <a:spcBef>
                <a:spcPts val="1200"/>
              </a:spcBef>
              <a:spcAft>
                <a:spcPts val="0"/>
              </a:spcAft>
              <a:buClr>
                <a:schemeClr val="dk1"/>
              </a:buClr>
              <a:buSzPts val="1100"/>
              <a:buFont typeface="Arial"/>
              <a:buNone/>
            </a:pPr>
            <a:r>
              <a:rPr lang="en-US" sz="2600">
                <a:solidFill>
                  <a:schemeClr val="lt1"/>
                </a:solidFill>
              </a:rPr>
              <a:t>Autonomous control introduces a higher level of intelligence to the Internet of Things through Knowledge-Enhanced Electronic Logic (KEEL). Known as the Internet of Autonomous Things (IoAT), this concept moves beyond standard condition-based logic. Instead, IoAT devices use advanced sensors, actuators, and artificial intelligence to gather data from multiple environmental sources, allowing them to evaluate conditions and make independent decisions much like a human would.</a:t>
            </a:r>
            <a:endParaRPr sz="2600">
              <a:solidFill>
                <a:schemeClr val="lt1"/>
              </a:solidFill>
            </a:endParaRPr>
          </a:p>
          <a:p>
            <a:pPr indent="0" lvl="0" marL="0" marR="0" rtl="0" algn="l">
              <a:lnSpc>
                <a:spcPct val="150000"/>
              </a:lnSpc>
              <a:spcBef>
                <a:spcPts val="1200"/>
              </a:spcBef>
              <a:spcAft>
                <a:spcPts val="0"/>
              </a:spcAft>
              <a:buNone/>
            </a:pPr>
            <a:r>
              <a:t/>
            </a:r>
            <a:endParaRPr sz="2400">
              <a:solidFill>
                <a:schemeClr val="lt1"/>
              </a:solidFill>
            </a:endParaRPr>
          </a:p>
        </p:txBody>
      </p:sp>
      <p:sp>
        <p:nvSpPr>
          <p:cNvPr id="313" name="Google Shape;313;p30"/>
          <p:cNvSpPr/>
          <p:nvPr/>
        </p:nvSpPr>
        <p:spPr>
          <a:xfrm rot="-1312875">
            <a:off x="5680296" y="6411764"/>
            <a:ext cx="19140433" cy="6986258"/>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314" name="Google Shape;314;p30"/>
          <p:cNvSpPr/>
          <p:nvPr/>
        </p:nvSpPr>
        <p:spPr>
          <a:xfrm flipH="1" rot="-9225302">
            <a:off x="3960235" y="-5519885"/>
            <a:ext cx="19162454" cy="6994295"/>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315" name="Google Shape;315;p30"/>
          <p:cNvSpPr/>
          <p:nvPr/>
        </p:nvSpPr>
        <p:spPr>
          <a:xfrm>
            <a:off x="2079049" y="1159449"/>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grpSp>
        <p:nvGrpSpPr>
          <p:cNvPr id="316" name="Google Shape;316;p30"/>
          <p:cNvGrpSpPr/>
          <p:nvPr/>
        </p:nvGrpSpPr>
        <p:grpSpPr>
          <a:xfrm>
            <a:off x="11384250" y="2447022"/>
            <a:ext cx="6011809" cy="5985044"/>
            <a:chOff x="-33258" y="-75"/>
            <a:chExt cx="14906544" cy="14840178"/>
          </a:xfrm>
        </p:grpSpPr>
        <p:sp>
          <p:nvSpPr>
            <p:cNvPr id="317" name="Google Shape;317;p30"/>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0"/>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0"/>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5">
                <a:alphaModFix/>
              </a:blip>
              <a:stretch>
                <a:fillRect b="0" l="-38309" r="-3832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30"/>
          <p:cNvSpPr/>
          <p:nvPr/>
        </p:nvSpPr>
        <p:spPr>
          <a:xfrm>
            <a:off x="15181260" y="6529729"/>
            <a:ext cx="1785236" cy="1785236"/>
          </a:xfrm>
          <a:custGeom>
            <a:rect b="b" l="l" r="r" t="t"/>
            <a:pathLst>
              <a:path extrusionOk="0" h="1785236" w="1785236">
                <a:moveTo>
                  <a:pt x="0" y="0"/>
                </a:moveTo>
                <a:lnTo>
                  <a:pt x="1785235" y="0"/>
                </a:lnTo>
                <a:lnTo>
                  <a:pt x="1785235" y="1785235"/>
                </a:lnTo>
                <a:lnTo>
                  <a:pt x="0" y="1785235"/>
                </a:lnTo>
                <a:lnTo>
                  <a:pt x="0" y="0"/>
                </a:lnTo>
                <a:close/>
              </a:path>
            </a:pathLst>
          </a:custGeom>
          <a:blipFill rotWithShape="1">
            <a:blip r:embed="rId6">
              <a:alphaModFix/>
            </a:blip>
            <a:stretch>
              <a:fillRect b="0" l="0" r="0" t="0"/>
            </a:stretch>
          </a:blipFill>
          <a:ln>
            <a:noFill/>
          </a:ln>
        </p:spPr>
      </p:sp>
      <p:sp>
        <p:nvSpPr>
          <p:cNvPr id="321" name="Google Shape;321;p30"/>
          <p:cNvSpPr/>
          <p:nvPr/>
        </p:nvSpPr>
        <p:spPr>
          <a:xfrm>
            <a:off x="-183721" y="564812"/>
            <a:ext cx="1785236" cy="1785236"/>
          </a:xfrm>
          <a:custGeom>
            <a:rect b="b" l="l" r="r" t="t"/>
            <a:pathLst>
              <a:path extrusionOk="0" h="1785236" w="1785236">
                <a:moveTo>
                  <a:pt x="0" y="0"/>
                </a:moveTo>
                <a:lnTo>
                  <a:pt x="1785236" y="0"/>
                </a:lnTo>
                <a:lnTo>
                  <a:pt x="1785236" y="1785236"/>
                </a:lnTo>
                <a:lnTo>
                  <a:pt x="0" y="178523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325" name="Shape 325"/>
        <p:cNvGrpSpPr/>
        <p:nvPr/>
      </p:nvGrpSpPr>
      <p:grpSpPr>
        <a:xfrm>
          <a:off x="0" y="0"/>
          <a:ext cx="0" cy="0"/>
          <a:chOff x="0" y="0"/>
          <a:chExt cx="0" cy="0"/>
        </a:xfrm>
      </p:grpSpPr>
      <p:sp>
        <p:nvSpPr>
          <p:cNvPr id="326" name="Google Shape;326;p31"/>
          <p:cNvSpPr txBox="1"/>
          <p:nvPr/>
        </p:nvSpPr>
        <p:spPr>
          <a:xfrm>
            <a:off x="1968137" y="2220542"/>
            <a:ext cx="9049500" cy="81042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100"/>
              <a:buFont typeface="Arial"/>
              <a:buNone/>
            </a:pPr>
            <a:r>
              <a:rPr b="1" lang="en-US" sz="3200">
                <a:solidFill>
                  <a:schemeClr val="lt1"/>
                </a:solidFill>
              </a:rPr>
              <a:t>Range of Enabling Technologies Behind Internet of Things</a:t>
            </a:r>
            <a:endParaRPr b="1" sz="3200">
              <a:solidFill>
                <a:schemeClr val="lt1"/>
              </a:solidFill>
            </a:endParaRPr>
          </a:p>
          <a:p>
            <a:pPr indent="0" lvl="0" marL="0" rtl="0" algn="l">
              <a:lnSpc>
                <a:spcPct val="150000"/>
              </a:lnSpc>
              <a:spcBef>
                <a:spcPts val="0"/>
              </a:spcBef>
              <a:spcAft>
                <a:spcPts val="0"/>
              </a:spcAft>
              <a:buClr>
                <a:schemeClr val="dk1"/>
              </a:buClr>
              <a:buSzPts val="1100"/>
              <a:buFont typeface="Arial"/>
              <a:buNone/>
            </a:pPr>
            <a:r>
              <a:rPr lang="en-US" sz="2100">
                <a:solidFill>
                  <a:schemeClr val="lt1"/>
                </a:solidFill>
              </a:rPr>
              <a:t>Internet of Things has evolved through numerous concepts that use a</a:t>
            </a:r>
            <a:endParaRPr sz="2100">
              <a:solidFill>
                <a:schemeClr val="lt1"/>
              </a:solidFill>
            </a:endParaRPr>
          </a:p>
          <a:p>
            <a:pPr indent="0" lvl="0" marL="0" rtl="0" algn="l">
              <a:lnSpc>
                <a:spcPct val="150000"/>
              </a:lnSpc>
              <a:spcBef>
                <a:spcPts val="0"/>
              </a:spcBef>
              <a:spcAft>
                <a:spcPts val="0"/>
              </a:spcAft>
              <a:buClr>
                <a:schemeClr val="dk1"/>
              </a:buClr>
              <a:buSzPts val="1100"/>
              <a:buFont typeface="Arial"/>
              <a:buNone/>
            </a:pPr>
            <a:r>
              <a:rPr lang="en-US" sz="2100">
                <a:solidFill>
                  <a:schemeClr val="lt1"/>
                </a:solidFill>
              </a:rPr>
              <a:t>range of modern technologies, especially information technology,</a:t>
            </a:r>
            <a:endParaRPr sz="2100">
              <a:solidFill>
                <a:schemeClr val="lt1"/>
              </a:solidFill>
            </a:endParaRPr>
          </a:p>
          <a:p>
            <a:pPr indent="0" lvl="0" marL="0" rtl="0" algn="l">
              <a:lnSpc>
                <a:spcPct val="150000"/>
              </a:lnSpc>
              <a:spcBef>
                <a:spcPts val="0"/>
              </a:spcBef>
              <a:spcAft>
                <a:spcPts val="0"/>
              </a:spcAft>
              <a:buClr>
                <a:schemeClr val="dk1"/>
              </a:buClr>
              <a:buSzPts val="1100"/>
              <a:buFont typeface="Arial"/>
              <a:buNone/>
            </a:pPr>
            <a:r>
              <a:rPr lang="en-US" sz="2100">
                <a:solidFill>
                  <a:schemeClr val="lt1"/>
                </a:solidFill>
              </a:rPr>
              <a:t>electromechanical technologies, sensing device electronics, and others.</a:t>
            </a:r>
            <a:endParaRPr sz="2100">
              <a:solidFill>
                <a:schemeClr val="lt1"/>
              </a:solidFill>
            </a:endParaRPr>
          </a:p>
          <a:p>
            <a:pPr indent="0" lvl="0" marL="0" rtl="0" algn="l">
              <a:lnSpc>
                <a:spcPct val="150000"/>
              </a:lnSpc>
              <a:spcBef>
                <a:spcPts val="0"/>
              </a:spcBef>
              <a:spcAft>
                <a:spcPts val="0"/>
              </a:spcAft>
              <a:buClr>
                <a:schemeClr val="dk1"/>
              </a:buClr>
              <a:buSzPts val="1100"/>
              <a:buFont typeface="Arial"/>
              <a:buNone/>
            </a:pPr>
            <a:r>
              <a:rPr lang="en-US" sz="2100">
                <a:solidFill>
                  <a:schemeClr val="lt1"/>
                </a:solidFill>
              </a:rPr>
              <a:t>The most common technologies that enabled the concept of IoT to grow</a:t>
            </a:r>
            <a:endParaRPr sz="2100">
              <a:solidFill>
                <a:schemeClr val="lt1"/>
              </a:solidFill>
            </a:endParaRPr>
          </a:p>
          <a:p>
            <a:pPr indent="0" lvl="0" marL="0" rtl="0" algn="l">
              <a:lnSpc>
                <a:spcPct val="150000"/>
              </a:lnSpc>
              <a:spcBef>
                <a:spcPts val="0"/>
              </a:spcBef>
              <a:spcAft>
                <a:spcPts val="0"/>
              </a:spcAft>
              <a:buClr>
                <a:schemeClr val="dk1"/>
              </a:buClr>
              <a:buSzPts val="1100"/>
              <a:buFont typeface="Arial"/>
              <a:buNone/>
            </a:pPr>
            <a:r>
              <a:rPr lang="en-US" sz="2100">
                <a:solidFill>
                  <a:schemeClr val="lt1"/>
                </a:solidFill>
              </a:rPr>
              <a:t>exponentially include the following:</a:t>
            </a:r>
            <a:endParaRPr sz="2100">
              <a:solidFill>
                <a:schemeClr val="lt1"/>
              </a:solidFill>
            </a:endParaRPr>
          </a:p>
          <a:p>
            <a:pPr indent="-361950" lvl="0" marL="457200" rtl="0" algn="l">
              <a:lnSpc>
                <a:spcPct val="150000"/>
              </a:lnSpc>
              <a:spcBef>
                <a:spcPts val="0"/>
              </a:spcBef>
              <a:spcAft>
                <a:spcPts val="0"/>
              </a:spcAft>
              <a:buClr>
                <a:schemeClr val="lt1"/>
              </a:buClr>
              <a:buSzPts val="2100"/>
              <a:buChar char="●"/>
            </a:pPr>
            <a:r>
              <a:rPr lang="en-US" sz="2100">
                <a:solidFill>
                  <a:schemeClr val="lt1"/>
                </a:solidFill>
              </a:rPr>
              <a:t>Low Power Sensors</a:t>
            </a:r>
            <a:endParaRPr sz="2100">
              <a:solidFill>
                <a:schemeClr val="lt1"/>
              </a:solidFill>
            </a:endParaRPr>
          </a:p>
          <a:p>
            <a:pPr indent="-361950" lvl="0" marL="457200" rtl="0" algn="l">
              <a:lnSpc>
                <a:spcPct val="150000"/>
              </a:lnSpc>
              <a:spcBef>
                <a:spcPts val="0"/>
              </a:spcBef>
              <a:spcAft>
                <a:spcPts val="0"/>
              </a:spcAft>
              <a:buClr>
                <a:schemeClr val="lt1"/>
              </a:buClr>
              <a:buSzPts val="2100"/>
              <a:buChar char="●"/>
            </a:pPr>
            <a:r>
              <a:rPr lang="en-US" sz="2100">
                <a:solidFill>
                  <a:schemeClr val="lt1"/>
                </a:solidFill>
              </a:rPr>
              <a:t>Cloud Computing</a:t>
            </a:r>
            <a:endParaRPr sz="2100">
              <a:solidFill>
                <a:schemeClr val="lt1"/>
              </a:solidFill>
            </a:endParaRPr>
          </a:p>
          <a:p>
            <a:pPr indent="-361950" lvl="0" marL="457200" rtl="0" algn="l">
              <a:lnSpc>
                <a:spcPct val="150000"/>
              </a:lnSpc>
              <a:spcBef>
                <a:spcPts val="0"/>
              </a:spcBef>
              <a:spcAft>
                <a:spcPts val="0"/>
              </a:spcAft>
              <a:buClr>
                <a:schemeClr val="lt1"/>
              </a:buClr>
              <a:buSzPts val="2100"/>
              <a:buChar char="●"/>
            </a:pPr>
            <a:r>
              <a:rPr lang="en-US" sz="2100">
                <a:solidFill>
                  <a:schemeClr val="lt1"/>
                </a:solidFill>
              </a:rPr>
              <a:t>Artificial</a:t>
            </a:r>
            <a:r>
              <a:rPr lang="en-US" sz="2100">
                <a:solidFill>
                  <a:schemeClr val="lt1"/>
                </a:solidFill>
              </a:rPr>
              <a:t> Intelligence</a:t>
            </a:r>
            <a:endParaRPr sz="2100">
              <a:solidFill>
                <a:schemeClr val="lt1"/>
              </a:solidFill>
            </a:endParaRPr>
          </a:p>
          <a:p>
            <a:pPr indent="-361950" lvl="0" marL="457200" rtl="0" algn="l">
              <a:lnSpc>
                <a:spcPct val="150000"/>
              </a:lnSpc>
              <a:spcBef>
                <a:spcPts val="0"/>
              </a:spcBef>
              <a:spcAft>
                <a:spcPts val="0"/>
              </a:spcAft>
              <a:buClr>
                <a:schemeClr val="lt1"/>
              </a:buClr>
              <a:buSzPts val="2100"/>
              <a:buChar char="●"/>
            </a:pPr>
            <a:r>
              <a:rPr lang="en-US" sz="2100">
                <a:solidFill>
                  <a:schemeClr val="lt1"/>
                </a:solidFill>
              </a:rPr>
              <a:t>Machine Learning</a:t>
            </a:r>
            <a:endParaRPr sz="2100">
              <a:solidFill>
                <a:schemeClr val="lt1"/>
              </a:solidFill>
            </a:endParaRPr>
          </a:p>
          <a:p>
            <a:pPr indent="-361950" lvl="0" marL="457200" rtl="0" algn="l">
              <a:lnSpc>
                <a:spcPct val="150000"/>
              </a:lnSpc>
              <a:spcBef>
                <a:spcPts val="0"/>
              </a:spcBef>
              <a:spcAft>
                <a:spcPts val="0"/>
              </a:spcAft>
              <a:buClr>
                <a:schemeClr val="lt1"/>
              </a:buClr>
              <a:buSzPts val="2100"/>
              <a:buChar char="●"/>
            </a:pPr>
            <a:r>
              <a:rPr lang="en-US" sz="2100">
                <a:solidFill>
                  <a:schemeClr val="lt1"/>
                </a:solidFill>
              </a:rPr>
              <a:t>Data Analytics</a:t>
            </a:r>
            <a:endParaRPr sz="2100">
              <a:solidFill>
                <a:schemeClr val="lt1"/>
              </a:solidFill>
            </a:endParaRPr>
          </a:p>
          <a:p>
            <a:pPr indent="-361950" lvl="0" marL="457200" rtl="0" algn="l">
              <a:lnSpc>
                <a:spcPct val="150000"/>
              </a:lnSpc>
              <a:spcBef>
                <a:spcPts val="0"/>
              </a:spcBef>
              <a:spcAft>
                <a:spcPts val="0"/>
              </a:spcAft>
              <a:buClr>
                <a:schemeClr val="lt1"/>
              </a:buClr>
              <a:buSzPts val="2100"/>
              <a:buChar char="●"/>
            </a:pPr>
            <a:r>
              <a:rPr lang="en-US" sz="2100">
                <a:solidFill>
                  <a:schemeClr val="lt1"/>
                </a:solidFill>
              </a:rPr>
              <a:t>Big Data</a:t>
            </a:r>
            <a:endParaRPr sz="2100">
              <a:solidFill>
                <a:schemeClr val="lt1"/>
              </a:solidFill>
            </a:endParaRPr>
          </a:p>
          <a:p>
            <a:pPr indent="-361950" lvl="0" marL="457200" rtl="0" algn="l">
              <a:lnSpc>
                <a:spcPct val="150000"/>
              </a:lnSpc>
              <a:spcBef>
                <a:spcPts val="0"/>
              </a:spcBef>
              <a:spcAft>
                <a:spcPts val="0"/>
              </a:spcAft>
              <a:buClr>
                <a:schemeClr val="lt1"/>
              </a:buClr>
              <a:buSzPts val="2100"/>
              <a:buChar char="●"/>
            </a:pPr>
            <a:r>
              <a:rPr lang="en-US" sz="2100">
                <a:solidFill>
                  <a:schemeClr val="lt1"/>
                </a:solidFill>
              </a:rPr>
              <a:t>Enhanced Connectivity</a:t>
            </a:r>
            <a:endParaRPr sz="2100">
              <a:solidFill>
                <a:schemeClr val="lt1"/>
              </a:solidFill>
            </a:endParaRPr>
          </a:p>
          <a:p>
            <a:pPr indent="-361950" lvl="0" marL="457200" rtl="0" algn="l">
              <a:lnSpc>
                <a:spcPct val="150000"/>
              </a:lnSpc>
              <a:spcBef>
                <a:spcPts val="0"/>
              </a:spcBef>
              <a:spcAft>
                <a:spcPts val="0"/>
              </a:spcAft>
              <a:buClr>
                <a:schemeClr val="lt1"/>
              </a:buClr>
              <a:buSzPts val="2100"/>
              <a:buChar char="●"/>
            </a:pPr>
            <a:r>
              <a:rPr lang="en-US" sz="2100">
                <a:solidFill>
                  <a:schemeClr val="lt1"/>
                </a:solidFill>
              </a:rPr>
              <a:t>Internet Protocol V6.</a:t>
            </a:r>
            <a:endParaRPr sz="2100">
              <a:solidFill>
                <a:schemeClr val="lt1"/>
              </a:solidFill>
            </a:endParaRPr>
          </a:p>
          <a:p>
            <a:pPr indent="0" lvl="0" marL="0" marR="0" rtl="0" algn="l">
              <a:lnSpc>
                <a:spcPct val="150000"/>
              </a:lnSpc>
              <a:spcBef>
                <a:spcPts val="0"/>
              </a:spcBef>
              <a:spcAft>
                <a:spcPts val="0"/>
              </a:spcAft>
              <a:buNone/>
            </a:pPr>
            <a:r>
              <a:t/>
            </a:r>
            <a:endParaRPr sz="2100">
              <a:solidFill>
                <a:schemeClr val="lt1"/>
              </a:solidFill>
            </a:endParaRPr>
          </a:p>
        </p:txBody>
      </p:sp>
      <p:sp>
        <p:nvSpPr>
          <p:cNvPr id="327" name="Google Shape;327;p31"/>
          <p:cNvSpPr/>
          <p:nvPr/>
        </p:nvSpPr>
        <p:spPr>
          <a:xfrm rot="-1312875">
            <a:off x="5680296" y="6411764"/>
            <a:ext cx="19140433" cy="6986258"/>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328" name="Google Shape;328;p31"/>
          <p:cNvSpPr/>
          <p:nvPr/>
        </p:nvSpPr>
        <p:spPr>
          <a:xfrm flipH="1" rot="-9225302">
            <a:off x="3960235" y="-5519885"/>
            <a:ext cx="19162454" cy="6994295"/>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329" name="Google Shape;329;p31"/>
          <p:cNvSpPr/>
          <p:nvPr/>
        </p:nvSpPr>
        <p:spPr>
          <a:xfrm>
            <a:off x="2079049" y="1159449"/>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grpSp>
        <p:nvGrpSpPr>
          <p:cNvPr id="330" name="Google Shape;330;p31"/>
          <p:cNvGrpSpPr/>
          <p:nvPr/>
        </p:nvGrpSpPr>
        <p:grpSpPr>
          <a:xfrm>
            <a:off x="11384250" y="2447022"/>
            <a:ext cx="6011809" cy="5985044"/>
            <a:chOff x="-33258" y="-75"/>
            <a:chExt cx="14906544" cy="14840178"/>
          </a:xfrm>
        </p:grpSpPr>
        <p:sp>
          <p:nvSpPr>
            <p:cNvPr id="331" name="Google Shape;331;p31"/>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1"/>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1"/>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5">
                <a:alphaModFix/>
              </a:blip>
              <a:stretch>
                <a:fillRect b="0" l="-38309" r="-3832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4" name="Google Shape;334;p31"/>
          <p:cNvSpPr/>
          <p:nvPr/>
        </p:nvSpPr>
        <p:spPr>
          <a:xfrm>
            <a:off x="15181260" y="6529729"/>
            <a:ext cx="1785236" cy="1785236"/>
          </a:xfrm>
          <a:custGeom>
            <a:rect b="b" l="l" r="r" t="t"/>
            <a:pathLst>
              <a:path extrusionOk="0" h="1785236" w="1785236">
                <a:moveTo>
                  <a:pt x="0" y="0"/>
                </a:moveTo>
                <a:lnTo>
                  <a:pt x="1785235" y="0"/>
                </a:lnTo>
                <a:lnTo>
                  <a:pt x="1785235" y="1785235"/>
                </a:lnTo>
                <a:lnTo>
                  <a:pt x="0" y="1785235"/>
                </a:lnTo>
                <a:lnTo>
                  <a:pt x="0" y="0"/>
                </a:lnTo>
                <a:close/>
              </a:path>
            </a:pathLst>
          </a:custGeom>
          <a:blipFill rotWithShape="1">
            <a:blip r:embed="rId6">
              <a:alphaModFix/>
            </a:blip>
            <a:stretch>
              <a:fillRect b="0" l="0" r="0" t="0"/>
            </a:stretch>
          </a:blipFill>
          <a:ln>
            <a:noFill/>
          </a:ln>
        </p:spPr>
      </p:sp>
      <p:sp>
        <p:nvSpPr>
          <p:cNvPr id="335" name="Google Shape;335;p31"/>
          <p:cNvSpPr/>
          <p:nvPr/>
        </p:nvSpPr>
        <p:spPr>
          <a:xfrm>
            <a:off x="-183721" y="564812"/>
            <a:ext cx="1785236" cy="1785236"/>
          </a:xfrm>
          <a:custGeom>
            <a:rect b="b" l="l" r="r" t="t"/>
            <a:pathLst>
              <a:path extrusionOk="0" h="1785236" w="1785236">
                <a:moveTo>
                  <a:pt x="0" y="0"/>
                </a:moveTo>
                <a:lnTo>
                  <a:pt x="1785236" y="0"/>
                </a:lnTo>
                <a:lnTo>
                  <a:pt x="1785236" y="1785236"/>
                </a:lnTo>
                <a:lnTo>
                  <a:pt x="0" y="178523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339" name="Shape 339"/>
        <p:cNvGrpSpPr/>
        <p:nvPr/>
      </p:nvGrpSpPr>
      <p:grpSpPr>
        <a:xfrm>
          <a:off x="0" y="0"/>
          <a:ext cx="0" cy="0"/>
          <a:chOff x="0" y="0"/>
          <a:chExt cx="0" cy="0"/>
        </a:xfrm>
      </p:grpSpPr>
      <p:sp>
        <p:nvSpPr>
          <p:cNvPr id="340" name="Google Shape;340;p32"/>
          <p:cNvSpPr txBox="1"/>
          <p:nvPr/>
        </p:nvSpPr>
        <p:spPr>
          <a:xfrm>
            <a:off x="1968137" y="2220542"/>
            <a:ext cx="9049500" cy="85737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1200"/>
              </a:spcBef>
              <a:spcAft>
                <a:spcPts val="0"/>
              </a:spcAft>
              <a:buSzPts val="1100"/>
              <a:buNone/>
            </a:pPr>
            <a:r>
              <a:rPr b="1" lang="en-US" sz="2300">
                <a:solidFill>
                  <a:schemeClr val="lt1"/>
                </a:solidFill>
              </a:rPr>
              <a:t>Low-Power Sensors</a:t>
            </a:r>
            <a:r>
              <a:rPr lang="en-US" sz="2300">
                <a:solidFill>
                  <a:schemeClr val="lt1"/>
                </a:solidFill>
              </a:rPr>
              <a:t>-</a:t>
            </a:r>
            <a:endParaRPr sz="2300">
              <a:solidFill>
                <a:schemeClr val="lt1"/>
              </a:solidFill>
            </a:endParaRPr>
          </a:p>
          <a:p>
            <a:pPr indent="0" lvl="0" marL="0" rtl="0" algn="l">
              <a:lnSpc>
                <a:spcPct val="150000"/>
              </a:lnSpc>
              <a:spcBef>
                <a:spcPts val="1200"/>
              </a:spcBef>
              <a:spcAft>
                <a:spcPts val="0"/>
              </a:spcAft>
              <a:buClr>
                <a:schemeClr val="dk1"/>
              </a:buClr>
              <a:buSzPts val="1100"/>
              <a:buFont typeface="Arial"/>
              <a:buNone/>
            </a:pPr>
            <a:r>
              <a:rPr lang="en-US" sz="2300">
                <a:solidFill>
                  <a:schemeClr val="lt1"/>
                </a:solidFill>
              </a:rPr>
              <a:t>Low-power sensors enhance the efficiency and lifespan of IoT devices across home, building, and industrial automation. By minimizing energy consumption, they enable continuous operation. Key examples include low-power Bluetooth modules, ambient light sensors, smart hubs, digital geomagnetic sensors, digital microphones, programmable push buttons, integrated environmental sensors, and smart heat sensors.</a:t>
            </a:r>
            <a:endParaRPr sz="2300">
              <a:solidFill>
                <a:schemeClr val="lt1"/>
              </a:solidFill>
            </a:endParaRPr>
          </a:p>
          <a:p>
            <a:pPr indent="0" lvl="0" marL="0" rtl="0" algn="l">
              <a:lnSpc>
                <a:spcPct val="150000"/>
              </a:lnSpc>
              <a:spcBef>
                <a:spcPts val="1200"/>
              </a:spcBef>
              <a:spcAft>
                <a:spcPts val="0"/>
              </a:spcAft>
              <a:buSzPts val="1100"/>
              <a:buNone/>
            </a:pPr>
            <a:r>
              <a:rPr b="1" lang="en-US" sz="2300">
                <a:solidFill>
                  <a:schemeClr val="lt1"/>
                </a:solidFill>
              </a:rPr>
              <a:t>Cloud Computing </a:t>
            </a:r>
            <a:endParaRPr b="1" sz="2300">
              <a:solidFill>
                <a:schemeClr val="lt1"/>
              </a:solidFill>
            </a:endParaRPr>
          </a:p>
          <a:p>
            <a:pPr indent="0" lvl="0" marL="0" rtl="0" algn="l">
              <a:lnSpc>
                <a:spcPct val="150000"/>
              </a:lnSpc>
              <a:spcBef>
                <a:spcPts val="1200"/>
              </a:spcBef>
              <a:spcAft>
                <a:spcPts val="0"/>
              </a:spcAft>
              <a:buClr>
                <a:schemeClr val="dk1"/>
              </a:buClr>
              <a:buSzPts val="1100"/>
              <a:buFont typeface="Arial"/>
              <a:buNone/>
            </a:pPr>
            <a:r>
              <a:rPr b="1" lang="en-US" sz="2300">
                <a:solidFill>
                  <a:schemeClr val="lt1"/>
                </a:solidFill>
              </a:rPr>
              <a:t>Cloud </a:t>
            </a:r>
            <a:r>
              <a:rPr lang="en-US" sz="2300">
                <a:solidFill>
                  <a:schemeClr val="lt1"/>
                </a:solidFill>
              </a:rPr>
              <a:t>computing provides a scalable, cost-effective, and fully managed infrastructure for centralizing IoT systems. By shifting processing away from individual edge devices, it allows organizations to manage vast networks, analyze large volumes of real-time sensor data, and ensure seamless system interoperability.</a:t>
            </a:r>
            <a:endParaRPr sz="2300">
              <a:solidFill>
                <a:schemeClr val="lt1"/>
              </a:solidFill>
            </a:endParaRPr>
          </a:p>
          <a:p>
            <a:pPr indent="0" lvl="0" marL="0" marR="0" rtl="0" algn="l">
              <a:lnSpc>
                <a:spcPct val="150000"/>
              </a:lnSpc>
              <a:spcBef>
                <a:spcPts val="1200"/>
              </a:spcBef>
              <a:spcAft>
                <a:spcPts val="0"/>
              </a:spcAft>
              <a:buNone/>
            </a:pPr>
            <a:r>
              <a:t/>
            </a:r>
            <a:endParaRPr sz="3400">
              <a:solidFill>
                <a:schemeClr val="lt1"/>
              </a:solidFill>
            </a:endParaRPr>
          </a:p>
        </p:txBody>
      </p:sp>
      <p:sp>
        <p:nvSpPr>
          <p:cNvPr id="341" name="Google Shape;341;p32"/>
          <p:cNvSpPr/>
          <p:nvPr/>
        </p:nvSpPr>
        <p:spPr>
          <a:xfrm rot="-1312875">
            <a:off x="5680296" y="6411764"/>
            <a:ext cx="19140433" cy="6986258"/>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342" name="Google Shape;342;p32"/>
          <p:cNvSpPr/>
          <p:nvPr/>
        </p:nvSpPr>
        <p:spPr>
          <a:xfrm flipH="1" rot="-9225302">
            <a:off x="3960235" y="-5519885"/>
            <a:ext cx="19162454" cy="6994295"/>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343" name="Google Shape;343;p32"/>
          <p:cNvSpPr/>
          <p:nvPr/>
        </p:nvSpPr>
        <p:spPr>
          <a:xfrm>
            <a:off x="2079049" y="1159449"/>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grpSp>
        <p:nvGrpSpPr>
          <p:cNvPr id="344" name="Google Shape;344;p32"/>
          <p:cNvGrpSpPr/>
          <p:nvPr/>
        </p:nvGrpSpPr>
        <p:grpSpPr>
          <a:xfrm>
            <a:off x="11384250" y="2447022"/>
            <a:ext cx="6011809" cy="5985044"/>
            <a:chOff x="-33258" y="-75"/>
            <a:chExt cx="14906544" cy="14840178"/>
          </a:xfrm>
        </p:grpSpPr>
        <p:sp>
          <p:nvSpPr>
            <p:cNvPr id="345" name="Google Shape;345;p32"/>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2"/>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2"/>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5">
                <a:alphaModFix/>
              </a:blip>
              <a:stretch>
                <a:fillRect b="0" l="-38309" r="-3832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8" name="Google Shape;348;p32"/>
          <p:cNvSpPr/>
          <p:nvPr/>
        </p:nvSpPr>
        <p:spPr>
          <a:xfrm>
            <a:off x="15181260" y="6529729"/>
            <a:ext cx="1785236" cy="1785236"/>
          </a:xfrm>
          <a:custGeom>
            <a:rect b="b" l="l" r="r" t="t"/>
            <a:pathLst>
              <a:path extrusionOk="0" h="1785236" w="1785236">
                <a:moveTo>
                  <a:pt x="0" y="0"/>
                </a:moveTo>
                <a:lnTo>
                  <a:pt x="1785235" y="0"/>
                </a:lnTo>
                <a:lnTo>
                  <a:pt x="1785235" y="1785235"/>
                </a:lnTo>
                <a:lnTo>
                  <a:pt x="0" y="1785235"/>
                </a:lnTo>
                <a:lnTo>
                  <a:pt x="0" y="0"/>
                </a:lnTo>
                <a:close/>
              </a:path>
            </a:pathLst>
          </a:custGeom>
          <a:blipFill rotWithShape="1">
            <a:blip r:embed="rId6">
              <a:alphaModFix/>
            </a:blip>
            <a:stretch>
              <a:fillRect b="0" l="0" r="0" t="0"/>
            </a:stretch>
          </a:blipFill>
          <a:ln>
            <a:noFill/>
          </a:ln>
        </p:spPr>
      </p:sp>
      <p:sp>
        <p:nvSpPr>
          <p:cNvPr id="349" name="Google Shape;349;p32"/>
          <p:cNvSpPr/>
          <p:nvPr/>
        </p:nvSpPr>
        <p:spPr>
          <a:xfrm>
            <a:off x="-183721" y="564812"/>
            <a:ext cx="1785236" cy="1785236"/>
          </a:xfrm>
          <a:custGeom>
            <a:rect b="b" l="l" r="r" t="t"/>
            <a:pathLst>
              <a:path extrusionOk="0" h="1785236" w="1785236">
                <a:moveTo>
                  <a:pt x="0" y="0"/>
                </a:moveTo>
                <a:lnTo>
                  <a:pt x="1785236" y="0"/>
                </a:lnTo>
                <a:lnTo>
                  <a:pt x="1785236" y="1785236"/>
                </a:lnTo>
                <a:lnTo>
                  <a:pt x="0" y="178523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353" name="Shape 353"/>
        <p:cNvGrpSpPr/>
        <p:nvPr/>
      </p:nvGrpSpPr>
      <p:grpSpPr>
        <a:xfrm>
          <a:off x="0" y="0"/>
          <a:ext cx="0" cy="0"/>
          <a:chOff x="0" y="0"/>
          <a:chExt cx="0" cy="0"/>
        </a:xfrm>
      </p:grpSpPr>
      <p:sp>
        <p:nvSpPr>
          <p:cNvPr id="354" name="Google Shape;354;p33"/>
          <p:cNvSpPr txBox="1"/>
          <p:nvPr/>
        </p:nvSpPr>
        <p:spPr>
          <a:xfrm>
            <a:off x="1968137" y="2220542"/>
            <a:ext cx="9049500" cy="66495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1200"/>
              </a:spcBef>
              <a:spcAft>
                <a:spcPts val="0"/>
              </a:spcAft>
              <a:buClr>
                <a:schemeClr val="dk1"/>
              </a:buClr>
              <a:buSzPts val="1100"/>
              <a:buFont typeface="Arial"/>
              <a:buNone/>
            </a:pPr>
            <a:r>
              <a:rPr b="1" lang="en-US" sz="2500">
                <a:solidFill>
                  <a:schemeClr val="lt1"/>
                </a:solidFill>
              </a:rPr>
              <a:t>Artificial Intelligence (AI)</a:t>
            </a:r>
            <a:r>
              <a:rPr lang="en-US" sz="2500">
                <a:solidFill>
                  <a:schemeClr val="lt1"/>
                </a:solidFill>
              </a:rPr>
              <a:t> AI powers dynamic and interactive IoT environments by analyzing complex patterns. Software applications leveraging AI enable advanced capabilities like biometric recognition, automated decision-making, and real-time environmental adaptations.</a:t>
            </a:r>
            <a:endParaRPr sz="2500">
              <a:solidFill>
                <a:schemeClr val="lt1"/>
              </a:solidFill>
            </a:endParaRPr>
          </a:p>
          <a:p>
            <a:pPr indent="0" lvl="0" marL="0" rtl="0" algn="l">
              <a:lnSpc>
                <a:spcPct val="150000"/>
              </a:lnSpc>
              <a:spcBef>
                <a:spcPts val="1200"/>
              </a:spcBef>
              <a:spcAft>
                <a:spcPts val="0"/>
              </a:spcAft>
              <a:buClr>
                <a:schemeClr val="dk1"/>
              </a:buClr>
              <a:buSzPts val="1100"/>
              <a:buFont typeface="Arial"/>
              <a:buNone/>
            </a:pPr>
            <a:r>
              <a:rPr b="1" lang="en-US" sz="2500">
                <a:solidFill>
                  <a:schemeClr val="lt1"/>
                </a:solidFill>
              </a:rPr>
              <a:t>Machine Learning (ML)</a:t>
            </a:r>
            <a:r>
              <a:rPr lang="en-US" sz="2500">
                <a:solidFill>
                  <a:schemeClr val="lt1"/>
                </a:solidFill>
              </a:rPr>
              <a:t> Machine learning allows IoT systems to improve through data input and continuous training. By recognizing operational patterns and understanding surrounding conditions, ML drives critical applications in autonomous vehicles, aviation, and predictive operations.</a:t>
            </a:r>
            <a:endParaRPr sz="2500">
              <a:solidFill>
                <a:schemeClr val="lt1"/>
              </a:solidFill>
            </a:endParaRPr>
          </a:p>
          <a:p>
            <a:pPr indent="0" lvl="0" marL="0" marR="0" rtl="0" algn="l">
              <a:lnSpc>
                <a:spcPct val="150000"/>
              </a:lnSpc>
              <a:spcBef>
                <a:spcPts val="1200"/>
              </a:spcBef>
              <a:spcAft>
                <a:spcPts val="0"/>
              </a:spcAft>
              <a:buNone/>
            </a:pPr>
            <a:r>
              <a:t/>
            </a:r>
            <a:endParaRPr b="1" sz="3700">
              <a:solidFill>
                <a:schemeClr val="lt1"/>
              </a:solidFill>
            </a:endParaRPr>
          </a:p>
        </p:txBody>
      </p:sp>
      <p:sp>
        <p:nvSpPr>
          <p:cNvPr id="355" name="Google Shape;355;p33"/>
          <p:cNvSpPr/>
          <p:nvPr/>
        </p:nvSpPr>
        <p:spPr>
          <a:xfrm rot="-1312875">
            <a:off x="5680296" y="6411764"/>
            <a:ext cx="19140433" cy="6986258"/>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356" name="Google Shape;356;p33"/>
          <p:cNvSpPr/>
          <p:nvPr/>
        </p:nvSpPr>
        <p:spPr>
          <a:xfrm flipH="1" rot="-9225302">
            <a:off x="3960235" y="-5519885"/>
            <a:ext cx="19162454" cy="6994295"/>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357" name="Google Shape;357;p33"/>
          <p:cNvSpPr/>
          <p:nvPr/>
        </p:nvSpPr>
        <p:spPr>
          <a:xfrm>
            <a:off x="2079049" y="1159449"/>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grpSp>
        <p:nvGrpSpPr>
          <p:cNvPr id="358" name="Google Shape;358;p33"/>
          <p:cNvGrpSpPr/>
          <p:nvPr/>
        </p:nvGrpSpPr>
        <p:grpSpPr>
          <a:xfrm>
            <a:off x="11384250" y="2447022"/>
            <a:ext cx="6011809" cy="5985044"/>
            <a:chOff x="-33258" y="-75"/>
            <a:chExt cx="14906544" cy="14840178"/>
          </a:xfrm>
        </p:grpSpPr>
        <p:sp>
          <p:nvSpPr>
            <p:cNvPr id="359" name="Google Shape;359;p33"/>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3"/>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5">
                <a:alphaModFix/>
              </a:blip>
              <a:stretch>
                <a:fillRect b="0" l="-38309" r="-3832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 name="Google Shape;362;p33"/>
          <p:cNvSpPr/>
          <p:nvPr/>
        </p:nvSpPr>
        <p:spPr>
          <a:xfrm>
            <a:off x="15181260" y="6529729"/>
            <a:ext cx="1785236" cy="1785236"/>
          </a:xfrm>
          <a:custGeom>
            <a:rect b="b" l="l" r="r" t="t"/>
            <a:pathLst>
              <a:path extrusionOk="0" h="1785236" w="1785236">
                <a:moveTo>
                  <a:pt x="0" y="0"/>
                </a:moveTo>
                <a:lnTo>
                  <a:pt x="1785235" y="0"/>
                </a:lnTo>
                <a:lnTo>
                  <a:pt x="1785235" y="1785235"/>
                </a:lnTo>
                <a:lnTo>
                  <a:pt x="0" y="1785235"/>
                </a:lnTo>
                <a:lnTo>
                  <a:pt x="0" y="0"/>
                </a:lnTo>
                <a:close/>
              </a:path>
            </a:pathLst>
          </a:custGeom>
          <a:blipFill rotWithShape="1">
            <a:blip r:embed="rId6">
              <a:alphaModFix/>
            </a:blip>
            <a:stretch>
              <a:fillRect b="0" l="0" r="0" t="0"/>
            </a:stretch>
          </a:blipFill>
          <a:ln>
            <a:noFill/>
          </a:ln>
        </p:spPr>
      </p:sp>
      <p:sp>
        <p:nvSpPr>
          <p:cNvPr id="363" name="Google Shape;363;p33"/>
          <p:cNvSpPr/>
          <p:nvPr/>
        </p:nvSpPr>
        <p:spPr>
          <a:xfrm>
            <a:off x="-183721" y="564812"/>
            <a:ext cx="1785236" cy="1785236"/>
          </a:xfrm>
          <a:custGeom>
            <a:rect b="b" l="l" r="r" t="t"/>
            <a:pathLst>
              <a:path extrusionOk="0" h="1785236" w="1785236">
                <a:moveTo>
                  <a:pt x="0" y="0"/>
                </a:moveTo>
                <a:lnTo>
                  <a:pt x="1785236" y="0"/>
                </a:lnTo>
                <a:lnTo>
                  <a:pt x="1785236" y="1785236"/>
                </a:lnTo>
                <a:lnTo>
                  <a:pt x="0" y="178523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367" name="Shape 367"/>
        <p:cNvGrpSpPr/>
        <p:nvPr/>
      </p:nvGrpSpPr>
      <p:grpSpPr>
        <a:xfrm>
          <a:off x="0" y="0"/>
          <a:ext cx="0" cy="0"/>
          <a:chOff x="0" y="0"/>
          <a:chExt cx="0" cy="0"/>
        </a:xfrm>
      </p:grpSpPr>
      <p:sp>
        <p:nvSpPr>
          <p:cNvPr id="368" name="Google Shape;368;p34"/>
          <p:cNvSpPr txBox="1"/>
          <p:nvPr/>
        </p:nvSpPr>
        <p:spPr>
          <a:xfrm>
            <a:off x="1968137" y="2220542"/>
            <a:ext cx="9049500" cy="6680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1200"/>
              </a:spcBef>
              <a:spcAft>
                <a:spcPts val="0"/>
              </a:spcAft>
              <a:buClr>
                <a:schemeClr val="dk1"/>
              </a:buClr>
              <a:buSzPts val="1100"/>
              <a:buFont typeface="Arial"/>
              <a:buNone/>
            </a:pPr>
            <a:r>
              <a:rPr b="1" lang="en-US" sz="2500">
                <a:solidFill>
                  <a:schemeClr val="lt1"/>
                </a:solidFill>
              </a:rPr>
              <a:t>Data Analytics</a:t>
            </a:r>
            <a:r>
              <a:rPr lang="en-US" sz="2500">
                <a:solidFill>
                  <a:schemeClr val="lt1"/>
                </a:solidFill>
              </a:rPr>
              <a:t> Exponential growth in connected devices leads to a massive surge in generated data, requiring immense analytical capacity. Advanced data analytics powered by artificial intelligence enables systems to quickly process and extract actionable insights from these vast datasets.</a:t>
            </a:r>
            <a:endParaRPr sz="2500">
              <a:solidFill>
                <a:schemeClr val="lt1"/>
              </a:solidFill>
            </a:endParaRPr>
          </a:p>
          <a:p>
            <a:pPr indent="0" lvl="0" marL="0" rtl="0" algn="l">
              <a:lnSpc>
                <a:spcPct val="150000"/>
              </a:lnSpc>
              <a:spcBef>
                <a:spcPts val="1200"/>
              </a:spcBef>
              <a:spcAft>
                <a:spcPts val="0"/>
              </a:spcAft>
              <a:buClr>
                <a:schemeClr val="dk1"/>
              </a:buClr>
              <a:buSzPts val="1100"/>
              <a:buFont typeface="Arial"/>
              <a:buNone/>
            </a:pPr>
            <a:r>
              <a:rPr b="1" lang="en-US" sz="2500">
                <a:solidFill>
                  <a:schemeClr val="lt1"/>
                </a:solidFill>
              </a:rPr>
              <a:t>Big Data</a:t>
            </a:r>
            <a:r>
              <a:rPr lang="en-US" sz="2500">
                <a:solidFill>
                  <a:schemeClr val="lt1"/>
                </a:solidFill>
              </a:rPr>
              <a:t> Managing the enormous volume of information generated by IoT networks is a complex challenge. Big data technologies provide the necessary infrastructure to efficiently store, organize, and process these high-velocity data streams across connected environments.</a:t>
            </a:r>
            <a:endParaRPr sz="2500">
              <a:solidFill>
                <a:schemeClr val="lt1"/>
              </a:solidFill>
            </a:endParaRPr>
          </a:p>
          <a:p>
            <a:pPr indent="0" lvl="0" marL="0" marR="0" rtl="0" algn="l">
              <a:lnSpc>
                <a:spcPct val="150000"/>
              </a:lnSpc>
              <a:spcBef>
                <a:spcPts val="1200"/>
              </a:spcBef>
              <a:spcAft>
                <a:spcPts val="0"/>
              </a:spcAft>
              <a:buNone/>
            </a:pPr>
            <a:r>
              <a:t/>
            </a:r>
            <a:endParaRPr b="1" sz="3900">
              <a:solidFill>
                <a:schemeClr val="lt1"/>
              </a:solidFill>
            </a:endParaRPr>
          </a:p>
        </p:txBody>
      </p:sp>
      <p:sp>
        <p:nvSpPr>
          <p:cNvPr id="369" name="Google Shape;369;p34"/>
          <p:cNvSpPr/>
          <p:nvPr/>
        </p:nvSpPr>
        <p:spPr>
          <a:xfrm rot="-1312875">
            <a:off x="5680296" y="6411764"/>
            <a:ext cx="19140433" cy="6986258"/>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370" name="Google Shape;370;p34"/>
          <p:cNvSpPr/>
          <p:nvPr/>
        </p:nvSpPr>
        <p:spPr>
          <a:xfrm flipH="1" rot="-9225302">
            <a:off x="3960235" y="-5519885"/>
            <a:ext cx="19162454" cy="6994295"/>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371" name="Google Shape;371;p34"/>
          <p:cNvSpPr/>
          <p:nvPr/>
        </p:nvSpPr>
        <p:spPr>
          <a:xfrm>
            <a:off x="2079049" y="1159449"/>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grpSp>
        <p:nvGrpSpPr>
          <p:cNvPr id="372" name="Google Shape;372;p34"/>
          <p:cNvGrpSpPr/>
          <p:nvPr/>
        </p:nvGrpSpPr>
        <p:grpSpPr>
          <a:xfrm>
            <a:off x="11384250" y="2447022"/>
            <a:ext cx="6011809" cy="5985044"/>
            <a:chOff x="-33258" y="-75"/>
            <a:chExt cx="14906544" cy="14840178"/>
          </a:xfrm>
        </p:grpSpPr>
        <p:sp>
          <p:nvSpPr>
            <p:cNvPr id="373" name="Google Shape;373;p34"/>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4"/>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4"/>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5">
                <a:alphaModFix/>
              </a:blip>
              <a:stretch>
                <a:fillRect b="0" l="-38309" r="-3832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6" name="Google Shape;376;p34"/>
          <p:cNvSpPr/>
          <p:nvPr/>
        </p:nvSpPr>
        <p:spPr>
          <a:xfrm>
            <a:off x="15181260" y="6529729"/>
            <a:ext cx="1785236" cy="1785236"/>
          </a:xfrm>
          <a:custGeom>
            <a:rect b="b" l="l" r="r" t="t"/>
            <a:pathLst>
              <a:path extrusionOk="0" h="1785236" w="1785236">
                <a:moveTo>
                  <a:pt x="0" y="0"/>
                </a:moveTo>
                <a:lnTo>
                  <a:pt x="1785235" y="0"/>
                </a:lnTo>
                <a:lnTo>
                  <a:pt x="1785235" y="1785235"/>
                </a:lnTo>
                <a:lnTo>
                  <a:pt x="0" y="1785235"/>
                </a:lnTo>
                <a:lnTo>
                  <a:pt x="0" y="0"/>
                </a:lnTo>
                <a:close/>
              </a:path>
            </a:pathLst>
          </a:custGeom>
          <a:blipFill rotWithShape="1">
            <a:blip r:embed="rId6">
              <a:alphaModFix/>
            </a:blip>
            <a:stretch>
              <a:fillRect b="0" l="0" r="0" t="0"/>
            </a:stretch>
          </a:blipFill>
          <a:ln>
            <a:noFill/>
          </a:ln>
        </p:spPr>
      </p:sp>
      <p:sp>
        <p:nvSpPr>
          <p:cNvPr id="377" name="Google Shape;377;p34"/>
          <p:cNvSpPr/>
          <p:nvPr/>
        </p:nvSpPr>
        <p:spPr>
          <a:xfrm>
            <a:off x="-183721" y="564812"/>
            <a:ext cx="1785236" cy="1785236"/>
          </a:xfrm>
          <a:custGeom>
            <a:rect b="b" l="l" r="r" t="t"/>
            <a:pathLst>
              <a:path extrusionOk="0" h="1785236" w="1785236">
                <a:moveTo>
                  <a:pt x="0" y="0"/>
                </a:moveTo>
                <a:lnTo>
                  <a:pt x="1785236" y="0"/>
                </a:lnTo>
                <a:lnTo>
                  <a:pt x="1785236" y="1785236"/>
                </a:lnTo>
                <a:lnTo>
                  <a:pt x="0" y="178523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381" name="Shape 381"/>
        <p:cNvGrpSpPr/>
        <p:nvPr/>
      </p:nvGrpSpPr>
      <p:grpSpPr>
        <a:xfrm>
          <a:off x="0" y="0"/>
          <a:ext cx="0" cy="0"/>
          <a:chOff x="0" y="0"/>
          <a:chExt cx="0" cy="0"/>
        </a:xfrm>
      </p:grpSpPr>
      <p:sp>
        <p:nvSpPr>
          <p:cNvPr id="382" name="Google Shape;382;p35"/>
          <p:cNvSpPr txBox="1"/>
          <p:nvPr/>
        </p:nvSpPr>
        <p:spPr>
          <a:xfrm>
            <a:off x="1968137" y="2220542"/>
            <a:ext cx="9049500" cy="81273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1200"/>
              </a:spcBef>
              <a:spcAft>
                <a:spcPts val="0"/>
              </a:spcAft>
              <a:buClr>
                <a:schemeClr val="dk1"/>
              </a:buClr>
              <a:buSzPts val="1100"/>
              <a:buFont typeface="Arial"/>
              <a:buNone/>
            </a:pPr>
            <a:r>
              <a:rPr b="1" lang="en-US" sz="2600">
                <a:solidFill>
                  <a:schemeClr val="lt1"/>
                </a:solidFill>
              </a:rPr>
              <a:t>Effective Communication Protocols</a:t>
            </a:r>
            <a:r>
              <a:rPr lang="en-US" sz="2600">
                <a:solidFill>
                  <a:schemeClr val="lt1"/>
                </a:solidFill>
              </a:rPr>
              <a:t> Communication protocols serve as the backbone of IoT, enabling seamless data exchange across short-, medium-, and long-range wireless networks. They facilitate reliable sensing, control, and interaction between connected devices and management systems.</a:t>
            </a:r>
            <a:endParaRPr sz="2600">
              <a:solidFill>
                <a:schemeClr val="lt1"/>
              </a:solidFill>
            </a:endParaRPr>
          </a:p>
          <a:p>
            <a:pPr indent="0" lvl="0" marL="0" rtl="0" algn="l">
              <a:lnSpc>
                <a:spcPct val="150000"/>
              </a:lnSpc>
              <a:spcBef>
                <a:spcPts val="1200"/>
              </a:spcBef>
              <a:spcAft>
                <a:spcPts val="0"/>
              </a:spcAft>
              <a:buClr>
                <a:schemeClr val="dk1"/>
              </a:buClr>
              <a:buSzPts val="1100"/>
              <a:buFont typeface="Arial"/>
              <a:buNone/>
            </a:pPr>
            <a:r>
              <a:rPr b="1" lang="en-US" sz="2600">
                <a:solidFill>
                  <a:schemeClr val="lt1"/>
                </a:solidFill>
              </a:rPr>
              <a:t>Internet Protocol Version 6 (IPv6)</a:t>
            </a:r>
            <a:r>
              <a:rPr lang="en-US" sz="2600">
                <a:solidFill>
                  <a:schemeClr val="lt1"/>
                </a:solidFill>
              </a:rPr>
              <a:t> With the number of connected devices vastly outnumbering the global population, legacy IPv4 addresses are insufficient. IPv6 provides an nearly unlimited pool of unique IP addresses, ensuring long-term scalability and seamless global connectivity for expanding IoT networks.</a:t>
            </a:r>
            <a:endParaRPr sz="2600">
              <a:solidFill>
                <a:schemeClr val="lt1"/>
              </a:solidFill>
            </a:endParaRPr>
          </a:p>
          <a:p>
            <a:pPr indent="0" lvl="0" marL="0" marR="0" rtl="0" algn="l">
              <a:lnSpc>
                <a:spcPct val="150000"/>
              </a:lnSpc>
              <a:spcBef>
                <a:spcPts val="1200"/>
              </a:spcBef>
              <a:spcAft>
                <a:spcPts val="0"/>
              </a:spcAft>
              <a:buNone/>
            </a:pPr>
            <a:r>
              <a:t/>
            </a:r>
            <a:endParaRPr b="1" sz="4000">
              <a:solidFill>
                <a:schemeClr val="lt1"/>
              </a:solidFill>
            </a:endParaRPr>
          </a:p>
        </p:txBody>
      </p:sp>
      <p:sp>
        <p:nvSpPr>
          <p:cNvPr id="383" name="Google Shape;383;p35"/>
          <p:cNvSpPr/>
          <p:nvPr/>
        </p:nvSpPr>
        <p:spPr>
          <a:xfrm rot="-1312875">
            <a:off x="5680296" y="6411764"/>
            <a:ext cx="19140433" cy="6986258"/>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384" name="Google Shape;384;p35"/>
          <p:cNvSpPr/>
          <p:nvPr/>
        </p:nvSpPr>
        <p:spPr>
          <a:xfrm flipH="1" rot="-9225302">
            <a:off x="3960235" y="-5519885"/>
            <a:ext cx="19162454" cy="6994295"/>
          </a:xfrm>
          <a:custGeom>
            <a:rect b="b" l="l" r="r" t="t"/>
            <a:pathLst>
              <a:path extrusionOk="0" h="6989710" w="19149891">
                <a:moveTo>
                  <a:pt x="0" y="6989711"/>
                </a:moveTo>
                <a:lnTo>
                  <a:pt x="19149891" y="6989711"/>
                </a:lnTo>
                <a:lnTo>
                  <a:pt x="19149891" y="0"/>
                </a:lnTo>
                <a:lnTo>
                  <a:pt x="0" y="0"/>
                </a:lnTo>
                <a:lnTo>
                  <a:pt x="0" y="6989711"/>
                </a:lnTo>
                <a:close/>
              </a:path>
            </a:pathLst>
          </a:custGeom>
          <a:blipFill rotWithShape="1">
            <a:blip r:embed="rId3">
              <a:alphaModFix amt="80000"/>
            </a:blip>
            <a:stretch>
              <a:fillRect b="0" l="0" r="0" t="0"/>
            </a:stretch>
          </a:blipFill>
          <a:ln>
            <a:noFill/>
          </a:ln>
        </p:spPr>
      </p:sp>
      <p:sp>
        <p:nvSpPr>
          <p:cNvPr id="385" name="Google Shape;385;p35"/>
          <p:cNvSpPr/>
          <p:nvPr/>
        </p:nvSpPr>
        <p:spPr>
          <a:xfrm>
            <a:off x="2079049" y="1159449"/>
            <a:ext cx="658167" cy="595940"/>
          </a:xfrm>
          <a:custGeom>
            <a:rect b="b" l="l" r="r" t="t"/>
            <a:pathLst>
              <a:path extrusionOk="0" h="595940" w="658167">
                <a:moveTo>
                  <a:pt x="0" y="0"/>
                </a:moveTo>
                <a:lnTo>
                  <a:pt x="658167" y="0"/>
                </a:lnTo>
                <a:lnTo>
                  <a:pt x="658167" y="595940"/>
                </a:lnTo>
                <a:lnTo>
                  <a:pt x="0" y="595940"/>
                </a:lnTo>
                <a:lnTo>
                  <a:pt x="0" y="0"/>
                </a:lnTo>
                <a:close/>
              </a:path>
            </a:pathLst>
          </a:custGeom>
          <a:blipFill rotWithShape="1">
            <a:blip r:embed="rId4">
              <a:alphaModFix/>
            </a:blip>
            <a:stretch>
              <a:fillRect b="0" l="0" r="0" t="0"/>
            </a:stretch>
          </a:blipFill>
          <a:ln>
            <a:noFill/>
          </a:ln>
        </p:spPr>
      </p:sp>
      <p:grpSp>
        <p:nvGrpSpPr>
          <p:cNvPr id="386" name="Google Shape;386;p35"/>
          <p:cNvGrpSpPr/>
          <p:nvPr/>
        </p:nvGrpSpPr>
        <p:grpSpPr>
          <a:xfrm>
            <a:off x="11384250" y="2447022"/>
            <a:ext cx="6011809" cy="5985044"/>
            <a:chOff x="-33258" y="-75"/>
            <a:chExt cx="14906544" cy="14840178"/>
          </a:xfrm>
        </p:grpSpPr>
        <p:sp>
          <p:nvSpPr>
            <p:cNvPr id="387" name="Google Shape;387;p35"/>
            <p:cNvSpPr/>
            <p:nvPr/>
          </p:nvSpPr>
          <p:spPr>
            <a:xfrm>
              <a:off x="-33258" y="-75"/>
              <a:ext cx="14906544" cy="14840178"/>
            </a:xfrm>
            <a:custGeom>
              <a:rect b="b" l="l" r="r" t="t"/>
              <a:pathLst>
                <a:path extrusionOk="0"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36E9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5"/>
            <p:cNvSpPr/>
            <p:nvPr/>
          </p:nvSpPr>
          <p:spPr>
            <a:xfrm>
              <a:off x="168022" y="200309"/>
              <a:ext cx="14503985" cy="14439411"/>
            </a:xfrm>
            <a:custGeom>
              <a:rect b="b" l="l" r="r" t="t"/>
              <a:pathLst>
                <a:path extrusionOk="0"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5"/>
            <p:cNvSpPr/>
            <p:nvPr/>
          </p:nvSpPr>
          <p:spPr>
            <a:xfrm>
              <a:off x="531276" y="561946"/>
              <a:ext cx="13777477" cy="13716137"/>
            </a:xfrm>
            <a:custGeom>
              <a:rect b="b" l="l" r="r" t="t"/>
              <a:pathLst>
                <a:path extrusionOk="0"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rotWithShape="1">
              <a:blip r:embed="rId5">
                <a:alphaModFix/>
              </a:blip>
              <a:stretch>
                <a:fillRect b="0" l="-38309" r="-3832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0" name="Google Shape;390;p35"/>
          <p:cNvSpPr/>
          <p:nvPr/>
        </p:nvSpPr>
        <p:spPr>
          <a:xfrm>
            <a:off x="15181260" y="6529729"/>
            <a:ext cx="1785236" cy="1785236"/>
          </a:xfrm>
          <a:custGeom>
            <a:rect b="b" l="l" r="r" t="t"/>
            <a:pathLst>
              <a:path extrusionOk="0" h="1785236" w="1785236">
                <a:moveTo>
                  <a:pt x="0" y="0"/>
                </a:moveTo>
                <a:lnTo>
                  <a:pt x="1785235" y="0"/>
                </a:lnTo>
                <a:lnTo>
                  <a:pt x="1785235" y="1785235"/>
                </a:lnTo>
                <a:lnTo>
                  <a:pt x="0" y="1785235"/>
                </a:lnTo>
                <a:lnTo>
                  <a:pt x="0" y="0"/>
                </a:lnTo>
                <a:close/>
              </a:path>
            </a:pathLst>
          </a:custGeom>
          <a:blipFill rotWithShape="1">
            <a:blip r:embed="rId6">
              <a:alphaModFix/>
            </a:blip>
            <a:stretch>
              <a:fillRect b="0" l="0" r="0" t="0"/>
            </a:stretch>
          </a:blipFill>
          <a:ln>
            <a:noFill/>
          </a:ln>
        </p:spPr>
      </p:sp>
      <p:sp>
        <p:nvSpPr>
          <p:cNvPr id="391" name="Google Shape;391;p35"/>
          <p:cNvSpPr/>
          <p:nvPr/>
        </p:nvSpPr>
        <p:spPr>
          <a:xfrm>
            <a:off x="-183721" y="564812"/>
            <a:ext cx="1785236" cy="1785236"/>
          </a:xfrm>
          <a:custGeom>
            <a:rect b="b" l="l" r="r" t="t"/>
            <a:pathLst>
              <a:path extrusionOk="0" h="1785236" w="1785236">
                <a:moveTo>
                  <a:pt x="0" y="0"/>
                </a:moveTo>
                <a:lnTo>
                  <a:pt x="1785236" y="0"/>
                </a:lnTo>
                <a:lnTo>
                  <a:pt x="1785236" y="1785236"/>
                </a:lnTo>
                <a:lnTo>
                  <a:pt x="0" y="1785236"/>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361B70"/>
            </a:gs>
            <a:gs pos="100000">
              <a:srgbClr val="000000"/>
            </a:gs>
          </a:gsLst>
          <a:lin ang="0" scaled="0"/>
        </a:gradFill>
      </p:bgPr>
    </p:bg>
    <p:spTree>
      <p:nvGrpSpPr>
        <p:cNvPr id="395" name="Shape 395"/>
        <p:cNvGrpSpPr/>
        <p:nvPr/>
      </p:nvGrpSpPr>
      <p:grpSpPr>
        <a:xfrm>
          <a:off x="0" y="0"/>
          <a:ext cx="0" cy="0"/>
          <a:chOff x="0" y="0"/>
          <a:chExt cx="0" cy="0"/>
        </a:xfrm>
      </p:grpSpPr>
      <p:sp>
        <p:nvSpPr>
          <p:cNvPr id="396" name="Google Shape;396;p36"/>
          <p:cNvSpPr/>
          <p:nvPr/>
        </p:nvSpPr>
        <p:spPr>
          <a:xfrm rot="-242831">
            <a:off x="-183072" y="9034920"/>
            <a:ext cx="19149891" cy="6989710"/>
          </a:xfrm>
          <a:custGeom>
            <a:rect b="b" l="l" r="r" t="t"/>
            <a:pathLst>
              <a:path extrusionOk="0" h="6989710" w="19149891">
                <a:moveTo>
                  <a:pt x="0" y="0"/>
                </a:moveTo>
                <a:lnTo>
                  <a:pt x="19149891" y="0"/>
                </a:lnTo>
                <a:lnTo>
                  <a:pt x="19149891" y="6989711"/>
                </a:lnTo>
                <a:lnTo>
                  <a:pt x="0" y="6989711"/>
                </a:lnTo>
                <a:lnTo>
                  <a:pt x="0" y="0"/>
                </a:lnTo>
                <a:close/>
              </a:path>
            </a:pathLst>
          </a:custGeom>
          <a:blipFill rotWithShape="1">
            <a:blip r:embed="rId3">
              <a:alphaModFix amt="80000"/>
            </a:blip>
            <a:stretch>
              <a:fillRect b="0" l="0" r="0" t="0"/>
            </a:stretch>
          </a:blipFill>
          <a:ln>
            <a:noFill/>
          </a:ln>
        </p:spPr>
      </p:sp>
      <p:sp>
        <p:nvSpPr>
          <p:cNvPr id="397" name="Google Shape;397;p36"/>
          <p:cNvSpPr/>
          <p:nvPr/>
        </p:nvSpPr>
        <p:spPr>
          <a:xfrm flipH="1" rot="10361290">
            <a:off x="-4529841" y="-5573153"/>
            <a:ext cx="19149891" cy="6989710"/>
          </a:xfrm>
          <a:custGeom>
            <a:rect b="b" l="l" r="r" t="t"/>
            <a:pathLst>
              <a:path extrusionOk="0" h="6989710" w="19149891">
                <a:moveTo>
                  <a:pt x="0" y="6989710"/>
                </a:moveTo>
                <a:lnTo>
                  <a:pt x="19149891" y="6989710"/>
                </a:lnTo>
                <a:lnTo>
                  <a:pt x="19149891" y="0"/>
                </a:lnTo>
                <a:lnTo>
                  <a:pt x="0" y="0"/>
                </a:lnTo>
                <a:lnTo>
                  <a:pt x="0" y="6989710"/>
                </a:lnTo>
                <a:close/>
              </a:path>
            </a:pathLst>
          </a:custGeom>
          <a:blipFill rotWithShape="1">
            <a:blip r:embed="rId3">
              <a:alphaModFix amt="80000"/>
            </a:blip>
            <a:stretch>
              <a:fillRect b="0" l="0" r="0" t="0"/>
            </a:stretch>
          </a:blipFill>
          <a:ln>
            <a:noFill/>
          </a:ln>
        </p:spPr>
      </p:sp>
      <p:sp>
        <p:nvSpPr>
          <p:cNvPr id="398" name="Google Shape;398;p36"/>
          <p:cNvSpPr/>
          <p:nvPr/>
        </p:nvSpPr>
        <p:spPr>
          <a:xfrm>
            <a:off x="3335497" y="1259763"/>
            <a:ext cx="658167" cy="595940"/>
          </a:xfrm>
          <a:custGeom>
            <a:rect b="b" l="l" r="r" t="t"/>
            <a:pathLst>
              <a:path extrusionOk="0" h="595940" w="658167">
                <a:moveTo>
                  <a:pt x="0" y="0"/>
                </a:moveTo>
                <a:lnTo>
                  <a:pt x="658166" y="0"/>
                </a:lnTo>
                <a:lnTo>
                  <a:pt x="658166" y="595940"/>
                </a:lnTo>
                <a:lnTo>
                  <a:pt x="0" y="595940"/>
                </a:lnTo>
                <a:lnTo>
                  <a:pt x="0" y="0"/>
                </a:lnTo>
                <a:close/>
              </a:path>
            </a:pathLst>
          </a:custGeom>
          <a:blipFill rotWithShape="1">
            <a:blip r:embed="rId4">
              <a:alphaModFix/>
            </a:blip>
            <a:stretch>
              <a:fillRect b="0" l="0" r="0" t="0"/>
            </a:stretch>
          </a:blipFill>
          <a:ln>
            <a:noFill/>
          </a:ln>
        </p:spPr>
      </p:sp>
      <p:sp>
        <p:nvSpPr>
          <p:cNvPr id="399" name="Google Shape;399;p36"/>
          <p:cNvSpPr/>
          <p:nvPr/>
        </p:nvSpPr>
        <p:spPr>
          <a:xfrm>
            <a:off x="-5308566" y="2057400"/>
            <a:ext cx="9272016" cy="8229600"/>
          </a:xfrm>
          <a:custGeom>
            <a:rect b="b" l="l" r="r" t="t"/>
            <a:pathLst>
              <a:path extrusionOk="0" h="8229600" w="9272016">
                <a:moveTo>
                  <a:pt x="0" y="0"/>
                </a:moveTo>
                <a:lnTo>
                  <a:pt x="9272016" y="0"/>
                </a:lnTo>
                <a:lnTo>
                  <a:pt x="9272016" y="8229600"/>
                </a:lnTo>
                <a:lnTo>
                  <a:pt x="0" y="8229600"/>
                </a:lnTo>
                <a:lnTo>
                  <a:pt x="0" y="0"/>
                </a:lnTo>
                <a:close/>
              </a:path>
            </a:pathLst>
          </a:custGeom>
          <a:blipFill rotWithShape="1">
            <a:blip r:embed="rId5">
              <a:alphaModFix amt="18999"/>
            </a:blip>
            <a:stretch>
              <a:fillRect b="0" l="0" r="0" t="0"/>
            </a:stretch>
          </a:blipFill>
          <a:ln>
            <a:noFill/>
          </a:ln>
        </p:spPr>
      </p:sp>
      <p:sp>
        <p:nvSpPr>
          <p:cNvPr id="400" name="Google Shape;400;p36"/>
          <p:cNvSpPr txBox="1"/>
          <p:nvPr/>
        </p:nvSpPr>
        <p:spPr>
          <a:xfrm>
            <a:off x="4161325" y="1108955"/>
            <a:ext cx="9965350" cy="1100845"/>
          </a:xfrm>
          <a:prstGeom prst="rect">
            <a:avLst/>
          </a:prstGeom>
          <a:noFill/>
          <a:ln>
            <a:noFill/>
          </a:ln>
        </p:spPr>
        <p:txBody>
          <a:bodyPr anchorCtr="0" anchor="t" bIns="0" lIns="0" spcFirstLastPara="1" rIns="0" wrap="square" tIns="0">
            <a:spAutoFit/>
          </a:bodyPr>
          <a:lstStyle/>
          <a:p>
            <a:pPr indent="0" lvl="0" marL="0" marR="0" rtl="0" algn="ctr">
              <a:lnSpc>
                <a:spcPct val="94995"/>
              </a:lnSpc>
              <a:spcBef>
                <a:spcPts val="0"/>
              </a:spcBef>
              <a:spcAft>
                <a:spcPts val="0"/>
              </a:spcAft>
              <a:buNone/>
            </a:pPr>
            <a:r>
              <a:rPr b="1" i="0" lang="en-US" sz="8572" u="none" cap="none" strike="noStrike">
                <a:solidFill>
                  <a:srgbClr val="36E9FD"/>
                </a:solidFill>
                <a:latin typeface="Montserrat SemiBold"/>
                <a:ea typeface="Montserrat SemiBold"/>
                <a:cs typeface="Montserrat SemiBold"/>
                <a:sym typeface="Montserrat SemiBold"/>
              </a:rPr>
              <a:t>Challenges of IoT</a:t>
            </a:r>
            <a:endParaRPr/>
          </a:p>
        </p:txBody>
      </p:sp>
      <p:sp>
        <p:nvSpPr>
          <p:cNvPr id="401" name="Google Shape;401;p36"/>
          <p:cNvSpPr txBox="1"/>
          <p:nvPr/>
        </p:nvSpPr>
        <p:spPr>
          <a:xfrm>
            <a:off x="3335497" y="2679542"/>
            <a:ext cx="11651400" cy="772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US" sz="2200">
                <a:solidFill>
                  <a:schemeClr val="lt1"/>
                </a:solidFill>
              </a:rPr>
              <a:t>Challenges Posed by Internet of Things</a:t>
            </a:r>
            <a:endParaRPr b="1" sz="22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en-US" sz="2200">
                <a:solidFill>
                  <a:schemeClr val="lt1"/>
                </a:solidFill>
              </a:rPr>
              <a:t>As the IoT landscape expands at an unprecedented rate adding millions of new devices in a matter of days the lack of universal regulations and standardized control protocols introduces significant obstacles across multiple domains:</a:t>
            </a:r>
            <a:endParaRPr sz="2200">
              <a:solidFill>
                <a:schemeClr val="lt1"/>
              </a:solidFill>
            </a:endParaRPr>
          </a:p>
          <a:p>
            <a:pPr indent="-368300" lvl="0" marL="457200" rtl="0" algn="l">
              <a:lnSpc>
                <a:spcPct val="115000"/>
              </a:lnSpc>
              <a:spcBef>
                <a:spcPts val="1200"/>
              </a:spcBef>
              <a:spcAft>
                <a:spcPts val="0"/>
              </a:spcAft>
              <a:buClr>
                <a:schemeClr val="lt1"/>
              </a:buClr>
              <a:buSzPts val="2200"/>
              <a:buChar char="●"/>
            </a:pPr>
            <a:r>
              <a:rPr b="1" lang="en-US" sz="2200">
                <a:solidFill>
                  <a:schemeClr val="lt1"/>
                </a:solidFill>
              </a:rPr>
              <a:t>Cybersecurity:</a:t>
            </a:r>
            <a:r>
              <a:rPr lang="en-US" sz="2200">
                <a:solidFill>
                  <a:schemeClr val="lt1"/>
                </a:solidFill>
              </a:rPr>
              <a:t> Expanding network endpoints creates vast attack surfaces, making devices and systems vulnerable to unauthorized access, malware, and large-scale botnet attacks.</a:t>
            </a:r>
            <a:endParaRPr sz="2200">
              <a:solidFill>
                <a:schemeClr val="lt1"/>
              </a:solidFill>
            </a:endParaRPr>
          </a:p>
          <a:p>
            <a:pPr indent="-368300" lvl="0" marL="457200" rtl="0" algn="l">
              <a:lnSpc>
                <a:spcPct val="115000"/>
              </a:lnSpc>
              <a:spcBef>
                <a:spcPts val="0"/>
              </a:spcBef>
              <a:spcAft>
                <a:spcPts val="0"/>
              </a:spcAft>
              <a:buClr>
                <a:schemeClr val="lt1"/>
              </a:buClr>
              <a:buSzPts val="2200"/>
              <a:buChar char="●"/>
            </a:pPr>
            <a:r>
              <a:rPr b="1" lang="en-US" sz="2200">
                <a:solidFill>
                  <a:schemeClr val="lt1"/>
                </a:solidFill>
              </a:rPr>
              <a:t>Privacy:</a:t>
            </a:r>
            <a:r>
              <a:rPr lang="en-US" sz="2200">
                <a:solidFill>
                  <a:schemeClr val="lt1"/>
                </a:solidFill>
              </a:rPr>
              <a:t> Continuous data collection from consumer and industrial devices raises critical concerns regarding unauthorized surveillance, data exposure, and user consent.</a:t>
            </a:r>
            <a:endParaRPr sz="2200">
              <a:solidFill>
                <a:schemeClr val="lt1"/>
              </a:solidFill>
            </a:endParaRPr>
          </a:p>
          <a:p>
            <a:pPr indent="-368300" lvl="0" marL="457200" rtl="0" algn="l">
              <a:lnSpc>
                <a:spcPct val="115000"/>
              </a:lnSpc>
              <a:spcBef>
                <a:spcPts val="0"/>
              </a:spcBef>
              <a:spcAft>
                <a:spcPts val="0"/>
              </a:spcAft>
              <a:buClr>
                <a:schemeClr val="lt1"/>
              </a:buClr>
              <a:buSzPts val="2200"/>
              <a:buChar char="●"/>
            </a:pPr>
            <a:r>
              <a:rPr b="1" lang="en-US" sz="2200">
                <a:solidFill>
                  <a:schemeClr val="lt1"/>
                </a:solidFill>
              </a:rPr>
              <a:t>Complex Operations and Management:</a:t>
            </a:r>
            <a:r>
              <a:rPr lang="en-US" sz="2200">
                <a:solidFill>
                  <a:schemeClr val="lt1"/>
                </a:solidFill>
              </a:rPr>
              <a:t> Deploying, updating, and maintaining heterogeneous networks with millions of interconnected devices strains operational resources and infrastructure.</a:t>
            </a:r>
            <a:endParaRPr sz="2200">
              <a:solidFill>
                <a:schemeClr val="lt1"/>
              </a:solidFill>
            </a:endParaRPr>
          </a:p>
          <a:p>
            <a:pPr indent="-368300" lvl="0" marL="457200" rtl="0" algn="l">
              <a:lnSpc>
                <a:spcPct val="115000"/>
              </a:lnSpc>
              <a:spcBef>
                <a:spcPts val="0"/>
              </a:spcBef>
              <a:spcAft>
                <a:spcPts val="0"/>
              </a:spcAft>
              <a:buClr>
                <a:schemeClr val="lt1"/>
              </a:buClr>
              <a:buSzPts val="2200"/>
              <a:buChar char="●"/>
            </a:pPr>
            <a:r>
              <a:rPr b="1" lang="en-US" sz="2200">
                <a:solidFill>
                  <a:schemeClr val="lt1"/>
                </a:solidFill>
              </a:rPr>
              <a:t>Environmental Impact:</a:t>
            </a:r>
            <a:r>
              <a:rPr lang="en-US" sz="2200">
                <a:solidFill>
                  <a:schemeClr val="lt1"/>
                </a:solidFill>
              </a:rPr>
              <a:t> Rapid hardware turnover leads to mounting electronic waste (e-waste) and high cumulative power consumption from always-on devices and processing centers.</a:t>
            </a:r>
            <a:endParaRPr sz="2200">
              <a:solidFill>
                <a:schemeClr val="lt1"/>
              </a:solidFill>
            </a:endParaRPr>
          </a:p>
          <a:p>
            <a:pPr indent="-368300" lvl="0" marL="457200" rtl="0" algn="l">
              <a:lnSpc>
                <a:spcPct val="115000"/>
              </a:lnSpc>
              <a:spcBef>
                <a:spcPts val="0"/>
              </a:spcBef>
              <a:spcAft>
                <a:spcPts val="0"/>
              </a:spcAft>
              <a:buClr>
                <a:schemeClr val="lt1"/>
              </a:buClr>
              <a:buSzPts val="2200"/>
              <a:buChar char="●"/>
            </a:pPr>
            <a:r>
              <a:rPr b="1" lang="en-US" sz="2200">
                <a:solidFill>
                  <a:schemeClr val="lt1"/>
                </a:solidFill>
              </a:rPr>
              <a:t>Bulky Data:</a:t>
            </a:r>
            <a:r>
              <a:rPr lang="en-US" sz="2200">
                <a:solidFill>
                  <a:schemeClr val="lt1"/>
                </a:solidFill>
              </a:rPr>
              <a:t> Massive volumes of high-velocity data generated by edge devices overload storage systems, consume network bandwidth, and strain analytical pipelines.</a:t>
            </a:r>
            <a:endParaRPr sz="2200">
              <a:solidFill>
                <a:schemeClr val="lt1"/>
              </a:solidFill>
            </a:endParaRPr>
          </a:p>
          <a:p>
            <a:pPr indent="0" lvl="0" marL="0" marR="0" rtl="0" algn="ctr">
              <a:lnSpc>
                <a:spcPct val="169020"/>
              </a:lnSpc>
              <a:spcBef>
                <a:spcPts val="1200"/>
              </a:spcBef>
              <a:spcAft>
                <a:spcPts val="0"/>
              </a:spcAft>
              <a:buNone/>
            </a:pPr>
            <a:r>
              <a:t/>
            </a:r>
            <a:endParaRPr b="1" i="1" sz="4173">
              <a:solidFill>
                <a:schemeClr val="lt1"/>
              </a:solidFill>
              <a:latin typeface="Raleway"/>
              <a:ea typeface="Raleway"/>
              <a:cs typeface="Raleway"/>
              <a:sym typeface="Raleway"/>
            </a:endParaRPr>
          </a:p>
        </p:txBody>
      </p:sp>
      <p:sp>
        <p:nvSpPr>
          <p:cNvPr id="402" name="Google Shape;402;p36"/>
          <p:cNvSpPr/>
          <p:nvPr/>
        </p:nvSpPr>
        <p:spPr>
          <a:xfrm>
            <a:off x="13054474" y="2209800"/>
            <a:ext cx="9272016" cy="8229600"/>
          </a:xfrm>
          <a:custGeom>
            <a:rect b="b" l="l" r="r" t="t"/>
            <a:pathLst>
              <a:path extrusionOk="0" h="8229600" w="9272016">
                <a:moveTo>
                  <a:pt x="0" y="0"/>
                </a:moveTo>
                <a:lnTo>
                  <a:pt x="9272016" y="0"/>
                </a:lnTo>
                <a:lnTo>
                  <a:pt x="9272016" y="8229600"/>
                </a:lnTo>
                <a:lnTo>
                  <a:pt x="0" y="8229600"/>
                </a:lnTo>
                <a:lnTo>
                  <a:pt x="0" y="0"/>
                </a:lnTo>
                <a:close/>
              </a:path>
            </a:pathLst>
          </a:custGeom>
          <a:blipFill rotWithShape="1">
            <a:blip r:embed="rId5">
              <a:alphaModFix amt="18999"/>
            </a:blip>
            <a:stretch>
              <a:fillRect b="0" l="0" r="0" t="0"/>
            </a:stretch>
          </a:blipFill>
          <a:ln>
            <a:noFill/>
          </a:ln>
        </p:spPr>
      </p:sp>
      <p:sp>
        <p:nvSpPr>
          <p:cNvPr id="403" name="Google Shape;403;p36"/>
          <p:cNvSpPr txBox="1"/>
          <p:nvPr/>
        </p:nvSpPr>
        <p:spPr>
          <a:xfrm>
            <a:off x="1300724" y="1599114"/>
            <a:ext cx="1154372" cy="515778"/>
          </a:xfrm>
          <a:prstGeom prst="rect">
            <a:avLst/>
          </a:prstGeom>
          <a:noFill/>
          <a:ln>
            <a:noFill/>
          </a:ln>
        </p:spPr>
        <p:txBody>
          <a:bodyPr anchorCtr="0" anchor="t" bIns="0" lIns="0" spcFirstLastPara="1" rIns="0" wrap="square" tIns="0">
            <a:spAutoFit/>
          </a:bodyPr>
          <a:lstStyle/>
          <a:p>
            <a:pPr indent="0" lvl="0" marL="0" marR="0" rtl="0" algn="l">
              <a:lnSpc>
                <a:spcPct val="128998"/>
              </a:lnSpc>
              <a:spcBef>
                <a:spcPts val="0"/>
              </a:spcBef>
              <a:spcAft>
                <a:spcPts val="0"/>
              </a:spcAft>
              <a:buNone/>
            </a:pPr>
            <a:r>
              <a:rPr b="0" i="0" lang="en-US" sz="3145" u="none" cap="none" strike="noStrike">
                <a:solidFill>
                  <a:srgbClr val="FFFFFF"/>
                </a:solidFill>
                <a:latin typeface="Arial"/>
                <a:ea typeface="Arial"/>
                <a:cs typeface="Arial"/>
                <a:sym typeface="Arial"/>
              </a:rPr>
              <a:t>07</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2A64"/>
            </a:gs>
            <a:gs pos="100000">
              <a:srgbClr val="414C94"/>
            </a:gs>
          </a:gsLst>
          <a:lin ang="0" scaled="0"/>
        </a:gradFill>
      </p:bgPr>
    </p:bg>
    <p:spTree>
      <p:nvGrpSpPr>
        <p:cNvPr id="407" name="Shape 407"/>
        <p:cNvGrpSpPr/>
        <p:nvPr/>
      </p:nvGrpSpPr>
      <p:grpSpPr>
        <a:xfrm>
          <a:off x="0" y="0"/>
          <a:ext cx="0" cy="0"/>
          <a:chOff x="0" y="0"/>
          <a:chExt cx="0" cy="0"/>
        </a:xfrm>
      </p:grpSpPr>
      <p:sp>
        <p:nvSpPr>
          <p:cNvPr id="408" name="Google Shape;408;p37"/>
          <p:cNvSpPr/>
          <p:nvPr/>
        </p:nvSpPr>
        <p:spPr>
          <a:xfrm rot="-3647679">
            <a:off x="5750070" y="2254213"/>
            <a:ext cx="27455017" cy="10021081"/>
          </a:xfrm>
          <a:custGeom>
            <a:rect b="b" l="l" r="r" t="t"/>
            <a:pathLst>
              <a:path extrusionOk="0" h="10021081" w="27455017">
                <a:moveTo>
                  <a:pt x="0" y="0"/>
                </a:moveTo>
                <a:lnTo>
                  <a:pt x="27455017" y="0"/>
                </a:lnTo>
                <a:lnTo>
                  <a:pt x="27455017" y="10021081"/>
                </a:lnTo>
                <a:lnTo>
                  <a:pt x="0" y="10021081"/>
                </a:lnTo>
                <a:lnTo>
                  <a:pt x="0" y="0"/>
                </a:lnTo>
                <a:close/>
              </a:path>
            </a:pathLst>
          </a:custGeom>
          <a:blipFill rotWithShape="1">
            <a:blip r:embed="rId3">
              <a:alphaModFix amt="80000"/>
            </a:blip>
            <a:stretch>
              <a:fillRect b="0" l="0" r="0" t="0"/>
            </a:stretch>
          </a:blipFill>
          <a:ln>
            <a:noFill/>
          </a:ln>
        </p:spPr>
      </p:sp>
      <p:sp>
        <p:nvSpPr>
          <p:cNvPr id="409" name="Google Shape;409;p37"/>
          <p:cNvSpPr/>
          <p:nvPr/>
        </p:nvSpPr>
        <p:spPr>
          <a:xfrm flipH="1" rot="9638680">
            <a:off x="-5537192" y="-4329620"/>
            <a:ext cx="19149891" cy="6989710"/>
          </a:xfrm>
          <a:custGeom>
            <a:rect b="b" l="l" r="r" t="t"/>
            <a:pathLst>
              <a:path extrusionOk="0" h="6989710" w="19149891">
                <a:moveTo>
                  <a:pt x="0" y="6989710"/>
                </a:moveTo>
                <a:lnTo>
                  <a:pt x="19149891" y="6989710"/>
                </a:lnTo>
                <a:lnTo>
                  <a:pt x="19149891" y="0"/>
                </a:lnTo>
                <a:lnTo>
                  <a:pt x="0" y="0"/>
                </a:lnTo>
                <a:lnTo>
                  <a:pt x="0" y="6989710"/>
                </a:lnTo>
                <a:close/>
              </a:path>
            </a:pathLst>
          </a:custGeom>
          <a:blipFill rotWithShape="1">
            <a:blip r:embed="rId3">
              <a:alphaModFix amt="80000"/>
            </a:blip>
            <a:stretch>
              <a:fillRect b="0" l="0" r="0" t="0"/>
            </a:stretch>
          </a:blipFill>
          <a:ln>
            <a:noFill/>
          </a:ln>
        </p:spPr>
      </p:sp>
      <p:sp>
        <p:nvSpPr>
          <p:cNvPr id="410" name="Google Shape;410;p37"/>
          <p:cNvSpPr/>
          <p:nvPr/>
        </p:nvSpPr>
        <p:spPr>
          <a:xfrm>
            <a:off x="2281588" y="1205197"/>
            <a:ext cx="658167" cy="595940"/>
          </a:xfrm>
          <a:custGeom>
            <a:rect b="b" l="l" r="r" t="t"/>
            <a:pathLst>
              <a:path extrusionOk="0" h="595940" w="658167">
                <a:moveTo>
                  <a:pt x="0" y="0"/>
                </a:moveTo>
                <a:lnTo>
                  <a:pt x="658166" y="0"/>
                </a:lnTo>
                <a:lnTo>
                  <a:pt x="658166" y="595940"/>
                </a:lnTo>
                <a:lnTo>
                  <a:pt x="0" y="595940"/>
                </a:lnTo>
                <a:lnTo>
                  <a:pt x="0" y="0"/>
                </a:lnTo>
                <a:close/>
              </a:path>
            </a:pathLst>
          </a:custGeom>
          <a:blipFill rotWithShape="1">
            <a:blip r:embed="rId4">
              <a:alphaModFix/>
            </a:blip>
            <a:stretch>
              <a:fillRect b="0" l="0" r="0" t="0"/>
            </a:stretch>
          </a:blipFill>
          <a:ln>
            <a:noFill/>
          </a:ln>
        </p:spPr>
      </p:sp>
      <p:sp>
        <p:nvSpPr>
          <p:cNvPr id="411" name="Google Shape;411;p37"/>
          <p:cNvSpPr txBox="1"/>
          <p:nvPr/>
        </p:nvSpPr>
        <p:spPr>
          <a:xfrm>
            <a:off x="808381" y="2753454"/>
            <a:ext cx="16671237" cy="3851307"/>
          </a:xfrm>
          <a:prstGeom prst="rect">
            <a:avLst/>
          </a:prstGeom>
          <a:noFill/>
          <a:ln>
            <a:noFill/>
          </a:ln>
        </p:spPr>
        <p:txBody>
          <a:bodyPr anchorCtr="0" anchor="t" bIns="0" lIns="0" spcFirstLastPara="1" rIns="0" wrap="square" tIns="0">
            <a:spAutoFit/>
          </a:bodyPr>
          <a:lstStyle/>
          <a:p>
            <a:pPr indent="0" lvl="0" marL="0" marR="0" rtl="0" algn="ctr">
              <a:lnSpc>
                <a:spcPct val="95004"/>
              </a:lnSpc>
              <a:spcBef>
                <a:spcPts val="0"/>
              </a:spcBef>
              <a:spcAft>
                <a:spcPts val="0"/>
              </a:spcAft>
              <a:buNone/>
            </a:pPr>
            <a:r>
              <a:rPr b="1" i="0" lang="en-US" sz="15573" u="none" cap="none" strike="noStrike">
                <a:solidFill>
                  <a:srgbClr val="36E9FD"/>
                </a:solidFill>
                <a:latin typeface="Montserrat Black"/>
                <a:ea typeface="Montserrat Black"/>
                <a:cs typeface="Montserrat Black"/>
                <a:sym typeface="Montserrat Black"/>
              </a:rPr>
              <a:t>Thank</a:t>
            </a:r>
            <a:endParaRPr/>
          </a:p>
          <a:p>
            <a:pPr indent="0" lvl="0" marL="0" marR="0" rtl="0" algn="ctr">
              <a:lnSpc>
                <a:spcPct val="95004"/>
              </a:lnSpc>
              <a:spcBef>
                <a:spcPts val="0"/>
              </a:spcBef>
              <a:spcAft>
                <a:spcPts val="0"/>
              </a:spcAft>
              <a:buNone/>
            </a:pPr>
            <a:r>
              <a:rPr b="1" i="0" lang="en-US" sz="15573" u="none" cap="none" strike="noStrike">
                <a:solidFill>
                  <a:srgbClr val="36E9FD"/>
                </a:solidFill>
                <a:latin typeface="Montserrat Black"/>
                <a:ea typeface="Montserrat Black"/>
                <a:cs typeface="Montserrat Black"/>
                <a:sym typeface="Montserrat Black"/>
              </a:rPr>
              <a:t> You!</a:t>
            </a:r>
            <a:endParaRPr/>
          </a:p>
        </p:txBody>
      </p:sp>
      <p:sp>
        <p:nvSpPr>
          <p:cNvPr id="412" name="Google Shape;412;p37"/>
          <p:cNvSpPr/>
          <p:nvPr/>
        </p:nvSpPr>
        <p:spPr>
          <a:xfrm rot="-242831">
            <a:off x="-606193" y="7527552"/>
            <a:ext cx="19149891" cy="6989710"/>
          </a:xfrm>
          <a:custGeom>
            <a:rect b="b" l="l" r="r" t="t"/>
            <a:pathLst>
              <a:path extrusionOk="0" h="6989710" w="19149891">
                <a:moveTo>
                  <a:pt x="0" y="0"/>
                </a:moveTo>
                <a:lnTo>
                  <a:pt x="19149891" y="0"/>
                </a:lnTo>
                <a:lnTo>
                  <a:pt x="19149891" y="6989710"/>
                </a:lnTo>
                <a:lnTo>
                  <a:pt x="0" y="6989710"/>
                </a:lnTo>
                <a:lnTo>
                  <a:pt x="0" y="0"/>
                </a:lnTo>
                <a:close/>
              </a:path>
            </a:pathLst>
          </a:custGeom>
          <a:blipFill rotWithShape="1">
            <a:blip r:embed="rId3">
              <a:alphaModFix amt="80000"/>
            </a:blip>
            <a:stretch>
              <a:fillRect b="0" l="0" r="0" t="0"/>
            </a:stretch>
          </a:blipFill>
          <a:ln>
            <a:noFill/>
          </a:ln>
        </p:spPr>
      </p:sp>
      <p:sp>
        <p:nvSpPr>
          <p:cNvPr id="413" name="Google Shape;413;p37"/>
          <p:cNvSpPr/>
          <p:nvPr/>
        </p:nvSpPr>
        <p:spPr>
          <a:xfrm>
            <a:off x="-2246435" y="7176078"/>
            <a:ext cx="5646215" cy="5646215"/>
          </a:xfrm>
          <a:custGeom>
            <a:rect b="b" l="l" r="r" t="t"/>
            <a:pathLst>
              <a:path extrusionOk="0" h="5646215" w="5646215">
                <a:moveTo>
                  <a:pt x="0" y="0"/>
                </a:moveTo>
                <a:lnTo>
                  <a:pt x="5646214" y="0"/>
                </a:lnTo>
                <a:lnTo>
                  <a:pt x="5646214" y="5646214"/>
                </a:lnTo>
                <a:lnTo>
                  <a:pt x="0" y="5646214"/>
                </a:lnTo>
                <a:lnTo>
                  <a:pt x="0" y="0"/>
                </a:lnTo>
                <a:close/>
              </a:path>
            </a:pathLst>
          </a:custGeom>
          <a:blipFill rotWithShape="1">
            <a:blip r:embed="rId5">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