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ra Hamah Alfidaa" charset="1" panose="00000500000000000000"/>
      <p:regular r:id="rId29"/>
    </p:embeddedFont>
    <p:embeddedFont>
      <p:font typeface="Tek Tall Arabic Bold" charset="1" panose="00000000000000000000"/>
      <p:regular r:id="rId30"/>
    </p:embeddedFont>
    <p:embeddedFont>
      <p:font typeface="TT Chocolates Bold" charset="1" panose="02000803020000020003"/>
      <p:regular r:id="rId31"/>
    </p:embeddedFont>
    <p:embeddedFont>
      <p:font typeface="TT Chocolates" charset="1" panose="020005030200000200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16" t="-8164" r="-1723" b="-169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66553">
            <a:off x="-5268182" y="-772916"/>
            <a:ext cx="25077868" cy="17812091"/>
          </a:xfrm>
          <a:custGeom>
            <a:avLst/>
            <a:gdLst/>
            <a:ahLst/>
            <a:cxnLst/>
            <a:rect r="r" b="b" t="t" l="l"/>
            <a:pathLst>
              <a:path h="17812091" w="25077868">
                <a:moveTo>
                  <a:pt x="0" y="0"/>
                </a:moveTo>
                <a:lnTo>
                  <a:pt x="25077868" y="0"/>
                </a:lnTo>
                <a:lnTo>
                  <a:pt x="25077868" y="17812090"/>
                </a:lnTo>
                <a:lnTo>
                  <a:pt x="0" y="178120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26670" y="2652842"/>
            <a:ext cx="8334816" cy="4449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6"/>
              </a:lnSpc>
            </a:pPr>
            <a:r>
              <a:rPr lang="en-US" sz="22200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virtual</a:t>
            </a:r>
          </a:p>
          <a:p>
            <a:pPr algn="l">
              <a:lnSpc>
                <a:spcPts val="16206"/>
              </a:lnSpc>
            </a:pPr>
            <a:r>
              <a:rPr lang="en-US" sz="22200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reality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04153" y="6798564"/>
            <a:ext cx="7115854" cy="1358481"/>
          </a:xfrm>
          <a:custGeom>
            <a:avLst/>
            <a:gdLst/>
            <a:ahLst/>
            <a:cxnLst/>
            <a:rect r="r" b="b" t="t" l="l"/>
            <a:pathLst>
              <a:path h="1358481" w="7115854">
                <a:moveTo>
                  <a:pt x="0" y="0"/>
                </a:moveTo>
                <a:lnTo>
                  <a:pt x="7115854" y="0"/>
                </a:lnTo>
                <a:lnTo>
                  <a:pt x="7115854" y="1358482"/>
                </a:lnTo>
                <a:lnTo>
                  <a:pt x="0" y="135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062465" y="8940396"/>
            <a:ext cx="6102269" cy="1440381"/>
            <a:chOff x="0" y="0"/>
            <a:chExt cx="3900488" cy="920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00488" cy="920672"/>
            </a:xfrm>
            <a:custGeom>
              <a:avLst/>
              <a:gdLst/>
              <a:ahLst/>
              <a:cxnLst/>
              <a:rect r="r" b="b" t="t" l="l"/>
              <a:pathLst>
                <a:path h="920672" w="3900488">
                  <a:moveTo>
                    <a:pt x="3697288" y="0"/>
                  </a:moveTo>
                  <a:cubicBezTo>
                    <a:pt x="3809512" y="0"/>
                    <a:pt x="3900488" y="206100"/>
                    <a:pt x="3900488" y="460336"/>
                  </a:cubicBezTo>
                  <a:cubicBezTo>
                    <a:pt x="3900488" y="714573"/>
                    <a:pt x="3809512" y="920672"/>
                    <a:pt x="3697288" y="920672"/>
                  </a:cubicBezTo>
                  <a:lnTo>
                    <a:pt x="203200" y="920672"/>
                  </a:lnTo>
                  <a:cubicBezTo>
                    <a:pt x="90976" y="920672"/>
                    <a:pt x="0" y="714573"/>
                    <a:pt x="0" y="460336"/>
                  </a:cubicBezTo>
                  <a:cubicBezTo>
                    <a:pt x="0" y="2061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3900488" cy="892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47750" y="6930710"/>
            <a:ext cx="6805701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 spc="478">
                <a:solidFill>
                  <a:srgbClr val="232E54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Let’s start!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14484" y="9055114"/>
            <a:ext cx="4658006" cy="116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A036B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Presented by:</a:t>
            </a:r>
          </a:p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A036B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Zymonne Ambunan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A036B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Xyrille Salas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42415" t="-4760" r="-6863" b="-1399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322489">
            <a:off x="4471711" y="-1871268"/>
            <a:ext cx="18116952" cy="12867951"/>
          </a:xfrm>
          <a:custGeom>
            <a:avLst/>
            <a:gdLst/>
            <a:ahLst/>
            <a:cxnLst/>
            <a:rect r="r" b="b" t="t" l="l"/>
            <a:pathLst>
              <a:path h="12867951" w="18116952">
                <a:moveTo>
                  <a:pt x="0" y="0"/>
                </a:moveTo>
                <a:lnTo>
                  <a:pt x="18116952" y="0"/>
                </a:lnTo>
                <a:lnTo>
                  <a:pt x="18116952" y="12867951"/>
                </a:lnTo>
                <a:lnTo>
                  <a:pt x="0" y="128679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1528387" y="950607"/>
            <a:ext cx="5866018" cy="8385786"/>
            <a:chOff x="0" y="0"/>
            <a:chExt cx="4434840" cy="6339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436880"/>
              <a:ext cx="4064000" cy="5902960"/>
            </a:xfrm>
            <a:custGeom>
              <a:avLst/>
              <a:gdLst/>
              <a:ahLst/>
              <a:cxnLst/>
              <a:rect r="r" b="b" t="t" l="l"/>
              <a:pathLst>
                <a:path h="5902960" w="4064000">
                  <a:moveTo>
                    <a:pt x="4064000" y="5902960"/>
                  </a:moveTo>
                  <a:lnTo>
                    <a:pt x="0" y="5902960"/>
                  </a:lnTo>
                  <a:lnTo>
                    <a:pt x="0" y="0"/>
                  </a:lnTo>
                  <a:lnTo>
                    <a:pt x="4064000" y="0"/>
                  </a:lnTo>
                  <a:lnTo>
                    <a:pt x="4064000" y="5902960"/>
                  </a:lnTo>
                  <a:close/>
                </a:path>
              </a:pathLst>
            </a:custGeom>
            <a:blipFill>
              <a:blip r:embed="rId4"/>
              <a:stretch>
                <a:fillRect l="-54644" t="0" r="-103577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50800" y="50800"/>
              <a:ext cx="4333240" cy="6239510"/>
            </a:xfrm>
            <a:custGeom>
              <a:avLst/>
              <a:gdLst/>
              <a:ahLst/>
              <a:cxnLst/>
              <a:rect r="r" b="b" t="t" l="l"/>
              <a:pathLst>
                <a:path h="6239510" w="4333240">
                  <a:moveTo>
                    <a:pt x="4333240" y="335280"/>
                  </a:moveTo>
                  <a:lnTo>
                    <a:pt x="0" y="335280"/>
                  </a:lnTo>
                  <a:lnTo>
                    <a:pt x="0" y="0"/>
                  </a:lnTo>
                  <a:lnTo>
                    <a:pt x="4333240" y="0"/>
                  </a:lnTo>
                  <a:lnTo>
                    <a:pt x="4333240" y="335280"/>
                  </a:lnTo>
                  <a:close/>
                  <a:moveTo>
                    <a:pt x="4333240" y="5970270"/>
                  </a:moveTo>
                  <a:lnTo>
                    <a:pt x="4064000" y="5970270"/>
                  </a:lnTo>
                  <a:lnTo>
                    <a:pt x="4064000" y="6239510"/>
                  </a:lnTo>
                  <a:lnTo>
                    <a:pt x="4333240" y="6239510"/>
                  </a:lnTo>
                  <a:lnTo>
                    <a:pt x="4333240" y="5970270"/>
                  </a:lnTo>
                  <a:close/>
                </a:path>
              </a:pathLst>
            </a:custGeom>
            <a:solidFill>
              <a:srgbClr val="E57E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6850" y="165100"/>
              <a:ext cx="811530" cy="119380"/>
            </a:xfrm>
            <a:custGeom>
              <a:avLst/>
              <a:gdLst/>
              <a:ahLst/>
              <a:cxnLst/>
              <a:rect r="r" b="b" t="t" l="l"/>
              <a:pathLst>
                <a:path h="119380" w="811530">
                  <a:moveTo>
                    <a:pt x="119380" y="59690"/>
                  </a:moveTo>
                  <a:cubicBezTo>
                    <a:pt x="119380" y="92710"/>
                    <a:pt x="92710" y="119380"/>
                    <a:pt x="59690" y="119380"/>
                  </a:cubicBezTo>
                  <a:cubicBezTo>
                    <a:pt x="26670" y="119380"/>
                    <a:pt x="0" y="92710"/>
                    <a:pt x="0" y="59690"/>
                  </a:cubicBezTo>
                  <a:cubicBezTo>
                    <a:pt x="0" y="26670"/>
                    <a:pt x="26670" y="0"/>
                    <a:pt x="59690" y="0"/>
                  </a:cubicBezTo>
                  <a:cubicBezTo>
                    <a:pt x="92710" y="0"/>
                    <a:pt x="119380" y="26670"/>
                    <a:pt x="119380" y="59690"/>
                  </a:cubicBezTo>
                  <a:close/>
                  <a:moveTo>
                    <a:pt x="406400" y="0"/>
                  </a:moveTo>
                  <a:cubicBezTo>
                    <a:pt x="373380" y="0"/>
                    <a:pt x="346710" y="26670"/>
                    <a:pt x="346710" y="59690"/>
                  </a:cubicBezTo>
                  <a:cubicBezTo>
                    <a:pt x="346710" y="92710"/>
                    <a:pt x="373380" y="119380"/>
                    <a:pt x="406400" y="119380"/>
                  </a:cubicBezTo>
                  <a:cubicBezTo>
                    <a:pt x="439420" y="119380"/>
                    <a:pt x="466090" y="92710"/>
                    <a:pt x="466090" y="59690"/>
                  </a:cubicBezTo>
                  <a:cubicBezTo>
                    <a:pt x="466090" y="26670"/>
                    <a:pt x="439420" y="0"/>
                    <a:pt x="406400" y="0"/>
                  </a:cubicBezTo>
                  <a:close/>
                  <a:moveTo>
                    <a:pt x="751840" y="0"/>
                  </a:moveTo>
                  <a:cubicBezTo>
                    <a:pt x="718820" y="0"/>
                    <a:pt x="692150" y="26670"/>
                    <a:pt x="692150" y="59690"/>
                  </a:cubicBezTo>
                  <a:cubicBezTo>
                    <a:pt x="692150" y="92710"/>
                    <a:pt x="718820" y="119380"/>
                    <a:pt x="751840" y="119380"/>
                  </a:cubicBezTo>
                  <a:cubicBezTo>
                    <a:pt x="784860" y="119380"/>
                    <a:pt x="811530" y="92710"/>
                    <a:pt x="811530" y="59690"/>
                  </a:cubicBezTo>
                  <a:cubicBezTo>
                    <a:pt x="811530" y="26670"/>
                    <a:pt x="784860" y="0"/>
                    <a:pt x="7518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114800" y="438150"/>
              <a:ext cx="269240" cy="5532120"/>
            </a:xfrm>
            <a:custGeom>
              <a:avLst/>
              <a:gdLst/>
              <a:ahLst/>
              <a:cxnLst/>
              <a:rect r="r" b="b" t="t" l="l"/>
              <a:pathLst>
                <a:path h="5532120" w="269240">
                  <a:moveTo>
                    <a:pt x="269240" y="5532120"/>
                  </a:moveTo>
                  <a:lnTo>
                    <a:pt x="0" y="5532120"/>
                  </a:lnTo>
                  <a:lnTo>
                    <a:pt x="0" y="0"/>
                  </a:lnTo>
                  <a:lnTo>
                    <a:pt x="269240" y="0"/>
                  </a:lnTo>
                  <a:lnTo>
                    <a:pt x="269240" y="5532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34840" cy="6338570"/>
            </a:xfrm>
            <a:custGeom>
              <a:avLst/>
              <a:gdLst/>
              <a:ahLst/>
              <a:cxnLst/>
              <a:rect r="r" b="b" t="t" l="l"/>
              <a:pathLst>
                <a:path h="6338570" w="4434840">
                  <a:moveTo>
                    <a:pt x="4147820" y="5826760"/>
                  </a:moveTo>
                  <a:lnTo>
                    <a:pt x="4182110" y="5788660"/>
                  </a:lnTo>
                  <a:lnTo>
                    <a:pt x="4250690" y="5849620"/>
                  </a:lnTo>
                  <a:lnTo>
                    <a:pt x="4319270" y="5788660"/>
                  </a:lnTo>
                  <a:lnTo>
                    <a:pt x="4353560" y="5826760"/>
                  </a:lnTo>
                  <a:lnTo>
                    <a:pt x="4251960" y="5919470"/>
                  </a:lnTo>
                  <a:lnTo>
                    <a:pt x="4147820" y="5826760"/>
                  </a:lnTo>
                  <a:close/>
                  <a:moveTo>
                    <a:pt x="4182110" y="5567680"/>
                  </a:moveTo>
                  <a:lnTo>
                    <a:pt x="4250690" y="5506720"/>
                  </a:lnTo>
                  <a:lnTo>
                    <a:pt x="4319270" y="5567680"/>
                  </a:lnTo>
                  <a:lnTo>
                    <a:pt x="4353560" y="5529580"/>
                  </a:lnTo>
                  <a:lnTo>
                    <a:pt x="4251960" y="5436870"/>
                  </a:lnTo>
                  <a:lnTo>
                    <a:pt x="4150360" y="5529580"/>
                  </a:lnTo>
                  <a:lnTo>
                    <a:pt x="4182110" y="5567680"/>
                  </a:lnTo>
                  <a:close/>
                  <a:moveTo>
                    <a:pt x="4434840" y="0"/>
                  </a:moveTo>
                  <a:lnTo>
                    <a:pt x="4434840" y="387350"/>
                  </a:lnTo>
                  <a:lnTo>
                    <a:pt x="4434840" y="438150"/>
                  </a:lnTo>
                  <a:lnTo>
                    <a:pt x="4434840" y="5351780"/>
                  </a:lnTo>
                  <a:lnTo>
                    <a:pt x="4434840" y="5403850"/>
                  </a:lnTo>
                  <a:lnTo>
                    <a:pt x="4434840" y="5660390"/>
                  </a:lnTo>
                  <a:lnTo>
                    <a:pt x="4434840" y="5721350"/>
                  </a:lnTo>
                  <a:lnTo>
                    <a:pt x="4434840" y="5969000"/>
                  </a:lnTo>
                  <a:lnTo>
                    <a:pt x="4434840" y="6029960"/>
                  </a:lnTo>
                  <a:lnTo>
                    <a:pt x="4434840" y="6338570"/>
                  </a:lnTo>
                  <a:lnTo>
                    <a:pt x="4064000" y="6338570"/>
                  </a:lnTo>
                  <a:lnTo>
                    <a:pt x="4064000" y="6338570"/>
                  </a:lnTo>
                  <a:lnTo>
                    <a:pt x="0" y="6338570"/>
                  </a:lnTo>
                  <a:lnTo>
                    <a:pt x="0" y="436880"/>
                  </a:lnTo>
                  <a:lnTo>
                    <a:pt x="0" y="436880"/>
                  </a:lnTo>
                  <a:lnTo>
                    <a:pt x="0" y="0"/>
                  </a:lnTo>
                  <a:lnTo>
                    <a:pt x="4434840" y="0"/>
                  </a:lnTo>
                  <a:close/>
                  <a:moveTo>
                    <a:pt x="50800" y="386080"/>
                  </a:moveTo>
                  <a:lnTo>
                    <a:pt x="4384040" y="386080"/>
                  </a:lnTo>
                  <a:lnTo>
                    <a:pt x="4384040" y="50800"/>
                  </a:lnTo>
                  <a:lnTo>
                    <a:pt x="50800" y="50800"/>
                  </a:lnTo>
                  <a:lnTo>
                    <a:pt x="50800" y="386080"/>
                  </a:lnTo>
                  <a:close/>
                  <a:moveTo>
                    <a:pt x="4064000" y="6031230"/>
                  </a:moveTo>
                  <a:lnTo>
                    <a:pt x="4064000" y="5970270"/>
                  </a:lnTo>
                  <a:lnTo>
                    <a:pt x="4064000" y="5722620"/>
                  </a:lnTo>
                  <a:lnTo>
                    <a:pt x="4064000" y="5661660"/>
                  </a:lnTo>
                  <a:lnTo>
                    <a:pt x="4064000" y="5405120"/>
                  </a:lnTo>
                  <a:lnTo>
                    <a:pt x="4064000" y="5353050"/>
                  </a:lnTo>
                  <a:lnTo>
                    <a:pt x="4064000" y="436880"/>
                  </a:lnTo>
                  <a:lnTo>
                    <a:pt x="50800" y="436880"/>
                  </a:lnTo>
                  <a:lnTo>
                    <a:pt x="50800" y="6289040"/>
                  </a:lnTo>
                  <a:lnTo>
                    <a:pt x="4064000" y="6289040"/>
                  </a:lnTo>
                  <a:lnTo>
                    <a:pt x="4064000" y="6031230"/>
                  </a:lnTo>
                  <a:close/>
                  <a:moveTo>
                    <a:pt x="4384040" y="5403850"/>
                  </a:moveTo>
                  <a:lnTo>
                    <a:pt x="4114800" y="5403850"/>
                  </a:lnTo>
                  <a:lnTo>
                    <a:pt x="4114800" y="5660390"/>
                  </a:lnTo>
                  <a:lnTo>
                    <a:pt x="4384040" y="5660390"/>
                  </a:lnTo>
                  <a:lnTo>
                    <a:pt x="4384040" y="5403850"/>
                  </a:lnTo>
                  <a:close/>
                  <a:moveTo>
                    <a:pt x="4114800" y="5721350"/>
                  </a:moveTo>
                  <a:lnTo>
                    <a:pt x="4114800" y="5969000"/>
                  </a:lnTo>
                  <a:lnTo>
                    <a:pt x="4384040" y="5969000"/>
                  </a:lnTo>
                  <a:lnTo>
                    <a:pt x="4384040" y="5721350"/>
                  </a:lnTo>
                  <a:lnTo>
                    <a:pt x="4114800" y="5721350"/>
                  </a:lnTo>
                  <a:close/>
                  <a:moveTo>
                    <a:pt x="4384040" y="6031230"/>
                  </a:moveTo>
                  <a:lnTo>
                    <a:pt x="4114800" y="6031230"/>
                  </a:lnTo>
                  <a:lnTo>
                    <a:pt x="4114800" y="6289040"/>
                  </a:lnTo>
                  <a:lnTo>
                    <a:pt x="4384040" y="6289040"/>
                  </a:lnTo>
                  <a:lnTo>
                    <a:pt x="4384040" y="6031230"/>
                  </a:lnTo>
                  <a:close/>
                  <a:moveTo>
                    <a:pt x="4384040" y="5351780"/>
                  </a:moveTo>
                  <a:lnTo>
                    <a:pt x="4384040" y="438150"/>
                  </a:lnTo>
                  <a:lnTo>
                    <a:pt x="4114800" y="438150"/>
                  </a:lnTo>
                  <a:lnTo>
                    <a:pt x="4114800" y="5351780"/>
                  </a:lnTo>
                  <a:lnTo>
                    <a:pt x="4384040" y="5351780"/>
                  </a:lnTo>
                  <a:close/>
                  <a:moveTo>
                    <a:pt x="367030" y="224790"/>
                  </a:moveTo>
                  <a:cubicBezTo>
                    <a:pt x="367030" y="285750"/>
                    <a:pt x="317500" y="335280"/>
                    <a:pt x="256540" y="335280"/>
                  </a:cubicBezTo>
                  <a:cubicBezTo>
                    <a:pt x="195580" y="335280"/>
                    <a:pt x="146050" y="285750"/>
                    <a:pt x="146050" y="224790"/>
                  </a:cubicBezTo>
                  <a:cubicBezTo>
                    <a:pt x="146050" y="163830"/>
                    <a:pt x="195580" y="114300"/>
                    <a:pt x="256540" y="114300"/>
                  </a:cubicBezTo>
                  <a:cubicBezTo>
                    <a:pt x="317500" y="114300"/>
                    <a:pt x="367030" y="163830"/>
                    <a:pt x="367030" y="224790"/>
                  </a:cubicBezTo>
                  <a:close/>
                  <a:moveTo>
                    <a:pt x="316230" y="224790"/>
                  </a:moveTo>
                  <a:cubicBezTo>
                    <a:pt x="316230" y="191770"/>
                    <a:pt x="289560" y="165100"/>
                    <a:pt x="256540" y="165100"/>
                  </a:cubicBezTo>
                  <a:cubicBezTo>
                    <a:pt x="223520" y="165100"/>
                    <a:pt x="196850" y="191770"/>
                    <a:pt x="196850" y="224790"/>
                  </a:cubicBezTo>
                  <a:cubicBezTo>
                    <a:pt x="196850" y="257810"/>
                    <a:pt x="223520" y="284480"/>
                    <a:pt x="256540" y="284480"/>
                  </a:cubicBezTo>
                  <a:cubicBezTo>
                    <a:pt x="289560" y="285750"/>
                    <a:pt x="316230" y="257810"/>
                    <a:pt x="316230" y="224790"/>
                  </a:cubicBezTo>
                  <a:close/>
                  <a:moveTo>
                    <a:pt x="713740" y="224790"/>
                  </a:moveTo>
                  <a:cubicBezTo>
                    <a:pt x="713740" y="285750"/>
                    <a:pt x="664210" y="335280"/>
                    <a:pt x="603250" y="335280"/>
                  </a:cubicBezTo>
                  <a:cubicBezTo>
                    <a:pt x="542290" y="335280"/>
                    <a:pt x="492760" y="285750"/>
                    <a:pt x="492760" y="224790"/>
                  </a:cubicBezTo>
                  <a:cubicBezTo>
                    <a:pt x="492760" y="163830"/>
                    <a:pt x="541020" y="114300"/>
                    <a:pt x="603250" y="114300"/>
                  </a:cubicBezTo>
                  <a:cubicBezTo>
                    <a:pt x="664210" y="114300"/>
                    <a:pt x="713740" y="163830"/>
                    <a:pt x="713740" y="224790"/>
                  </a:cubicBezTo>
                  <a:close/>
                  <a:moveTo>
                    <a:pt x="662940" y="224790"/>
                  </a:moveTo>
                  <a:cubicBezTo>
                    <a:pt x="662940" y="191770"/>
                    <a:pt x="636270" y="165100"/>
                    <a:pt x="603250" y="165100"/>
                  </a:cubicBezTo>
                  <a:cubicBezTo>
                    <a:pt x="570230" y="165100"/>
                    <a:pt x="543560" y="191770"/>
                    <a:pt x="543560" y="224790"/>
                  </a:cubicBezTo>
                  <a:cubicBezTo>
                    <a:pt x="543560" y="257810"/>
                    <a:pt x="570230" y="284480"/>
                    <a:pt x="603250" y="284480"/>
                  </a:cubicBezTo>
                  <a:cubicBezTo>
                    <a:pt x="636270" y="285750"/>
                    <a:pt x="662940" y="257810"/>
                    <a:pt x="662940" y="224790"/>
                  </a:cubicBezTo>
                  <a:close/>
                  <a:moveTo>
                    <a:pt x="1060450" y="224790"/>
                  </a:moveTo>
                  <a:cubicBezTo>
                    <a:pt x="1060450" y="285750"/>
                    <a:pt x="1010920" y="335280"/>
                    <a:pt x="949960" y="335280"/>
                  </a:cubicBezTo>
                  <a:cubicBezTo>
                    <a:pt x="889000" y="335280"/>
                    <a:pt x="839470" y="285750"/>
                    <a:pt x="839470" y="224790"/>
                  </a:cubicBezTo>
                  <a:cubicBezTo>
                    <a:pt x="839470" y="163830"/>
                    <a:pt x="887730" y="114300"/>
                    <a:pt x="948690" y="114300"/>
                  </a:cubicBezTo>
                  <a:cubicBezTo>
                    <a:pt x="1009650" y="114300"/>
                    <a:pt x="1060450" y="163830"/>
                    <a:pt x="1060450" y="224790"/>
                  </a:cubicBezTo>
                  <a:close/>
                  <a:moveTo>
                    <a:pt x="1009650" y="224790"/>
                  </a:moveTo>
                  <a:cubicBezTo>
                    <a:pt x="1009650" y="191770"/>
                    <a:pt x="982980" y="165100"/>
                    <a:pt x="949960" y="165100"/>
                  </a:cubicBezTo>
                  <a:cubicBezTo>
                    <a:pt x="916940" y="165100"/>
                    <a:pt x="890270" y="191770"/>
                    <a:pt x="890270" y="224790"/>
                  </a:cubicBezTo>
                  <a:cubicBezTo>
                    <a:pt x="890270" y="257810"/>
                    <a:pt x="916940" y="284480"/>
                    <a:pt x="949960" y="284480"/>
                  </a:cubicBezTo>
                  <a:cubicBezTo>
                    <a:pt x="981710" y="285750"/>
                    <a:pt x="1009650" y="257810"/>
                    <a:pt x="1009650" y="224790"/>
                  </a:cubicBezTo>
                  <a:close/>
                  <a:moveTo>
                    <a:pt x="1207770" y="304800"/>
                  </a:moveTo>
                  <a:lnTo>
                    <a:pt x="4263390" y="304800"/>
                  </a:lnTo>
                  <a:lnTo>
                    <a:pt x="4263390" y="254000"/>
                  </a:lnTo>
                  <a:lnTo>
                    <a:pt x="1207770" y="254000"/>
                  </a:lnTo>
                  <a:lnTo>
                    <a:pt x="1207770" y="304800"/>
                  </a:lnTo>
                  <a:close/>
                  <a:moveTo>
                    <a:pt x="1207770" y="177800"/>
                  </a:moveTo>
                  <a:lnTo>
                    <a:pt x="4263390" y="177800"/>
                  </a:lnTo>
                  <a:lnTo>
                    <a:pt x="4263390" y="127000"/>
                  </a:lnTo>
                  <a:lnTo>
                    <a:pt x="1207770" y="127000"/>
                  </a:lnTo>
                  <a:lnTo>
                    <a:pt x="1207770" y="177800"/>
                  </a:lnTo>
                  <a:close/>
                </a:path>
              </a:pathLst>
            </a:custGeom>
            <a:solidFill>
              <a:srgbClr val="001E7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37983" y="994600"/>
            <a:ext cx="9808195" cy="2807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68"/>
              </a:lnSpc>
            </a:pPr>
            <a:r>
              <a:rPr lang="en-US" sz="14575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WHAt is tactile</a:t>
            </a:r>
          </a:p>
          <a:p>
            <a:pPr algn="l">
              <a:lnSpc>
                <a:spcPts val="9731"/>
              </a:lnSpc>
            </a:pPr>
            <a:r>
              <a:rPr lang="en-US" sz="12476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virtual Reality?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7983" y="3725839"/>
            <a:ext cx="9639882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24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Tactil</a:t>
            </a:r>
            <a:r>
              <a:rPr lang="en-US" sz="3000" spc="24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e Virtual Reality is an advanced form of Virtual Reality (VR) that integrates the sense of touch into virtual environments.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7983" y="5587957"/>
            <a:ext cx="963988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24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It enables users not only to </a:t>
            </a:r>
            <a:r>
              <a:rPr lang="en-US" sz="3000" spc="24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see and hear but also to feel virtual objects, textures, surfaces, and forces.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7983" y="6911932"/>
            <a:ext cx="9639882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24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It combines haptic technology, sensory f</a:t>
            </a:r>
            <a:r>
              <a:rPr lang="en-US" sz="3000" spc="24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eedback, and physiological measurement techniques to recreate the experience of touch.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42857" t="-3269" r="-6421" b="-154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95132">
            <a:off x="-1502849" y="-2466871"/>
            <a:ext cx="26931805" cy="19128889"/>
          </a:xfrm>
          <a:custGeom>
            <a:avLst/>
            <a:gdLst/>
            <a:ahLst/>
            <a:cxnLst/>
            <a:rect r="r" b="b" t="t" l="l"/>
            <a:pathLst>
              <a:path h="19128889" w="26931805">
                <a:moveTo>
                  <a:pt x="0" y="0"/>
                </a:moveTo>
                <a:lnTo>
                  <a:pt x="26931805" y="0"/>
                </a:lnTo>
                <a:lnTo>
                  <a:pt x="26931805" y="19128889"/>
                </a:lnTo>
                <a:lnTo>
                  <a:pt x="0" y="19128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84383" y="1048709"/>
            <a:ext cx="14915851" cy="135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66"/>
              </a:lnSpc>
            </a:pPr>
            <a:r>
              <a:rPr lang="en-US" sz="7975" spc="135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Augmented Reality  vs </a:t>
            </a:r>
            <a:r>
              <a:rPr lang="en-US" sz="7975" spc="135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Virtual reality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549319" y="2309161"/>
            <a:ext cx="6227206" cy="7392227"/>
          </a:xfrm>
          <a:custGeom>
            <a:avLst/>
            <a:gdLst/>
            <a:ahLst/>
            <a:cxnLst/>
            <a:rect r="r" b="b" t="t" l="l"/>
            <a:pathLst>
              <a:path h="7392227" w="6227206">
                <a:moveTo>
                  <a:pt x="0" y="0"/>
                </a:moveTo>
                <a:lnTo>
                  <a:pt x="6227207" y="0"/>
                </a:lnTo>
                <a:lnTo>
                  <a:pt x="6227207" y="7392228"/>
                </a:lnTo>
                <a:lnTo>
                  <a:pt x="0" y="73922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9590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49912" y="2455848"/>
            <a:ext cx="5951413" cy="49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3572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Foundation Concepts: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9912" y="3355033"/>
            <a:ext cx="8690832" cy="144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sz="3572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Virtual Reality (VR) - Fully computer-generated simulated environment; replaces real world entirely.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9912" y="5283295"/>
            <a:ext cx="8690832" cy="97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sz="3572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Augmented Reality (AR) - Overlays digital information onto the real world.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9912" y="6735306"/>
            <a:ext cx="8690832" cy="144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sz="3572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Tactile VR - Goes beyond sight and sound; adds touch/haptic feedback to VR experiences.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42857" t="-3269" r="-6421" b="-154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95132">
            <a:off x="-1502849" y="-2466871"/>
            <a:ext cx="26931805" cy="19128889"/>
          </a:xfrm>
          <a:custGeom>
            <a:avLst/>
            <a:gdLst/>
            <a:ahLst/>
            <a:cxnLst/>
            <a:rect r="r" b="b" t="t" l="l"/>
            <a:pathLst>
              <a:path h="19128889" w="26931805">
                <a:moveTo>
                  <a:pt x="0" y="0"/>
                </a:moveTo>
                <a:lnTo>
                  <a:pt x="26931805" y="0"/>
                </a:lnTo>
                <a:lnTo>
                  <a:pt x="26931805" y="19128889"/>
                </a:lnTo>
                <a:lnTo>
                  <a:pt x="0" y="19128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68920" y="949647"/>
            <a:ext cx="8852817" cy="135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66"/>
              </a:lnSpc>
            </a:pPr>
            <a:r>
              <a:rPr lang="en-US" sz="7975" spc="135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Types of </a:t>
            </a:r>
            <a:r>
              <a:rPr lang="en-US" sz="7975" spc="135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Virtual Reality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549319" y="2309161"/>
            <a:ext cx="6227206" cy="7392227"/>
          </a:xfrm>
          <a:custGeom>
            <a:avLst/>
            <a:gdLst/>
            <a:ahLst/>
            <a:cxnLst/>
            <a:rect r="r" b="b" t="t" l="l"/>
            <a:pathLst>
              <a:path h="7392227" w="6227206">
                <a:moveTo>
                  <a:pt x="0" y="0"/>
                </a:moveTo>
                <a:lnTo>
                  <a:pt x="6227207" y="0"/>
                </a:lnTo>
                <a:lnTo>
                  <a:pt x="6227207" y="7392228"/>
                </a:lnTo>
                <a:lnTo>
                  <a:pt x="0" y="73922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9590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68920" y="2823440"/>
            <a:ext cx="9524140" cy="105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6"/>
              </a:lnSpc>
            </a:pPr>
            <a:r>
              <a:rPr lang="en-US" sz="3872" spc="3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Non-Immersive VR - Screen-based; limited interaction; no full immersion.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9912" y="4820330"/>
            <a:ext cx="9443148" cy="97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sz="3572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Semi-Immersive VR - Partial 3D experience; large screens or projection systems.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9912" y="6736246"/>
            <a:ext cx="9443148" cy="144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sz="3572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Fully-Immersive VR - Complete sensory experience via head-mounted displays; Tactile VR falls under this category.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42857" t="-3269" r="-6421" b="-154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95132">
            <a:off x="-1502849" y="-2466871"/>
            <a:ext cx="26931805" cy="19128889"/>
          </a:xfrm>
          <a:custGeom>
            <a:avLst/>
            <a:gdLst/>
            <a:ahLst/>
            <a:cxnLst/>
            <a:rect r="r" b="b" t="t" l="l"/>
            <a:pathLst>
              <a:path h="19128889" w="26931805">
                <a:moveTo>
                  <a:pt x="0" y="0"/>
                </a:moveTo>
                <a:lnTo>
                  <a:pt x="26931805" y="0"/>
                </a:lnTo>
                <a:lnTo>
                  <a:pt x="26931805" y="19128889"/>
                </a:lnTo>
                <a:lnTo>
                  <a:pt x="0" y="19128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68920" y="949647"/>
            <a:ext cx="7028160" cy="135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66"/>
              </a:lnSpc>
            </a:pPr>
            <a:r>
              <a:rPr lang="en-US" sz="7975" spc="135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Histo</a:t>
            </a:r>
            <a:r>
              <a:rPr lang="en-US" sz="7975" spc="135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ry &amp; Evolution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549319" y="2309161"/>
            <a:ext cx="6227206" cy="7392227"/>
          </a:xfrm>
          <a:custGeom>
            <a:avLst/>
            <a:gdLst/>
            <a:ahLst/>
            <a:cxnLst/>
            <a:rect r="r" b="b" t="t" l="l"/>
            <a:pathLst>
              <a:path h="7392227" w="6227206">
                <a:moveTo>
                  <a:pt x="0" y="0"/>
                </a:moveTo>
                <a:lnTo>
                  <a:pt x="6227207" y="0"/>
                </a:lnTo>
                <a:lnTo>
                  <a:pt x="6227207" y="7392228"/>
                </a:lnTo>
                <a:lnTo>
                  <a:pt x="0" y="73922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9590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68920" y="2356786"/>
            <a:ext cx="4802566" cy="54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6"/>
              </a:lnSpc>
            </a:pPr>
            <a:r>
              <a:rPr lang="en-US" sz="3872" spc="3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Evolution of Tactile VR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8920" y="3484164"/>
            <a:ext cx="9443148" cy="97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sz="3572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VR evolved from simple visual-only systems toward multi-sensory experiences.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8920" y="5190827"/>
            <a:ext cx="9443148" cy="97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sz="3572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Tactile/haptic feedback was added later to bridge the gap between seeing and feeling.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8920" y="6897490"/>
            <a:ext cx="9443148" cy="144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  <a:r>
              <a:rPr lang="en-US" sz="3572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Research combined neurophysiology, sensors, and display technologies to recreate touch sensations.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42415" t="-4760" r="-6863" b="-1399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589274" y="-4916790"/>
            <a:ext cx="22355665" cy="15878588"/>
          </a:xfrm>
          <a:custGeom>
            <a:avLst/>
            <a:gdLst/>
            <a:ahLst/>
            <a:cxnLst/>
            <a:rect r="r" b="b" t="t" l="l"/>
            <a:pathLst>
              <a:path h="15878588" w="22355665">
                <a:moveTo>
                  <a:pt x="0" y="0"/>
                </a:moveTo>
                <a:lnTo>
                  <a:pt x="22355666" y="0"/>
                </a:lnTo>
                <a:lnTo>
                  <a:pt x="22355666" y="15878588"/>
                </a:lnTo>
                <a:lnTo>
                  <a:pt x="0" y="15878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-4404" r="-11352" b="-694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41669" y="1512600"/>
            <a:ext cx="5828255" cy="7261800"/>
          </a:xfrm>
          <a:custGeom>
            <a:avLst/>
            <a:gdLst/>
            <a:ahLst/>
            <a:cxnLst/>
            <a:rect r="r" b="b" t="t" l="l"/>
            <a:pathLst>
              <a:path h="7261800" w="5828255">
                <a:moveTo>
                  <a:pt x="0" y="0"/>
                </a:moveTo>
                <a:lnTo>
                  <a:pt x="5828255" y="0"/>
                </a:lnTo>
                <a:lnTo>
                  <a:pt x="5828255" y="7261800"/>
                </a:lnTo>
                <a:lnTo>
                  <a:pt x="0" y="7261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76" t="0" r="-357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57250"/>
            <a:ext cx="8503807" cy="142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0"/>
              </a:lnSpc>
            </a:pPr>
            <a:r>
              <a:rPr lang="en-US" sz="8300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Key Definitions &amp; Terms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9843" y="2458624"/>
            <a:ext cx="10305478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H</a:t>
            </a: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ead Mounted Display (HMD) - Wearable device/goggles that place you inside the virtual environment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9843" y="4332910"/>
            <a:ext cx="10305478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H</a:t>
            </a: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aptics - Technology that uses force, vibration, and resistance to recreate the sense of touch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9843" y="5772586"/>
            <a:ext cx="10305478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360°</a:t>
            </a: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 Videos - Full spherical view content that allows looking in any direction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9843" y="7207686"/>
            <a:ext cx="10305478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</a:t>
            </a: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nteractive VR - Virtual environment that responds to user actions in real time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42415" t="-4760" r="-6863" b="-1399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589274" y="-4916790"/>
            <a:ext cx="22355665" cy="15878588"/>
          </a:xfrm>
          <a:custGeom>
            <a:avLst/>
            <a:gdLst/>
            <a:ahLst/>
            <a:cxnLst/>
            <a:rect r="r" b="b" t="t" l="l"/>
            <a:pathLst>
              <a:path h="15878588" w="22355665">
                <a:moveTo>
                  <a:pt x="0" y="0"/>
                </a:moveTo>
                <a:lnTo>
                  <a:pt x="22355666" y="0"/>
                </a:lnTo>
                <a:lnTo>
                  <a:pt x="22355666" y="15878588"/>
                </a:lnTo>
                <a:lnTo>
                  <a:pt x="0" y="15878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-4404" r="-11352" b="-694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41669" y="1512600"/>
            <a:ext cx="5828255" cy="7261800"/>
          </a:xfrm>
          <a:custGeom>
            <a:avLst/>
            <a:gdLst/>
            <a:ahLst/>
            <a:cxnLst/>
            <a:rect r="r" b="b" t="t" l="l"/>
            <a:pathLst>
              <a:path h="7261800" w="5828255">
                <a:moveTo>
                  <a:pt x="0" y="0"/>
                </a:moveTo>
                <a:lnTo>
                  <a:pt x="5828255" y="0"/>
                </a:lnTo>
                <a:lnTo>
                  <a:pt x="5828255" y="7261800"/>
                </a:lnTo>
                <a:lnTo>
                  <a:pt x="0" y="7261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76" t="0" r="-357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57250"/>
            <a:ext cx="8503807" cy="142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0"/>
              </a:lnSpc>
            </a:pPr>
            <a:r>
              <a:rPr lang="en-US" sz="8300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Key Definitions &amp; Terms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9843" y="2458624"/>
            <a:ext cx="10305478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S</a:t>
            </a: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tereoscopy - Technique for creating or enhancing the illusion of depth in an image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9843" y="4115605"/>
            <a:ext cx="10305478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4D</a:t>
            </a: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 Virtual Reality - VR that includes environmental effects beyond 3D (including tactile/touch)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9843" y="5769780"/>
            <a:ext cx="10305478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F</a:t>
            </a: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ield of View (FOV) - The extent of the observable virtual world seen at any given moment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9843" y="7423955"/>
            <a:ext cx="10305478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S</a:t>
            </a: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imulator Sickness - Discomfort, dizziness, or nausea experienced by some VR users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42415" t="-4760" r="-6863" b="-1399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589274" y="-4916790"/>
            <a:ext cx="22355665" cy="15878588"/>
          </a:xfrm>
          <a:custGeom>
            <a:avLst/>
            <a:gdLst/>
            <a:ahLst/>
            <a:cxnLst/>
            <a:rect r="r" b="b" t="t" l="l"/>
            <a:pathLst>
              <a:path h="15878588" w="22355665">
                <a:moveTo>
                  <a:pt x="0" y="0"/>
                </a:moveTo>
                <a:lnTo>
                  <a:pt x="22355666" y="0"/>
                </a:lnTo>
                <a:lnTo>
                  <a:pt x="22355666" y="15878588"/>
                </a:lnTo>
                <a:lnTo>
                  <a:pt x="0" y="15878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-4404" r="-11352" b="-694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41669" y="1512600"/>
            <a:ext cx="5828255" cy="7261800"/>
          </a:xfrm>
          <a:custGeom>
            <a:avLst/>
            <a:gdLst/>
            <a:ahLst/>
            <a:cxnLst/>
            <a:rect r="r" b="b" t="t" l="l"/>
            <a:pathLst>
              <a:path h="7261800" w="5828255">
                <a:moveTo>
                  <a:pt x="0" y="0"/>
                </a:moveTo>
                <a:lnTo>
                  <a:pt x="5828255" y="0"/>
                </a:lnTo>
                <a:lnTo>
                  <a:pt x="5828255" y="7261800"/>
                </a:lnTo>
                <a:lnTo>
                  <a:pt x="0" y="7261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76" t="0" r="-357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57250"/>
            <a:ext cx="8503807" cy="142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0"/>
              </a:lnSpc>
            </a:pPr>
            <a:r>
              <a:rPr lang="en-US" sz="8300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Key Definitions &amp; Terms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9843" y="2458624"/>
            <a:ext cx="10305478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Im</a:t>
            </a: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age/Video Stitching - Combining multiple images into one seamless panoramic view.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9843" y="4114202"/>
            <a:ext cx="10305478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Cave</a:t>
            </a: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 Automatic Virtual Environment (CAVE) - Room-sized VR projection system.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9843" y="5769780"/>
            <a:ext cx="10305478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  <a:spcBef>
                <a:spcPct val="0"/>
              </a:spcBef>
            </a:pP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M</a:t>
            </a: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ixed Reality - Merging real and virtual worlds where physical and digital objects coexist.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42415" t="-4760" r="-6863" b="-1399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2269762" y="7328108"/>
            <a:ext cx="16606576" cy="11795175"/>
          </a:xfrm>
          <a:custGeom>
            <a:avLst/>
            <a:gdLst/>
            <a:ahLst/>
            <a:cxnLst/>
            <a:rect r="r" b="b" t="t" l="l"/>
            <a:pathLst>
              <a:path h="11795175" w="16606576">
                <a:moveTo>
                  <a:pt x="0" y="0"/>
                </a:moveTo>
                <a:lnTo>
                  <a:pt x="16606576" y="0"/>
                </a:lnTo>
                <a:lnTo>
                  <a:pt x="16606576" y="11795175"/>
                </a:lnTo>
                <a:lnTo>
                  <a:pt x="0" y="117951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71988" y="1390650"/>
            <a:ext cx="15043385" cy="86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8100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Neurophysiologic Measurement Techniques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1442656" y="3253864"/>
            <a:ext cx="4596193" cy="3952726"/>
          </a:xfrm>
          <a:custGeom>
            <a:avLst/>
            <a:gdLst/>
            <a:ahLst/>
            <a:cxnLst/>
            <a:rect r="r" b="b" t="t" l="l"/>
            <a:pathLst>
              <a:path h="3952726" w="4596193">
                <a:moveTo>
                  <a:pt x="0" y="0"/>
                </a:moveTo>
                <a:lnTo>
                  <a:pt x="4596194" y="0"/>
                </a:lnTo>
                <a:lnTo>
                  <a:pt x="4596194" y="3952726"/>
                </a:lnTo>
                <a:lnTo>
                  <a:pt x="0" y="3952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14334" y="3657910"/>
            <a:ext cx="396663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500" spc="20" b="true">
                <a:solidFill>
                  <a:srgbClr val="001E7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Electroencephalography (EEG)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3069" y="4702596"/>
            <a:ext cx="4295781" cy="106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490" spc="19" b="true">
                <a:solidFill>
                  <a:srgbClr val="001E7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Measures brain electrical activity; tracks cognitive response to tactile stimuli.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6738578" y="3253864"/>
            <a:ext cx="4596193" cy="3952726"/>
          </a:xfrm>
          <a:custGeom>
            <a:avLst/>
            <a:gdLst/>
            <a:ahLst/>
            <a:cxnLst/>
            <a:rect r="r" b="b" t="t" l="l"/>
            <a:pathLst>
              <a:path h="3952726" w="4596193">
                <a:moveTo>
                  <a:pt x="0" y="0"/>
                </a:moveTo>
                <a:lnTo>
                  <a:pt x="4596194" y="0"/>
                </a:lnTo>
                <a:lnTo>
                  <a:pt x="4596194" y="3952726"/>
                </a:lnTo>
                <a:lnTo>
                  <a:pt x="0" y="3952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053359" y="3657910"/>
            <a:ext cx="396663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500" spc="20" b="true">
                <a:solidFill>
                  <a:srgbClr val="001E7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Magnetoencephalography (MEG)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53359" y="4789487"/>
            <a:ext cx="3966633" cy="10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500" spc="20" b="true">
                <a:solidFill>
                  <a:srgbClr val="001E7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Measures magnetic fields produced by brain activity; higher precision.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12219180" y="3253864"/>
            <a:ext cx="4596193" cy="3952726"/>
          </a:xfrm>
          <a:custGeom>
            <a:avLst/>
            <a:gdLst/>
            <a:ahLst/>
            <a:cxnLst/>
            <a:rect r="r" b="b" t="t" l="l"/>
            <a:pathLst>
              <a:path h="3952726" w="4596193">
                <a:moveTo>
                  <a:pt x="0" y="0"/>
                </a:moveTo>
                <a:lnTo>
                  <a:pt x="4596193" y="0"/>
                </a:lnTo>
                <a:lnTo>
                  <a:pt x="4596193" y="3952726"/>
                </a:lnTo>
                <a:lnTo>
                  <a:pt x="0" y="3952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533960" y="3657910"/>
            <a:ext cx="396663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500" spc="20" b="true">
                <a:solidFill>
                  <a:srgbClr val="001E7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Functional Magnetic Resonance Imaging (fMRI)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33960" y="4789487"/>
            <a:ext cx="3966633" cy="10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500" spc="20" b="true">
                <a:solidFill>
                  <a:srgbClr val="001E7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Detects blood flow changes in the brain; maps which areas respond to touch.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39058" t="-2806" r="-7281" b="-1360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2308915" y="-8391979"/>
            <a:ext cx="19564260" cy="13895933"/>
          </a:xfrm>
          <a:custGeom>
            <a:avLst/>
            <a:gdLst/>
            <a:ahLst/>
            <a:cxnLst/>
            <a:rect r="r" b="b" t="t" l="l"/>
            <a:pathLst>
              <a:path h="13895933" w="19564260">
                <a:moveTo>
                  <a:pt x="0" y="0"/>
                </a:moveTo>
                <a:lnTo>
                  <a:pt x="19564260" y="0"/>
                </a:lnTo>
                <a:lnTo>
                  <a:pt x="19564260" y="13895933"/>
                </a:lnTo>
                <a:lnTo>
                  <a:pt x="0" y="13895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131384"/>
            <a:ext cx="12076925" cy="1742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96"/>
              </a:lnSpc>
            </a:pPr>
            <a:r>
              <a:rPr lang="en-US" sz="13952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Somatosensation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607588">
            <a:off x="-5138635" y="1480492"/>
            <a:ext cx="5567645" cy="4835567"/>
          </a:xfrm>
          <a:custGeom>
            <a:avLst/>
            <a:gdLst/>
            <a:ahLst/>
            <a:cxnLst/>
            <a:rect r="r" b="b" t="t" l="l"/>
            <a:pathLst>
              <a:path h="4835567" w="5567645">
                <a:moveTo>
                  <a:pt x="5567645" y="0"/>
                </a:moveTo>
                <a:lnTo>
                  <a:pt x="0" y="0"/>
                </a:lnTo>
                <a:lnTo>
                  <a:pt x="0" y="4835567"/>
                </a:lnTo>
                <a:lnTo>
                  <a:pt x="5567645" y="4835567"/>
                </a:lnTo>
                <a:lnTo>
                  <a:pt x="556764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33004" y="2010027"/>
            <a:ext cx="5857054" cy="6810528"/>
          </a:xfrm>
          <a:custGeom>
            <a:avLst/>
            <a:gdLst/>
            <a:ahLst/>
            <a:cxnLst/>
            <a:rect r="r" b="b" t="t" l="l"/>
            <a:pathLst>
              <a:path h="6810528" w="5857054">
                <a:moveTo>
                  <a:pt x="0" y="0"/>
                </a:moveTo>
                <a:lnTo>
                  <a:pt x="5857053" y="0"/>
                </a:lnTo>
                <a:lnTo>
                  <a:pt x="5857053" y="6810528"/>
                </a:lnTo>
                <a:lnTo>
                  <a:pt x="0" y="6810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0743" y="2333492"/>
            <a:ext cx="8797723" cy="131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2"/>
              </a:lnSpc>
            </a:pPr>
            <a:r>
              <a:rPr lang="en-US" sz="7659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The Science Behind Touch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0743" y="3917326"/>
            <a:ext cx="10523744" cy="149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Somatosensation - the body's ability to perceive t</a:t>
            </a: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ouch, pressure, temperature, pain, vibration, and position.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6590" y="6276044"/>
            <a:ext cx="10523744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Tactile VR works by recreating signals that the body naturally int</a:t>
            </a: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erprets as "touch."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39058" t="-2806" r="-7281" b="-1360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2308915" y="-8391979"/>
            <a:ext cx="19564260" cy="13895933"/>
          </a:xfrm>
          <a:custGeom>
            <a:avLst/>
            <a:gdLst/>
            <a:ahLst/>
            <a:cxnLst/>
            <a:rect r="r" b="b" t="t" l="l"/>
            <a:pathLst>
              <a:path h="13895933" w="19564260">
                <a:moveTo>
                  <a:pt x="0" y="0"/>
                </a:moveTo>
                <a:lnTo>
                  <a:pt x="19564260" y="0"/>
                </a:lnTo>
                <a:lnTo>
                  <a:pt x="19564260" y="13895933"/>
                </a:lnTo>
                <a:lnTo>
                  <a:pt x="0" y="13895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3125" y="931288"/>
            <a:ext cx="12076925" cy="1078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6"/>
              </a:lnSpc>
            </a:pPr>
            <a:r>
              <a:rPr lang="en-US" sz="8600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Two Types of Somatosensation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607588">
            <a:off x="-5138635" y="1480492"/>
            <a:ext cx="5567645" cy="4835567"/>
          </a:xfrm>
          <a:custGeom>
            <a:avLst/>
            <a:gdLst/>
            <a:ahLst/>
            <a:cxnLst/>
            <a:rect r="r" b="b" t="t" l="l"/>
            <a:pathLst>
              <a:path h="4835567" w="5567645">
                <a:moveTo>
                  <a:pt x="5567645" y="0"/>
                </a:moveTo>
                <a:lnTo>
                  <a:pt x="0" y="0"/>
                </a:lnTo>
                <a:lnTo>
                  <a:pt x="0" y="4835567"/>
                </a:lnTo>
                <a:lnTo>
                  <a:pt x="5567645" y="4835567"/>
                </a:lnTo>
                <a:lnTo>
                  <a:pt x="556764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60050" y="2010027"/>
            <a:ext cx="5699013" cy="6626759"/>
          </a:xfrm>
          <a:custGeom>
            <a:avLst/>
            <a:gdLst/>
            <a:ahLst/>
            <a:cxnLst/>
            <a:rect r="r" b="b" t="t" l="l"/>
            <a:pathLst>
              <a:path h="6626759" w="5699013">
                <a:moveTo>
                  <a:pt x="0" y="0"/>
                </a:moveTo>
                <a:lnTo>
                  <a:pt x="5699012" y="0"/>
                </a:lnTo>
                <a:lnTo>
                  <a:pt x="5699012" y="6626759"/>
                </a:lnTo>
                <a:lnTo>
                  <a:pt x="0" y="6626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0743" y="1599014"/>
            <a:ext cx="8797723" cy="131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2"/>
              </a:lnSpc>
            </a:pPr>
            <a:r>
              <a:rPr lang="en-US" sz="7659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1. Active Somatosensation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2130" y="2926726"/>
            <a:ext cx="11538915" cy="248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9" indent="-377824" lvl="1">
              <a:lnSpc>
                <a:spcPts val="395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User initiates contact — reaching out, t</a:t>
            </a: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ouching, grasping virtual objects.</a:t>
            </a:r>
          </a:p>
          <a:p>
            <a:pPr algn="just" marL="755649" indent="-377824" lvl="1">
              <a:lnSpc>
                <a:spcPts val="395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Brain interprets what is felt based on movement + sensory feedback.</a:t>
            </a:r>
          </a:p>
          <a:p>
            <a:pPr algn="just">
              <a:lnSpc>
                <a:spcPts val="3954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39478" y="6420789"/>
            <a:ext cx="11122261" cy="248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9" indent="-377824" lvl="1">
              <a:lnSpc>
                <a:spcPts val="3954"/>
              </a:lnSpc>
              <a:buFont typeface="Arial"/>
              <a:buChar char="•"/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Something contacts the user — virtual object pushes, presses, or touches the user.</a:t>
            </a:r>
          </a:p>
          <a:p>
            <a:pPr algn="just" marL="755649" indent="-377824" lvl="1">
              <a:lnSpc>
                <a:spcPts val="395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Body receives sensation without initiating mov</a:t>
            </a: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ement.</a:t>
            </a:r>
          </a:p>
          <a:p>
            <a:pPr algn="just">
              <a:lnSpc>
                <a:spcPts val="395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18897" y="4991100"/>
            <a:ext cx="9544827" cy="131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2"/>
              </a:lnSpc>
            </a:pPr>
            <a:r>
              <a:rPr lang="en-US" sz="7659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2. Passive Somatosensation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39058" t="-2806" r="-7281" b="-1360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2308915" y="-8391979"/>
            <a:ext cx="19564260" cy="13895933"/>
          </a:xfrm>
          <a:custGeom>
            <a:avLst/>
            <a:gdLst/>
            <a:ahLst/>
            <a:cxnLst/>
            <a:rect r="r" b="b" t="t" l="l"/>
            <a:pathLst>
              <a:path h="13895933" w="19564260">
                <a:moveTo>
                  <a:pt x="0" y="0"/>
                </a:moveTo>
                <a:lnTo>
                  <a:pt x="19564260" y="0"/>
                </a:lnTo>
                <a:lnTo>
                  <a:pt x="19564260" y="13895933"/>
                </a:lnTo>
                <a:lnTo>
                  <a:pt x="0" y="13895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75088" y="1257300"/>
            <a:ext cx="12076925" cy="1078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6"/>
              </a:lnSpc>
            </a:pPr>
            <a:r>
              <a:rPr lang="en-US" sz="8600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How Tactile VR Works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7032" y="3089004"/>
            <a:ext cx="7409725" cy="122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2"/>
              </a:lnSpc>
              <a:spcBef>
                <a:spcPct val="0"/>
              </a:spcBef>
            </a:pPr>
            <a:r>
              <a:rPr lang="en-US" sz="3508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U</a:t>
            </a:r>
            <a:r>
              <a:rPr lang="en-US" sz="3508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ser interacts with virtual environment via HMD and haptic devices.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58285" y="3147275"/>
            <a:ext cx="7409725" cy="122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2"/>
              </a:lnSpc>
              <a:spcBef>
                <a:spcPct val="0"/>
              </a:spcBef>
            </a:pPr>
            <a:r>
              <a:rPr lang="en-US" sz="3508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Sy</a:t>
            </a:r>
            <a:r>
              <a:rPr lang="en-US" sz="3508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stem tracks position, movement, and contact points.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7032" y="5067300"/>
            <a:ext cx="7409725" cy="122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2"/>
              </a:lnSpc>
              <a:spcBef>
                <a:spcPct val="0"/>
              </a:spcBef>
            </a:pPr>
            <a:r>
              <a:rPr lang="en-US" sz="3508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Hap</a:t>
            </a:r>
            <a:r>
              <a:rPr lang="en-US" sz="3508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tic feedback generated - force, vibration, texture, temperature signals.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58285" y="5067300"/>
            <a:ext cx="7409725" cy="122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2"/>
              </a:lnSpc>
              <a:spcBef>
                <a:spcPct val="0"/>
              </a:spcBef>
            </a:pPr>
            <a:r>
              <a:rPr lang="en-US" sz="3508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User</a:t>
            </a:r>
            <a:r>
              <a:rPr lang="en-US" sz="3508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 feels the sensation through gloves, controllers, or body suits.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72198" y="6850728"/>
            <a:ext cx="7682705" cy="122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2"/>
              </a:lnSpc>
              <a:spcBef>
                <a:spcPct val="0"/>
              </a:spcBef>
            </a:pPr>
            <a:r>
              <a:rPr lang="en-US" sz="3508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Brain</a:t>
            </a:r>
            <a:r>
              <a:rPr lang="en-US" sz="3508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 accepts the combined sight + sound + touch as a realistic experience.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39058" t="-2806" r="-7281" b="-1360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2308915" y="-8391979"/>
            <a:ext cx="19564260" cy="13895933"/>
          </a:xfrm>
          <a:custGeom>
            <a:avLst/>
            <a:gdLst/>
            <a:ahLst/>
            <a:cxnLst/>
            <a:rect r="r" b="b" t="t" l="l"/>
            <a:pathLst>
              <a:path h="13895933" w="19564260">
                <a:moveTo>
                  <a:pt x="0" y="0"/>
                </a:moveTo>
                <a:lnTo>
                  <a:pt x="19564260" y="0"/>
                </a:lnTo>
                <a:lnTo>
                  <a:pt x="19564260" y="13895933"/>
                </a:lnTo>
                <a:lnTo>
                  <a:pt x="0" y="13895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201143" y="1257300"/>
            <a:ext cx="12076925" cy="1078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6"/>
              </a:lnSpc>
            </a:pPr>
            <a:r>
              <a:rPr lang="en-US" sz="8600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Core Enabling Technologies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607588">
            <a:off x="-5138635" y="1480492"/>
            <a:ext cx="5567645" cy="4835567"/>
          </a:xfrm>
          <a:custGeom>
            <a:avLst/>
            <a:gdLst/>
            <a:ahLst/>
            <a:cxnLst/>
            <a:rect r="r" b="b" t="t" l="l"/>
            <a:pathLst>
              <a:path h="4835567" w="5567645">
                <a:moveTo>
                  <a:pt x="5567645" y="0"/>
                </a:moveTo>
                <a:lnTo>
                  <a:pt x="0" y="0"/>
                </a:lnTo>
                <a:lnTo>
                  <a:pt x="0" y="4835567"/>
                </a:lnTo>
                <a:lnTo>
                  <a:pt x="5567645" y="4835567"/>
                </a:lnTo>
                <a:lnTo>
                  <a:pt x="556764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85347" y="1804539"/>
            <a:ext cx="5718136" cy="6535012"/>
          </a:xfrm>
          <a:custGeom>
            <a:avLst/>
            <a:gdLst/>
            <a:ahLst/>
            <a:cxnLst/>
            <a:rect r="r" b="b" t="t" l="l"/>
            <a:pathLst>
              <a:path h="6535012" w="5718136">
                <a:moveTo>
                  <a:pt x="0" y="0"/>
                </a:moveTo>
                <a:lnTo>
                  <a:pt x="5718136" y="0"/>
                </a:lnTo>
                <a:lnTo>
                  <a:pt x="5718136" y="6535012"/>
                </a:lnTo>
                <a:lnTo>
                  <a:pt x="0" y="653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6590" y="2895611"/>
            <a:ext cx="10150193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Haptic feedback devices - gloves, c</a:t>
            </a: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ontrollers, actuators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2223" y="5765186"/>
            <a:ext cx="10523744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Motion tracking systems - detect position and movement in 3D </a:t>
            </a: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space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223" y="4312340"/>
            <a:ext cx="10150193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Sensory sensors - pressure, vibrati</a:t>
            </a: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on, temperature detectors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6590" y="7336886"/>
            <a:ext cx="10523744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High-speed processing — renders visuals + calculates touch feedback in real tim</a:t>
            </a: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39058" t="-2806" r="-7281" b="-1360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2308915" y="-8391979"/>
            <a:ext cx="19564260" cy="13895933"/>
          </a:xfrm>
          <a:custGeom>
            <a:avLst/>
            <a:gdLst/>
            <a:ahLst/>
            <a:cxnLst/>
            <a:rect r="r" b="b" t="t" l="l"/>
            <a:pathLst>
              <a:path h="13895933" w="19564260">
                <a:moveTo>
                  <a:pt x="0" y="0"/>
                </a:moveTo>
                <a:lnTo>
                  <a:pt x="19564260" y="0"/>
                </a:lnTo>
                <a:lnTo>
                  <a:pt x="19564260" y="13895933"/>
                </a:lnTo>
                <a:lnTo>
                  <a:pt x="0" y="13895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2223" y="1070524"/>
            <a:ext cx="11480202" cy="206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6"/>
              </a:lnSpc>
            </a:pPr>
            <a:r>
              <a:rPr lang="en-US" sz="8600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Real-World Applications: Video Games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607588">
            <a:off x="-5138635" y="1480492"/>
            <a:ext cx="5567645" cy="4835567"/>
          </a:xfrm>
          <a:custGeom>
            <a:avLst/>
            <a:gdLst/>
            <a:ahLst/>
            <a:cxnLst/>
            <a:rect r="r" b="b" t="t" l="l"/>
            <a:pathLst>
              <a:path h="4835567" w="5567645">
                <a:moveTo>
                  <a:pt x="5567645" y="0"/>
                </a:moveTo>
                <a:lnTo>
                  <a:pt x="0" y="0"/>
                </a:lnTo>
                <a:lnTo>
                  <a:pt x="0" y="4835567"/>
                </a:lnTo>
                <a:lnTo>
                  <a:pt x="5567645" y="4835567"/>
                </a:lnTo>
                <a:lnTo>
                  <a:pt x="556764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85347" y="1804539"/>
            <a:ext cx="5718136" cy="6535012"/>
          </a:xfrm>
          <a:custGeom>
            <a:avLst/>
            <a:gdLst/>
            <a:ahLst/>
            <a:cxnLst/>
            <a:rect r="r" b="b" t="t" l="l"/>
            <a:pathLst>
              <a:path h="6535012" w="5718136">
                <a:moveTo>
                  <a:pt x="0" y="0"/>
                </a:moveTo>
                <a:lnTo>
                  <a:pt x="5718136" y="0"/>
                </a:lnTo>
                <a:lnTo>
                  <a:pt x="5718136" y="6535012"/>
                </a:lnTo>
                <a:lnTo>
                  <a:pt x="0" y="653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2223" y="3158913"/>
            <a:ext cx="10150193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Feel weapon recoil, impacts, tex</a:t>
            </a: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tures, and surface resistance.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2223" y="4580237"/>
            <a:ext cx="10150193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Interact physically with game environments - feel water, fire, fabric</a:t>
            </a: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, metal.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0743" y="6002002"/>
            <a:ext cx="10523744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Immersion level drastically increases compared to visual-only VR.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39058" t="-2806" r="-7281" b="-1360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2308915" y="-8391979"/>
            <a:ext cx="19564260" cy="13895933"/>
          </a:xfrm>
          <a:custGeom>
            <a:avLst/>
            <a:gdLst/>
            <a:ahLst/>
            <a:cxnLst/>
            <a:rect r="r" b="b" t="t" l="l"/>
            <a:pathLst>
              <a:path h="13895933" w="19564260">
                <a:moveTo>
                  <a:pt x="0" y="0"/>
                </a:moveTo>
                <a:lnTo>
                  <a:pt x="19564260" y="0"/>
                </a:lnTo>
                <a:lnTo>
                  <a:pt x="19564260" y="13895933"/>
                </a:lnTo>
                <a:lnTo>
                  <a:pt x="0" y="13895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2223" y="1070524"/>
            <a:ext cx="11480202" cy="206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6"/>
              </a:lnSpc>
            </a:pPr>
            <a:r>
              <a:rPr lang="en-US" sz="8600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Applications: Education &amp; Training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607588">
            <a:off x="-5138635" y="1480492"/>
            <a:ext cx="5567645" cy="4835567"/>
          </a:xfrm>
          <a:custGeom>
            <a:avLst/>
            <a:gdLst/>
            <a:ahLst/>
            <a:cxnLst/>
            <a:rect r="r" b="b" t="t" l="l"/>
            <a:pathLst>
              <a:path h="4835567" w="5567645">
                <a:moveTo>
                  <a:pt x="5567645" y="0"/>
                </a:moveTo>
                <a:lnTo>
                  <a:pt x="0" y="0"/>
                </a:lnTo>
                <a:lnTo>
                  <a:pt x="0" y="4835567"/>
                </a:lnTo>
                <a:lnTo>
                  <a:pt x="5567645" y="4835567"/>
                </a:lnTo>
                <a:lnTo>
                  <a:pt x="556764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85347" y="1804539"/>
            <a:ext cx="5718136" cy="6535012"/>
          </a:xfrm>
          <a:custGeom>
            <a:avLst/>
            <a:gdLst/>
            <a:ahLst/>
            <a:cxnLst/>
            <a:rect r="r" b="b" t="t" l="l"/>
            <a:pathLst>
              <a:path h="6535012" w="5718136">
                <a:moveTo>
                  <a:pt x="0" y="0"/>
                </a:moveTo>
                <a:lnTo>
                  <a:pt x="5718136" y="0"/>
                </a:lnTo>
                <a:lnTo>
                  <a:pt x="5718136" y="6535012"/>
                </a:lnTo>
                <a:lnTo>
                  <a:pt x="0" y="653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2223" y="3158913"/>
            <a:ext cx="10150193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Medical training - practice proced</a:t>
            </a: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ures, feel tissue resistance without risk.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2223" y="4580237"/>
            <a:ext cx="10150193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Engineering &amp; maintenance - learn to handle machinery; feel parts and conn</a:t>
            </a: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ections virtually.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0743" y="6002002"/>
            <a:ext cx="10523744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Dangerous environments - train for hazardous situations safely.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39058" t="-2806" r="-7281" b="-1360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2308915" y="-8391979"/>
            <a:ext cx="19564260" cy="13895933"/>
          </a:xfrm>
          <a:custGeom>
            <a:avLst/>
            <a:gdLst/>
            <a:ahLst/>
            <a:cxnLst/>
            <a:rect r="r" b="b" t="t" l="l"/>
            <a:pathLst>
              <a:path h="13895933" w="19564260">
                <a:moveTo>
                  <a:pt x="0" y="0"/>
                </a:moveTo>
                <a:lnTo>
                  <a:pt x="19564260" y="0"/>
                </a:lnTo>
                <a:lnTo>
                  <a:pt x="19564260" y="13895933"/>
                </a:lnTo>
                <a:lnTo>
                  <a:pt x="0" y="13895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2223" y="1070524"/>
            <a:ext cx="11480202" cy="206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6"/>
              </a:lnSpc>
            </a:pPr>
            <a:r>
              <a:rPr lang="en-US" sz="8600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 Applications: Product Development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607588">
            <a:off x="-5138635" y="1480492"/>
            <a:ext cx="5567645" cy="4835567"/>
          </a:xfrm>
          <a:custGeom>
            <a:avLst/>
            <a:gdLst/>
            <a:ahLst/>
            <a:cxnLst/>
            <a:rect r="r" b="b" t="t" l="l"/>
            <a:pathLst>
              <a:path h="4835567" w="5567645">
                <a:moveTo>
                  <a:pt x="5567645" y="0"/>
                </a:moveTo>
                <a:lnTo>
                  <a:pt x="0" y="0"/>
                </a:lnTo>
                <a:lnTo>
                  <a:pt x="0" y="4835567"/>
                </a:lnTo>
                <a:lnTo>
                  <a:pt x="5567645" y="4835567"/>
                </a:lnTo>
                <a:lnTo>
                  <a:pt x="556764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85347" y="1804539"/>
            <a:ext cx="5718136" cy="6535012"/>
          </a:xfrm>
          <a:custGeom>
            <a:avLst/>
            <a:gdLst/>
            <a:ahLst/>
            <a:cxnLst/>
            <a:rect r="r" b="b" t="t" l="l"/>
            <a:pathLst>
              <a:path h="6535012" w="5718136">
                <a:moveTo>
                  <a:pt x="0" y="0"/>
                </a:moveTo>
                <a:lnTo>
                  <a:pt x="5718136" y="0"/>
                </a:lnTo>
                <a:lnTo>
                  <a:pt x="5718136" y="6535012"/>
                </a:lnTo>
                <a:lnTo>
                  <a:pt x="0" y="653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2223" y="3158913"/>
            <a:ext cx="10150193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Prototype virtually — feel and test prod</a:t>
            </a: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uct designs before physical manufacturing.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2223" y="4404042"/>
            <a:ext cx="10150193" cy="149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Test ergonomics, shape, surface texture, and grip digitally.</a:t>
            </a:r>
          </a:p>
          <a:p>
            <a:pPr algn="just">
              <a:lnSpc>
                <a:spcPts val="3954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62223" y="5657850"/>
            <a:ext cx="10150193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Saves cost, time, and materials in design process.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39058" t="-2806" r="-7281" b="-1360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07765" y="841924"/>
            <a:ext cx="6998575" cy="1336092"/>
          </a:xfrm>
          <a:custGeom>
            <a:avLst/>
            <a:gdLst/>
            <a:ahLst/>
            <a:cxnLst/>
            <a:rect r="r" b="b" t="t" l="l"/>
            <a:pathLst>
              <a:path h="1336092" w="6998575">
                <a:moveTo>
                  <a:pt x="0" y="0"/>
                </a:moveTo>
                <a:lnTo>
                  <a:pt x="6998575" y="0"/>
                </a:lnTo>
                <a:lnTo>
                  <a:pt x="6998575" y="1336092"/>
                </a:lnTo>
                <a:lnTo>
                  <a:pt x="0" y="1336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168330" y="8361373"/>
            <a:ext cx="34149427" cy="15111121"/>
          </a:xfrm>
          <a:custGeom>
            <a:avLst/>
            <a:gdLst/>
            <a:ahLst/>
            <a:cxnLst/>
            <a:rect r="r" b="b" t="t" l="l"/>
            <a:pathLst>
              <a:path h="15111121" w="34149427">
                <a:moveTo>
                  <a:pt x="0" y="0"/>
                </a:moveTo>
                <a:lnTo>
                  <a:pt x="34149427" y="0"/>
                </a:lnTo>
                <a:lnTo>
                  <a:pt x="34149427" y="15111121"/>
                </a:lnTo>
                <a:lnTo>
                  <a:pt x="0" y="151111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10051" y="849570"/>
            <a:ext cx="4758765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spc="248">
                <a:solidFill>
                  <a:srgbClr val="232E54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Advantages of Tactile VR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2940" y="2553662"/>
            <a:ext cx="6998575" cy="189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dds the missing sense - Touch completes the human sensory experience in VR.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06384" y="2553662"/>
            <a:ext cx="6998575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Mor</a:t>
            </a: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e immersive &amp; realistic - Sight + Sound + Touch = deeper immersion.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940" y="4824422"/>
            <a:ext cx="6510084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Safer training - Practice high-risk tasks virtually first.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51298" y="4833947"/>
            <a:ext cx="6510084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Enh</a:t>
            </a: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anced learning - Hands-on experience improves knowledge retention.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29888" y="7145348"/>
            <a:ext cx="6754330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New w</a:t>
            </a: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ays to create &amp; design - Feel your ideas before building them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39058" t="-2806" r="-7281" b="-1360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07765" y="841924"/>
            <a:ext cx="6998575" cy="1336092"/>
          </a:xfrm>
          <a:custGeom>
            <a:avLst/>
            <a:gdLst/>
            <a:ahLst/>
            <a:cxnLst/>
            <a:rect r="r" b="b" t="t" l="l"/>
            <a:pathLst>
              <a:path h="1336092" w="6998575">
                <a:moveTo>
                  <a:pt x="0" y="0"/>
                </a:moveTo>
                <a:lnTo>
                  <a:pt x="6998575" y="0"/>
                </a:lnTo>
                <a:lnTo>
                  <a:pt x="6998575" y="1336092"/>
                </a:lnTo>
                <a:lnTo>
                  <a:pt x="0" y="1336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168330" y="8361373"/>
            <a:ext cx="34149427" cy="15111121"/>
          </a:xfrm>
          <a:custGeom>
            <a:avLst/>
            <a:gdLst/>
            <a:ahLst/>
            <a:cxnLst/>
            <a:rect r="r" b="b" t="t" l="l"/>
            <a:pathLst>
              <a:path h="15111121" w="34149427">
                <a:moveTo>
                  <a:pt x="0" y="0"/>
                </a:moveTo>
                <a:lnTo>
                  <a:pt x="34149427" y="0"/>
                </a:lnTo>
                <a:lnTo>
                  <a:pt x="34149427" y="15111121"/>
                </a:lnTo>
                <a:lnTo>
                  <a:pt x="0" y="151111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10051" y="849570"/>
            <a:ext cx="4758765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spc="248">
                <a:solidFill>
                  <a:srgbClr val="232E54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Challenges &amp; Limitations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2940" y="2553662"/>
            <a:ext cx="6998575" cy="189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Simula</a:t>
            </a: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tor Sickness — Some users experience dizziness, eye strain, or nausea.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50057" y="2553662"/>
            <a:ext cx="6998575" cy="189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Compl</a:t>
            </a: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ex Technology — Requires integration of displays, sensors, haptics, and tracking.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940" y="4824422"/>
            <a:ext cx="6510084" cy="189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H</a:t>
            </a: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ardware Constraints — Current devices are bulky, heavy, or expensive.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50057" y="4833947"/>
            <a:ext cx="6510084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Not Perfe</a:t>
            </a:r>
            <a:r>
              <a:rPr lang="en-US" sz="3499" spc="2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ct Yet — Recreating every texture and sensation with 100% realism remains a challenge.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39058" t="-2806" r="-7281" b="-1360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07765" y="841924"/>
            <a:ext cx="6998575" cy="1336092"/>
          </a:xfrm>
          <a:custGeom>
            <a:avLst/>
            <a:gdLst/>
            <a:ahLst/>
            <a:cxnLst/>
            <a:rect r="r" b="b" t="t" l="l"/>
            <a:pathLst>
              <a:path h="1336092" w="6998575">
                <a:moveTo>
                  <a:pt x="0" y="0"/>
                </a:moveTo>
                <a:lnTo>
                  <a:pt x="6998575" y="0"/>
                </a:lnTo>
                <a:lnTo>
                  <a:pt x="6998575" y="1336092"/>
                </a:lnTo>
                <a:lnTo>
                  <a:pt x="0" y="1336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168330" y="8361373"/>
            <a:ext cx="34149427" cy="15111121"/>
          </a:xfrm>
          <a:custGeom>
            <a:avLst/>
            <a:gdLst/>
            <a:ahLst/>
            <a:cxnLst/>
            <a:rect r="r" b="b" t="t" l="l"/>
            <a:pathLst>
              <a:path h="15111121" w="34149427">
                <a:moveTo>
                  <a:pt x="0" y="0"/>
                </a:moveTo>
                <a:lnTo>
                  <a:pt x="34149427" y="0"/>
                </a:lnTo>
                <a:lnTo>
                  <a:pt x="34149427" y="15111121"/>
                </a:lnTo>
                <a:lnTo>
                  <a:pt x="0" y="151111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95684" y="1159132"/>
            <a:ext cx="4758765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 spc="248">
                <a:solidFill>
                  <a:srgbClr val="232E54"/>
                </a:solidFill>
                <a:latin typeface="Tek Tall Arabic Bold"/>
                <a:ea typeface="Tek Tall Arabic Bold"/>
                <a:cs typeface="Tek Tall Arabic Bold"/>
                <a:sym typeface="Tek Tall Arabic Bold"/>
              </a:rPr>
              <a:t>Technical Challenges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8477" y="3168161"/>
            <a:ext cx="6998575" cy="189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Accurately recrea</a:t>
            </a: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ting all texture types (rough, smooth, soft, hard, sticky).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3168161"/>
            <a:ext cx="6998575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Simulati</a:t>
            </a: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ng temperature changes and heat transfer.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52010" y="5419417"/>
            <a:ext cx="6510084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L</a:t>
            </a:r>
            <a:r>
              <a:rPr lang="en-US" sz="3599" spc="2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atency — feedback must be instant; delay breaks realism.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39058" t="-2806" r="-7281" b="-1360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2308915" y="-8257133"/>
            <a:ext cx="19564260" cy="13895933"/>
          </a:xfrm>
          <a:custGeom>
            <a:avLst/>
            <a:gdLst/>
            <a:ahLst/>
            <a:cxnLst/>
            <a:rect r="r" b="b" t="t" l="l"/>
            <a:pathLst>
              <a:path h="13895933" w="19564260">
                <a:moveTo>
                  <a:pt x="0" y="0"/>
                </a:moveTo>
                <a:lnTo>
                  <a:pt x="19564260" y="0"/>
                </a:lnTo>
                <a:lnTo>
                  <a:pt x="19564260" y="13895933"/>
                </a:lnTo>
                <a:lnTo>
                  <a:pt x="0" y="13895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607588">
            <a:off x="-5138635" y="1480492"/>
            <a:ext cx="5567645" cy="4835567"/>
          </a:xfrm>
          <a:custGeom>
            <a:avLst/>
            <a:gdLst/>
            <a:ahLst/>
            <a:cxnLst/>
            <a:rect r="r" b="b" t="t" l="l"/>
            <a:pathLst>
              <a:path h="4835567" w="5567645">
                <a:moveTo>
                  <a:pt x="5567645" y="0"/>
                </a:moveTo>
                <a:lnTo>
                  <a:pt x="0" y="0"/>
                </a:lnTo>
                <a:lnTo>
                  <a:pt x="0" y="4835567"/>
                </a:lnTo>
                <a:lnTo>
                  <a:pt x="5567645" y="4835567"/>
                </a:lnTo>
                <a:lnTo>
                  <a:pt x="556764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48997" y="1574799"/>
            <a:ext cx="5210303" cy="7137402"/>
          </a:xfrm>
          <a:custGeom>
            <a:avLst/>
            <a:gdLst/>
            <a:ahLst/>
            <a:cxnLst/>
            <a:rect r="r" b="b" t="t" l="l"/>
            <a:pathLst>
              <a:path h="7137402" w="5210303">
                <a:moveTo>
                  <a:pt x="0" y="0"/>
                </a:moveTo>
                <a:lnTo>
                  <a:pt x="5210303" y="0"/>
                </a:lnTo>
                <a:lnTo>
                  <a:pt x="5210303" y="7137402"/>
                </a:lnTo>
                <a:lnTo>
                  <a:pt x="0" y="71374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2223" y="1070524"/>
            <a:ext cx="11480202" cy="206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6"/>
              </a:lnSpc>
            </a:pPr>
            <a:r>
              <a:rPr lang="en-US" sz="8600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Tactile VR &amp; Cybersecurity Connection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2223" y="3158913"/>
            <a:ext cx="8799659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Tactile VR expands </a:t>
            </a: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the cyber attack surface.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2223" y="4160732"/>
            <a:ext cx="10150193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Haptic devices, sensors, and connected systems create new security risks.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223" y="5657850"/>
            <a:ext cx="10150193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If tactile signals can be manipulated remotely - fake sensations could be forced on users.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2223" y="7263151"/>
            <a:ext cx="10150193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Securing VR/haptic infrastructure is critical as technology advances.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39058" t="-2806" r="-7281" b="-1360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2460295" y="-8257133"/>
            <a:ext cx="19564260" cy="13895933"/>
          </a:xfrm>
          <a:custGeom>
            <a:avLst/>
            <a:gdLst/>
            <a:ahLst/>
            <a:cxnLst/>
            <a:rect r="r" b="b" t="t" l="l"/>
            <a:pathLst>
              <a:path h="13895933" w="19564260">
                <a:moveTo>
                  <a:pt x="0" y="0"/>
                </a:moveTo>
                <a:lnTo>
                  <a:pt x="19564260" y="0"/>
                </a:lnTo>
                <a:lnTo>
                  <a:pt x="19564260" y="13895933"/>
                </a:lnTo>
                <a:lnTo>
                  <a:pt x="0" y="13895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607588">
            <a:off x="-5138635" y="1480492"/>
            <a:ext cx="5567645" cy="4835567"/>
          </a:xfrm>
          <a:custGeom>
            <a:avLst/>
            <a:gdLst/>
            <a:ahLst/>
            <a:cxnLst/>
            <a:rect r="r" b="b" t="t" l="l"/>
            <a:pathLst>
              <a:path h="4835567" w="5567645">
                <a:moveTo>
                  <a:pt x="5567645" y="0"/>
                </a:moveTo>
                <a:lnTo>
                  <a:pt x="0" y="0"/>
                </a:lnTo>
                <a:lnTo>
                  <a:pt x="0" y="4835567"/>
                </a:lnTo>
                <a:lnTo>
                  <a:pt x="5567645" y="4835567"/>
                </a:lnTo>
                <a:lnTo>
                  <a:pt x="556764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48997" y="1574799"/>
            <a:ext cx="5210303" cy="7137402"/>
          </a:xfrm>
          <a:custGeom>
            <a:avLst/>
            <a:gdLst/>
            <a:ahLst/>
            <a:cxnLst/>
            <a:rect r="r" b="b" t="t" l="l"/>
            <a:pathLst>
              <a:path h="7137402" w="5210303">
                <a:moveTo>
                  <a:pt x="0" y="0"/>
                </a:moveTo>
                <a:lnTo>
                  <a:pt x="5210303" y="0"/>
                </a:lnTo>
                <a:lnTo>
                  <a:pt x="5210303" y="7137402"/>
                </a:lnTo>
                <a:lnTo>
                  <a:pt x="0" y="71374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2223" y="1070524"/>
            <a:ext cx="11480202" cy="1078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6"/>
              </a:lnSpc>
            </a:pPr>
            <a:r>
              <a:rPr lang="en-US" sz="8600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Future of Tactile VR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2223" y="3158913"/>
            <a:ext cx="8799659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Lighter, wireless haptic gear - mor</a:t>
            </a: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 comfortable, less restrictive.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2223" y="4408382"/>
            <a:ext cx="10150193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Higher realism - finer textures, precise temperature, realistic force feedback.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223" y="5657850"/>
            <a:ext cx="10150193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Wider adoption - medicine, education, entertainment, engineering.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2223" y="7015501"/>
            <a:ext cx="10150193" cy="149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  <a:spcBef>
                <a:spcPct val="0"/>
              </a:spcBef>
            </a:pPr>
            <a:r>
              <a:rPr lang="en-US" b="true" sz="3499" spc="27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Securing VR/Integration with other tech - AI, IoT, 5G/6G for remote tactile experiences.haptic infrastructure is critical as technology advances.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42415" t="-4760" r="-6863" b="-1399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439764" y="0"/>
            <a:ext cx="22355665" cy="15878588"/>
          </a:xfrm>
          <a:custGeom>
            <a:avLst/>
            <a:gdLst/>
            <a:ahLst/>
            <a:cxnLst/>
            <a:rect r="r" b="b" t="t" l="l"/>
            <a:pathLst>
              <a:path h="15878588" w="22355665">
                <a:moveTo>
                  <a:pt x="0" y="0"/>
                </a:moveTo>
                <a:lnTo>
                  <a:pt x="22355665" y="0"/>
                </a:lnTo>
                <a:lnTo>
                  <a:pt x="22355665" y="15878588"/>
                </a:lnTo>
                <a:lnTo>
                  <a:pt x="0" y="15878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82702" y="676574"/>
            <a:ext cx="14322596" cy="258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39"/>
              </a:lnSpc>
            </a:pPr>
            <a:r>
              <a:rPr lang="en-US" sz="15099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References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91013" y="3656647"/>
            <a:ext cx="12905974" cy="289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spc="26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Thak</a:t>
            </a:r>
            <a:r>
              <a:rPr lang="en-US" sz="3300" spc="26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ur, K., Pathan, A.S.K., &amp; Ismat, S. (2023).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spc="26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Emerging ICT Technologies and Cybersecurity: From AI and ML to Other Futuristic Technologies.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spc="26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 Springer Nature Switzerland AG.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spc="26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Tactile Virtual Reality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16" t="-8164" r="-1723" b="-169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66553">
            <a:off x="-5268182" y="-772916"/>
            <a:ext cx="25077868" cy="17812091"/>
          </a:xfrm>
          <a:custGeom>
            <a:avLst/>
            <a:gdLst/>
            <a:ahLst/>
            <a:cxnLst/>
            <a:rect r="r" b="b" t="t" l="l"/>
            <a:pathLst>
              <a:path h="17812091" w="25077868">
                <a:moveTo>
                  <a:pt x="0" y="0"/>
                </a:moveTo>
                <a:lnTo>
                  <a:pt x="25077868" y="0"/>
                </a:lnTo>
                <a:lnTo>
                  <a:pt x="25077868" y="17812090"/>
                </a:lnTo>
                <a:lnTo>
                  <a:pt x="0" y="178120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34838" y="2505072"/>
            <a:ext cx="9730712" cy="5498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51"/>
              </a:lnSpc>
            </a:pPr>
            <a:r>
              <a:rPr lang="en-US" sz="27468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Thank</a:t>
            </a:r>
          </a:p>
          <a:p>
            <a:pPr algn="l">
              <a:lnSpc>
                <a:spcPts val="20051"/>
              </a:lnSpc>
            </a:pPr>
            <a:r>
              <a:rPr lang="en-US" sz="27468">
                <a:solidFill>
                  <a:srgbClr val="FFFFFF"/>
                </a:solidFill>
                <a:latin typeface="Ara Hamah Alfidaa"/>
                <a:ea typeface="Ara Hamah Alfidaa"/>
                <a:cs typeface="Ara Hamah Alfidaa"/>
                <a:sym typeface="Ara Hamah Alfidaa"/>
              </a:rPr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DAHVO9LwyTc</dc:identifier>
  <dcterms:modified xsi:type="dcterms:W3CDTF">2011-08-01T06:04:30Z</dcterms:modified>
  <cp:revision>1</cp:revision>
  <dc:title>Pink and Blue Modern Virtual Reality Presentation</dc:title>
</cp:coreProperties>
</file>