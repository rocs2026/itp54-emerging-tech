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8288000" cy="1028827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578601-DE47-45E5-9320-ABCA98ED587E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2900" indent="-342900">
              <a:spcBef>
                <a:spcPts val="8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  <a:p>
            <a:pPr marL="742950" lvl="1" indent="-285750">
              <a:spcBef>
                <a:spcPts val="800"/>
              </a:spcBef>
              <a:buClr>
                <a:srgbClr val="000000"/>
              </a:buClr>
              <a:buFont typeface="Arial" panose="020B0604020202020204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  <a:p>
            <a:pPr marL="1143000" lvl="2" indent="-228600">
              <a:spcBef>
                <a:spcPts val="8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  <a:p>
            <a:pPr marL="1600200" lvl="3" indent="-228600">
              <a:spcBef>
                <a:spcPts val="800"/>
              </a:spcBef>
              <a:buClr>
                <a:srgbClr val="000000"/>
              </a:buClr>
              <a:buFont typeface="Arial" panose="020B0604020202020204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  <a:p>
            <a:pPr marL="2057400" lvl="4" indent="-228600">
              <a:spcBef>
                <a:spcPts val="800"/>
              </a:spcBef>
              <a:buClr>
                <a:srgbClr val="000000"/>
              </a:buClr>
              <a:buFont typeface="Arial" panose="020B0604020202020204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  <a:p>
            <a:pPr marL="2057400" lvl="5" indent="-228600">
              <a:spcBef>
                <a:spcPts val="800"/>
              </a:spcBef>
              <a:buClr>
                <a:srgbClr val="000000"/>
              </a:buClr>
              <a:buFont typeface="Arial" panose="020B0604020202020204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  <a:p>
            <a:pPr marL="2057400" lvl="6" indent="-228600">
              <a:spcBef>
                <a:spcPts val="800"/>
              </a:spcBef>
              <a:buClr>
                <a:srgbClr val="000000"/>
              </a:buClr>
              <a:buFont typeface="Arial" panose="020B0604020202020204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11BA3CF-2015-4306-9C51-ED4775D2CBD4}" type="datetime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 panose="020F0502020204030204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2700C20-B073-40D1-A59A-6F3F6506B595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 panose="020F0502020204030204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Freeform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" name="Group 3"/>
          <p:cNvGrpSpPr/>
          <p:nvPr/>
        </p:nvGrpSpPr>
        <p:grpSpPr>
          <a:xfrm>
            <a:off x="436680" y="415800"/>
            <a:ext cx="17414640" cy="9455400"/>
            <a:chOff x="436680" y="415800"/>
            <a:chExt cx="17414640" cy="9455400"/>
          </a:xfrm>
        </p:grpSpPr>
        <p:sp>
          <p:nvSpPr>
            <p:cNvPr id="7" name="Freeform 4"/>
            <p:cNvSpPr/>
            <p:nvPr/>
          </p:nvSpPr>
          <p:spPr>
            <a:xfrm>
              <a:off x="436680" y="592920"/>
              <a:ext cx="17414640" cy="9278280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noFill/>
            <a:ln w="19080" cap="rnd">
              <a:solidFill>
                <a:srgbClr val="162768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  <p:sp>
          <p:nvSpPr>
            <p:cNvPr id="8" name="TextBox 5"/>
            <p:cNvSpPr/>
            <p:nvPr/>
          </p:nvSpPr>
          <p:spPr>
            <a:xfrm>
              <a:off x="436680" y="415800"/>
              <a:ext cx="17414640" cy="9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</p:grpSp>
      <p:sp>
        <p:nvSpPr>
          <p:cNvPr id="9" name="TextBox 6"/>
          <p:cNvSpPr/>
          <p:nvPr/>
        </p:nvSpPr>
        <p:spPr>
          <a:xfrm>
            <a:off x="1028880" y="3157560"/>
            <a:ext cx="14166720" cy="4511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1776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600" b="1" u="none" strike="noStrike">
                <a:solidFill>
                  <a:srgbClr val="1D348A"/>
                </a:solidFill>
                <a:effectLst/>
                <a:uFillTx/>
                <a:latin typeface="Calibri" panose="020F0502020204030204"/>
                <a:ea typeface="Roca Two Heavy"/>
              </a:rPr>
              <a:t>5G Technolog</a:t>
            </a:r>
            <a:r>
              <a:rPr lang="en-US" sz="21600" b="1" u="none" strike="noStrike">
                <a:solidFill>
                  <a:srgbClr val="1D348A"/>
                </a:solidFill>
                <a:effectLst/>
                <a:uFillTx/>
                <a:latin typeface="Calibri" panose="020F0502020204030204"/>
                <a:ea typeface="Roca Two Heavy"/>
              </a:rPr>
              <a:t>y</a:t>
            </a:r>
            <a:endParaRPr lang="en-US" sz="216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grpSp>
        <p:nvGrpSpPr>
          <p:cNvPr id="10" name="Group 8"/>
          <p:cNvGrpSpPr/>
          <p:nvPr/>
        </p:nvGrpSpPr>
        <p:grpSpPr>
          <a:xfrm>
            <a:off x="8821800" y="109440"/>
            <a:ext cx="644400" cy="644760"/>
            <a:chOff x="8821800" y="109440"/>
            <a:chExt cx="644400" cy="644760"/>
          </a:xfrm>
        </p:grpSpPr>
        <p:sp>
          <p:nvSpPr>
            <p:cNvPr id="11" name="Freeform 9"/>
            <p:cNvSpPr/>
            <p:nvPr/>
          </p:nvSpPr>
          <p:spPr>
            <a:xfrm>
              <a:off x="8821800" y="109440"/>
              <a:ext cx="64440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  <p:sp>
          <p:nvSpPr>
            <p:cNvPr id="12" name="TextBox 10"/>
            <p:cNvSpPr/>
            <p:nvPr/>
          </p:nvSpPr>
          <p:spPr>
            <a:xfrm>
              <a:off x="8881920" y="132120"/>
              <a:ext cx="52380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</p:grpSp>
      <p:sp>
        <p:nvSpPr>
          <p:cNvPr id="13" name="TextBox 11"/>
          <p:cNvSpPr/>
          <p:nvPr/>
        </p:nvSpPr>
        <p:spPr>
          <a:xfrm>
            <a:off x="10850400" y="8029440"/>
            <a:ext cx="5691240" cy="71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ts val="28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T Chocolates"/>
                <a:ea typeface="TT Chocolates"/>
              </a:rPr>
              <a:t>Zywynne Jedrick Ambunan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  <a:p>
            <a:pPr algn="r">
              <a:lnSpc>
                <a:spcPts val="28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T Chocolates"/>
                <a:ea typeface="TT Chocolates"/>
              </a:rPr>
              <a:t>Brent Mamaradlo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4" name="Freeform 12"/>
          <p:cNvSpPr/>
          <p:nvPr/>
        </p:nvSpPr>
        <p:spPr>
          <a:xfrm>
            <a:off x="8929800" y="210960"/>
            <a:ext cx="428400" cy="441360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grpSp>
        <p:nvGrpSpPr>
          <p:cNvPr id="15" name="Group 13"/>
          <p:cNvGrpSpPr/>
          <p:nvPr/>
        </p:nvGrpSpPr>
        <p:grpSpPr>
          <a:xfrm>
            <a:off x="8821800" y="9532800"/>
            <a:ext cx="644400" cy="644760"/>
            <a:chOff x="8821800" y="9532800"/>
            <a:chExt cx="644400" cy="644760"/>
          </a:xfrm>
        </p:grpSpPr>
        <p:sp>
          <p:nvSpPr>
            <p:cNvPr id="16" name="Freeform 14"/>
            <p:cNvSpPr/>
            <p:nvPr/>
          </p:nvSpPr>
          <p:spPr>
            <a:xfrm>
              <a:off x="8821800" y="9532800"/>
              <a:ext cx="64440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  <p:sp>
          <p:nvSpPr>
            <p:cNvPr id="17" name="TextBox 15"/>
            <p:cNvSpPr/>
            <p:nvPr/>
          </p:nvSpPr>
          <p:spPr>
            <a:xfrm>
              <a:off x="8881920" y="9555480"/>
              <a:ext cx="52380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</p:grpSp>
      <p:sp>
        <p:nvSpPr>
          <p:cNvPr id="18" name="Freeform 16"/>
          <p:cNvSpPr/>
          <p:nvPr/>
        </p:nvSpPr>
        <p:spPr>
          <a:xfrm>
            <a:off x="8929800" y="9634680"/>
            <a:ext cx="428400" cy="441360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Freeform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0" name="Group 3"/>
          <p:cNvGrpSpPr/>
          <p:nvPr/>
        </p:nvGrpSpPr>
        <p:grpSpPr>
          <a:xfrm>
            <a:off x="436680" y="415800"/>
            <a:ext cx="17414640" cy="9455400"/>
            <a:chOff x="436680" y="415800"/>
            <a:chExt cx="17414640" cy="9455400"/>
          </a:xfrm>
        </p:grpSpPr>
        <p:sp>
          <p:nvSpPr>
            <p:cNvPr id="21" name="Freeform 4"/>
            <p:cNvSpPr/>
            <p:nvPr/>
          </p:nvSpPr>
          <p:spPr>
            <a:xfrm>
              <a:off x="436680" y="592920"/>
              <a:ext cx="17414640" cy="9278280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noFill/>
            <a:ln w="19080" cap="rnd">
              <a:solidFill>
                <a:srgbClr val="162768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  <p:sp>
          <p:nvSpPr>
            <p:cNvPr id="22" name="TextBox 5"/>
            <p:cNvSpPr/>
            <p:nvPr/>
          </p:nvSpPr>
          <p:spPr>
            <a:xfrm>
              <a:off x="436680" y="415800"/>
              <a:ext cx="17414640" cy="9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</p:grpSp>
      <p:sp>
        <p:nvSpPr>
          <p:cNvPr id="23" name="TextBox 6"/>
          <p:cNvSpPr/>
          <p:nvPr/>
        </p:nvSpPr>
        <p:spPr>
          <a:xfrm>
            <a:off x="1028880" y="1322280"/>
            <a:ext cx="12469680" cy="2559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1007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500" b="1" u="none" strike="noStrike">
                <a:solidFill>
                  <a:srgbClr val="1D348A"/>
                </a:solidFill>
                <a:effectLst/>
                <a:uFillTx/>
                <a:latin typeface="Calibri" panose="020F0502020204030204"/>
                <a:ea typeface="Roca Two Heavy"/>
              </a:rPr>
              <a:t>An Introduction to 5G Technology</a:t>
            </a:r>
            <a:endParaRPr lang="en-US" sz="95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4" name="TextBox 7"/>
          <p:cNvSpPr/>
          <p:nvPr/>
        </p:nvSpPr>
        <p:spPr>
          <a:xfrm>
            <a:off x="1028880" y="3300480"/>
            <a:ext cx="14393520" cy="4428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697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  <a:p>
            <a:pPr marL="836930" lvl="1" indent="-419100">
              <a:lnSpc>
                <a:spcPts val="6975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  <a:ea typeface="TT Chocolates"/>
              </a:rPr>
              <a:t>5G is the fifth generation of wireless technology.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  <a:p>
            <a:pPr marL="836930" lvl="1" indent="-419100">
              <a:lnSpc>
                <a:spcPts val="6975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  <a:ea typeface="TT Chocolates"/>
              </a:rPr>
              <a:t>It is designed to provide significantly faster speed, reduced latency, improved performance, greater capacity, and higher bandwidth.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  <a:p>
            <a:pPr marL="836930" lvl="1" indent="-419100">
              <a:lnSpc>
                <a:spcPts val="6975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  <a:ea typeface="TT Chocolates"/>
              </a:rPr>
              <a:t>It can support massive connectivity of devices and services.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grpSp>
        <p:nvGrpSpPr>
          <p:cNvPr id="25" name="Group 8"/>
          <p:cNvGrpSpPr/>
          <p:nvPr/>
        </p:nvGrpSpPr>
        <p:grpSpPr>
          <a:xfrm>
            <a:off x="115920" y="4821120"/>
            <a:ext cx="642960" cy="644760"/>
            <a:chOff x="115920" y="4821120"/>
            <a:chExt cx="642960" cy="644760"/>
          </a:xfrm>
        </p:grpSpPr>
        <p:sp>
          <p:nvSpPr>
            <p:cNvPr id="26" name="Freeform 9"/>
            <p:cNvSpPr/>
            <p:nvPr/>
          </p:nvSpPr>
          <p:spPr>
            <a:xfrm>
              <a:off x="1159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  <p:sp>
          <p:nvSpPr>
            <p:cNvPr id="27" name="TextBox 10"/>
            <p:cNvSpPr/>
            <p:nvPr/>
          </p:nvSpPr>
          <p:spPr>
            <a:xfrm>
              <a:off x="1760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</p:grpSp>
      <p:grpSp>
        <p:nvGrpSpPr>
          <p:cNvPr id="28" name="Group 12"/>
          <p:cNvGrpSpPr/>
          <p:nvPr/>
        </p:nvGrpSpPr>
        <p:grpSpPr>
          <a:xfrm>
            <a:off x="17529120" y="4821120"/>
            <a:ext cx="642960" cy="644760"/>
            <a:chOff x="17529120" y="4821120"/>
            <a:chExt cx="642960" cy="644760"/>
          </a:xfrm>
        </p:grpSpPr>
        <p:sp>
          <p:nvSpPr>
            <p:cNvPr id="29" name="Freeform 13"/>
            <p:cNvSpPr/>
            <p:nvPr/>
          </p:nvSpPr>
          <p:spPr>
            <a:xfrm>
              <a:off x="175291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  <p:sp>
          <p:nvSpPr>
            <p:cNvPr id="30" name="TextBox 14"/>
            <p:cNvSpPr/>
            <p:nvPr/>
          </p:nvSpPr>
          <p:spPr>
            <a:xfrm>
              <a:off x="175892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</p:grpSp>
      <p:pic>
        <p:nvPicPr>
          <p:cNvPr id="31" name="Picture 16" descr="Illustration of a 5G cell tower broadcasting signal"/>
          <p:cNvPicPr/>
          <p:nvPr/>
        </p:nvPicPr>
        <p:blipFill>
          <a:blip r:embed="rId2"/>
          <a:stretch>
            <a:fillRect/>
          </a:stretch>
        </p:blipFill>
        <p:spPr>
          <a:xfrm>
            <a:off x="13800240" y="1000080"/>
            <a:ext cx="3600360" cy="2998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Freeform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3" name="Group 3"/>
          <p:cNvGrpSpPr/>
          <p:nvPr/>
        </p:nvGrpSpPr>
        <p:grpSpPr>
          <a:xfrm>
            <a:off x="436680" y="415800"/>
            <a:ext cx="17414640" cy="9455400"/>
            <a:chOff x="436680" y="415800"/>
            <a:chExt cx="17414640" cy="9455400"/>
          </a:xfrm>
        </p:grpSpPr>
        <p:sp>
          <p:nvSpPr>
            <p:cNvPr id="34" name="Freeform 4"/>
            <p:cNvSpPr/>
            <p:nvPr/>
          </p:nvSpPr>
          <p:spPr>
            <a:xfrm>
              <a:off x="436680" y="592920"/>
              <a:ext cx="17414640" cy="9278280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noFill/>
            <a:ln w="19080" cap="rnd">
              <a:solidFill>
                <a:srgbClr val="162768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5" name="TextBox 5"/>
            <p:cNvSpPr/>
            <p:nvPr/>
          </p:nvSpPr>
          <p:spPr>
            <a:xfrm>
              <a:off x="436680" y="415800"/>
              <a:ext cx="17414640" cy="9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36" name="TextBox 6"/>
          <p:cNvSpPr/>
          <p:nvPr/>
        </p:nvSpPr>
        <p:spPr>
          <a:xfrm>
            <a:off x="1467000" y="1171440"/>
            <a:ext cx="12469680" cy="2559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1007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500" b="1" u="none" strike="noStrike">
                <a:solidFill>
                  <a:srgbClr val="1D348A"/>
                </a:solidFill>
                <a:effectLst/>
                <a:uFillTx/>
                <a:latin typeface="Calibri" panose="020F0502020204030204" charset="0"/>
                <a:ea typeface="Roca Two Heavy"/>
                <a:cs typeface="Calibri" panose="020F0502020204030204" charset="0"/>
              </a:rPr>
              <a:t>Importance of</a:t>
            </a:r>
            <a:endParaRPr lang="en-US" sz="95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ts val="1007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500" b="1" u="none" strike="noStrike">
                <a:solidFill>
                  <a:srgbClr val="1D348A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rPr>
              <a:t>﻿</a:t>
            </a:r>
            <a:r>
              <a:rPr lang="en-US" sz="9500" b="1" u="none" strike="noStrike">
                <a:solidFill>
                  <a:srgbClr val="1D348A"/>
                </a:solidFill>
                <a:effectLst/>
                <a:uFillTx/>
                <a:latin typeface="Calibri" panose="020F0502020204030204" charset="0"/>
                <a:ea typeface="Roca Two Heavy"/>
                <a:cs typeface="Calibri" panose="020F0502020204030204" charset="0"/>
              </a:rPr>
              <a:t>5G  Technology</a:t>
            </a:r>
            <a:endParaRPr lang="en-US" sz="95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7" name="TextBox 7"/>
          <p:cNvSpPr/>
          <p:nvPr/>
        </p:nvSpPr>
        <p:spPr>
          <a:xfrm>
            <a:off x="1424160" y="3611520"/>
            <a:ext cx="9470880" cy="1463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6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5G wireless technology is the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next-generation technology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that can impact: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38" name="Group 8"/>
          <p:cNvGrpSpPr/>
          <p:nvPr/>
        </p:nvGrpSpPr>
        <p:grpSpPr>
          <a:xfrm>
            <a:off x="115920" y="4821120"/>
            <a:ext cx="642960" cy="644760"/>
            <a:chOff x="115920" y="4821120"/>
            <a:chExt cx="642960" cy="644760"/>
          </a:xfrm>
        </p:grpSpPr>
        <p:sp>
          <p:nvSpPr>
            <p:cNvPr id="39" name="Freeform 9"/>
            <p:cNvSpPr/>
            <p:nvPr/>
          </p:nvSpPr>
          <p:spPr>
            <a:xfrm>
              <a:off x="1159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0" name="TextBox 10"/>
            <p:cNvSpPr/>
            <p:nvPr/>
          </p:nvSpPr>
          <p:spPr>
            <a:xfrm>
              <a:off x="1760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41" name="Group 12"/>
          <p:cNvGrpSpPr/>
          <p:nvPr/>
        </p:nvGrpSpPr>
        <p:grpSpPr>
          <a:xfrm>
            <a:off x="17529120" y="4821120"/>
            <a:ext cx="642960" cy="644760"/>
            <a:chOff x="17529120" y="4821120"/>
            <a:chExt cx="642960" cy="644760"/>
          </a:xfrm>
        </p:grpSpPr>
        <p:sp>
          <p:nvSpPr>
            <p:cNvPr id="42" name="Freeform 13"/>
            <p:cNvSpPr/>
            <p:nvPr/>
          </p:nvSpPr>
          <p:spPr>
            <a:xfrm>
              <a:off x="175291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3" name="TextBox 14"/>
            <p:cNvSpPr/>
            <p:nvPr/>
          </p:nvSpPr>
          <p:spPr>
            <a:xfrm>
              <a:off x="175892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44" name="TextBox 16"/>
          <p:cNvSpPr/>
          <p:nvPr/>
        </p:nvSpPr>
        <p:spPr>
          <a:xfrm>
            <a:off x="1028880" y="5173560"/>
            <a:ext cx="11591640" cy="4389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Business and industries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Society and social life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Governments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Automation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Modern technologies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Cybersecurity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5" name="TextBox 17"/>
          <p:cNvSpPr/>
          <p:nvPr/>
        </p:nvSpPr>
        <p:spPr>
          <a:xfrm>
            <a:off x="6330960" y="5295960"/>
            <a:ext cx="3990960" cy="292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Industry 4.0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Remote workplace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Healthcare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6" name="TextBox 18"/>
          <p:cNvSpPr/>
          <p:nvPr/>
        </p:nvSpPr>
        <p:spPr>
          <a:xfrm>
            <a:off x="11560320" y="3094200"/>
            <a:ext cx="3990960" cy="1463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6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Why is 5G important? </a:t>
            </a:r>
            <a:endParaRPr lang="en-US" sz="32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47" name="TextBox 19"/>
          <p:cNvSpPr/>
          <p:nvPr/>
        </p:nvSpPr>
        <p:spPr>
          <a:xfrm>
            <a:off x="11560320" y="3610080"/>
            <a:ext cx="5817960" cy="5852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highspeed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adoptability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low-latency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enormous capacity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improved performance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greater efficiency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reduced carbon footprints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supersmooth mobility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Freeform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9" name="Group 3"/>
          <p:cNvGrpSpPr/>
          <p:nvPr/>
        </p:nvGrpSpPr>
        <p:grpSpPr>
          <a:xfrm>
            <a:off x="436680" y="415800"/>
            <a:ext cx="17414640" cy="9455400"/>
            <a:chOff x="436680" y="415800"/>
            <a:chExt cx="17414640" cy="9455400"/>
          </a:xfrm>
        </p:grpSpPr>
        <p:sp>
          <p:nvSpPr>
            <p:cNvPr id="50" name="Freeform 4"/>
            <p:cNvSpPr/>
            <p:nvPr/>
          </p:nvSpPr>
          <p:spPr>
            <a:xfrm>
              <a:off x="436680" y="592920"/>
              <a:ext cx="17414640" cy="9278280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noFill/>
            <a:ln w="19080" cap="rnd">
              <a:solidFill>
                <a:srgbClr val="162768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51" name="TextBox 5"/>
            <p:cNvSpPr/>
            <p:nvPr/>
          </p:nvSpPr>
          <p:spPr>
            <a:xfrm>
              <a:off x="436680" y="415800"/>
              <a:ext cx="17414640" cy="9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52" name="Group 6"/>
          <p:cNvGrpSpPr/>
          <p:nvPr/>
        </p:nvGrpSpPr>
        <p:grpSpPr>
          <a:xfrm>
            <a:off x="115920" y="4821120"/>
            <a:ext cx="642960" cy="644760"/>
            <a:chOff x="115920" y="4821120"/>
            <a:chExt cx="642960" cy="644760"/>
          </a:xfrm>
        </p:grpSpPr>
        <p:sp>
          <p:nvSpPr>
            <p:cNvPr id="53" name="Freeform 7"/>
            <p:cNvSpPr/>
            <p:nvPr/>
          </p:nvSpPr>
          <p:spPr>
            <a:xfrm>
              <a:off x="1159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54" name="TextBox 8"/>
            <p:cNvSpPr/>
            <p:nvPr/>
          </p:nvSpPr>
          <p:spPr>
            <a:xfrm>
              <a:off x="1760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55" name="Group 10"/>
          <p:cNvGrpSpPr/>
          <p:nvPr/>
        </p:nvGrpSpPr>
        <p:grpSpPr>
          <a:xfrm>
            <a:off x="17529120" y="4821120"/>
            <a:ext cx="642960" cy="644760"/>
            <a:chOff x="17529120" y="4821120"/>
            <a:chExt cx="642960" cy="644760"/>
          </a:xfrm>
        </p:grpSpPr>
        <p:sp>
          <p:nvSpPr>
            <p:cNvPr id="56" name="Freeform 11"/>
            <p:cNvSpPr/>
            <p:nvPr/>
          </p:nvSpPr>
          <p:spPr>
            <a:xfrm>
              <a:off x="175291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57" name="TextBox 12"/>
            <p:cNvSpPr/>
            <p:nvPr/>
          </p:nvSpPr>
          <p:spPr>
            <a:xfrm>
              <a:off x="175892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58" name="TextBox 14"/>
          <p:cNvSpPr/>
          <p:nvPr/>
        </p:nvSpPr>
        <p:spPr>
          <a:xfrm>
            <a:off x="1467000" y="1171440"/>
            <a:ext cx="12469680" cy="2559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1007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500" b="1" u="none" strike="noStrike">
                <a:solidFill>
                  <a:srgbClr val="1D348A"/>
                </a:solidFill>
                <a:effectLst/>
                <a:uFillTx/>
                <a:latin typeface="Calibri" panose="020F0502020204030204" charset="0"/>
                <a:ea typeface="Roca Two Heavy"/>
                <a:cs typeface="Calibri" panose="020F0502020204030204" charset="0"/>
              </a:rPr>
              <a:t>Evolution of Cellular Networks</a:t>
            </a:r>
            <a:endParaRPr lang="en-US" sz="9500" b="1" u="none" strike="noStrike">
              <a:solidFill>
                <a:srgbClr val="1D348A"/>
              </a:solidFill>
              <a:effectLst/>
              <a:uFillTx/>
              <a:latin typeface="Calibri" panose="020F0502020204030204" charset="0"/>
              <a:ea typeface="Roca Two Heavy"/>
              <a:cs typeface="Calibri" panose="020F0502020204030204" charset="0"/>
            </a:endParaRPr>
          </a:p>
        </p:txBody>
      </p:sp>
      <p:sp>
        <p:nvSpPr>
          <p:cNvPr id="59" name="TextBox 15"/>
          <p:cNvSpPr/>
          <p:nvPr/>
        </p:nvSpPr>
        <p:spPr>
          <a:xfrm>
            <a:off x="1424160" y="3611520"/>
            <a:ext cx="14392080" cy="2194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6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Cellular networks have evolved through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four decades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using numerous analog and digital technologies, with task-specific applications and communication protocols.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0" name="TextBox 16"/>
          <p:cNvSpPr/>
          <p:nvPr/>
        </p:nvSpPr>
        <p:spPr>
          <a:xfrm>
            <a:off x="1467000" y="5664240"/>
            <a:ext cx="15420960" cy="784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617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4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rPr>
              <a:t>﻿</a:t>
            </a:r>
            <a:r>
              <a:rPr lang="en-US" sz="34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GENERATION OF CELLULAR NETWORKS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61" name="Group 17"/>
          <p:cNvGrpSpPr/>
          <p:nvPr/>
        </p:nvGrpSpPr>
        <p:grpSpPr>
          <a:xfrm>
            <a:off x="1887480" y="7238880"/>
            <a:ext cx="11749320" cy="2698920"/>
            <a:chOff x="1887480" y="7238880"/>
            <a:chExt cx="11749320" cy="2698920"/>
          </a:xfrm>
        </p:grpSpPr>
        <p:grpSp>
          <p:nvGrpSpPr>
            <p:cNvPr id="62" name="Group 18"/>
            <p:cNvGrpSpPr/>
            <p:nvPr/>
          </p:nvGrpSpPr>
          <p:grpSpPr>
            <a:xfrm>
              <a:off x="1887480" y="7378920"/>
              <a:ext cx="2172240" cy="946080"/>
              <a:chOff x="1887480" y="7378920"/>
              <a:chExt cx="2172240" cy="946080"/>
            </a:xfrm>
          </p:grpSpPr>
          <p:sp>
            <p:nvSpPr>
              <p:cNvPr id="63" name="Freeform 19"/>
              <p:cNvSpPr/>
              <p:nvPr/>
            </p:nvSpPr>
            <p:spPr>
              <a:xfrm>
                <a:off x="1887480" y="7477920"/>
                <a:ext cx="2172240" cy="84708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0" y="0"/>
                    </a:moveTo>
                    <a:lnTo>
                      <a:pt x="609600" y="0"/>
                    </a:lnTo>
                    <a:lnTo>
                      <a:pt x="812800" y="203200"/>
                    </a:lnTo>
                    <a:lnTo>
                      <a:pt x="6096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1D9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  <p:sp>
            <p:nvSpPr>
              <p:cNvPr id="64" name="TextBox 20"/>
              <p:cNvSpPr/>
              <p:nvPr/>
            </p:nvSpPr>
            <p:spPr>
              <a:xfrm>
                <a:off x="2362680" y="7378920"/>
                <a:ext cx="1493640" cy="946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50760" tIns="50760" rIns="50760" bIns="50760" anchor="ctr">
                <a:noAutofit/>
              </a:bodyPr>
              <a:p>
                <a:pPr algn="ctr">
                  <a:lnSpc>
                    <a:spcPts val="28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</p:grpSp>
        <p:grpSp>
          <p:nvGrpSpPr>
            <p:cNvPr id="65" name="Group 21"/>
            <p:cNvGrpSpPr/>
            <p:nvPr/>
          </p:nvGrpSpPr>
          <p:grpSpPr>
            <a:xfrm>
              <a:off x="3802680" y="7378920"/>
              <a:ext cx="2172240" cy="946080"/>
              <a:chOff x="3802680" y="7378920"/>
              <a:chExt cx="2172240" cy="946080"/>
            </a:xfrm>
          </p:grpSpPr>
          <p:sp>
            <p:nvSpPr>
              <p:cNvPr id="66" name="Freeform 22"/>
              <p:cNvSpPr/>
              <p:nvPr/>
            </p:nvSpPr>
            <p:spPr>
              <a:xfrm>
                <a:off x="3802680" y="7477920"/>
                <a:ext cx="2172240" cy="84708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0" y="0"/>
                    </a:moveTo>
                    <a:lnTo>
                      <a:pt x="609600" y="0"/>
                    </a:lnTo>
                    <a:lnTo>
                      <a:pt x="812800" y="203200"/>
                    </a:lnTo>
                    <a:lnTo>
                      <a:pt x="6096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1D9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  <p:sp>
            <p:nvSpPr>
              <p:cNvPr id="67" name="TextBox 23"/>
              <p:cNvSpPr/>
              <p:nvPr/>
            </p:nvSpPr>
            <p:spPr>
              <a:xfrm>
                <a:off x="4277880" y="7378920"/>
                <a:ext cx="1493640" cy="946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50760" tIns="50760" rIns="50760" bIns="50760" anchor="ctr">
                <a:noAutofit/>
              </a:bodyPr>
              <a:p>
                <a:pPr algn="ctr">
                  <a:lnSpc>
                    <a:spcPts val="28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</p:grpSp>
        <p:grpSp>
          <p:nvGrpSpPr>
            <p:cNvPr id="68" name="Group 24"/>
            <p:cNvGrpSpPr/>
            <p:nvPr/>
          </p:nvGrpSpPr>
          <p:grpSpPr>
            <a:xfrm>
              <a:off x="5718240" y="7378920"/>
              <a:ext cx="2172240" cy="946080"/>
              <a:chOff x="5718240" y="7378920"/>
              <a:chExt cx="2172240" cy="946080"/>
            </a:xfrm>
          </p:grpSpPr>
          <p:sp>
            <p:nvSpPr>
              <p:cNvPr id="69" name="Freeform 25"/>
              <p:cNvSpPr/>
              <p:nvPr/>
            </p:nvSpPr>
            <p:spPr>
              <a:xfrm>
                <a:off x="5718240" y="7477920"/>
                <a:ext cx="2172240" cy="84708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0" y="0"/>
                    </a:moveTo>
                    <a:lnTo>
                      <a:pt x="609600" y="0"/>
                    </a:lnTo>
                    <a:lnTo>
                      <a:pt x="812800" y="203200"/>
                    </a:lnTo>
                    <a:lnTo>
                      <a:pt x="6096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1D9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  <p:sp>
            <p:nvSpPr>
              <p:cNvPr id="70" name="TextBox 26"/>
              <p:cNvSpPr/>
              <p:nvPr/>
            </p:nvSpPr>
            <p:spPr>
              <a:xfrm>
                <a:off x="6193440" y="7378920"/>
                <a:ext cx="1493640" cy="946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50760" tIns="50760" rIns="50760" bIns="50760" anchor="ctr">
                <a:noAutofit/>
              </a:bodyPr>
              <a:p>
                <a:pPr algn="ctr">
                  <a:lnSpc>
                    <a:spcPts val="28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</p:grpSp>
        <p:grpSp>
          <p:nvGrpSpPr>
            <p:cNvPr id="71" name="Group 27"/>
            <p:cNvGrpSpPr/>
            <p:nvPr/>
          </p:nvGrpSpPr>
          <p:grpSpPr>
            <a:xfrm>
              <a:off x="7633440" y="7378920"/>
              <a:ext cx="2172240" cy="946080"/>
              <a:chOff x="7633440" y="7378920"/>
              <a:chExt cx="2172240" cy="946080"/>
            </a:xfrm>
          </p:grpSpPr>
          <p:sp>
            <p:nvSpPr>
              <p:cNvPr id="72" name="Freeform 28"/>
              <p:cNvSpPr/>
              <p:nvPr/>
            </p:nvSpPr>
            <p:spPr>
              <a:xfrm>
                <a:off x="7633440" y="7477920"/>
                <a:ext cx="2172240" cy="84708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0" y="0"/>
                    </a:moveTo>
                    <a:lnTo>
                      <a:pt x="609600" y="0"/>
                    </a:lnTo>
                    <a:lnTo>
                      <a:pt x="812800" y="203200"/>
                    </a:lnTo>
                    <a:lnTo>
                      <a:pt x="6096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1D9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  <p:sp>
            <p:nvSpPr>
              <p:cNvPr id="73" name="TextBox 29"/>
              <p:cNvSpPr/>
              <p:nvPr/>
            </p:nvSpPr>
            <p:spPr>
              <a:xfrm>
                <a:off x="8108640" y="7378920"/>
                <a:ext cx="1493640" cy="946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50760" tIns="50760" rIns="50760" bIns="50760" anchor="ctr">
                <a:noAutofit/>
              </a:bodyPr>
              <a:p>
                <a:pPr algn="ctr">
                  <a:lnSpc>
                    <a:spcPts val="28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</p:grpSp>
        <p:grpSp>
          <p:nvGrpSpPr>
            <p:cNvPr id="74" name="Group 30"/>
            <p:cNvGrpSpPr/>
            <p:nvPr/>
          </p:nvGrpSpPr>
          <p:grpSpPr>
            <a:xfrm>
              <a:off x="9549000" y="7378920"/>
              <a:ext cx="2172240" cy="946080"/>
              <a:chOff x="9549000" y="7378920"/>
              <a:chExt cx="2172240" cy="946080"/>
            </a:xfrm>
          </p:grpSpPr>
          <p:sp>
            <p:nvSpPr>
              <p:cNvPr id="75" name="Freeform 31"/>
              <p:cNvSpPr/>
              <p:nvPr/>
            </p:nvSpPr>
            <p:spPr>
              <a:xfrm>
                <a:off x="9549000" y="7477920"/>
                <a:ext cx="2172240" cy="84708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0" y="0"/>
                    </a:moveTo>
                    <a:lnTo>
                      <a:pt x="609600" y="0"/>
                    </a:lnTo>
                    <a:lnTo>
                      <a:pt x="812800" y="203200"/>
                    </a:lnTo>
                    <a:lnTo>
                      <a:pt x="6096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1D9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  <p:sp>
            <p:nvSpPr>
              <p:cNvPr id="76" name="TextBox 32"/>
              <p:cNvSpPr/>
              <p:nvPr/>
            </p:nvSpPr>
            <p:spPr>
              <a:xfrm>
                <a:off x="10024200" y="7378920"/>
                <a:ext cx="1493640" cy="946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50760" tIns="50760" rIns="50760" bIns="50760" anchor="ctr">
                <a:noAutofit/>
              </a:bodyPr>
              <a:p>
                <a:pPr algn="ctr">
                  <a:lnSpc>
                    <a:spcPts val="28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</p:grpSp>
        <p:grpSp>
          <p:nvGrpSpPr>
            <p:cNvPr id="77" name="Group 33"/>
            <p:cNvGrpSpPr/>
            <p:nvPr/>
          </p:nvGrpSpPr>
          <p:grpSpPr>
            <a:xfrm>
              <a:off x="11464560" y="7378920"/>
              <a:ext cx="2172240" cy="946080"/>
              <a:chOff x="11464560" y="7378920"/>
              <a:chExt cx="2172240" cy="946080"/>
            </a:xfrm>
          </p:grpSpPr>
          <p:sp>
            <p:nvSpPr>
              <p:cNvPr id="78" name="Freeform 34"/>
              <p:cNvSpPr/>
              <p:nvPr/>
            </p:nvSpPr>
            <p:spPr>
              <a:xfrm>
                <a:off x="11464560" y="7477920"/>
                <a:ext cx="2172240" cy="84708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0" y="0"/>
                    </a:moveTo>
                    <a:lnTo>
                      <a:pt x="609600" y="0"/>
                    </a:lnTo>
                    <a:lnTo>
                      <a:pt x="812800" y="203200"/>
                    </a:lnTo>
                    <a:lnTo>
                      <a:pt x="6096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1D9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  <p:sp>
            <p:nvSpPr>
              <p:cNvPr id="79" name="TextBox 35"/>
              <p:cNvSpPr/>
              <p:nvPr/>
            </p:nvSpPr>
            <p:spPr>
              <a:xfrm>
                <a:off x="11939760" y="7378920"/>
                <a:ext cx="1493640" cy="946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50760" tIns="50760" rIns="50760" bIns="50760" anchor="ctr">
                <a:noAutofit/>
              </a:bodyPr>
              <a:p>
                <a:pPr algn="ctr">
                  <a:lnSpc>
                    <a:spcPts val="28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</p:grpSp>
        <p:sp>
          <p:nvSpPr>
            <p:cNvPr id="80" name="TextBox 36"/>
            <p:cNvSpPr/>
            <p:nvPr/>
          </p:nvSpPr>
          <p:spPr>
            <a:xfrm>
              <a:off x="2542320" y="7238880"/>
              <a:ext cx="862200" cy="2698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0" tIns="0" rIns="0" bIns="0" anchor="t">
              <a:spAutoFit/>
            </a:bodyPr>
            <a:p>
              <a:pPr>
                <a:lnSpc>
                  <a:spcPts val="10625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5900" b="1" u="none" strike="noStrike">
                  <a:solidFill>
                    <a:srgbClr val="000000"/>
                  </a:solidFill>
                  <a:effectLst/>
                  <a:uFillTx/>
                  <a:latin typeface="Calibri" panose="020F0502020204030204" charset="0"/>
                  <a:ea typeface="TT Chocolates Bold"/>
                  <a:cs typeface="Calibri" panose="020F0502020204030204" charset="0"/>
                </a:rPr>
                <a:t>1G</a:t>
              </a:r>
              <a:endParaRPr lang="en-US" sz="59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endParaRPr>
            </a:p>
          </p:txBody>
        </p:sp>
        <p:sp>
          <p:nvSpPr>
            <p:cNvPr id="81" name="TextBox 37"/>
            <p:cNvSpPr/>
            <p:nvPr/>
          </p:nvSpPr>
          <p:spPr>
            <a:xfrm>
              <a:off x="4459320" y="7238880"/>
              <a:ext cx="1180440" cy="134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0" tIns="0" rIns="0" bIns="0" anchor="t">
              <a:spAutoFit/>
            </a:bodyPr>
            <a:p>
              <a:pPr>
                <a:lnSpc>
                  <a:spcPts val="10625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5900" b="1" u="none" strike="noStrike">
                  <a:solidFill>
                    <a:srgbClr val="000000"/>
                  </a:solidFill>
                  <a:effectLst/>
                  <a:uFillTx/>
                  <a:latin typeface="Calibri" panose="020F0502020204030204" charset="0"/>
                  <a:ea typeface="TT Chocolates Bold"/>
                  <a:cs typeface="Calibri" panose="020F0502020204030204" charset="0"/>
                </a:rPr>
                <a:t>2G</a:t>
              </a:r>
              <a:endParaRPr lang="en-US" sz="59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endParaRPr>
            </a:p>
          </p:txBody>
        </p:sp>
        <p:sp>
          <p:nvSpPr>
            <p:cNvPr id="82" name="TextBox 38"/>
            <p:cNvSpPr/>
            <p:nvPr/>
          </p:nvSpPr>
          <p:spPr>
            <a:xfrm>
              <a:off x="6375960" y="7238880"/>
              <a:ext cx="1180440" cy="134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0" tIns="0" rIns="0" bIns="0" anchor="t">
              <a:spAutoFit/>
            </a:bodyPr>
            <a:p>
              <a:pPr>
                <a:lnSpc>
                  <a:spcPts val="10625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5900" b="1" u="none" strike="noStrike">
                  <a:solidFill>
                    <a:srgbClr val="000000"/>
                  </a:solidFill>
                  <a:effectLst/>
                  <a:uFillTx/>
                  <a:latin typeface="Calibri" panose="020F0502020204030204" charset="0"/>
                  <a:ea typeface="TT Chocolates Bold"/>
                  <a:cs typeface="Calibri" panose="020F0502020204030204" charset="0"/>
                </a:rPr>
                <a:t>3G</a:t>
              </a:r>
              <a:endParaRPr lang="en-US" sz="59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endParaRPr>
            </a:p>
          </p:txBody>
        </p:sp>
        <p:sp>
          <p:nvSpPr>
            <p:cNvPr id="83" name="TextBox 39"/>
            <p:cNvSpPr/>
            <p:nvPr/>
          </p:nvSpPr>
          <p:spPr>
            <a:xfrm>
              <a:off x="8292960" y="7238880"/>
              <a:ext cx="1180440" cy="134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0" tIns="0" rIns="0" bIns="0" anchor="t">
              <a:spAutoFit/>
            </a:bodyPr>
            <a:p>
              <a:pPr>
                <a:lnSpc>
                  <a:spcPts val="10625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5900" b="1" u="none" strike="noStrike">
                  <a:solidFill>
                    <a:srgbClr val="000000"/>
                  </a:solidFill>
                  <a:effectLst/>
                  <a:uFillTx/>
                  <a:latin typeface="Calibri" panose="020F0502020204030204" charset="0"/>
                  <a:ea typeface="TT Chocolates Bold"/>
                  <a:cs typeface="Calibri" panose="020F0502020204030204" charset="0"/>
                </a:rPr>
                <a:t>4G</a:t>
              </a:r>
              <a:endParaRPr lang="en-US" sz="59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endParaRPr>
            </a:p>
          </p:txBody>
        </p:sp>
        <p:sp>
          <p:nvSpPr>
            <p:cNvPr id="84" name="TextBox 40"/>
            <p:cNvSpPr/>
            <p:nvPr/>
          </p:nvSpPr>
          <p:spPr>
            <a:xfrm>
              <a:off x="10209600" y="7238880"/>
              <a:ext cx="1180440" cy="134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0" tIns="0" rIns="0" bIns="0" anchor="t">
              <a:spAutoFit/>
            </a:bodyPr>
            <a:p>
              <a:pPr>
                <a:lnSpc>
                  <a:spcPts val="10625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5900" b="1" u="none" strike="noStrike">
                  <a:solidFill>
                    <a:srgbClr val="000000"/>
                  </a:solidFill>
                  <a:effectLst/>
                  <a:uFillTx/>
                  <a:latin typeface="Calibri" panose="020F0502020204030204" charset="0"/>
                  <a:ea typeface="TT Chocolates Bold"/>
                  <a:cs typeface="Calibri" panose="020F0502020204030204" charset="0"/>
                </a:rPr>
                <a:t>5G</a:t>
              </a:r>
              <a:endParaRPr lang="en-US" sz="59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endParaRPr>
            </a:p>
          </p:txBody>
        </p:sp>
        <p:sp>
          <p:nvSpPr>
            <p:cNvPr id="85" name="TextBox 41"/>
            <p:cNvSpPr/>
            <p:nvPr/>
          </p:nvSpPr>
          <p:spPr>
            <a:xfrm>
              <a:off x="12121560" y="7238880"/>
              <a:ext cx="1180440" cy="134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0" tIns="0" rIns="0" bIns="0" anchor="t">
              <a:spAutoFit/>
            </a:bodyPr>
            <a:p>
              <a:pPr>
                <a:lnSpc>
                  <a:spcPts val="10625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5900" b="1" u="none" strike="noStrike">
                  <a:solidFill>
                    <a:srgbClr val="000000"/>
                  </a:solidFill>
                  <a:effectLst/>
                  <a:uFillTx/>
                  <a:latin typeface="Calibri" panose="020F0502020204030204" charset="0"/>
                  <a:ea typeface="TT Chocolates Bold"/>
                  <a:cs typeface="Calibri" panose="020F0502020204030204" charset="0"/>
                </a:rPr>
                <a:t>6G</a:t>
              </a:r>
              <a:endParaRPr lang="en-US" sz="59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Freeform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7" name="Group 3"/>
          <p:cNvGrpSpPr/>
          <p:nvPr/>
        </p:nvGrpSpPr>
        <p:grpSpPr>
          <a:xfrm>
            <a:off x="436680" y="415800"/>
            <a:ext cx="17414640" cy="9455400"/>
            <a:chOff x="436680" y="415800"/>
            <a:chExt cx="17414640" cy="9455400"/>
          </a:xfrm>
        </p:grpSpPr>
        <p:sp>
          <p:nvSpPr>
            <p:cNvPr id="88" name="Freeform 4"/>
            <p:cNvSpPr/>
            <p:nvPr/>
          </p:nvSpPr>
          <p:spPr>
            <a:xfrm>
              <a:off x="436680" y="592920"/>
              <a:ext cx="17414640" cy="9278280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noFill/>
            <a:ln w="19080" cap="rnd">
              <a:solidFill>
                <a:srgbClr val="162768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89" name="TextBox 5"/>
            <p:cNvSpPr/>
            <p:nvPr/>
          </p:nvSpPr>
          <p:spPr>
            <a:xfrm>
              <a:off x="436680" y="415800"/>
              <a:ext cx="17414640" cy="9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90" name="Group 6"/>
          <p:cNvGrpSpPr/>
          <p:nvPr/>
        </p:nvGrpSpPr>
        <p:grpSpPr>
          <a:xfrm>
            <a:off x="115920" y="4821120"/>
            <a:ext cx="642960" cy="644760"/>
            <a:chOff x="115920" y="4821120"/>
            <a:chExt cx="642960" cy="644760"/>
          </a:xfrm>
        </p:grpSpPr>
        <p:sp>
          <p:nvSpPr>
            <p:cNvPr id="91" name="Freeform 7"/>
            <p:cNvSpPr/>
            <p:nvPr/>
          </p:nvSpPr>
          <p:spPr>
            <a:xfrm>
              <a:off x="1159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92" name="TextBox 8"/>
            <p:cNvSpPr/>
            <p:nvPr/>
          </p:nvSpPr>
          <p:spPr>
            <a:xfrm>
              <a:off x="1760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93" name="Group 10"/>
          <p:cNvGrpSpPr/>
          <p:nvPr/>
        </p:nvGrpSpPr>
        <p:grpSpPr>
          <a:xfrm>
            <a:off x="17529120" y="4821120"/>
            <a:ext cx="642960" cy="644760"/>
            <a:chOff x="17529120" y="4821120"/>
            <a:chExt cx="642960" cy="644760"/>
          </a:xfrm>
        </p:grpSpPr>
        <p:sp>
          <p:nvSpPr>
            <p:cNvPr id="94" name="Freeform 11"/>
            <p:cNvSpPr/>
            <p:nvPr/>
          </p:nvSpPr>
          <p:spPr>
            <a:xfrm>
              <a:off x="175291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95" name="TextBox 12"/>
            <p:cNvSpPr/>
            <p:nvPr/>
          </p:nvSpPr>
          <p:spPr>
            <a:xfrm>
              <a:off x="175892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96" name="TextBox 14"/>
          <p:cNvSpPr/>
          <p:nvPr/>
        </p:nvSpPr>
        <p:spPr>
          <a:xfrm>
            <a:off x="1424160" y="1486080"/>
            <a:ext cx="124696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1007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500" b="1" u="none" strike="noStrike">
                <a:solidFill>
                  <a:srgbClr val="1D348A"/>
                </a:solidFill>
                <a:effectLst/>
                <a:uFillTx/>
                <a:latin typeface="Calibri" panose="020F0502020204030204" charset="0"/>
                <a:ea typeface="Roca Two Heavy"/>
                <a:cs typeface="Calibri" panose="020F0502020204030204" charset="0"/>
              </a:rPr>
              <a:t>First Generation (1G) </a:t>
            </a:r>
            <a:endParaRPr lang="en-US" sz="9500" b="1" u="none" strike="noStrike">
              <a:solidFill>
                <a:srgbClr val="1D348A"/>
              </a:solidFill>
              <a:effectLst/>
              <a:uFillTx/>
              <a:latin typeface="Calibri" panose="020F0502020204030204" charset="0"/>
              <a:ea typeface="Roca Two Heavy"/>
              <a:cs typeface="Calibri" panose="020F0502020204030204" charset="0"/>
            </a:endParaRPr>
          </a:p>
        </p:txBody>
      </p:sp>
      <p:sp>
        <p:nvSpPr>
          <p:cNvPr id="97" name="TextBox 15"/>
          <p:cNvSpPr/>
          <p:nvPr/>
        </p:nvSpPr>
        <p:spPr>
          <a:xfrm>
            <a:off x="371520" y="2610000"/>
            <a:ext cx="9458280" cy="7300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Can be tracked back to the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1960s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through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primitive research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and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development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Started when commercial cellular communication was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launched in 1979 in Tokyo, Japan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.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1980 - different countries launched technologies such as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AMPS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(USA),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NMT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(Nordic)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used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800 MHz band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for voice and signaling based on frequency division multiple access (FDMA) technology.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98" name="Group 16"/>
          <p:cNvGrpSpPr/>
          <p:nvPr/>
        </p:nvGrpSpPr>
        <p:grpSpPr>
          <a:xfrm>
            <a:off x="10931400" y="8966160"/>
            <a:ext cx="1170000" cy="584280"/>
            <a:chOff x="10931400" y="8966160"/>
            <a:chExt cx="1170000" cy="584280"/>
          </a:xfrm>
        </p:grpSpPr>
        <p:sp>
          <p:nvSpPr>
            <p:cNvPr id="99" name="Freeform 17"/>
            <p:cNvSpPr/>
            <p:nvPr/>
          </p:nvSpPr>
          <p:spPr>
            <a:xfrm>
              <a:off x="1093140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348A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0" name="TextBox 18"/>
            <p:cNvSpPr/>
            <p:nvPr/>
          </p:nvSpPr>
          <p:spPr>
            <a:xfrm>
              <a:off x="1118736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01" name="Group 19"/>
          <p:cNvGrpSpPr/>
          <p:nvPr/>
        </p:nvGrpSpPr>
        <p:grpSpPr>
          <a:xfrm>
            <a:off x="11961720" y="8966160"/>
            <a:ext cx="1171800" cy="584280"/>
            <a:chOff x="11961720" y="8966160"/>
            <a:chExt cx="1171800" cy="584280"/>
          </a:xfrm>
        </p:grpSpPr>
        <p:sp>
          <p:nvSpPr>
            <p:cNvPr id="102" name="Freeform 20"/>
            <p:cNvSpPr/>
            <p:nvPr/>
          </p:nvSpPr>
          <p:spPr>
            <a:xfrm>
              <a:off x="11961720" y="9027360"/>
              <a:ext cx="11718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3" name="TextBox 21"/>
            <p:cNvSpPr/>
            <p:nvPr/>
          </p:nvSpPr>
          <p:spPr>
            <a:xfrm>
              <a:off x="12218040" y="8966160"/>
              <a:ext cx="80568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04" name="Group 22"/>
          <p:cNvGrpSpPr/>
          <p:nvPr/>
        </p:nvGrpSpPr>
        <p:grpSpPr>
          <a:xfrm>
            <a:off x="12993840" y="8966160"/>
            <a:ext cx="1170000" cy="584280"/>
            <a:chOff x="12993840" y="8966160"/>
            <a:chExt cx="1170000" cy="584280"/>
          </a:xfrm>
        </p:grpSpPr>
        <p:sp>
          <p:nvSpPr>
            <p:cNvPr id="105" name="Freeform 23"/>
            <p:cNvSpPr/>
            <p:nvPr/>
          </p:nvSpPr>
          <p:spPr>
            <a:xfrm>
              <a:off x="1299384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6" name="TextBox 24"/>
            <p:cNvSpPr/>
            <p:nvPr/>
          </p:nvSpPr>
          <p:spPr>
            <a:xfrm>
              <a:off x="1324980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07" name="Group 25"/>
          <p:cNvGrpSpPr/>
          <p:nvPr/>
        </p:nvGrpSpPr>
        <p:grpSpPr>
          <a:xfrm>
            <a:off x="14025600" y="8966160"/>
            <a:ext cx="1170000" cy="584280"/>
            <a:chOff x="14025600" y="8966160"/>
            <a:chExt cx="1170000" cy="584280"/>
          </a:xfrm>
        </p:grpSpPr>
        <p:sp>
          <p:nvSpPr>
            <p:cNvPr id="108" name="Freeform 26"/>
            <p:cNvSpPr/>
            <p:nvPr/>
          </p:nvSpPr>
          <p:spPr>
            <a:xfrm>
              <a:off x="1402560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9" name="TextBox 27"/>
            <p:cNvSpPr/>
            <p:nvPr/>
          </p:nvSpPr>
          <p:spPr>
            <a:xfrm>
              <a:off x="1428156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10" name="Group 28"/>
          <p:cNvGrpSpPr/>
          <p:nvPr/>
        </p:nvGrpSpPr>
        <p:grpSpPr>
          <a:xfrm>
            <a:off x="15057360" y="8966160"/>
            <a:ext cx="1170000" cy="584280"/>
            <a:chOff x="15057360" y="8966160"/>
            <a:chExt cx="1170000" cy="584280"/>
          </a:xfrm>
        </p:grpSpPr>
        <p:sp>
          <p:nvSpPr>
            <p:cNvPr id="111" name="Freeform 29"/>
            <p:cNvSpPr/>
            <p:nvPr/>
          </p:nvSpPr>
          <p:spPr>
            <a:xfrm>
              <a:off x="1505736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12" name="TextBox 30"/>
            <p:cNvSpPr/>
            <p:nvPr/>
          </p:nvSpPr>
          <p:spPr>
            <a:xfrm>
              <a:off x="1531332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13" name="Group 31"/>
          <p:cNvGrpSpPr/>
          <p:nvPr/>
        </p:nvGrpSpPr>
        <p:grpSpPr>
          <a:xfrm>
            <a:off x="16089480" y="8966160"/>
            <a:ext cx="1170000" cy="584280"/>
            <a:chOff x="16089480" y="8966160"/>
            <a:chExt cx="1170000" cy="584280"/>
          </a:xfrm>
        </p:grpSpPr>
        <p:sp>
          <p:nvSpPr>
            <p:cNvPr id="114" name="Freeform 32"/>
            <p:cNvSpPr/>
            <p:nvPr/>
          </p:nvSpPr>
          <p:spPr>
            <a:xfrm>
              <a:off x="1608948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15" name="TextBox 33"/>
            <p:cNvSpPr/>
            <p:nvPr/>
          </p:nvSpPr>
          <p:spPr>
            <a:xfrm>
              <a:off x="1634544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116" name="TextBox 34"/>
          <p:cNvSpPr/>
          <p:nvPr/>
        </p:nvSpPr>
        <p:spPr>
          <a:xfrm>
            <a:off x="11283840" y="8826480"/>
            <a:ext cx="463680" cy="1454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FFFFFF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1G</a:t>
            </a:r>
            <a:endParaRPr lang="en-US" sz="3100" b="1" u="none" strike="noStrike">
              <a:solidFill>
                <a:srgbClr val="FFFFFF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117" name="TextBox 35"/>
          <p:cNvSpPr/>
          <p:nvPr/>
        </p:nvSpPr>
        <p:spPr>
          <a:xfrm>
            <a:off x="12315960" y="8826480"/>
            <a:ext cx="63648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2G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118" name="TextBox 36"/>
          <p:cNvSpPr/>
          <p:nvPr/>
        </p:nvSpPr>
        <p:spPr>
          <a:xfrm>
            <a:off x="13349160" y="8826480"/>
            <a:ext cx="63504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3G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119" name="TextBox 37"/>
          <p:cNvSpPr/>
          <p:nvPr/>
        </p:nvSpPr>
        <p:spPr>
          <a:xfrm>
            <a:off x="14381280" y="8826480"/>
            <a:ext cx="63504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4G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120" name="TextBox 38"/>
          <p:cNvSpPr/>
          <p:nvPr/>
        </p:nvSpPr>
        <p:spPr>
          <a:xfrm>
            <a:off x="15413040" y="8826480"/>
            <a:ext cx="63648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5G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121" name="TextBox 39"/>
          <p:cNvSpPr/>
          <p:nvPr/>
        </p:nvSpPr>
        <p:spPr>
          <a:xfrm>
            <a:off x="16443360" y="8826480"/>
            <a:ext cx="63504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6G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pic>
        <p:nvPicPr>
          <p:cNvPr id="122" name="Picture 39" descr="1G"/>
          <p:cNvPicPr/>
          <p:nvPr/>
        </p:nvPicPr>
        <p:blipFill>
          <a:blip r:embed="rId2"/>
          <a:stretch>
            <a:fillRect/>
          </a:stretch>
        </p:blipFill>
        <p:spPr>
          <a:xfrm>
            <a:off x="9532800" y="2835360"/>
            <a:ext cx="8251920" cy="4583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Freeform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4" name="Group 3"/>
          <p:cNvGrpSpPr/>
          <p:nvPr/>
        </p:nvGrpSpPr>
        <p:grpSpPr>
          <a:xfrm>
            <a:off x="436680" y="492120"/>
            <a:ext cx="17414640" cy="9455040"/>
            <a:chOff x="436680" y="492120"/>
            <a:chExt cx="17414640" cy="9455040"/>
          </a:xfrm>
        </p:grpSpPr>
        <p:sp>
          <p:nvSpPr>
            <p:cNvPr id="125" name="Freeform 4"/>
            <p:cNvSpPr/>
            <p:nvPr/>
          </p:nvSpPr>
          <p:spPr>
            <a:xfrm>
              <a:off x="436680" y="669240"/>
              <a:ext cx="17414640" cy="9277920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noFill/>
            <a:ln w="19080" cap="rnd">
              <a:solidFill>
                <a:srgbClr val="162768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26" name="TextBox 5"/>
            <p:cNvSpPr/>
            <p:nvPr/>
          </p:nvSpPr>
          <p:spPr>
            <a:xfrm>
              <a:off x="436680" y="492120"/>
              <a:ext cx="17414640" cy="9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27" name="Group 6"/>
          <p:cNvGrpSpPr/>
          <p:nvPr/>
        </p:nvGrpSpPr>
        <p:grpSpPr>
          <a:xfrm>
            <a:off x="115920" y="4821120"/>
            <a:ext cx="642960" cy="644760"/>
            <a:chOff x="115920" y="4821120"/>
            <a:chExt cx="642960" cy="644760"/>
          </a:xfrm>
        </p:grpSpPr>
        <p:sp>
          <p:nvSpPr>
            <p:cNvPr id="128" name="Freeform 7"/>
            <p:cNvSpPr/>
            <p:nvPr/>
          </p:nvSpPr>
          <p:spPr>
            <a:xfrm>
              <a:off x="1159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29" name="TextBox 8"/>
            <p:cNvSpPr/>
            <p:nvPr/>
          </p:nvSpPr>
          <p:spPr>
            <a:xfrm>
              <a:off x="1760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30" name="Group 10"/>
          <p:cNvGrpSpPr/>
          <p:nvPr/>
        </p:nvGrpSpPr>
        <p:grpSpPr>
          <a:xfrm>
            <a:off x="17529120" y="4821120"/>
            <a:ext cx="642960" cy="644760"/>
            <a:chOff x="17529120" y="4821120"/>
            <a:chExt cx="642960" cy="644760"/>
          </a:xfrm>
        </p:grpSpPr>
        <p:sp>
          <p:nvSpPr>
            <p:cNvPr id="131" name="Freeform 11"/>
            <p:cNvSpPr/>
            <p:nvPr/>
          </p:nvSpPr>
          <p:spPr>
            <a:xfrm>
              <a:off x="175291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32" name="TextBox 12"/>
            <p:cNvSpPr/>
            <p:nvPr/>
          </p:nvSpPr>
          <p:spPr>
            <a:xfrm>
              <a:off x="175892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133" name="TextBox 14"/>
          <p:cNvSpPr/>
          <p:nvPr/>
        </p:nvSpPr>
        <p:spPr>
          <a:xfrm>
            <a:off x="1424160" y="1486080"/>
            <a:ext cx="124696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1007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500" b="1" u="none" strike="noStrike">
                <a:solidFill>
                  <a:srgbClr val="1D348A"/>
                </a:solidFill>
                <a:effectLst/>
                <a:uFillTx/>
                <a:latin typeface="Calibri" panose="020F0502020204030204" charset="0"/>
                <a:ea typeface="Roca Two Heavy"/>
                <a:cs typeface="Calibri" panose="020F0502020204030204" charset="0"/>
              </a:rPr>
              <a:t>First Generation (1G) </a:t>
            </a:r>
            <a:endParaRPr lang="en-US" sz="9500" b="1" u="none" strike="noStrike">
              <a:solidFill>
                <a:srgbClr val="1D348A"/>
              </a:solidFill>
              <a:effectLst/>
              <a:uFillTx/>
              <a:latin typeface="Calibri" panose="020F0502020204030204" charset="0"/>
              <a:ea typeface="Roca Two Heavy"/>
              <a:cs typeface="Calibri" panose="020F0502020204030204" charset="0"/>
            </a:endParaRPr>
          </a:p>
        </p:txBody>
      </p:sp>
      <p:sp>
        <p:nvSpPr>
          <p:cNvPr id="134" name="TextBox 15"/>
          <p:cNvSpPr/>
          <p:nvPr/>
        </p:nvSpPr>
        <p:spPr>
          <a:xfrm>
            <a:off x="1424160" y="2624040"/>
            <a:ext cx="14392080" cy="4389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It was an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analog wireless technology — highly prone to interference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Limited to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voice calls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with no support for text or other software-based applications.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Initial paging networks were also considered part of 1G wireless networks.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135" name="Group 16"/>
          <p:cNvGrpSpPr/>
          <p:nvPr/>
        </p:nvGrpSpPr>
        <p:grpSpPr>
          <a:xfrm>
            <a:off x="10931400" y="8966160"/>
            <a:ext cx="1170000" cy="584280"/>
            <a:chOff x="10931400" y="8966160"/>
            <a:chExt cx="1170000" cy="584280"/>
          </a:xfrm>
        </p:grpSpPr>
        <p:sp>
          <p:nvSpPr>
            <p:cNvPr id="136" name="Freeform 17"/>
            <p:cNvSpPr/>
            <p:nvPr/>
          </p:nvSpPr>
          <p:spPr>
            <a:xfrm>
              <a:off x="1093140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348A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37" name="TextBox 18"/>
            <p:cNvSpPr/>
            <p:nvPr/>
          </p:nvSpPr>
          <p:spPr>
            <a:xfrm>
              <a:off x="1118736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38" name="Group 19"/>
          <p:cNvGrpSpPr/>
          <p:nvPr/>
        </p:nvGrpSpPr>
        <p:grpSpPr>
          <a:xfrm>
            <a:off x="11961720" y="8966160"/>
            <a:ext cx="1171800" cy="584280"/>
            <a:chOff x="11961720" y="8966160"/>
            <a:chExt cx="1171800" cy="584280"/>
          </a:xfrm>
        </p:grpSpPr>
        <p:sp>
          <p:nvSpPr>
            <p:cNvPr id="139" name="Freeform 20"/>
            <p:cNvSpPr/>
            <p:nvPr/>
          </p:nvSpPr>
          <p:spPr>
            <a:xfrm>
              <a:off x="11961720" y="9027360"/>
              <a:ext cx="11718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40" name="TextBox 21"/>
            <p:cNvSpPr/>
            <p:nvPr/>
          </p:nvSpPr>
          <p:spPr>
            <a:xfrm>
              <a:off x="12218040" y="8966160"/>
              <a:ext cx="80568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41" name="Group 22"/>
          <p:cNvGrpSpPr/>
          <p:nvPr/>
        </p:nvGrpSpPr>
        <p:grpSpPr>
          <a:xfrm>
            <a:off x="12993840" y="8966160"/>
            <a:ext cx="1170000" cy="584280"/>
            <a:chOff x="12993840" y="8966160"/>
            <a:chExt cx="1170000" cy="584280"/>
          </a:xfrm>
        </p:grpSpPr>
        <p:sp>
          <p:nvSpPr>
            <p:cNvPr id="142" name="Freeform 23"/>
            <p:cNvSpPr/>
            <p:nvPr/>
          </p:nvSpPr>
          <p:spPr>
            <a:xfrm>
              <a:off x="1299384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43" name="TextBox 24"/>
            <p:cNvSpPr/>
            <p:nvPr/>
          </p:nvSpPr>
          <p:spPr>
            <a:xfrm>
              <a:off x="1324980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44" name="Group 25"/>
          <p:cNvGrpSpPr/>
          <p:nvPr/>
        </p:nvGrpSpPr>
        <p:grpSpPr>
          <a:xfrm>
            <a:off x="14025600" y="8966160"/>
            <a:ext cx="1170000" cy="584280"/>
            <a:chOff x="14025600" y="8966160"/>
            <a:chExt cx="1170000" cy="584280"/>
          </a:xfrm>
        </p:grpSpPr>
        <p:sp>
          <p:nvSpPr>
            <p:cNvPr id="145" name="Freeform 26"/>
            <p:cNvSpPr/>
            <p:nvPr/>
          </p:nvSpPr>
          <p:spPr>
            <a:xfrm>
              <a:off x="1402560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46" name="TextBox 27"/>
            <p:cNvSpPr/>
            <p:nvPr/>
          </p:nvSpPr>
          <p:spPr>
            <a:xfrm>
              <a:off x="1428156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47" name="Group 28"/>
          <p:cNvGrpSpPr/>
          <p:nvPr/>
        </p:nvGrpSpPr>
        <p:grpSpPr>
          <a:xfrm>
            <a:off x="15057360" y="8966160"/>
            <a:ext cx="1170000" cy="584280"/>
            <a:chOff x="15057360" y="8966160"/>
            <a:chExt cx="1170000" cy="584280"/>
          </a:xfrm>
        </p:grpSpPr>
        <p:sp>
          <p:nvSpPr>
            <p:cNvPr id="148" name="Freeform 29"/>
            <p:cNvSpPr/>
            <p:nvPr/>
          </p:nvSpPr>
          <p:spPr>
            <a:xfrm>
              <a:off x="1505736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49" name="TextBox 30"/>
            <p:cNvSpPr/>
            <p:nvPr/>
          </p:nvSpPr>
          <p:spPr>
            <a:xfrm>
              <a:off x="1531332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50" name="Group 31"/>
          <p:cNvGrpSpPr/>
          <p:nvPr/>
        </p:nvGrpSpPr>
        <p:grpSpPr>
          <a:xfrm>
            <a:off x="16089480" y="8966160"/>
            <a:ext cx="1170000" cy="584280"/>
            <a:chOff x="16089480" y="8966160"/>
            <a:chExt cx="1170000" cy="584280"/>
          </a:xfrm>
        </p:grpSpPr>
        <p:sp>
          <p:nvSpPr>
            <p:cNvPr id="151" name="Freeform 32"/>
            <p:cNvSpPr/>
            <p:nvPr/>
          </p:nvSpPr>
          <p:spPr>
            <a:xfrm>
              <a:off x="1608948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52" name="TextBox 33"/>
            <p:cNvSpPr/>
            <p:nvPr/>
          </p:nvSpPr>
          <p:spPr>
            <a:xfrm>
              <a:off x="1634544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153" name="TextBox 34"/>
          <p:cNvSpPr/>
          <p:nvPr/>
        </p:nvSpPr>
        <p:spPr>
          <a:xfrm>
            <a:off x="11283840" y="8826480"/>
            <a:ext cx="463680" cy="1454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FFFFFF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1G</a:t>
            </a:r>
            <a:endParaRPr lang="en-US" sz="3100" b="1" u="none" strike="noStrike">
              <a:solidFill>
                <a:srgbClr val="FFFFFF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154" name="TextBox 35"/>
          <p:cNvSpPr/>
          <p:nvPr/>
        </p:nvSpPr>
        <p:spPr>
          <a:xfrm>
            <a:off x="12315960" y="8826480"/>
            <a:ext cx="63648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2G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155" name="TextBox 36"/>
          <p:cNvSpPr/>
          <p:nvPr/>
        </p:nvSpPr>
        <p:spPr>
          <a:xfrm>
            <a:off x="13349160" y="8826480"/>
            <a:ext cx="63504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3G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156" name="TextBox 37"/>
          <p:cNvSpPr/>
          <p:nvPr/>
        </p:nvSpPr>
        <p:spPr>
          <a:xfrm>
            <a:off x="14381280" y="8826480"/>
            <a:ext cx="63504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4G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157" name="TextBox 38"/>
          <p:cNvSpPr/>
          <p:nvPr/>
        </p:nvSpPr>
        <p:spPr>
          <a:xfrm>
            <a:off x="15413040" y="8826480"/>
            <a:ext cx="63648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5G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158" name="TextBox 39"/>
          <p:cNvSpPr/>
          <p:nvPr/>
        </p:nvSpPr>
        <p:spPr>
          <a:xfrm>
            <a:off x="16443360" y="8826480"/>
            <a:ext cx="63504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6G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Freeform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60" name="Group 3"/>
          <p:cNvGrpSpPr/>
          <p:nvPr/>
        </p:nvGrpSpPr>
        <p:grpSpPr>
          <a:xfrm>
            <a:off x="174600" y="447840"/>
            <a:ext cx="17413200" cy="9456480"/>
            <a:chOff x="174600" y="447840"/>
            <a:chExt cx="17413200" cy="9456480"/>
          </a:xfrm>
        </p:grpSpPr>
        <p:sp>
          <p:nvSpPr>
            <p:cNvPr id="161" name="Freeform 4"/>
            <p:cNvSpPr/>
            <p:nvPr/>
          </p:nvSpPr>
          <p:spPr>
            <a:xfrm>
              <a:off x="174600" y="624960"/>
              <a:ext cx="17413200" cy="9279360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noFill/>
            <a:ln w="19080" cap="rnd">
              <a:solidFill>
                <a:srgbClr val="162768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62" name="TextBox 5"/>
            <p:cNvSpPr/>
            <p:nvPr/>
          </p:nvSpPr>
          <p:spPr>
            <a:xfrm>
              <a:off x="174600" y="447840"/>
              <a:ext cx="17413200" cy="945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63" name="Group 6"/>
          <p:cNvGrpSpPr/>
          <p:nvPr/>
        </p:nvGrpSpPr>
        <p:grpSpPr>
          <a:xfrm>
            <a:off x="115920" y="4821120"/>
            <a:ext cx="642960" cy="644760"/>
            <a:chOff x="115920" y="4821120"/>
            <a:chExt cx="642960" cy="644760"/>
          </a:xfrm>
        </p:grpSpPr>
        <p:sp>
          <p:nvSpPr>
            <p:cNvPr id="164" name="Freeform 7"/>
            <p:cNvSpPr/>
            <p:nvPr/>
          </p:nvSpPr>
          <p:spPr>
            <a:xfrm>
              <a:off x="1159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65" name="TextBox 8"/>
            <p:cNvSpPr/>
            <p:nvPr/>
          </p:nvSpPr>
          <p:spPr>
            <a:xfrm>
              <a:off x="1760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66" name="Group 10"/>
          <p:cNvGrpSpPr/>
          <p:nvPr/>
        </p:nvGrpSpPr>
        <p:grpSpPr>
          <a:xfrm>
            <a:off x="17529120" y="4821120"/>
            <a:ext cx="642960" cy="644760"/>
            <a:chOff x="17529120" y="4821120"/>
            <a:chExt cx="642960" cy="644760"/>
          </a:xfrm>
        </p:grpSpPr>
        <p:sp>
          <p:nvSpPr>
            <p:cNvPr id="167" name="Freeform 11"/>
            <p:cNvSpPr/>
            <p:nvPr/>
          </p:nvSpPr>
          <p:spPr>
            <a:xfrm>
              <a:off x="175291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68" name="TextBox 12"/>
            <p:cNvSpPr/>
            <p:nvPr/>
          </p:nvSpPr>
          <p:spPr>
            <a:xfrm>
              <a:off x="175892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169" name="TextBox 14"/>
          <p:cNvSpPr/>
          <p:nvPr/>
        </p:nvSpPr>
        <p:spPr>
          <a:xfrm>
            <a:off x="1252440" y="1116000"/>
            <a:ext cx="124682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1007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500" b="1" u="none" strike="noStrike">
                <a:solidFill>
                  <a:srgbClr val="1D348A"/>
                </a:solidFill>
                <a:effectLst/>
                <a:uFillTx/>
                <a:latin typeface="Calibri" panose="020F0502020204030204" charset="0"/>
                <a:ea typeface="Roca Two Heavy"/>
                <a:cs typeface="Calibri" panose="020F0502020204030204" charset="0"/>
              </a:rPr>
              <a:t>Second Generation (2G) </a:t>
            </a:r>
            <a:endParaRPr lang="en-US" sz="9500" b="1" u="none" strike="noStrike">
              <a:solidFill>
                <a:srgbClr val="1D348A"/>
              </a:solidFill>
              <a:effectLst/>
              <a:uFillTx/>
              <a:latin typeface="Calibri" panose="020F0502020204030204" charset="0"/>
              <a:ea typeface="Roca Two Heavy"/>
              <a:cs typeface="Calibri" panose="020F0502020204030204" charset="0"/>
            </a:endParaRPr>
          </a:p>
        </p:txBody>
      </p:sp>
      <p:sp>
        <p:nvSpPr>
          <p:cNvPr id="170" name="TextBox 15"/>
          <p:cNvSpPr/>
          <p:nvPr/>
        </p:nvSpPr>
        <p:spPr>
          <a:xfrm>
            <a:off x="550800" y="2241720"/>
            <a:ext cx="10530000" cy="2194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Evolved from the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1G analog networks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to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digital networks.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Supported: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171" name="Group 16"/>
          <p:cNvGrpSpPr/>
          <p:nvPr/>
        </p:nvGrpSpPr>
        <p:grpSpPr>
          <a:xfrm>
            <a:off x="10931400" y="8966160"/>
            <a:ext cx="1170000" cy="584280"/>
            <a:chOff x="10931400" y="8966160"/>
            <a:chExt cx="1170000" cy="584280"/>
          </a:xfrm>
        </p:grpSpPr>
        <p:sp>
          <p:nvSpPr>
            <p:cNvPr id="172" name="Freeform 17"/>
            <p:cNvSpPr/>
            <p:nvPr/>
          </p:nvSpPr>
          <p:spPr>
            <a:xfrm>
              <a:off x="1093140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73" name="TextBox 18"/>
            <p:cNvSpPr/>
            <p:nvPr/>
          </p:nvSpPr>
          <p:spPr>
            <a:xfrm>
              <a:off x="1118736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74" name="Group 19"/>
          <p:cNvGrpSpPr/>
          <p:nvPr/>
        </p:nvGrpSpPr>
        <p:grpSpPr>
          <a:xfrm>
            <a:off x="11961720" y="8966160"/>
            <a:ext cx="1171800" cy="584280"/>
            <a:chOff x="11961720" y="8966160"/>
            <a:chExt cx="1171800" cy="584280"/>
          </a:xfrm>
        </p:grpSpPr>
        <p:sp>
          <p:nvSpPr>
            <p:cNvPr id="175" name="Freeform 20"/>
            <p:cNvSpPr/>
            <p:nvPr/>
          </p:nvSpPr>
          <p:spPr>
            <a:xfrm>
              <a:off x="11961720" y="9027360"/>
              <a:ext cx="11718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348A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76" name="TextBox 21"/>
            <p:cNvSpPr/>
            <p:nvPr/>
          </p:nvSpPr>
          <p:spPr>
            <a:xfrm>
              <a:off x="12218040" y="8966160"/>
              <a:ext cx="80568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77" name="Group 22"/>
          <p:cNvGrpSpPr/>
          <p:nvPr/>
        </p:nvGrpSpPr>
        <p:grpSpPr>
          <a:xfrm>
            <a:off x="12993840" y="8966160"/>
            <a:ext cx="1170000" cy="584280"/>
            <a:chOff x="12993840" y="8966160"/>
            <a:chExt cx="1170000" cy="584280"/>
          </a:xfrm>
        </p:grpSpPr>
        <p:sp>
          <p:nvSpPr>
            <p:cNvPr id="178" name="Freeform 23"/>
            <p:cNvSpPr/>
            <p:nvPr/>
          </p:nvSpPr>
          <p:spPr>
            <a:xfrm>
              <a:off x="1299384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79" name="TextBox 24"/>
            <p:cNvSpPr/>
            <p:nvPr/>
          </p:nvSpPr>
          <p:spPr>
            <a:xfrm>
              <a:off x="1324980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80" name="Group 25"/>
          <p:cNvGrpSpPr/>
          <p:nvPr/>
        </p:nvGrpSpPr>
        <p:grpSpPr>
          <a:xfrm>
            <a:off x="14025600" y="8966160"/>
            <a:ext cx="1170000" cy="584280"/>
            <a:chOff x="14025600" y="8966160"/>
            <a:chExt cx="1170000" cy="584280"/>
          </a:xfrm>
        </p:grpSpPr>
        <p:sp>
          <p:nvSpPr>
            <p:cNvPr id="181" name="Freeform 26"/>
            <p:cNvSpPr/>
            <p:nvPr/>
          </p:nvSpPr>
          <p:spPr>
            <a:xfrm>
              <a:off x="1402560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82" name="TextBox 27"/>
            <p:cNvSpPr/>
            <p:nvPr/>
          </p:nvSpPr>
          <p:spPr>
            <a:xfrm>
              <a:off x="1428156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83" name="Group 28"/>
          <p:cNvGrpSpPr/>
          <p:nvPr/>
        </p:nvGrpSpPr>
        <p:grpSpPr>
          <a:xfrm>
            <a:off x="15057360" y="8966160"/>
            <a:ext cx="1170000" cy="584280"/>
            <a:chOff x="15057360" y="8966160"/>
            <a:chExt cx="1170000" cy="584280"/>
          </a:xfrm>
        </p:grpSpPr>
        <p:sp>
          <p:nvSpPr>
            <p:cNvPr id="184" name="Freeform 29"/>
            <p:cNvSpPr/>
            <p:nvPr/>
          </p:nvSpPr>
          <p:spPr>
            <a:xfrm>
              <a:off x="1505736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85" name="TextBox 30"/>
            <p:cNvSpPr/>
            <p:nvPr/>
          </p:nvSpPr>
          <p:spPr>
            <a:xfrm>
              <a:off x="1531332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86" name="Group 31"/>
          <p:cNvGrpSpPr/>
          <p:nvPr/>
        </p:nvGrpSpPr>
        <p:grpSpPr>
          <a:xfrm>
            <a:off x="16089480" y="8966160"/>
            <a:ext cx="1170000" cy="584280"/>
            <a:chOff x="16089480" y="8966160"/>
            <a:chExt cx="1170000" cy="584280"/>
          </a:xfrm>
        </p:grpSpPr>
        <p:sp>
          <p:nvSpPr>
            <p:cNvPr id="187" name="Freeform 32"/>
            <p:cNvSpPr/>
            <p:nvPr/>
          </p:nvSpPr>
          <p:spPr>
            <a:xfrm>
              <a:off x="1608948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88" name="TextBox 33"/>
            <p:cNvSpPr/>
            <p:nvPr/>
          </p:nvSpPr>
          <p:spPr>
            <a:xfrm>
              <a:off x="1634544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189" name="TextBox 34"/>
          <p:cNvSpPr/>
          <p:nvPr/>
        </p:nvSpPr>
        <p:spPr>
          <a:xfrm>
            <a:off x="11283840" y="8826480"/>
            <a:ext cx="463680" cy="1454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1G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190" name="TextBox 35"/>
          <p:cNvSpPr/>
          <p:nvPr/>
        </p:nvSpPr>
        <p:spPr>
          <a:xfrm>
            <a:off x="12315960" y="8826480"/>
            <a:ext cx="63648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FFFFFF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2G</a:t>
            </a:r>
            <a:endParaRPr lang="en-US" sz="3100" b="1" u="none" strike="noStrike">
              <a:solidFill>
                <a:srgbClr val="FFFFFF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191" name="TextBox 36"/>
          <p:cNvSpPr/>
          <p:nvPr/>
        </p:nvSpPr>
        <p:spPr>
          <a:xfrm>
            <a:off x="13349160" y="8826480"/>
            <a:ext cx="63504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3G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192" name="TextBox 37"/>
          <p:cNvSpPr/>
          <p:nvPr/>
        </p:nvSpPr>
        <p:spPr>
          <a:xfrm>
            <a:off x="14381280" y="8826480"/>
            <a:ext cx="63504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4G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193" name="TextBox 38"/>
          <p:cNvSpPr/>
          <p:nvPr/>
        </p:nvSpPr>
        <p:spPr>
          <a:xfrm>
            <a:off x="15413040" y="8826480"/>
            <a:ext cx="63648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5G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194" name="TextBox 39"/>
          <p:cNvSpPr/>
          <p:nvPr/>
        </p:nvSpPr>
        <p:spPr>
          <a:xfrm>
            <a:off x="16443360" y="8826480"/>
            <a:ext cx="63504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6G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195" name="TextBox 40"/>
          <p:cNvSpPr/>
          <p:nvPr/>
        </p:nvSpPr>
        <p:spPr>
          <a:xfrm>
            <a:off x="3182760" y="3230640"/>
            <a:ext cx="6981840" cy="223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Voice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Text messaging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Multimedia messages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Very low-speed Internet services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96" name="TextBox 41"/>
          <p:cNvSpPr/>
          <p:nvPr/>
        </p:nvSpPr>
        <p:spPr>
          <a:xfrm>
            <a:off x="176040" y="6094440"/>
            <a:ext cx="14205240" cy="3278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Operated at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900 MHz and 1800 MHz bands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Used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Time Division Multiple Access (TDMA)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instead of FDMA.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GPRS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and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EDGE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were introduced to improve Internet speed.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GSM (Global System for Mobile Communication)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was launched in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1991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in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Finland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197" name="Picture 41" descr="2G"/>
          <p:cNvPicPr/>
          <p:nvPr/>
        </p:nvPicPr>
        <p:blipFill>
          <a:blip r:embed="rId2"/>
          <a:stretch>
            <a:fillRect/>
          </a:stretch>
        </p:blipFill>
        <p:spPr>
          <a:xfrm>
            <a:off x="9539280" y="2933640"/>
            <a:ext cx="7947000" cy="4075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Freeform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99" name="Group 3"/>
          <p:cNvGrpSpPr/>
          <p:nvPr/>
        </p:nvGrpSpPr>
        <p:grpSpPr>
          <a:xfrm>
            <a:off x="436680" y="415800"/>
            <a:ext cx="17414640" cy="9455400"/>
            <a:chOff x="436680" y="415800"/>
            <a:chExt cx="17414640" cy="9455400"/>
          </a:xfrm>
        </p:grpSpPr>
        <p:sp>
          <p:nvSpPr>
            <p:cNvPr id="200" name="Freeform 4"/>
            <p:cNvSpPr/>
            <p:nvPr/>
          </p:nvSpPr>
          <p:spPr>
            <a:xfrm>
              <a:off x="436680" y="592920"/>
              <a:ext cx="17414640" cy="9278280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noFill/>
            <a:ln w="19080" cap="rnd">
              <a:solidFill>
                <a:srgbClr val="162768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01" name="TextBox 5"/>
            <p:cNvSpPr/>
            <p:nvPr/>
          </p:nvSpPr>
          <p:spPr>
            <a:xfrm>
              <a:off x="436680" y="415800"/>
              <a:ext cx="17414640" cy="9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202" name="Group 6"/>
          <p:cNvGrpSpPr/>
          <p:nvPr/>
        </p:nvGrpSpPr>
        <p:grpSpPr>
          <a:xfrm>
            <a:off x="115920" y="4821120"/>
            <a:ext cx="642960" cy="644760"/>
            <a:chOff x="115920" y="4821120"/>
            <a:chExt cx="642960" cy="644760"/>
          </a:xfrm>
        </p:grpSpPr>
        <p:sp>
          <p:nvSpPr>
            <p:cNvPr id="203" name="Freeform 7"/>
            <p:cNvSpPr/>
            <p:nvPr/>
          </p:nvSpPr>
          <p:spPr>
            <a:xfrm>
              <a:off x="1159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04" name="TextBox 8"/>
            <p:cNvSpPr/>
            <p:nvPr/>
          </p:nvSpPr>
          <p:spPr>
            <a:xfrm>
              <a:off x="1760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205" name="Group 10"/>
          <p:cNvGrpSpPr/>
          <p:nvPr/>
        </p:nvGrpSpPr>
        <p:grpSpPr>
          <a:xfrm>
            <a:off x="17529120" y="4821120"/>
            <a:ext cx="642960" cy="644760"/>
            <a:chOff x="17529120" y="4821120"/>
            <a:chExt cx="642960" cy="644760"/>
          </a:xfrm>
        </p:grpSpPr>
        <p:sp>
          <p:nvSpPr>
            <p:cNvPr id="206" name="Freeform 11"/>
            <p:cNvSpPr/>
            <p:nvPr/>
          </p:nvSpPr>
          <p:spPr>
            <a:xfrm>
              <a:off x="175291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07" name="TextBox 12"/>
            <p:cNvSpPr/>
            <p:nvPr/>
          </p:nvSpPr>
          <p:spPr>
            <a:xfrm>
              <a:off x="175892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208" name="Freeform 13"/>
          <p:cNvSpPr/>
          <p:nvPr/>
        </p:nvSpPr>
        <p:spPr>
          <a:xfrm>
            <a:off x="17637120" y="4923000"/>
            <a:ext cx="426960" cy="441000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09" name="TextBox 14"/>
          <p:cNvSpPr/>
          <p:nvPr/>
        </p:nvSpPr>
        <p:spPr>
          <a:xfrm>
            <a:off x="496800" y="520560"/>
            <a:ext cx="13223880" cy="1911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1007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500" b="1" u="none" strike="noStrike">
                <a:solidFill>
                  <a:srgbClr val="1D348A"/>
                </a:solidFill>
                <a:effectLst/>
                <a:uFillTx/>
                <a:latin typeface="Calibri" panose="020F0502020204030204" charset="0"/>
                <a:ea typeface="Roca Two Heavy"/>
                <a:cs typeface="Calibri" panose="020F0502020204030204" charset="0"/>
              </a:rPr>
              <a:t>Third Generation (3G) </a:t>
            </a:r>
            <a:endParaRPr lang="en-US" sz="9500" b="1" u="none" strike="noStrike">
              <a:solidFill>
                <a:srgbClr val="1D348A"/>
              </a:solidFill>
              <a:effectLst/>
              <a:uFillTx/>
              <a:latin typeface="Calibri" panose="020F0502020204030204" charset="0"/>
              <a:ea typeface="Roca Two Heavy"/>
              <a:cs typeface="Calibri" panose="020F0502020204030204" charset="0"/>
            </a:endParaRPr>
          </a:p>
        </p:txBody>
      </p:sp>
      <p:sp>
        <p:nvSpPr>
          <p:cNvPr id="210" name="TextBox 15"/>
          <p:cNvSpPr/>
          <p:nvPr/>
        </p:nvSpPr>
        <p:spPr>
          <a:xfrm>
            <a:off x="262080" y="1527120"/>
            <a:ext cx="11707560" cy="7365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based on the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core structure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of wireless network governed by the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Universal Mobile Telecommunication System (UMTS)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standard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Designed to provide better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Internet speed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and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 performance.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Example: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IS95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(Interim Standard 95) used in the USA,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CDMA-One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,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CDMA2000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offered better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speeds up to 21.6 Mbp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s under HSPA + (Evolved High Speed Packet Access plus)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Initially supported speeds of up to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2 Mbps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Started utilizing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packet switching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to improve data throughput and transmission performance.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Operated at 2100 MHz with 15–20 MHz channel bands.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211" name="Group 16"/>
          <p:cNvGrpSpPr/>
          <p:nvPr/>
        </p:nvGrpSpPr>
        <p:grpSpPr>
          <a:xfrm>
            <a:off x="10931400" y="8966160"/>
            <a:ext cx="1170000" cy="584280"/>
            <a:chOff x="10931400" y="8966160"/>
            <a:chExt cx="1170000" cy="584280"/>
          </a:xfrm>
        </p:grpSpPr>
        <p:sp>
          <p:nvSpPr>
            <p:cNvPr id="212" name="Freeform 17"/>
            <p:cNvSpPr/>
            <p:nvPr/>
          </p:nvSpPr>
          <p:spPr>
            <a:xfrm>
              <a:off x="1093140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13" name="TextBox 18"/>
            <p:cNvSpPr/>
            <p:nvPr/>
          </p:nvSpPr>
          <p:spPr>
            <a:xfrm>
              <a:off x="1118736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214" name="Group 19"/>
          <p:cNvGrpSpPr/>
          <p:nvPr/>
        </p:nvGrpSpPr>
        <p:grpSpPr>
          <a:xfrm>
            <a:off x="11961720" y="8966160"/>
            <a:ext cx="1171800" cy="584280"/>
            <a:chOff x="11961720" y="8966160"/>
            <a:chExt cx="1171800" cy="584280"/>
          </a:xfrm>
        </p:grpSpPr>
        <p:sp>
          <p:nvSpPr>
            <p:cNvPr id="215" name="Freeform 20"/>
            <p:cNvSpPr/>
            <p:nvPr/>
          </p:nvSpPr>
          <p:spPr>
            <a:xfrm>
              <a:off x="11961720" y="9027360"/>
              <a:ext cx="11718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16" name="TextBox 21"/>
            <p:cNvSpPr/>
            <p:nvPr/>
          </p:nvSpPr>
          <p:spPr>
            <a:xfrm>
              <a:off x="12218040" y="8966160"/>
              <a:ext cx="80568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217" name="Group 22"/>
          <p:cNvGrpSpPr/>
          <p:nvPr/>
        </p:nvGrpSpPr>
        <p:grpSpPr>
          <a:xfrm>
            <a:off x="12993840" y="8966160"/>
            <a:ext cx="1170000" cy="584280"/>
            <a:chOff x="12993840" y="8966160"/>
            <a:chExt cx="1170000" cy="584280"/>
          </a:xfrm>
        </p:grpSpPr>
        <p:sp>
          <p:nvSpPr>
            <p:cNvPr id="218" name="Freeform 23"/>
            <p:cNvSpPr/>
            <p:nvPr/>
          </p:nvSpPr>
          <p:spPr>
            <a:xfrm>
              <a:off x="1299384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348A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19" name="TextBox 24"/>
            <p:cNvSpPr/>
            <p:nvPr/>
          </p:nvSpPr>
          <p:spPr>
            <a:xfrm>
              <a:off x="1324980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220" name="Group 25"/>
          <p:cNvGrpSpPr/>
          <p:nvPr/>
        </p:nvGrpSpPr>
        <p:grpSpPr>
          <a:xfrm>
            <a:off x="14025600" y="8966160"/>
            <a:ext cx="1170000" cy="584280"/>
            <a:chOff x="14025600" y="8966160"/>
            <a:chExt cx="1170000" cy="584280"/>
          </a:xfrm>
        </p:grpSpPr>
        <p:sp>
          <p:nvSpPr>
            <p:cNvPr id="221" name="Freeform 26"/>
            <p:cNvSpPr/>
            <p:nvPr/>
          </p:nvSpPr>
          <p:spPr>
            <a:xfrm>
              <a:off x="1402560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22" name="TextBox 27"/>
            <p:cNvSpPr/>
            <p:nvPr/>
          </p:nvSpPr>
          <p:spPr>
            <a:xfrm>
              <a:off x="1428156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223" name="Group 28"/>
          <p:cNvGrpSpPr/>
          <p:nvPr/>
        </p:nvGrpSpPr>
        <p:grpSpPr>
          <a:xfrm>
            <a:off x="15057360" y="8966160"/>
            <a:ext cx="1170000" cy="584280"/>
            <a:chOff x="15057360" y="8966160"/>
            <a:chExt cx="1170000" cy="584280"/>
          </a:xfrm>
        </p:grpSpPr>
        <p:sp>
          <p:nvSpPr>
            <p:cNvPr id="224" name="Freeform 29"/>
            <p:cNvSpPr/>
            <p:nvPr/>
          </p:nvSpPr>
          <p:spPr>
            <a:xfrm>
              <a:off x="1505736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25" name="TextBox 30"/>
            <p:cNvSpPr/>
            <p:nvPr/>
          </p:nvSpPr>
          <p:spPr>
            <a:xfrm>
              <a:off x="1531332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226" name="Group 31"/>
          <p:cNvGrpSpPr/>
          <p:nvPr/>
        </p:nvGrpSpPr>
        <p:grpSpPr>
          <a:xfrm>
            <a:off x="16089480" y="8966160"/>
            <a:ext cx="1170000" cy="584280"/>
            <a:chOff x="16089480" y="8966160"/>
            <a:chExt cx="1170000" cy="584280"/>
          </a:xfrm>
        </p:grpSpPr>
        <p:sp>
          <p:nvSpPr>
            <p:cNvPr id="227" name="Freeform 32"/>
            <p:cNvSpPr/>
            <p:nvPr/>
          </p:nvSpPr>
          <p:spPr>
            <a:xfrm>
              <a:off x="1608948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28" name="TextBox 33"/>
            <p:cNvSpPr/>
            <p:nvPr/>
          </p:nvSpPr>
          <p:spPr>
            <a:xfrm>
              <a:off x="1634544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229" name="TextBox 34"/>
          <p:cNvSpPr/>
          <p:nvPr/>
        </p:nvSpPr>
        <p:spPr>
          <a:xfrm>
            <a:off x="11283840" y="8826480"/>
            <a:ext cx="463680" cy="1454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1G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230" name="TextBox 35"/>
          <p:cNvSpPr/>
          <p:nvPr/>
        </p:nvSpPr>
        <p:spPr>
          <a:xfrm>
            <a:off x="12315960" y="8826480"/>
            <a:ext cx="63648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2G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231" name="TextBox 36"/>
          <p:cNvSpPr/>
          <p:nvPr/>
        </p:nvSpPr>
        <p:spPr>
          <a:xfrm>
            <a:off x="13349160" y="8826480"/>
            <a:ext cx="63504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FFFFFF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3G</a:t>
            </a:r>
            <a:endParaRPr lang="en-US" sz="3100" b="1" u="none" strike="noStrike">
              <a:solidFill>
                <a:srgbClr val="FFFFFF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232" name="TextBox 37"/>
          <p:cNvSpPr/>
          <p:nvPr/>
        </p:nvSpPr>
        <p:spPr>
          <a:xfrm>
            <a:off x="14381280" y="8826480"/>
            <a:ext cx="63504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4G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233" name="TextBox 38"/>
          <p:cNvSpPr/>
          <p:nvPr/>
        </p:nvSpPr>
        <p:spPr>
          <a:xfrm>
            <a:off x="15413040" y="8826480"/>
            <a:ext cx="63648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5G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234" name="TextBox 39"/>
          <p:cNvSpPr/>
          <p:nvPr/>
        </p:nvSpPr>
        <p:spPr>
          <a:xfrm>
            <a:off x="16443360" y="8826480"/>
            <a:ext cx="63504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6G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pic>
        <p:nvPicPr>
          <p:cNvPr id="235" name="Picture 39" descr="3G"/>
          <p:cNvPicPr/>
          <p:nvPr/>
        </p:nvPicPr>
        <p:blipFill>
          <a:blip r:embed="rId3"/>
          <a:stretch>
            <a:fillRect/>
          </a:stretch>
        </p:blipFill>
        <p:spPr>
          <a:xfrm>
            <a:off x="11979360" y="2089080"/>
            <a:ext cx="6343560" cy="61293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Freeform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37" name="Group 3"/>
          <p:cNvGrpSpPr/>
          <p:nvPr/>
        </p:nvGrpSpPr>
        <p:grpSpPr>
          <a:xfrm>
            <a:off x="436680" y="415800"/>
            <a:ext cx="17414640" cy="9455400"/>
            <a:chOff x="436680" y="415800"/>
            <a:chExt cx="17414640" cy="9455400"/>
          </a:xfrm>
        </p:grpSpPr>
        <p:sp>
          <p:nvSpPr>
            <p:cNvPr id="238" name="Freeform 4"/>
            <p:cNvSpPr/>
            <p:nvPr/>
          </p:nvSpPr>
          <p:spPr>
            <a:xfrm>
              <a:off x="436680" y="592920"/>
              <a:ext cx="17414640" cy="9278280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noFill/>
            <a:ln w="19080" cap="rnd">
              <a:solidFill>
                <a:srgbClr val="162768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39" name="TextBox 5"/>
            <p:cNvSpPr/>
            <p:nvPr/>
          </p:nvSpPr>
          <p:spPr>
            <a:xfrm>
              <a:off x="436680" y="415800"/>
              <a:ext cx="17414640" cy="9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240" name="Group 6"/>
          <p:cNvGrpSpPr/>
          <p:nvPr/>
        </p:nvGrpSpPr>
        <p:grpSpPr>
          <a:xfrm>
            <a:off x="115920" y="4821120"/>
            <a:ext cx="642960" cy="644760"/>
            <a:chOff x="115920" y="4821120"/>
            <a:chExt cx="642960" cy="644760"/>
          </a:xfrm>
        </p:grpSpPr>
        <p:sp>
          <p:nvSpPr>
            <p:cNvPr id="241" name="Freeform 7"/>
            <p:cNvSpPr/>
            <p:nvPr/>
          </p:nvSpPr>
          <p:spPr>
            <a:xfrm>
              <a:off x="1159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42" name="TextBox 8"/>
            <p:cNvSpPr/>
            <p:nvPr/>
          </p:nvSpPr>
          <p:spPr>
            <a:xfrm>
              <a:off x="1760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243" name="Group 10"/>
          <p:cNvGrpSpPr/>
          <p:nvPr/>
        </p:nvGrpSpPr>
        <p:grpSpPr>
          <a:xfrm>
            <a:off x="17529120" y="4821120"/>
            <a:ext cx="642960" cy="644760"/>
            <a:chOff x="17529120" y="4821120"/>
            <a:chExt cx="642960" cy="644760"/>
          </a:xfrm>
        </p:grpSpPr>
        <p:sp>
          <p:nvSpPr>
            <p:cNvPr id="244" name="Freeform 11"/>
            <p:cNvSpPr/>
            <p:nvPr/>
          </p:nvSpPr>
          <p:spPr>
            <a:xfrm>
              <a:off x="175291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45" name="TextBox 12"/>
            <p:cNvSpPr/>
            <p:nvPr/>
          </p:nvSpPr>
          <p:spPr>
            <a:xfrm>
              <a:off x="175892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246" name="Freeform 13"/>
          <p:cNvSpPr/>
          <p:nvPr/>
        </p:nvSpPr>
        <p:spPr>
          <a:xfrm>
            <a:off x="17637120" y="4923000"/>
            <a:ext cx="426960" cy="441000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47" name="TextBox 14"/>
          <p:cNvSpPr/>
          <p:nvPr/>
        </p:nvSpPr>
        <p:spPr>
          <a:xfrm>
            <a:off x="480960" y="290520"/>
            <a:ext cx="12217320" cy="214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1007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500" b="1" u="none" strike="noStrike">
                <a:solidFill>
                  <a:srgbClr val="1D348A"/>
                </a:solidFill>
                <a:effectLst/>
                <a:uFillTx/>
                <a:latin typeface="Calibri" panose="020F0502020204030204" charset="0"/>
                <a:ea typeface="Roca Two Heavy"/>
                <a:cs typeface="Calibri" panose="020F0502020204030204" charset="0"/>
              </a:rPr>
              <a:t>Fourth Generation (4G) </a:t>
            </a:r>
            <a:endParaRPr lang="en-US" sz="9500" b="1" u="none" strike="noStrike">
              <a:solidFill>
                <a:srgbClr val="1D348A"/>
              </a:solidFill>
              <a:effectLst/>
              <a:uFillTx/>
              <a:latin typeface="Calibri" panose="020F0502020204030204" charset="0"/>
              <a:ea typeface="Roca Two Heavy"/>
              <a:cs typeface="Calibri" panose="020F0502020204030204" charset="0"/>
            </a:endParaRPr>
          </a:p>
        </p:txBody>
      </p:sp>
      <p:sp>
        <p:nvSpPr>
          <p:cNvPr id="248" name="TextBox 15"/>
          <p:cNvSpPr/>
          <p:nvPr/>
        </p:nvSpPr>
        <p:spPr>
          <a:xfrm>
            <a:off x="318960" y="1336680"/>
            <a:ext cx="10674360" cy="949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Developed under the 3rd Generation Partnership Project (3GPP).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The fundamental technology for the evolution of 4G is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Long Term Evolution (LTE).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Wi-Max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provided fixed and mobile wireless communication.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First 4G network was launched in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2009 in Norway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Released in two versions: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R8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and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R9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Uses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Orthogonal Frequency Division Multiplexing (OFDM).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Supports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Multiple Input and Multiple Output (MIMO)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for increased throughput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249" name="Group 16"/>
          <p:cNvGrpSpPr/>
          <p:nvPr/>
        </p:nvGrpSpPr>
        <p:grpSpPr>
          <a:xfrm>
            <a:off x="10931400" y="8966160"/>
            <a:ext cx="1170000" cy="584280"/>
            <a:chOff x="10931400" y="8966160"/>
            <a:chExt cx="1170000" cy="584280"/>
          </a:xfrm>
        </p:grpSpPr>
        <p:sp>
          <p:nvSpPr>
            <p:cNvPr id="250" name="Freeform 17"/>
            <p:cNvSpPr/>
            <p:nvPr/>
          </p:nvSpPr>
          <p:spPr>
            <a:xfrm>
              <a:off x="1093140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51" name="TextBox 18"/>
            <p:cNvSpPr/>
            <p:nvPr/>
          </p:nvSpPr>
          <p:spPr>
            <a:xfrm>
              <a:off x="1118736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252" name="Group 19"/>
          <p:cNvGrpSpPr/>
          <p:nvPr/>
        </p:nvGrpSpPr>
        <p:grpSpPr>
          <a:xfrm>
            <a:off x="11961720" y="8966160"/>
            <a:ext cx="1171800" cy="584280"/>
            <a:chOff x="11961720" y="8966160"/>
            <a:chExt cx="1171800" cy="584280"/>
          </a:xfrm>
        </p:grpSpPr>
        <p:sp>
          <p:nvSpPr>
            <p:cNvPr id="253" name="Freeform 20"/>
            <p:cNvSpPr/>
            <p:nvPr/>
          </p:nvSpPr>
          <p:spPr>
            <a:xfrm>
              <a:off x="11961720" y="9027360"/>
              <a:ext cx="11718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54" name="TextBox 21"/>
            <p:cNvSpPr/>
            <p:nvPr/>
          </p:nvSpPr>
          <p:spPr>
            <a:xfrm>
              <a:off x="12218040" y="8966160"/>
              <a:ext cx="80568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255" name="Group 22"/>
          <p:cNvGrpSpPr/>
          <p:nvPr/>
        </p:nvGrpSpPr>
        <p:grpSpPr>
          <a:xfrm>
            <a:off x="12993840" y="8966160"/>
            <a:ext cx="1170000" cy="584280"/>
            <a:chOff x="12993840" y="8966160"/>
            <a:chExt cx="1170000" cy="584280"/>
          </a:xfrm>
        </p:grpSpPr>
        <p:sp>
          <p:nvSpPr>
            <p:cNvPr id="256" name="Freeform 23"/>
            <p:cNvSpPr/>
            <p:nvPr/>
          </p:nvSpPr>
          <p:spPr>
            <a:xfrm>
              <a:off x="1299384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57" name="TextBox 24"/>
            <p:cNvSpPr/>
            <p:nvPr/>
          </p:nvSpPr>
          <p:spPr>
            <a:xfrm>
              <a:off x="1324980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258" name="Group 25"/>
          <p:cNvGrpSpPr/>
          <p:nvPr/>
        </p:nvGrpSpPr>
        <p:grpSpPr>
          <a:xfrm>
            <a:off x="14025600" y="8966160"/>
            <a:ext cx="1170000" cy="584280"/>
            <a:chOff x="14025600" y="8966160"/>
            <a:chExt cx="1170000" cy="584280"/>
          </a:xfrm>
        </p:grpSpPr>
        <p:sp>
          <p:nvSpPr>
            <p:cNvPr id="259" name="Freeform 26"/>
            <p:cNvSpPr/>
            <p:nvPr/>
          </p:nvSpPr>
          <p:spPr>
            <a:xfrm>
              <a:off x="1402560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348A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60" name="TextBox 27"/>
            <p:cNvSpPr/>
            <p:nvPr/>
          </p:nvSpPr>
          <p:spPr>
            <a:xfrm>
              <a:off x="1428156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261" name="Group 28"/>
          <p:cNvGrpSpPr/>
          <p:nvPr/>
        </p:nvGrpSpPr>
        <p:grpSpPr>
          <a:xfrm>
            <a:off x="15057360" y="8966160"/>
            <a:ext cx="1170000" cy="584280"/>
            <a:chOff x="15057360" y="8966160"/>
            <a:chExt cx="1170000" cy="584280"/>
          </a:xfrm>
        </p:grpSpPr>
        <p:sp>
          <p:nvSpPr>
            <p:cNvPr id="262" name="Freeform 29"/>
            <p:cNvSpPr/>
            <p:nvPr/>
          </p:nvSpPr>
          <p:spPr>
            <a:xfrm>
              <a:off x="1505736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63" name="TextBox 30"/>
            <p:cNvSpPr/>
            <p:nvPr/>
          </p:nvSpPr>
          <p:spPr>
            <a:xfrm>
              <a:off x="1531332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264" name="Group 31"/>
          <p:cNvGrpSpPr/>
          <p:nvPr/>
        </p:nvGrpSpPr>
        <p:grpSpPr>
          <a:xfrm>
            <a:off x="16089480" y="8966160"/>
            <a:ext cx="1170000" cy="584280"/>
            <a:chOff x="16089480" y="8966160"/>
            <a:chExt cx="1170000" cy="584280"/>
          </a:xfrm>
        </p:grpSpPr>
        <p:sp>
          <p:nvSpPr>
            <p:cNvPr id="265" name="Freeform 32"/>
            <p:cNvSpPr/>
            <p:nvPr/>
          </p:nvSpPr>
          <p:spPr>
            <a:xfrm>
              <a:off x="1608948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66" name="TextBox 33"/>
            <p:cNvSpPr/>
            <p:nvPr/>
          </p:nvSpPr>
          <p:spPr>
            <a:xfrm>
              <a:off x="1634544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267" name="TextBox 34"/>
          <p:cNvSpPr/>
          <p:nvPr/>
        </p:nvSpPr>
        <p:spPr>
          <a:xfrm>
            <a:off x="11283840" y="8826480"/>
            <a:ext cx="463680" cy="1454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1G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268" name="TextBox 35"/>
          <p:cNvSpPr/>
          <p:nvPr/>
        </p:nvSpPr>
        <p:spPr>
          <a:xfrm>
            <a:off x="12315960" y="8826480"/>
            <a:ext cx="63648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2G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269" name="TextBox 36"/>
          <p:cNvSpPr/>
          <p:nvPr/>
        </p:nvSpPr>
        <p:spPr>
          <a:xfrm>
            <a:off x="13349160" y="8826480"/>
            <a:ext cx="63504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3G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270" name="TextBox 37"/>
          <p:cNvSpPr/>
          <p:nvPr/>
        </p:nvSpPr>
        <p:spPr>
          <a:xfrm>
            <a:off x="14381280" y="8826480"/>
            <a:ext cx="63504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FFFFFF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4G</a:t>
            </a:r>
            <a:endParaRPr lang="en-US" sz="3100" b="1" u="none" strike="noStrike">
              <a:solidFill>
                <a:srgbClr val="FFFFFF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271" name="TextBox 38"/>
          <p:cNvSpPr/>
          <p:nvPr/>
        </p:nvSpPr>
        <p:spPr>
          <a:xfrm>
            <a:off x="15413040" y="8826480"/>
            <a:ext cx="63648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5G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272" name="TextBox 39"/>
          <p:cNvSpPr/>
          <p:nvPr/>
        </p:nvSpPr>
        <p:spPr>
          <a:xfrm>
            <a:off x="16443360" y="8826480"/>
            <a:ext cx="63504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6G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pic>
        <p:nvPicPr>
          <p:cNvPr id="273" name="Picture 39" descr="4G"/>
          <p:cNvPicPr/>
          <p:nvPr/>
        </p:nvPicPr>
        <p:blipFill>
          <a:blip r:embed="rId3"/>
          <a:stretch>
            <a:fillRect/>
          </a:stretch>
        </p:blipFill>
        <p:spPr>
          <a:xfrm>
            <a:off x="10814040" y="3336840"/>
            <a:ext cx="7115040" cy="4838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Freeform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75" name="Group 3"/>
          <p:cNvGrpSpPr/>
          <p:nvPr/>
        </p:nvGrpSpPr>
        <p:grpSpPr>
          <a:xfrm>
            <a:off x="436680" y="415800"/>
            <a:ext cx="17414640" cy="9455400"/>
            <a:chOff x="436680" y="415800"/>
            <a:chExt cx="17414640" cy="9455400"/>
          </a:xfrm>
        </p:grpSpPr>
        <p:sp>
          <p:nvSpPr>
            <p:cNvPr id="276" name="Freeform 4"/>
            <p:cNvSpPr/>
            <p:nvPr/>
          </p:nvSpPr>
          <p:spPr>
            <a:xfrm>
              <a:off x="436680" y="592920"/>
              <a:ext cx="17414640" cy="9278280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noFill/>
            <a:ln w="19080" cap="rnd">
              <a:solidFill>
                <a:srgbClr val="162768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77" name="TextBox 5"/>
            <p:cNvSpPr/>
            <p:nvPr/>
          </p:nvSpPr>
          <p:spPr>
            <a:xfrm>
              <a:off x="436680" y="415800"/>
              <a:ext cx="17414640" cy="9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278" name="Group 6"/>
          <p:cNvGrpSpPr/>
          <p:nvPr/>
        </p:nvGrpSpPr>
        <p:grpSpPr>
          <a:xfrm>
            <a:off x="115920" y="4821120"/>
            <a:ext cx="642960" cy="644760"/>
            <a:chOff x="115920" y="4821120"/>
            <a:chExt cx="642960" cy="644760"/>
          </a:xfrm>
        </p:grpSpPr>
        <p:sp>
          <p:nvSpPr>
            <p:cNvPr id="279" name="Freeform 7"/>
            <p:cNvSpPr/>
            <p:nvPr/>
          </p:nvSpPr>
          <p:spPr>
            <a:xfrm>
              <a:off x="1159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80" name="TextBox 8"/>
            <p:cNvSpPr/>
            <p:nvPr/>
          </p:nvSpPr>
          <p:spPr>
            <a:xfrm>
              <a:off x="1760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281" name="Group 10"/>
          <p:cNvGrpSpPr/>
          <p:nvPr/>
        </p:nvGrpSpPr>
        <p:grpSpPr>
          <a:xfrm>
            <a:off x="17529120" y="4821120"/>
            <a:ext cx="642960" cy="644760"/>
            <a:chOff x="17529120" y="4821120"/>
            <a:chExt cx="642960" cy="644760"/>
          </a:xfrm>
        </p:grpSpPr>
        <p:sp>
          <p:nvSpPr>
            <p:cNvPr id="282" name="Freeform 11"/>
            <p:cNvSpPr/>
            <p:nvPr/>
          </p:nvSpPr>
          <p:spPr>
            <a:xfrm>
              <a:off x="175291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83" name="TextBox 12"/>
            <p:cNvSpPr/>
            <p:nvPr/>
          </p:nvSpPr>
          <p:spPr>
            <a:xfrm>
              <a:off x="175892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284" name="TextBox 14"/>
          <p:cNvSpPr/>
          <p:nvPr/>
        </p:nvSpPr>
        <p:spPr>
          <a:xfrm>
            <a:off x="1252440" y="1116000"/>
            <a:ext cx="124682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1007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500" b="1" u="none" strike="noStrike">
                <a:solidFill>
                  <a:srgbClr val="1D348A"/>
                </a:solidFill>
                <a:effectLst/>
                <a:uFillTx/>
                <a:latin typeface="Calibri" panose="020F0502020204030204" charset="0"/>
                <a:ea typeface="Roca Two Heavy"/>
                <a:cs typeface="Calibri" panose="020F0502020204030204" charset="0"/>
              </a:rPr>
              <a:t>Fourth Generation (4G) </a:t>
            </a:r>
            <a:endParaRPr lang="en-US" sz="9500" b="1" u="none" strike="noStrike">
              <a:solidFill>
                <a:srgbClr val="1D348A"/>
              </a:solidFill>
              <a:effectLst/>
              <a:uFillTx/>
              <a:latin typeface="Calibri" panose="020F0502020204030204" charset="0"/>
              <a:ea typeface="Roca Two Heavy"/>
              <a:cs typeface="Calibri" panose="020F0502020204030204" charset="0"/>
            </a:endParaRPr>
          </a:p>
        </p:txBody>
      </p:sp>
      <p:sp>
        <p:nvSpPr>
          <p:cNvPr id="285" name="TextBox 15"/>
          <p:cNvSpPr/>
          <p:nvPr/>
        </p:nvSpPr>
        <p:spPr>
          <a:xfrm>
            <a:off x="1028880" y="2241720"/>
            <a:ext cx="14390640" cy="2194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Mostly operates at the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700 MHz band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Supports high-speed video streaming, voice, and multimedia services.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Peak speed: up to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50 Mbps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; real-world average: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 15–20 Mbps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286" name="Group 16"/>
          <p:cNvGrpSpPr/>
          <p:nvPr/>
        </p:nvGrpSpPr>
        <p:grpSpPr>
          <a:xfrm>
            <a:off x="10931400" y="8966160"/>
            <a:ext cx="1170000" cy="584280"/>
            <a:chOff x="10931400" y="8966160"/>
            <a:chExt cx="1170000" cy="584280"/>
          </a:xfrm>
        </p:grpSpPr>
        <p:sp>
          <p:nvSpPr>
            <p:cNvPr id="287" name="Freeform 17"/>
            <p:cNvSpPr/>
            <p:nvPr/>
          </p:nvSpPr>
          <p:spPr>
            <a:xfrm>
              <a:off x="1093140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88" name="TextBox 18"/>
            <p:cNvSpPr/>
            <p:nvPr/>
          </p:nvSpPr>
          <p:spPr>
            <a:xfrm>
              <a:off x="1118736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289" name="Group 19"/>
          <p:cNvGrpSpPr/>
          <p:nvPr/>
        </p:nvGrpSpPr>
        <p:grpSpPr>
          <a:xfrm>
            <a:off x="11961720" y="8966160"/>
            <a:ext cx="1171800" cy="584280"/>
            <a:chOff x="11961720" y="8966160"/>
            <a:chExt cx="1171800" cy="584280"/>
          </a:xfrm>
        </p:grpSpPr>
        <p:sp>
          <p:nvSpPr>
            <p:cNvPr id="290" name="Freeform 20"/>
            <p:cNvSpPr/>
            <p:nvPr/>
          </p:nvSpPr>
          <p:spPr>
            <a:xfrm>
              <a:off x="11961720" y="9027360"/>
              <a:ext cx="11718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91" name="TextBox 21"/>
            <p:cNvSpPr/>
            <p:nvPr/>
          </p:nvSpPr>
          <p:spPr>
            <a:xfrm>
              <a:off x="12218040" y="8966160"/>
              <a:ext cx="80568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292" name="Group 22"/>
          <p:cNvGrpSpPr/>
          <p:nvPr/>
        </p:nvGrpSpPr>
        <p:grpSpPr>
          <a:xfrm>
            <a:off x="12993840" y="8966160"/>
            <a:ext cx="1170000" cy="584280"/>
            <a:chOff x="12993840" y="8966160"/>
            <a:chExt cx="1170000" cy="584280"/>
          </a:xfrm>
        </p:grpSpPr>
        <p:sp>
          <p:nvSpPr>
            <p:cNvPr id="293" name="Freeform 23"/>
            <p:cNvSpPr/>
            <p:nvPr/>
          </p:nvSpPr>
          <p:spPr>
            <a:xfrm>
              <a:off x="1299384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94" name="TextBox 24"/>
            <p:cNvSpPr/>
            <p:nvPr/>
          </p:nvSpPr>
          <p:spPr>
            <a:xfrm>
              <a:off x="1324980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295" name="Group 25"/>
          <p:cNvGrpSpPr/>
          <p:nvPr/>
        </p:nvGrpSpPr>
        <p:grpSpPr>
          <a:xfrm>
            <a:off x="14025600" y="8966160"/>
            <a:ext cx="1170000" cy="584280"/>
            <a:chOff x="14025600" y="8966160"/>
            <a:chExt cx="1170000" cy="584280"/>
          </a:xfrm>
        </p:grpSpPr>
        <p:sp>
          <p:nvSpPr>
            <p:cNvPr id="296" name="Freeform 26"/>
            <p:cNvSpPr/>
            <p:nvPr/>
          </p:nvSpPr>
          <p:spPr>
            <a:xfrm>
              <a:off x="1402560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348A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97" name="TextBox 27"/>
            <p:cNvSpPr/>
            <p:nvPr/>
          </p:nvSpPr>
          <p:spPr>
            <a:xfrm>
              <a:off x="1428156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298" name="Group 28"/>
          <p:cNvGrpSpPr/>
          <p:nvPr/>
        </p:nvGrpSpPr>
        <p:grpSpPr>
          <a:xfrm>
            <a:off x="15057360" y="8966160"/>
            <a:ext cx="1170000" cy="584280"/>
            <a:chOff x="15057360" y="8966160"/>
            <a:chExt cx="1170000" cy="584280"/>
          </a:xfrm>
        </p:grpSpPr>
        <p:sp>
          <p:nvSpPr>
            <p:cNvPr id="299" name="Freeform 29"/>
            <p:cNvSpPr/>
            <p:nvPr/>
          </p:nvSpPr>
          <p:spPr>
            <a:xfrm>
              <a:off x="1505736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00" name="TextBox 30"/>
            <p:cNvSpPr/>
            <p:nvPr/>
          </p:nvSpPr>
          <p:spPr>
            <a:xfrm>
              <a:off x="1531332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301" name="Group 31"/>
          <p:cNvGrpSpPr/>
          <p:nvPr/>
        </p:nvGrpSpPr>
        <p:grpSpPr>
          <a:xfrm>
            <a:off x="16089480" y="8966160"/>
            <a:ext cx="1170000" cy="584280"/>
            <a:chOff x="16089480" y="8966160"/>
            <a:chExt cx="1170000" cy="584280"/>
          </a:xfrm>
        </p:grpSpPr>
        <p:sp>
          <p:nvSpPr>
            <p:cNvPr id="302" name="Freeform 32"/>
            <p:cNvSpPr/>
            <p:nvPr/>
          </p:nvSpPr>
          <p:spPr>
            <a:xfrm>
              <a:off x="1608948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03" name="TextBox 33"/>
            <p:cNvSpPr/>
            <p:nvPr/>
          </p:nvSpPr>
          <p:spPr>
            <a:xfrm>
              <a:off x="1634544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304" name="TextBox 34"/>
          <p:cNvSpPr/>
          <p:nvPr/>
        </p:nvSpPr>
        <p:spPr>
          <a:xfrm>
            <a:off x="11283840" y="8826480"/>
            <a:ext cx="463680" cy="1454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1G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305" name="TextBox 35"/>
          <p:cNvSpPr/>
          <p:nvPr/>
        </p:nvSpPr>
        <p:spPr>
          <a:xfrm>
            <a:off x="12315960" y="8826480"/>
            <a:ext cx="63648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2G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306" name="TextBox 36"/>
          <p:cNvSpPr/>
          <p:nvPr/>
        </p:nvSpPr>
        <p:spPr>
          <a:xfrm>
            <a:off x="13349160" y="8826480"/>
            <a:ext cx="63504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3G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307" name="TextBox 37"/>
          <p:cNvSpPr/>
          <p:nvPr/>
        </p:nvSpPr>
        <p:spPr>
          <a:xfrm>
            <a:off x="14381280" y="8826480"/>
            <a:ext cx="63504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FFFFFF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4G</a:t>
            </a:r>
            <a:endParaRPr lang="en-US" sz="3100" b="1" u="none" strike="noStrike">
              <a:solidFill>
                <a:srgbClr val="FFFFFF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308" name="TextBox 38"/>
          <p:cNvSpPr/>
          <p:nvPr/>
        </p:nvSpPr>
        <p:spPr>
          <a:xfrm>
            <a:off x="15413040" y="8826480"/>
            <a:ext cx="63648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5G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309" name="TextBox 39"/>
          <p:cNvSpPr/>
          <p:nvPr/>
        </p:nvSpPr>
        <p:spPr>
          <a:xfrm>
            <a:off x="16443360" y="8826480"/>
            <a:ext cx="63504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6G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pic>
        <p:nvPicPr>
          <p:cNvPr id="310" name="Picture 40" descr="Bar chart on a log scale of peak speeds cited in this deck: 3G HSPA+ 21.6 Mbps, 4G 50 Mbps, 5G up to 10 Gbps"/>
          <p:cNvPicPr/>
          <p:nvPr/>
        </p:nvPicPr>
        <p:blipFill>
          <a:blip r:embed="rId2"/>
          <a:stretch>
            <a:fillRect/>
          </a:stretch>
        </p:blipFill>
        <p:spPr>
          <a:xfrm>
            <a:off x="2000160" y="5700600"/>
            <a:ext cx="12600000" cy="2598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Freeform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12" name="Group 3"/>
          <p:cNvGrpSpPr/>
          <p:nvPr/>
        </p:nvGrpSpPr>
        <p:grpSpPr>
          <a:xfrm>
            <a:off x="436680" y="415800"/>
            <a:ext cx="17414640" cy="9455400"/>
            <a:chOff x="436680" y="415800"/>
            <a:chExt cx="17414640" cy="9455400"/>
          </a:xfrm>
        </p:grpSpPr>
        <p:sp>
          <p:nvSpPr>
            <p:cNvPr id="313" name="Freeform 4"/>
            <p:cNvSpPr/>
            <p:nvPr/>
          </p:nvSpPr>
          <p:spPr>
            <a:xfrm>
              <a:off x="436680" y="592920"/>
              <a:ext cx="17414640" cy="9278280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noFill/>
            <a:ln w="19080" cap="rnd">
              <a:solidFill>
                <a:srgbClr val="162768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14" name="TextBox 5"/>
            <p:cNvSpPr/>
            <p:nvPr/>
          </p:nvSpPr>
          <p:spPr>
            <a:xfrm>
              <a:off x="436680" y="415800"/>
              <a:ext cx="17414640" cy="9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315" name="Group 6"/>
          <p:cNvGrpSpPr/>
          <p:nvPr/>
        </p:nvGrpSpPr>
        <p:grpSpPr>
          <a:xfrm>
            <a:off x="115920" y="4821120"/>
            <a:ext cx="642960" cy="644760"/>
            <a:chOff x="115920" y="4821120"/>
            <a:chExt cx="642960" cy="644760"/>
          </a:xfrm>
        </p:grpSpPr>
        <p:sp>
          <p:nvSpPr>
            <p:cNvPr id="316" name="Freeform 7"/>
            <p:cNvSpPr/>
            <p:nvPr/>
          </p:nvSpPr>
          <p:spPr>
            <a:xfrm>
              <a:off x="1159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17" name="TextBox 8"/>
            <p:cNvSpPr/>
            <p:nvPr/>
          </p:nvSpPr>
          <p:spPr>
            <a:xfrm>
              <a:off x="1760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318" name="Group 10"/>
          <p:cNvGrpSpPr/>
          <p:nvPr/>
        </p:nvGrpSpPr>
        <p:grpSpPr>
          <a:xfrm>
            <a:off x="17529120" y="4821120"/>
            <a:ext cx="642960" cy="644760"/>
            <a:chOff x="17529120" y="4821120"/>
            <a:chExt cx="642960" cy="644760"/>
          </a:xfrm>
        </p:grpSpPr>
        <p:sp>
          <p:nvSpPr>
            <p:cNvPr id="319" name="Freeform 11"/>
            <p:cNvSpPr/>
            <p:nvPr/>
          </p:nvSpPr>
          <p:spPr>
            <a:xfrm>
              <a:off x="175291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20" name="TextBox 12"/>
            <p:cNvSpPr/>
            <p:nvPr/>
          </p:nvSpPr>
          <p:spPr>
            <a:xfrm>
              <a:off x="175892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321" name="TextBox 14"/>
          <p:cNvSpPr/>
          <p:nvPr/>
        </p:nvSpPr>
        <p:spPr>
          <a:xfrm>
            <a:off x="1252440" y="1116000"/>
            <a:ext cx="124682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1007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500" b="1" u="none" strike="noStrike">
                <a:solidFill>
                  <a:srgbClr val="1D348A"/>
                </a:solidFill>
                <a:effectLst/>
                <a:uFillTx/>
                <a:latin typeface="Calibri" panose="020F0502020204030204" charset="0"/>
                <a:ea typeface="Roca Two Heavy"/>
                <a:cs typeface="Calibri" panose="020F0502020204030204" charset="0"/>
              </a:rPr>
              <a:t>Key Features of 5G</a:t>
            </a:r>
            <a:endParaRPr lang="en-US" sz="9500" b="1" u="none" strike="noStrike">
              <a:solidFill>
                <a:srgbClr val="1D348A"/>
              </a:solidFill>
              <a:effectLst/>
              <a:uFillTx/>
              <a:latin typeface="Calibri" panose="020F0502020204030204" charset="0"/>
              <a:ea typeface="Roca Two Heavy"/>
              <a:cs typeface="Calibri" panose="020F0502020204030204" charset="0"/>
            </a:endParaRPr>
          </a:p>
        </p:txBody>
      </p:sp>
      <p:sp>
        <p:nvSpPr>
          <p:cNvPr id="322" name="TextBox 15"/>
          <p:cNvSpPr/>
          <p:nvPr/>
        </p:nvSpPr>
        <p:spPr>
          <a:xfrm>
            <a:off x="480960" y="2241720"/>
            <a:ext cx="10606320" cy="5852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Considered a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futuristic wireless technology.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Provides about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100 times faster speed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compared to 4G.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Has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reduced latency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and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improved performance.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Designed to support up to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10 Gbps Internet speed.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Provides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very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negligible latency.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Basic characteristics include: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323" name="Group 16"/>
          <p:cNvGrpSpPr/>
          <p:nvPr/>
        </p:nvGrpSpPr>
        <p:grpSpPr>
          <a:xfrm>
            <a:off x="10931400" y="8966160"/>
            <a:ext cx="1170000" cy="584280"/>
            <a:chOff x="10931400" y="8966160"/>
            <a:chExt cx="1170000" cy="584280"/>
          </a:xfrm>
        </p:grpSpPr>
        <p:sp>
          <p:nvSpPr>
            <p:cNvPr id="324" name="Freeform 17"/>
            <p:cNvSpPr/>
            <p:nvPr/>
          </p:nvSpPr>
          <p:spPr>
            <a:xfrm>
              <a:off x="1093140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25" name="TextBox 18"/>
            <p:cNvSpPr/>
            <p:nvPr/>
          </p:nvSpPr>
          <p:spPr>
            <a:xfrm>
              <a:off x="1118736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326" name="Group 19"/>
          <p:cNvGrpSpPr/>
          <p:nvPr/>
        </p:nvGrpSpPr>
        <p:grpSpPr>
          <a:xfrm>
            <a:off x="11961720" y="8966160"/>
            <a:ext cx="1171800" cy="584280"/>
            <a:chOff x="11961720" y="8966160"/>
            <a:chExt cx="1171800" cy="584280"/>
          </a:xfrm>
        </p:grpSpPr>
        <p:sp>
          <p:nvSpPr>
            <p:cNvPr id="327" name="Freeform 20"/>
            <p:cNvSpPr/>
            <p:nvPr/>
          </p:nvSpPr>
          <p:spPr>
            <a:xfrm>
              <a:off x="11961720" y="9027360"/>
              <a:ext cx="11718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28" name="TextBox 21"/>
            <p:cNvSpPr/>
            <p:nvPr/>
          </p:nvSpPr>
          <p:spPr>
            <a:xfrm>
              <a:off x="12218040" y="8966160"/>
              <a:ext cx="80568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329" name="Group 22"/>
          <p:cNvGrpSpPr/>
          <p:nvPr/>
        </p:nvGrpSpPr>
        <p:grpSpPr>
          <a:xfrm>
            <a:off x="12993840" y="8966160"/>
            <a:ext cx="1170000" cy="584280"/>
            <a:chOff x="12993840" y="8966160"/>
            <a:chExt cx="1170000" cy="584280"/>
          </a:xfrm>
        </p:grpSpPr>
        <p:sp>
          <p:nvSpPr>
            <p:cNvPr id="330" name="Freeform 23"/>
            <p:cNvSpPr/>
            <p:nvPr/>
          </p:nvSpPr>
          <p:spPr>
            <a:xfrm>
              <a:off x="1299384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31" name="TextBox 24"/>
            <p:cNvSpPr/>
            <p:nvPr/>
          </p:nvSpPr>
          <p:spPr>
            <a:xfrm>
              <a:off x="1324980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332" name="Group 25"/>
          <p:cNvGrpSpPr/>
          <p:nvPr/>
        </p:nvGrpSpPr>
        <p:grpSpPr>
          <a:xfrm>
            <a:off x="14025600" y="8966160"/>
            <a:ext cx="1170000" cy="584280"/>
            <a:chOff x="14025600" y="8966160"/>
            <a:chExt cx="1170000" cy="584280"/>
          </a:xfrm>
        </p:grpSpPr>
        <p:sp>
          <p:nvSpPr>
            <p:cNvPr id="333" name="Freeform 26"/>
            <p:cNvSpPr/>
            <p:nvPr/>
          </p:nvSpPr>
          <p:spPr>
            <a:xfrm>
              <a:off x="1402560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34" name="TextBox 27"/>
            <p:cNvSpPr/>
            <p:nvPr/>
          </p:nvSpPr>
          <p:spPr>
            <a:xfrm>
              <a:off x="1428156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335" name="Group 28"/>
          <p:cNvGrpSpPr/>
          <p:nvPr/>
        </p:nvGrpSpPr>
        <p:grpSpPr>
          <a:xfrm>
            <a:off x="15057360" y="8966160"/>
            <a:ext cx="1170000" cy="584280"/>
            <a:chOff x="15057360" y="8966160"/>
            <a:chExt cx="1170000" cy="584280"/>
          </a:xfrm>
        </p:grpSpPr>
        <p:sp>
          <p:nvSpPr>
            <p:cNvPr id="336" name="Freeform 29"/>
            <p:cNvSpPr/>
            <p:nvPr/>
          </p:nvSpPr>
          <p:spPr>
            <a:xfrm>
              <a:off x="1505736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348A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37" name="TextBox 30"/>
            <p:cNvSpPr/>
            <p:nvPr/>
          </p:nvSpPr>
          <p:spPr>
            <a:xfrm>
              <a:off x="1531332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338" name="Group 31"/>
          <p:cNvGrpSpPr/>
          <p:nvPr/>
        </p:nvGrpSpPr>
        <p:grpSpPr>
          <a:xfrm>
            <a:off x="16089480" y="8966160"/>
            <a:ext cx="1170000" cy="584280"/>
            <a:chOff x="16089480" y="8966160"/>
            <a:chExt cx="1170000" cy="584280"/>
          </a:xfrm>
        </p:grpSpPr>
        <p:sp>
          <p:nvSpPr>
            <p:cNvPr id="339" name="Freeform 32"/>
            <p:cNvSpPr/>
            <p:nvPr/>
          </p:nvSpPr>
          <p:spPr>
            <a:xfrm>
              <a:off x="1608948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40" name="TextBox 33"/>
            <p:cNvSpPr/>
            <p:nvPr/>
          </p:nvSpPr>
          <p:spPr>
            <a:xfrm>
              <a:off x="1634544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341" name="TextBox 34"/>
          <p:cNvSpPr/>
          <p:nvPr/>
        </p:nvSpPr>
        <p:spPr>
          <a:xfrm>
            <a:off x="11283840" y="8826480"/>
            <a:ext cx="463680" cy="1454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1G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342" name="TextBox 35"/>
          <p:cNvSpPr/>
          <p:nvPr/>
        </p:nvSpPr>
        <p:spPr>
          <a:xfrm>
            <a:off x="12315960" y="8826480"/>
            <a:ext cx="63648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2G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343" name="TextBox 36"/>
          <p:cNvSpPr/>
          <p:nvPr/>
        </p:nvSpPr>
        <p:spPr>
          <a:xfrm>
            <a:off x="13349160" y="8826480"/>
            <a:ext cx="63504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3G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344" name="TextBox 37"/>
          <p:cNvSpPr/>
          <p:nvPr/>
        </p:nvSpPr>
        <p:spPr>
          <a:xfrm>
            <a:off x="14381280" y="8826480"/>
            <a:ext cx="63504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4G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345" name="TextBox 38"/>
          <p:cNvSpPr/>
          <p:nvPr/>
        </p:nvSpPr>
        <p:spPr>
          <a:xfrm>
            <a:off x="15413040" y="8826480"/>
            <a:ext cx="63648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FFFFFF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5G</a:t>
            </a:r>
            <a:endParaRPr lang="en-US" sz="3100" b="1" u="none" strike="noStrike">
              <a:solidFill>
                <a:srgbClr val="FFFFFF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346" name="TextBox 39"/>
          <p:cNvSpPr/>
          <p:nvPr/>
        </p:nvSpPr>
        <p:spPr>
          <a:xfrm>
            <a:off x="16443360" y="8826480"/>
            <a:ext cx="63504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6G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347" name="TextBox 40"/>
          <p:cNvSpPr/>
          <p:nvPr/>
        </p:nvSpPr>
        <p:spPr>
          <a:xfrm>
            <a:off x="865080" y="6672240"/>
            <a:ext cx="7596360" cy="1341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larger bandwidths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lower latency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higher capacity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48" name="TextBox 41"/>
          <p:cNvSpPr/>
          <p:nvPr/>
        </p:nvSpPr>
        <p:spPr>
          <a:xfrm>
            <a:off x="622440" y="8294760"/>
            <a:ext cx="9159840" cy="939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was launched in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2019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and will continue to expand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349" name="Picture 41" descr="5G"/>
          <p:cNvPicPr/>
          <p:nvPr/>
        </p:nvPicPr>
        <p:blipFill>
          <a:blip r:embed="rId2"/>
          <a:stretch>
            <a:fillRect/>
          </a:stretch>
        </p:blipFill>
        <p:spPr>
          <a:xfrm>
            <a:off x="9982080" y="3848040"/>
            <a:ext cx="7828200" cy="4281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Freeform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51" name="Group 3"/>
          <p:cNvGrpSpPr/>
          <p:nvPr/>
        </p:nvGrpSpPr>
        <p:grpSpPr>
          <a:xfrm>
            <a:off x="436680" y="415800"/>
            <a:ext cx="17414640" cy="9455400"/>
            <a:chOff x="436680" y="415800"/>
            <a:chExt cx="17414640" cy="9455400"/>
          </a:xfrm>
        </p:grpSpPr>
        <p:sp>
          <p:nvSpPr>
            <p:cNvPr id="352" name="Freeform 4"/>
            <p:cNvSpPr/>
            <p:nvPr/>
          </p:nvSpPr>
          <p:spPr>
            <a:xfrm>
              <a:off x="436680" y="592920"/>
              <a:ext cx="17414640" cy="9278280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noFill/>
            <a:ln w="19080" cap="rnd">
              <a:solidFill>
                <a:srgbClr val="162768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53" name="TextBox 5"/>
            <p:cNvSpPr/>
            <p:nvPr/>
          </p:nvSpPr>
          <p:spPr>
            <a:xfrm>
              <a:off x="436680" y="415800"/>
              <a:ext cx="17414640" cy="9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354" name="Group 6"/>
          <p:cNvGrpSpPr/>
          <p:nvPr/>
        </p:nvGrpSpPr>
        <p:grpSpPr>
          <a:xfrm>
            <a:off x="115920" y="4821120"/>
            <a:ext cx="642960" cy="644760"/>
            <a:chOff x="115920" y="4821120"/>
            <a:chExt cx="642960" cy="644760"/>
          </a:xfrm>
        </p:grpSpPr>
        <p:sp>
          <p:nvSpPr>
            <p:cNvPr id="355" name="Freeform 7"/>
            <p:cNvSpPr/>
            <p:nvPr/>
          </p:nvSpPr>
          <p:spPr>
            <a:xfrm>
              <a:off x="1159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56" name="TextBox 8"/>
            <p:cNvSpPr/>
            <p:nvPr/>
          </p:nvSpPr>
          <p:spPr>
            <a:xfrm>
              <a:off x="1760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357" name="Group 10"/>
          <p:cNvGrpSpPr/>
          <p:nvPr/>
        </p:nvGrpSpPr>
        <p:grpSpPr>
          <a:xfrm>
            <a:off x="17529120" y="4821120"/>
            <a:ext cx="642960" cy="644760"/>
            <a:chOff x="17529120" y="4821120"/>
            <a:chExt cx="642960" cy="644760"/>
          </a:xfrm>
        </p:grpSpPr>
        <p:sp>
          <p:nvSpPr>
            <p:cNvPr id="358" name="Freeform 11"/>
            <p:cNvSpPr/>
            <p:nvPr/>
          </p:nvSpPr>
          <p:spPr>
            <a:xfrm>
              <a:off x="175291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59" name="TextBox 12"/>
            <p:cNvSpPr/>
            <p:nvPr/>
          </p:nvSpPr>
          <p:spPr>
            <a:xfrm>
              <a:off x="175892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360" name="TextBox 14"/>
          <p:cNvSpPr/>
          <p:nvPr/>
        </p:nvSpPr>
        <p:spPr>
          <a:xfrm>
            <a:off x="1252440" y="1116000"/>
            <a:ext cx="124682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1007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500" b="1" u="none" strike="noStrike">
                <a:solidFill>
                  <a:srgbClr val="1D348A"/>
                </a:solidFill>
                <a:effectLst/>
                <a:uFillTx/>
                <a:latin typeface="Calibri" panose="020F0502020204030204" charset="0"/>
                <a:ea typeface="Roca Two Heavy"/>
                <a:cs typeface="Calibri" panose="020F0502020204030204" charset="0"/>
              </a:rPr>
              <a:t>Capabilities of 5G</a:t>
            </a:r>
            <a:endParaRPr lang="en-US" sz="9500" b="1" u="none" strike="noStrike">
              <a:solidFill>
                <a:srgbClr val="1D348A"/>
              </a:solidFill>
              <a:effectLst/>
              <a:uFillTx/>
              <a:latin typeface="Calibri" panose="020F0502020204030204" charset="0"/>
              <a:ea typeface="Roca Two Heavy"/>
              <a:cs typeface="Calibri" panose="020F0502020204030204" charset="0"/>
            </a:endParaRPr>
          </a:p>
        </p:txBody>
      </p:sp>
      <p:sp>
        <p:nvSpPr>
          <p:cNvPr id="361" name="TextBox 15"/>
          <p:cNvSpPr/>
          <p:nvPr/>
        </p:nvSpPr>
        <p:spPr>
          <a:xfrm>
            <a:off x="1028880" y="2241720"/>
            <a:ext cx="14390640" cy="731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The most salient capabilities can be defined as: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"/>
              <a:cs typeface="Calibri" panose="020F0502020204030204" charset="0"/>
            </a:endParaRPr>
          </a:p>
        </p:txBody>
      </p:sp>
      <p:grpSp>
        <p:nvGrpSpPr>
          <p:cNvPr id="362" name="Group 16"/>
          <p:cNvGrpSpPr/>
          <p:nvPr/>
        </p:nvGrpSpPr>
        <p:grpSpPr>
          <a:xfrm>
            <a:off x="10931400" y="8966160"/>
            <a:ext cx="1170000" cy="584280"/>
            <a:chOff x="10931400" y="8966160"/>
            <a:chExt cx="1170000" cy="584280"/>
          </a:xfrm>
        </p:grpSpPr>
        <p:sp>
          <p:nvSpPr>
            <p:cNvPr id="363" name="Freeform 17"/>
            <p:cNvSpPr/>
            <p:nvPr/>
          </p:nvSpPr>
          <p:spPr>
            <a:xfrm>
              <a:off x="1093140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64" name="TextBox 18"/>
            <p:cNvSpPr/>
            <p:nvPr/>
          </p:nvSpPr>
          <p:spPr>
            <a:xfrm>
              <a:off x="1118736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365" name="Group 19"/>
          <p:cNvGrpSpPr/>
          <p:nvPr/>
        </p:nvGrpSpPr>
        <p:grpSpPr>
          <a:xfrm>
            <a:off x="11961720" y="8966160"/>
            <a:ext cx="1171800" cy="584280"/>
            <a:chOff x="11961720" y="8966160"/>
            <a:chExt cx="1171800" cy="584280"/>
          </a:xfrm>
        </p:grpSpPr>
        <p:sp>
          <p:nvSpPr>
            <p:cNvPr id="366" name="Freeform 20"/>
            <p:cNvSpPr/>
            <p:nvPr/>
          </p:nvSpPr>
          <p:spPr>
            <a:xfrm>
              <a:off x="11961720" y="9027360"/>
              <a:ext cx="11718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67" name="TextBox 21"/>
            <p:cNvSpPr/>
            <p:nvPr/>
          </p:nvSpPr>
          <p:spPr>
            <a:xfrm>
              <a:off x="12218040" y="8966160"/>
              <a:ext cx="80568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368" name="Group 22"/>
          <p:cNvGrpSpPr/>
          <p:nvPr/>
        </p:nvGrpSpPr>
        <p:grpSpPr>
          <a:xfrm>
            <a:off x="12993840" y="8966160"/>
            <a:ext cx="1170000" cy="584280"/>
            <a:chOff x="12993840" y="8966160"/>
            <a:chExt cx="1170000" cy="584280"/>
          </a:xfrm>
        </p:grpSpPr>
        <p:sp>
          <p:nvSpPr>
            <p:cNvPr id="369" name="Freeform 23"/>
            <p:cNvSpPr/>
            <p:nvPr/>
          </p:nvSpPr>
          <p:spPr>
            <a:xfrm>
              <a:off x="1299384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70" name="TextBox 24"/>
            <p:cNvSpPr/>
            <p:nvPr/>
          </p:nvSpPr>
          <p:spPr>
            <a:xfrm>
              <a:off x="1324980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371" name="Group 25"/>
          <p:cNvGrpSpPr/>
          <p:nvPr/>
        </p:nvGrpSpPr>
        <p:grpSpPr>
          <a:xfrm>
            <a:off x="14025600" y="8966160"/>
            <a:ext cx="1170000" cy="584280"/>
            <a:chOff x="14025600" y="8966160"/>
            <a:chExt cx="1170000" cy="584280"/>
          </a:xfrm>
        </p:grpSpPr>
        <p:sp>
          <p:nvSpPr>
            <p:cNvPr id="372" name="Freeform 26"/>
            <p:cNvSpPr/>
            <p:nvPr/>
          </p:nvSpPr>
          <p:spPr>
            <a:xfrm>
              <a:off x="1402560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73" name="TextBox 27"/>
            <p:cNvSpPr/>
            <p:nvPr/>
          </p:nvSpPr>
          <p:spPr>
            <a:xfrm>
              <a:off x="1428156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374" name="Group 28"/>
          <p:cNvGrpSpPr/>
          <p:nvPr/>
        </p:nvGrpSpPr>
        <p:grpSpPr>
          <a:xfrm>
            <a:off x="15057360" y="8966160"/>
            <a:ext cx="1170000" cy="584280"/>
            <a:chOff x="15057360" y="8966160"/>
            <a:chExt cx="1170000" cy="584280"/>
          </a:xfrm>
        </p:grpSpPr>
        <p:sp>
          <p:nvSpPr>
            <p:cNvPr id="375" name="Freeform 29"/>
            <p:cNvSpPr/>
            <p:nvPr/>
          </p:nvSpPr>
          <p:spPr>
            <a:xfrm>
              <a:off x="1505736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348A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76" name="TextBox 30"/>
            <p:cNvSpPr/>
            <p:nvPr/>
          </p:nvSpPr>
          <p:spPr>
            <a:xfrm>
              <a:off x="1531332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377" name="Group 31"/>
          <p:cNvGrpSpPr/>
          <p:nvPr/>
        </p:nvGrpSpPr>
        <p:grpSpPr>
          <a:xfrm>
            <a:off x="16089480" y="8966160"/>
            <a:ext cx="1170000" cy="584280"/>
            <a:chOff x="16089480" y="8966160"/>
            <a:chExt cx="1170000" cy="584280"/>
          </a:xfrm>
        </p:grpSpPr>
        <p:sp>
          <p:nvSpPr>
            <p:cNvPr id="378" name="Freeform 32"/>
            <p:cNvSpPr/>
            <p:nvPr/>
          </p:nvSpPr>
          <p:spPr>
            <a:xfrm>
              <a:off x="1608948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79" name="TextBox 33"/>
            <p:cNvSpPr/>
            <p:nvPr/>
          </p:nvSpPr>
          <p:spPr>
            <a:xfrm>
              <a:off x="1634544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380" name="TextBox 34"/>
          <p:cNvSpPr/>
          <p:nvPr/>
        </p:nvSpPr>
        <p:spPr>
          <a:xfrm>
            <a:off x="11283840" y="8826480"/>
            <a:ext cx="463680" cy="1454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1G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381" name="TextBox 35"/>
          <p:cNvSpPr/>
          <p:nvPr/>
        </p:nvSpPr>
        <p:spPr>
          <a:xfrm>
            <a:off x="12315960" y="8826480"/>
            <a:ext cx="63648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2G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382" name="TextBox 36"/>
          <p:cNvSpPr/>
          <p:nvPr/>
        </p:nvSpPr>
        <p:spPr>
          <a:xfrm>
            <a:off x="13349160" y="8826480"/>
            <a:ext cx="63504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3G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383" name="TextBox 37"/>
          <p:cNvSpPr/>
          <p:nvPr/>
        </p:nvSpPr>
        <p:spPr>
          <a:xfrm>
            <a:off x="14381280" y="8826480"/>
            <a:ext cx="63504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4G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384" name="TextBox 38"/>
          <p:cNvSpPr/>
          <p:nvPr/>
        </p:nvSpPr>
        <p:spPr>
          <a:xfrm>
            <a:off x="15413040" y="8826480"/>
            <a:ext cx="63648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FFFFFF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5G</a:t>
            </a:r>
            <a:endParaRPr lang="en-US" sz="3100" b="1" u="none" strike="noStrike">
              <a:solidFill>
                <a:srgbClr val="FFFFFF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385" name="TextBox 39"/>
          <p:cNvSpPr/>
          <p:nvPr/>
        </p:nvSpPr>
        <p:spPr>
          <a:xfrm>
            <a:off x="16443360" y="8826480"/>
            <a:ext cx="63504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6G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386" name="TextBox 40"/>
          <p:cNvSpPr/>
          <p:nvPr/>
        </p:nvSpPr>
        <p:spPr>
          <a:xfrm>
            <a:off x="1955880" y="3051000"/>
            <a:ext cx="10677600" cy="1485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 Bold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eMBB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– Enhanced Mobile Broadband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 Bold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mMTC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– Massive Machine Type Communication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 Bold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URLLC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– Ultra-Reliable Low Latency Communication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87" name="TextBox 41"/>
          <p:cNvSpPr/>
          <p:nvPr/>
        </p:nvSpPr>
        <p:spPr>
          <a:xfrm>
            <a:off x="1028880" y="4694400"/>
            <a:ext cx="14390640" cy="1463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Uses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millimeter waves.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Effective for: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88" name="TextBox 42"/>
          <p:cNvSpPr/>
          <p:nvPr/>
        </p:nvSpPr>
        <p:spPr>
          <a:xfrm>
            <a:off x="1955880" y="6230880"/>
            <a:ext cx="10677600" cy="2475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Internet of Things (IoT)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Virtual Reality and Augmented Reality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(AR/VR)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driverless vehicles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drones and robotics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Freeform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90" name="Group 3"/>
          <p:cNvGrpSpPr/>
          <p:nvPr/>
        </p:nvGrpSpPr>
        <p:grpSpPr>
          <a:xfrm>
            <a:off x="436680" y="415800"/>
            <a:ext cx="17414640" cy="9455400"/>
            <a:chOff x="436680" y="415800"/>
            <a:chExt cx="17414640" cy="9455400"/>
          </a:xfrm>
        </p:grpSpPr>
        <p:sp>
          <p:nvSpPr>
            <p:cNvPr id="391" name="Freeform 4"/>
            <p:cNvSpPr/>
            <p:nvPr/>
          </p:nvSpPr>
          <p:spPr>
            <a:xfrm>
              <a:off x="436680" y="592920"/>
              <a:ext cx="17414640" cy="9278280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noFill/>
            <a:ln w="19080" cap="rnd">
              <a:solidFill>
                <a:srgbClr val="162768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92" name="TextBox 5"/>
            <p:cNvSpPr/>
            <p:nvPr/>
          </p:nvSpPr>
          <p:spPr>
            <a:xfrm>
              <a:off x="436680" y="415800"/>
              <a:ext cx="17414640" cy="9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393" name="Group 6"/>
          <p:cNvGrpSpPr/>
          <p:nvPr/>
        </p:nvGrpSpPr>
        <p:grpSpPr>
          <a:xfrm>
            <a:off x="115920" y="4821120"/>
            <a:ext cx="642960" cy="644760"/>
            <a:chOff x="115920" y="4821120"/>
            <a:chExt cx="642960" cy="644760"/>
          </a:xfrm>
        </p:grpSpPr>
        <p:sp>
          <p:nvSpPr>
            <p:cNvPr id="394" name="Freeform 7"/>
            <p:cNvSpPr/>
            <p:nvPr/>
          </p:nvSpPr>
          <p:spPr>
            <a:xfrm>
              <a:off x="1159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95" name="TextBox 8"/>
            <p:cNvSpPr/>
            <p:nvPr/>
          </p:nvSpPr>
          <p:spPr>
            <a:xfrm>
              <a:off x="1760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396" name="Group 10"/>
          <p:cNvGrpSpPr/>
          <p:nvPr/>
        </p:nvGrpSpPr>
        <p:grpSpPr>
          <a:xfrm>
            <a:off x="17529120" y="4821120"/>
            <a:ext cx="642960" cy="644760"/>
            <a:chOff x="17529120" y="4821120"/>
            <a:chExt cx="642960" cy="644760"/>
          </a:xfrm>
        </p:grpSpPr>
        <p:sp>
          <p:nvSpPr>
            <p:cNvPr id="397" name="Freeform 11"/>
            <p:cNvSpPr/>
            <p:nvPr/>
          </p:nvSpPr>
          <p:spPr>
            <a:xfrm>
              <a:off x="175291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98" name="TextBox 12"/>
            <p:cNvSpPr/>
            <p:nvPr/>
          </p:nvSpPr>
          <p:spPr>
            <a:xfrm>
              <a:off x="175892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399" name="TextBox 14"/>
          <p:cNvSpPr/>
          <p:nvPr/>
        </p:nvSpPr>
        <p:spPr>
          <a:xfrm>
            <a:off x="1252440" y="1116000"/>
            <a:ext cx="124682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1007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500" b="1" u="none" strike="noStrike">
                <a:solidFill>
                  <a:srgbClr val="1D348A"/>
                </a:solidFill>
                <a:effectLst/>
                <a:uFillTx/>
                <a:latin typeface="Calibri" panose="020F0502020204030204" charset="0"/>
                <a:ea typeface="Roca Two Heavy"/>
                <a:cs typeface="Calibri" panose="020F0502020204030204" charset="0"/>
              </a:rPr>
              <a:t>Sixth Generation (6G) </a:t>
            </a:r>
            <a:endParaRPr lang="en-US" sz="9500" b="1" u="none" strike="noStrike">
              <a:solidFill>
                <a:srgbClr val="1D348A"/>
              </a:solidFill>
              <a:effectLst/>
              <a:uFillTx/>
              <a:latin typeface="Calibri" panose="020F0502020204030204" charset="0"/>
              <a:ea typeface="Roca Two Heavy"/>
              <a:cs typeface="Calibri" panose="020F0502020204030204" charset="0"/>
            </a:endParaRPr>
          </a:p>
        </p:txBody>
      </p:sp>
      <p:sp>
        <p:nvSpPr>
          <p:cNvPr id="400" name="TextBox 15"/>
          <p:cNvSpPr/>
          <p:nvPr/>
        </p:nvSpPr>
        <p:spPr>
          <a:xfrm>
            <a:off x="1252440" y="2703600"/>
            <a:ext cx="14390640" cy="2194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6G technology is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under development and research phase.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It has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not materialized yet.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It is characterized as an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upcoming futuristic technology.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401" name="Group 16"/>
          <p:cNvGrpSpPr/>
          <p:nvPr/>
        </p:nvGrpSpPr>
        <p:grpSpPr>
          <a:xfrm>
            <a:off x="10931400" y="8966160"/>
            <a:ext cx="1170000" cy="584280"/>
            <a:chOff x="10931400" y="8966160"/>
            <a:chExt cx="1170000" cy="584280"/>
          </a:xfrm>
        </p:grpSpPr>
        <p:sp>
          <p:nvSpPr>
            <p:cNvPr id="402" name="Freeform 17"/>
            <p:cNvSpPr/>
            <p:nvPr/>
          </p:nvSpPr>
          <p:spPr>
            <a:xfrm>
              <a:off x="1093140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03" name="TextBox 18"/>
            <p:cNvSpPr/>
            <p:nvPr/>
          </p:nvSpPr>
          <p:spPr>
            <a:xfrm>
              <a:off x="1118736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404" name="Group 19"/>
          <p:cNvGrpSpPr/>
          <p:nvPr/>
        </p:nvGrpSpPr>
        <p:grpSpPr>
          <a:xfrm>
            <a:off x="11961720" y="8966160"/>
            <a:ext cx="1171800" cy="584280"/>
            <a:chOff x="11961720" y="8966160"/>
            <a:chExt cx="1171800" cy="584280"/>
          </a:xfrm>
        </p:grpSpPr>
        <p:sp>
          <p:nvSpPr>
            <p:cNvPr id="405" name="Freeform 20"/>
            <p:cNvSpPr/>
            <p:nvPr/>
          </p:nvSpPr>
          <p:spPr>
            <a:xfrm>
              <a:off x="11961720" y="9027360"/>
              <a:ext cx="11718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06" name="TextBox 21"/>
            <p:cNvSpPr/>
            <p:nvPr/>
          </p:nvSpPr>
          <p:spPr>
            <a:xfrm>
              <a:off x="12218040" y="8966160"/>
              <a:ext cx="80568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407" name="Group 22"/>
          <p:cNvGrpSpPr/>
          <p:nvPr/>
        </p:nvGrpSpPr>
        <p:grpSpPr>
          <a:xfrm>
            <a:off x="12993840" y="8966160"/>
            <a:ext cx="1170000" cy="584280"/>
            <a:chOff x="12993840" y="8966160"/>
            <a:chExt cx="1170000" cy="584280"/>
          </a:xfrm>
        </p:grpSpPr>
        <p:sp>
          <p:nvSpPr>
            <p:cNvPr id="408" name="Freeform 23"/>
            <p:cNvSpPr/>
            <p:nvPr/>
          </p:nvSpPr>
          <p:spPr>
            <a:xfrm>
              <a:off x="1299384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09" name="TextBox 24"/>
            <p:cNvSpPr/>
            <p:nvPr/>
          </p:nvSpPr>
          <p:spPr>
            <a:xfrm>
              <a:off x="1324980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410" name="Group 25"/>
          <p:cNvGrpSpPr/>
          <p:nvPr/>
        </p:nvGrpSpPr>
        <p:grpSpPr>
          <a:xfrm>
            <a:off x="14025600" y="8966160"/>
            <a:ext cx="1170000" cy="584280"/>
            <a:chOff x="14025600" y="8966160"/>
            <a:chExt cx="1170000" cy="584280"/>
          </a:xfrm>
        </p:grpSpPr>
        <p:sp>
          <p:nvSpPr>
            <p:cNvPr id="411" name="Freeform 26"/>
            <p:cNvSpPr/>
            <p:nvPr/>
          </p:nvSpPr>
          <p:spPr>
            <a:xfrm>
              <a:off x="1402560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12" name="TextBox 27"/>
            <p:cNvSpPr/>
            <p:nvPr/>
          </p:nvSpPr>
          <p:spPr>
            <a:xfrm>
              <a:off x="1428156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413" name="Group 28"/>
          <p:cNvGrpSpPr/>
          <p:nvPr/>
        </p:nvGrpSpPr>
        <p:grpSpPr>
          <a:xfrm>
            <a:off x="15057360" y="8966160"/>
            <a:ext cx="1170000" cy="584280"/>
            <a:chOff x="15057360" y="8966160"/>
            <a:chExt cx="1170000" cy="584280"/>
          </a:xfrm>
        </p:grpSpPr>
        <p:sp>
          <p:nvSpPr>
            <p:cNvPr id="414" name="Freeform 29"/>
            <p:cNvSpPr/>
            <p:nvPr/>
          </p:nvSpPr>
          <p:spPr>
            <a:xfrm>
              <a:off x="1505736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15" name="TextBox 30"/>
            <p:cNvSpPr/>
            <p:nvPr/>
          </p:nvSpPr>
          <p:spPr>
            <a:xfrm>
              <a:off x="1531332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416" name="Group 31"/>
          <p:cNvGrpSpPr/>
          <p:nvPr/>
        </p:nvGrpSpPr>
        <p:grpSpPr>
          <a:xfrm>
            <a:off x="16089480" y="8966160"/>
            <a:ext cx="1170000" cy="584280"/>
            <a:chOff x="16089480" y="8966160"/>
            <a:chExt cx="1170000" cy="584280"/>
          </a:xfrm>
        </p:grpSpPr>
        <p:sp>
          <p:nvSpPr>
            <p:cNvPr id="417" name="Freeform 32"/>
            <p:cNvSpPr/>
            <p:nvPr/>
          </p:nvSpPr>
          <p:spPr>
            <a:xfrm>
              <a:off x="16089480" y="9027360"/>
              <a:ext cx="1170000" cy="52308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348A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18" name="TextBox 33"/>
            <p:cNvSpPr/>
            <p:nvPr/>
          </p:nvSpPr>
          <p:spPr>
            <a:xfrm>
              <a:off x="16345440" y="8966160"/>
              <a:ext cx="80460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27360" tIns="27360" rIns="27360" bIns="273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419" name="TextBox 34"/>
          <p:cNvSpPr/>
          <p:nvPr/>
        </p:nvSpPr>
        <p:spPr>
          <a:xfrm>
            <a:off x="11283840" y="8826480"/>
            <a:ext cx="463680" cy="1454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1G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420" name="TextBox 35"/>
          <p:cNvSpPr/>
          <p:nvPr/>
        </p:nvSpPr>
        <p:spPr>
          <a:xfrm>
            <a:off x="12315960" y="8826480"/>
            <a:ext cx="63648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2G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421" name="TextBox 36"/>
          <p:cNvSpPr/>
          <p:nvPr/>
        </p:nvSpPr>
        <p:spPr>
          <a:xfrm>
            <a:off x="13349160" y="8826480"/>
            <a:ext cx="63504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3G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422" name="TextBox 37"/>
          <p:cNvSpPr/>
          <p:nvPr/>
        </p:nvSpPr>
        <p:spPr>
          <a:xfrm>
            <a:off x="14381280" y="8826480"/>
            <a:ext cx="63504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4G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423" name="TextBox 38"/>
          <p:cNvSpPr/>
          <p:nvPr/>
        </p:nvSpPr>
        <p:spPr>
          <a:xfrm>
            <a:off x="15413040" y="8826480"/>
            <a:ext cx="63648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5G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424" name="TextBox 39"/>
          <p:cNvSpPr/>
          <p:nvPr/>
        </p:nvSpPr>
        <p:spPr>
          <a:xfrm>
            <a:off x="16443360" y="8826480"/>
            <a:ext cx="635040" cy="727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2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100" b="1" u="none" strike="noStrike">
                <a:solidFill>
                  <a:srgbClr val="FFFFFF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6G</a:t>
            </a:r>
            <a:endParaRPr lang="en-US" sz="3100" b="1" u="none" strike="noStrike">
              <a:solidFill>
                <a:srgbClr val="FFFFFF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pic>
        <p:nvPicPr>
          <p:cNvPr id="425" name="Picture 40" descr="Timeline from 1G to 6G with a one-line note on each generation; 6G is shown as under research"/>
          <p:cNvPicPr/>
          <p:nvPr/>
        </p:nvPicPr>
        <p:blipFill>
          <a:blip r:embed="rId2"/>
          <a:stretch>
            <a:fillRect/>
          </a:stretch>
        </p:blipFill>
        <p:spPr>
          <a:xfrm>
            <a:off x="1600200" y="5300640"/>
            <a:ext cx="15000120" cy="2330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Freeform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27" name="Group 3"/>
          <p:cNvGrpSpPr/>
          <p:nvPr/>
        </p:nvGrpSpPr>
        <p:grpSpPr>
          <a:xfrm>
            <a:off x="436680" y="415800"/>
            <a:ext cx="17414640" cy="9455400"/>
            <a:chOff x="436680" y="415800"/>
            <a:chExt cx="17414640" cy="9455400"/>
          </a:xfrm>
        </p:grpSpPr>
        <p:sp>
          <p:nvSpPr>
            <p:cNvPr id="428" name="Freeform 4"/>
            <p:cNvSpPr/>
            <p:nvPr/>
          </p:nvSpPr>
          <p:spPr>
            <a:xfrm>
              <a:off x="436680" y="592920"/>
              <a:ext cx="17414640" cy="9278280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noFill/>
            <a:ln w="19080" cap="rnd">
              <a:solidFill>
                <a:srgbClr val="162768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29" name="TextBox 5"/>
            <p:cNvSpPr/>
            <p:nvPr/>
          </p:nvSpPr>
          <p:spPr>
            <a:xfrm>
              <a:off x="436680" y="415800"/>
              <a:ext cx="17414640" cy="9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430" name="TextBox 6"/>
          <p:cNvSpPr/>
          <p:nvPr/>
        </p:nvSpPr>
        <p:spPr>
          <a:xfrm>
            <a:off x="1028880" y="1322280"/>
            <a:ext cx="12469680" cy="2559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1007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500" b="1" u="none" strike="noStrike">
                <a:solidFill>
                  <a:srgbClr val="1D348A"/>
                </a:solidFill>
                <a:effectLst/>
                <a:uFillTx/>
                <a:latin typeface="Calibri" panose="020F0502020204030204" charset="0"/>
                <a:ea typeface="Roca Two Heavy"/>
                <a:cs typeface="Calibri" panose="020F0502020204030204" charset="0"/>
              </a:rPr>
              <a:t>Architecture of 5G Network</a:t>
            </a:r>
            <a:endParaRPr lang="en-US" sz="9500" b="1" u="none" strike="noStrike">
              <a:solidFill>
                <a:srgbClr val="1D348A"/>
              </a:solidFill>
              <a:effectLst/>
              <a:uFillTx/>
              <a:latin typeface="Calibri" panose="020F0502020204030204" charset="0"/>
              <a:ea typeface="Roca Two Heavy"/>
              <a:cs typeface="Calibri" panose="020F0502020204030204" charset="0"/>
            </a:endParaRPr>
          </a:p>
        </p:txBody>
      </p:sp>
      <p:sp>
        <p:nvSpPr>
          <p:cNvPr id="431" name="TextBox 7"/>
          <p:cNvSpPr/>
          <p:nvPr/>
        </p:nvSpPr>
        <p:spPr>
          <a:xfrm>
            <a:off x="1028880" y="3724200"/>
            <a:ext cx="14036400" cy="3657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5G architecture is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modular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and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open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Powered by more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software-defined infrastructure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Open for custom development of interfaces, applications, and services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Uses: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432" name="Group 8"/>
          <p:cNvGrpSpPr/>
          <p:nvPr/>
        </p:nvGrpSpPr>
        <p:grpSpPr>
          <a:xfrm>
            <a:off x="115920" y="4821120"/>
            <a:ext cx="642960" cy="644760"/>
            <a:chOff x="115920" y="4821120"/>
            <a:chExt cx="642960" cy="644760"/>
          </a:xfrm>
        </p:grpSpPr>
        <p:sp>
          <p:nvSpPr>
            <p:cNvPr id="433" name="Freeform 9"/>
            <p:cNvSpPr/>
            <p:nvPr/>
          </p:nvSpPr>
          <p:spPr>
            <a:xfrm>
              <a:off x="1159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34" name="TextBox 10"/>
            <p:cNvSpPr/>
            <p:nvPr/>
          </p:nvSpPr>
          <p:spPr>
            <a:xfrm>
              <a:off x="1760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435" name="Freeform 11"/>
          <p:cNvSpPr/>
          <p:nvPr/>
        </p:nvSpPr>
        <p:spPr>
          <a:xfrm>
            <a:off x="223920" y="4923000"/>
            <a:ext cx="426960" cy="441000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436" name="Group 12"/>
          <p:cNvGrpSpPr/>
          <p:nvPr/>
        </p:nvGrpSpPr>
        <p:grpSpPr>
          <a:xfrm>
            <a:off x="17529120" y="4821120"/>
            <a:ext cx="642960" cy="644760"/>
            <a:chOff x="17529120" y="4821120"/>
            <a:chExt cx="642960" cy="644760"/>
          </a:xfrm>
        </p:grpSpPr>
        <p:sp>
          <p:nvSpPr>
            <p:cNvPr id="437" name="Freeform 13"/>
            <p:cNvSpPr/>
            <p:nvPr/>
          </p:nvSpPr>
          <p:spPr>
            <a:xfrm>
              <a:off x="175291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38" name="TextBox 14"/>
            <p:cNvSpPr/>
            <p:nvPr/>
          </p:nvSpPr>
          <p:spPr>
            <a:xfrm>
              <a:off x="175892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439" name="Freeform 15"/>
          <p:cNvSpPr/>
          <p:nvPr/>
        </p:nvSpPr>
        <p:spPr>
          <a:xfrm>
            <a:off x="17637120" y="4923000"/>
            <a:ext cx="426960" cy="441000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40" name="TextBox 16"/>
          <p:cNvSpPr/>
          <p:nvPr/>
        </p:nvSpPr>
        <p:spPr>
          <a:xfrm>
            <a:off x="1924200" y="6546960"/>
            <a:ext cx="10677240" cy="1980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Application Programming Interfaces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Cloud computing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Edge computing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New radio interfaces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41" name="Picture 17" descr="Stack showing applications and APIs, cloud and edge computing, and new radio interfaces"/>
          <p:cNvPicPr/>
          <p:nvPr/>
        </p:nvPicPr>
        <p:blipFill>
          <a:blip r:embed="rId3"/>
          <a:stretch>
            <a:fillRect/>
          </a:stretch>
        </p:blipFill>
        <p:spPr>
          <a:xfrm>
            <a:off x="10363320" y="6438960"/>
            <a:ext cx="3600360" cy="2600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Freeform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43" name="Group 3"/>
          <p:cNvGrpSpPr/>
          <p:nvPr/>
        </p:nvGrpSpPr>
        <p:grpSpPr>
          <a:xfrm>
            <a:off x="403200" y="503280"/>
            <a:ext cx="17448120" cy="9367920"/>
            <a:chOff x="403200" y="503280"/>
            <a:chExt cx="17448120" cy="9367920"/>
          </a:xfrm>
        </p:grpSpPr>
        <p:sp>
          <p:nvSpPr>
            <p:cNvPr id="444" name="Freeform 4"/>
            <p:cNvSpPr/>
            <p:nvPr/>
          </p:nvSpPr>
          <p:spPr>
            <a:xfrm>
              <a:off x="403200" y="678960"/>
              <a:ext cx="17448120" cy="9192240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noFill/>
            <a:ln w="19080" cap="rnd">
              <a:solidFill>
                <a:srgbClr val="162768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45" name="TextBox 5"/>
            <p:cNvSpPr/>
            <p:nvPr/>
          </p:nvSpPr>
          <p:spPr>
            <a:xfrm>
              <a:off x="403200" y="503280"/>
              <a:ext cx="17448120" cy="9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446" name="TextBox 6"/>
          <p:cNvSpPr/>
          <p:nvPr/>
        </p:nvSpPr>
        <p:spPr>
          <a:xfrm>
            <a:off x="1028880" y="1322280"/>
            <a:ext cx="12469680" cy="2559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1007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500" b="1" u="none" strike="noStrike">
                <a:solidFill>
                  <a:srgbClr val="1D348A"/>
                </a:solidFill>
                <a:effectLst/>
                <a:uFillTx/>
                <a:latin typeface="Calibri" panose="020F0502020204030204" charset="0"/>
                <a:ea typeface="Roca Two Heavy"/>
                <a:cs typeface="Calibri" panose="020F0502020204030204" charset="0"/>
              </a:rPr>
              <a:t>Architecture of 5G Network</a:t>
            </a:r>
            <a:endParaRPr lang="en-US" sz="9500" b="1" u="none" strike="noStrike">
              <a:solidFill>
                <a:srgbClr val="1D348A"/>
              </a:solidFill>
              <a:effectLst/>
              <a:uFillTx/>
              <a:latin typeface="Calibri" panose="020F0502020204030204" charset="0"/>
              <a:ea typeface="Roca Two Heavy"/>
              <a:cs typeface="Calibri" panose="020F0502020204030204" charset="0"/>
            </a:endParaRPr>
          </a:p>
        </p:txBody>
      </p:sp>
      <p:sp>
        <p:nvSpPr>
          <p:cNvPr id="447" name="TextBox 7"/>
          <p:cNvSpPr/>
          <p:nvPr/>
        </p:nvSpPr>
        <p:spPr>
          <a:xfrm>
            <a:off x="1028880" y="3724200"/>
            <a:ext cx="14036400" cy="731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Three major components according to 3GPP:</a:t>
            </a:r>
            <a:endParaRPr lang="en-US" sz="32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grpSp>
        <p:nvGrpSpPr>
          <p:cNvPr id="448" name="Group 8"/>
          <p:cNvGrpSpPr/>
          <p:nvPr/>
        </p:nvGrpSpPr>
        <p:grpSpPr>
          <a:xfrm>
            <a:off x="115920" y="4821120"/>
            <a:ext cx="642960" cy="644760"/>
            <a:chOff x="115920" y="4821120"/>
            <a:chExt cx="642960" cy="644760"/>
          </a:xfrm>
        </p:grpSpPr>
        <p:sp>
          <p:nvSpPr>
            <p:cNvPr id="449" name="Freeform 9"/>
            <p:cNvSpPr/>
            <p:nvPr/>
          </p:nvSpPr>
          <p:spPr>
            <a:xfrm>
              <a:off x="1159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50" name="TextBox 10"/>
            <p:cNvSpPr/>
            <p:nvPr/>
          </p:nvSpPr>
          <p:spPr>
            <a:xfrm>
              <a:off x="1760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451" name="Group 12"/>
          <p:cNvGrpSpPr/>
          <p:nvPr/>
        </p:nvGrpSpPr>
        <p:grpSpPr>
          <a:xfrm>
            <a:off x="17529120" y="4821120"/>
            <a:ext cx="642960" cy="644760"/>
            <a:chOff x="17529120" y="4821120"/>
            <a:chExt cx="642960" cy="644760"/>
          </a:xfrm>
        </p:grpSpPr>
        <p:sp>
          <p:nvSpPr>
            <p:cNvPr id="452" name="Freeform 13"/>
            <p:cNvSpPr/>
            <p:nvPr/>
          </p:nvSpPr>
          <p:spPr>
            <a:xfrm>
              <a:off x="175291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53" name="TextBox 14"/>
            <p:cNvSpPr/>
            <p:nvPr/>
          </p:nvSpPr>
          <p:spPr>
            <a:xfrm>
              <a:off x="175892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454" name="TextBox 16"/>
          <p:cNvSpPr/>
          <p:nvPr/>
        </p:nvSpPr>
        <p:spPr>
          <a:xfrm>
            <a:off x="2436840" y="4491000"/>
            <a:ext cx="10677600" cy="1485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Core Transport Network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Radio Access Network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Service Capabilities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55" name="TextBox 17"/>
          <p:cNvSpPr/>
          <p:nvPr/>
        </p:nvSpPr>
        <p:spPr>
          <a:xfrm>
            <a:off x="1028880" y="5913360"/>
            <a:ext cx="14036400" cy="4389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Core network consists of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servers, data storage, switches, and security systems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Radio Access Network supports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eCPRI, beamforming, MIMO, and 5G NR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5G supports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network slicing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— process of using the same infrastructures for numerous virtual networks through virtualization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56" name="Picture 18" descr="The three major 5G network components: service capabilities, core transport network, radio access network"/>
          <p:cNvPicPr/>
          <p:nvPr/>
        </p:nvPicPr>
        <p:blipFill>
          <a:blip r:embed="rId2"/>
          <a:stretch>
            <a:fillRect/>
          </a:stretch>
        </p:blipFill>
        <p:spPr>
          <a:xfrm>
            <a:off x="13800240" y="1000080"/>
            <a:ext cx="3600360" cy="2600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Text Box 1"/>
          <p:cNvSpPr/>
          <p:nvPr/>
        </p:nvSpPr>
        <p:spPr>
          <a:xfrm>
            <a:off x="304920" y="343080"/>
            <a:ext cx="8850240" cy="1434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800" b="0" u="none" strike="noStrike">
                <a:solidFill>
                  <a:srgbClr val="4F81BD"/>
                </a:solidFill>
                <a:effectLst/>
                <a:uFillTx/>
                <a:latin typeface="Calibri" panose="020F0502020204030204"/>
              </a:rPr>
              <a:t>5g Network Slicing</a:t>
            </a:r>
            <a:endParaRPr lang="en-US" sz="88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58" name="Freeform 4"/>
          <p:cNvSpPr/>
          <p:nvPr/>
        </p:nvSpPr>
        <p:spPr>
          <a:xfrm>
            <a:off x="57240" y="0"/>
            <a:ext cx="18186480" cy="10315440"/>
          </a:xfrm>
          <a:custGeom>
            <a:avLst/>
            <a:gdLst/>
            <a:ahLst/>
            <a:cxnLst/>
            <a:rect l="l" t="t" r="r" b="b"/>
            <a:pathLst>
              <a:path w="4586241" h="2490558">
                <a:moveTo>
                  <a:pt x="22674" y="0"/>
                </a:moveTo>
                <a:lnTo>
                  <a:pt x="4563567" y="0"/>
                </a:lnTo>
                <a:cubicBezTo>
                  <a:pt x="4569580" y="0"/>
                  <a:pt x="4575347" y="2389"/>
                  <a:pt x="4579600" y="6641"/>
                </a:cubicBezTo>
                <a:cubicBezTo>
                  <a:pt x="4583852" y="10893"/>
                  <a:pt x="4586241" y="16661"/>
                  <a:pt x="4586241" y="22674"/>
                </a:cubicBezTo>
                <a:lnTo>
                  <a:pt x="4586241" y="2467883"/>
                </a:lnTo>
                <a:cubicBezTo>
                  <a:pt x="4586241" y="2480406"/>
                  <a:pt x="4576089" y="2490558"/>
                  <a:pt x="4563567" y="2490558"/>
                </a:cubicBezTo>
                <a:lnTo>
                  <a:pt x="22674" y="2490558"/>
                </a:lnTo>
                <a:cubicBezTo>
                  <a:pt x="16661" y="2490558"/>
                  <a:pt x="10893" y="2488169"/>
                  <a:pt x="6641" y="2483917"/>
                </a:cubicBezTo>
                <a:cubicBezTo>
                  <a:pt x="2389" y="2479664"/>
                  <a:pt x="0" y="2473897"/>
                  <a:pt x="0" y="2467883"/>
                </a:cubicBezTo>
                <a:lnTo>
                  <a:pt x="0" y="22674"/>
                </a:lnTo>
                <a:cubicBezTo>
                  <a:pt x="0" y="16661"/>
                  <a:pt x="2389" y="10893"/>
                  <a:pt x="6641" y="6641"/>
                </a:cubicBezTo>
                <a:cubicBezTo>
                  <a:pt x="10893" y="2389"/>
                  <a:pt x="16661" y="0"/>
                  <a:pt x="22674" y="0"/>
                </a:cubicBezTo>
                <a:close/>
              </a:path>
            </a:pathLst>
          </a:custGeom>
          <a:noFill/>
          <a:ln w="19080" cap="rnd">
            <a:solidFill>
              <a:srgbClr val="162768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59" name="Text Box 8"/>
          <p:cNvSpPr/>
          <p:nvPr/>
        </p:nvSpPr>
        <p:spPr>
          <a:xfrm>
            <a:off x="304920" y="1911240"/>
            <a:ext cx="15836760" cy="124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•  5G network slicing uses virtualization to create multiple virtual networks from a shared physical infrastructure.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60" name="Text Box 9"/>
          <p:cNvSpPr/>
          <p:nvPr/>
        </p:nvSpPr>
        <p:spPr>
          <a:xfrm>
            <a:off x="152280" y="3151080"/>
            <a:ext cx="17526240" cy="903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•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	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A slicing controller/orchestrator manages and creates these virtual networks based on different service needs.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61" name="Text Box 10"/>
          <p:cNvSpPr/>
          <p:nvPr/>
        </p:nvSpPr>
        <p:spPr>
          <a:xfrm>
            <a:off x="228600" y="4457880"/>
            <a:ext cx="17537040" cy="1126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•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	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It allows service providers and businesses to offer customized services using shared or dedicated virtual networks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62" name="Text Box 11"/>
          <p:cNvSpPr/>
          <p:nvPr/>
        </p:nvSpPr>
        <p:spPr>
          <a:xfrm>
            <a:off x="152280" y="5859360"/>
            <a:ext cx="17830800" cy="4084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•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	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3GPP defines the 5G architecture into four main parts: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	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•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	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Infrastructure Layer – physical network resources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	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•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	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Network Function Layer – network functions and services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	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•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	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Service Layer – applications and services for users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	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•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	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Network Slice Controller/Orchestrator – manages and coordinates network slice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Freeform 4"/>
          <p:cNvSpPr/>
          <p:nvPr/>
        </p:nvSpPr>
        <p:spPr>
          <a:xfrm>
            <a:off x="57240" y="0"/>
            <a:ext cx="18186480" cy="10315440"/>
          </a:xfrm>
          <a:custGeom>
            <a:avLst/>
            <a:gdLst/>
            <a:ahLst/>
            <a:cxnLst/>
            <a:rect l="l" t="t" r="r" b="b"/>
            <a:pathLst>
              <a:path w="4586241" h="2490558">
                <a:moveTo>
                  <a:pt x="22674" y="0"/>
                </a:moveTo>
                <a:lnTo>
                  <a:pt x="4563567" y="0"/>
                </a:lnTo>
                <a:cubicBezTo>
                  <a:pt x="4569580" y="0"/>
                  <a:pt x="4575347" y="2389"/>
                  <a:pt x="4579600" y="6641"/>
                </a:cubicBezTo>
                <a:cubicBezTo>
                  <a:pt x="4583852" y="10893"/>
                  <a:pt x="4586241" y="16661"/>
                  <a:pt x="4586241" y="22674"/>
                </a:cubicBezTo>
                <a:lnTo>
                  <a:pt x="4586241" y="2467883"/>
                </a:lnTo>
                <a:cubicBezTo>
                  <a:pt x="4586241" y="2480406"/>
                  <a:pt x="4576089" y="2490558"/>
                  <a:pt x="4563567" y="2490558"/>
                </a:cubicBezTo>
                <a:lnTo>
                  <a:pt x="22674" y="2490558"/>
                </a:lnTo>
                <a:cubicBezTo>
                  <a:pt x="16661" y="2490558"/>
                  <a:pt x="10893" y="2488169"/>
                  <a:pt x="6641" y="2483917"/>
                </a:cubicBezTo>
                <a:cubicBezTo>
                  <a:pt x="2389" y="2479664"/>
                  <a:pt x="0" y="2473897"/>
                  <a:pt x="0" y="2467883"/>
                </a:cubicBezTo>
                <a:lnTo>
                  <a:pt x="0" y="22674"/>
                </a:lnTo>
                <a:cubicBezTo>
                  <a:pt x="0" y="16661"/>
                  <a:pt x="2389" y="10893"/>
                  <a:pt x="6641" y="6641"/>
                </a:cubicBezTo>
                <a:cubicBezTo>
                  <a:pt x="10893" y="2389"/>
                  <a:pt x="16661" y="0"/>
                  <a:pt x="22674" y="0"/>
                </a:cubicBezTo>
                <a:close/>
              </a:path>
            </a:pathLst>
          </a:custGeom>
          <a:noFill/>
          <a:ln w="19080" cap="rnd">
            <a:solidFill>
              <a:srgbClr val="162768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64" name="Text Box 1"/>
          <p:cNvSpPr/>
          <p:nvPr/>
        </p:nvSpPr>
        <p:spPr>
          <a:xfrm>
            <a:off x="57240" y="114480"/>
            <a:ext cx="18248400" cy="1104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6600" b="0" u="none" strike="noStrike">
                <a:solidFill>
                  <a:srgbClr val="4F81BD"/>
                </a:solidFill>
                <a:effectLst/>
                <a:uFillTx/>
                <a:latin typeface="Calibri" panose="020F0502020204030204"/>
              </a:rPr>
              <a:t>5G Functional Architecture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65" name="Text Box 2"/>
          <p:cNvSpPr/>
          <p:nvPr/>
        </p:nvSpPr>
        <p:spPr>
          <a:xfrm>
            <a:off x="241200" y="1031760"/>
            <a:ext cx="1770228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•</a:t>
            </a: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	</a:t>
            </a: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5G technology is organized into four major functional layers, each containing software and hardware components.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66" name="Text Box 3"/>
          <p:cNvSpPr/>
          <p:nvPr/>
        </p:nvSpPr>
        <p:spPr>
          <a:xfrm>
            <a:off x="66600" y="2703600"/>
            <a:ext cx="18177120" cy="5970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	</a:t>
            </a: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•</a:t>
            </a: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	</a:t>
            </a: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Network Layer – provides the core network infrastructure and connectivity.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	</a:t>
            </a: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•</a:t>
            </a: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	</a:t>
            </a: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Controller Layer – controls and manages network functions.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	</a:t>
            </a: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•</a:t>
            </a: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	</a:t>
            </a: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Management &amp; Orchestration Layer – coordinates network resources and services.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	</a:t>
            </a: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•</a:t>
            </a: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	</a:t>
            </a: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Service Layer – delivers applications and services to users.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5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Freeform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68" name="Group 3"/>
          <p:cNvGrpSpPr/>
          <p:nvPr/>
        </p:nvGrpSpPr>
        <p:grpSpPr>
          <a:xfrm>
            <a:off x="436680" y="415800"/>
            <a:ext cx="17414640" cy="9455400"/>
            <a:chOff x="436680" y="415800"/>
            <a:chExt cx="17414640" cy="9455400"/>
          </a:xfrm>
        </p:grpSpPr>
        <p:sp>
          <p:nvSpPr>
            <p:cNvPr id="469" name="Freeform 4"/>
            <p:cNvSpPr/>
            <p:nvPr/>
          </p:nvSpPr>
          <p:spPr>
            <a:xfrm>
              <a:off x="436680" y="592920"/>
              <a:ext cx="17414640" cy="9278280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noFill/>
            <a:ln w="19080" cap="rnd">
              <a:solidFill>
                <a:srgbClr val="162768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70" name="TextBox 5"/>
            <p:cNvSpPr/>
            <p:nvPr/>
          </p:nvSpPr>
          <p:spPr>
            <a:xfrm>
              <a:off x="436680" y="415800"/>
              <a:ext cx="17414640" cy="9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471" name="TextBox 6"/>
          <p:cNvSpPr/>
          <p:nvPr/>
        </p:nvSpPr>
        <p:spPr>
          <a:xfrm>
            <a:off x="1028880" y="1322280"/>
            <a:ext cx="12469680" cy="2559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1007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500" b="1" u="none" strike="noStrike">
                <a:solidFill>
                  <a:srgbClr val="1D348A"/>
                </a:solidFill>
                <a:effectLst/>
                <a:uFillTx/>
                <a:latin typeface="Calibri" panose="020F0502020204030204" charset="0"/>
                <a:ea typeface="Roca Two Heavy"/>
                <a:cs typeface="Calibri" panose="020F0502020204030204" charset="0"/>
              </a:rPr>
              <a:t>Top Protocols Used</a:t>
            </a:r>
            <a:br>
              <a:rPr sz="9500">
                <a:latin typeface="Calibri" panose="020F0502020204030204" charset="0"/>
                <a:cs typeface="Calibri" panose="020F0502020204030204" charset="0"/>
              </a:rPr>
            </a:br>
            <a:r>
              <a:rPr lang="en-US" sz="9500" b="1" u="none" strike="noStrike">
                <a:solidFill>
                  <a:srgbClr val="1D348A"/>
                </a:solidFill>
                <a:effectLst/>
                <a:uFillTx/>
                <a:latin typeface="Calibri" panose="020F0502020204030204" charset="0"/>
                <a:ea typeface="Roca Two Heavy"/>
                <a:cs typeface="Calibri" panose="020F0502020204030204" charset="0"/>
              </a:rPr>
              <a:t>in 5G Networks</a:t>
            </a:r>
            <a:endParaRPr lang="en-US" sz="95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72" name="TextBox 7"/>
          <p:cNvSpPr/>
          <p:nvPr/>
        </p:nvSpPr>
        <p:spPr>
          <a:xfrm>
            <a:off x="1028880" y="3300480"/>
            <a:ext cx="14393520" cy="531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697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836930" lvl="1" indent="-419100">
              <a:lnSpc>
                <a:spcPts val="6975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3GPP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836930" lvl="1" indent="-419100">
              <a:lnSpc>
                <a:spcPts val="6975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New Radio (NR)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836930" lvl="1" indent="-419100">
              <a:lnSpc>
                <a:spcPts val="6975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NextGen Core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836930" lvl="1" indent="-419100">
              <a:lnSpc>
                <a:spcPts val="6975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LTE Advanced Pro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836930" lvl="1" indent="-419100">
              <a:lnSpc>
                <a:spcPts val="6975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EPC Evolution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473" name="Group 8"/>
          <p:cNvGrpSpPr/>
          <p:nvPr/>
        </p:nvGrpSpPr>
        <p:grpSpPr>
          <a:xfrm>
            <a:off x="115920" y="4821120"/>
            <a:ext cx="642960" cy="644760"/>
            <a:chOff x="115920" y="4821120"/>
            <a:chExt cx="642960" cy="644760"/>
          </a:xfrm>
        </p:grpSpPr>
        <p:sp>
          <p:nvSpPr>
            <p:cNvPr id="474" name="Freeform 9"/>
            <p:cNvSpPr/>
            <p:nvPr/>
          </p:nvSpPr>
          <p:spPr>
            <a:xfrm>
              <a:off x="1159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75" name="TextBox 10"/>
            <p:cNvSpPr/>
            <p:nvPr/>
          </p:nvSpPr>
          <p:spPr>
            <a:xfrm>
              <a:off x="1760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476" name="Group 12"/>
          <p:cNvGrpSpPr/>
          <p:nvPr/>
        </p:nvGrpSpPr>
        <p:grpSpPr>
          <a:xfrm>
            <a:off x="17529120" y="4821120"/>
            <a:ext cx="642960" cy="644760"/>
            <a:chOff x="17529120" y="4821120"/>
            <a:chExt cx="642960" cy="644760"/>
          </a:xfrm>
        </p:grpSpPr>
        <p:sp>
          <p:nvSpPr>
            <p:cNvPr id="477" name="Freeform 13"/>
            <p:cNvSpPr/>
            <p:nvPr/>
          </p:nvSpPr>
          <p:spPr>
            <a:xfrm>
              <a:off x="175291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78" name="TextBox 14"/>
            <p:cNvSpPr/>
            <p:nvPr/>
          </p:nvSpPr>
          <p:spPr>
            <a:xfrm>
              <a:off x="175892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pic>
        <p:nvPicPr>
          <p:cNvPr id="479" name="Picture 16" descr="Diagram: 3GPP standards; LTE Advanced Pro and EPC (4G/pre-5G) lead to New Radio and NextGen Core (5G)"/>
          <p:cNvPicPr/>
          <p:nvPr/>
        </p:nvPicPr>
        <p:blipFill>
          <a:blip r:embed="rId2"/>
          <a:stretch>
            <a:fillRect/>
          </a:stretch>
        </p:blipFill>
        <p:spPr>
          <a:xfrm>
            <a:off x="8199360" y="4300560"/>
            <a:ext cx="9201240" cy="3948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Freeform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81" name="Group 3"/>
          <p:cNvGrpSpPr/>
          <p:nvPr/>
        </p:nvGrpSpPr>
        <p:grpSpPr>
          <a:xfrm>
            <a:off x="436680" y="415800"/>
            <a:ext cx="17414640" cy="9455400"/>
            <a:chOff x="436680" y="415800"/>
            <a:chExt cx="17414640" cy="9455400"/>
          </a:xfrm>
        </p:grpSpPr>
        <p:sp>
          <p:nvSpPr>
            <p:cNvPr id="482" name="Freeform 4"/>
            <p:cNvSpPr/>
            <p:nvPr/>
          </p:nvSpPr>
          <p:spPr>
            <a:xfrm>
              <a:off x="436680" y="592920"/>
              <a:ext cx="17414640" cy="9278280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noFill/>
            <a:ln w="19080" cap="rnd">
              <a:solidFill>
                <a:srgbClr val="162768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83" name="TextBox 5"/>
            <p:cNvSpPr/>
            <p:nvPr/>
          </p:nvSpPr>
          <p:spPr>
            <a:xfrm>
              <a:off x="436680" y="415800"/>
              <a:ext cx="17414640" cy="9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484" name="TextBox 6"/>
          <p:cNvSpPr/>
          <p:nvPr/>
        </p:nvSpPr>
        <p:spPr>
          <a:xfrm>
            <a:off x="1028880" y="1171440"/>
            <a:ext cx="124696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1007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500" b="1" u="none" strike="noStrike">
                <a:solidFill>
                  <a:srgbClr val="1D348A"/>
                </a:solidFill>
                <a:effectLst/>
                <a:uFillTx/>
                <a:latin typeface="Calibri" panose="020F0502020204030204" charset="0"/>
                <a:ea typeface="Roca Two Heavy"/>
                <a:cs typeface="Calibri" panose="020F0502020204030204" charset="0"/>
              </a:rPr>
              <a:t>3GGP</a:t>
            </a:r>
            <a:endParaRPr lang="en-US" sz="9500" b="1" u="none" strike="noStrike">
              <a:solidFill>
                <a:srgbClr val="1D348A"/>
              </a:solidFill>
              <a:effectLst/>
              <a:uFillTx/>
              <a:latin typeface="Calibri" panose="020F0502020204030204" charset="0"/>
              <a:ea typeface="Roca Two Heavy"/>
              <a:cs typeface="Calibri" panose="020F0502020204030204" charset="0"/>
            </a:endParaRPr>
          </a:p>
        </p:txBody>
      </p:sp>
      <p:sp>
        <p:nvSpPr>
          <p:cNvPr id="485" name="TextBox 7"/>
          <p:cNvSpPr/>
          <p:nvPr/>
        </p:nvSpPr>
        <p:spPr>
          <a:xfrm>
            <a:off x="1028880" y="2297160"/>
            <a:ext cx="14036400" cy="6584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3GPP —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Third-Generation Partnership Project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Organization focused on developing standards for wireless telecommunication systems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Established in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1998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Originally focused on standards for the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3rd generation wireless network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At present, it is a core standard development body behind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5G technology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Supports development of: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486" name="Group 8"/>
          <p:cNvGrpSpPr/>
          <p:nvPr/>
        </p:nvGrpSpPr>
        <p:grpSpPr>
          <a:xfrm>
            <a:off x="115920" y="4821120"/>
            <a:ext cx="642960" cy="644760"/>
            <a:chOff x="115920" y="4821120"/>
            <a:chExt cx="642960" cy="644760"/>
          </a:xfrm>
        </p:grpSpPr>
        <p:sp>
          <p:nvSpPr>
            <p:cNvPr id="487" name="Freeform 9"/>
            <p:cNvSpPr/>
            <p:nvPr/>
          </p:nvSpPr>
          <p:spPr>
            <a:xfrm>
              <a:off x="1159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88" name="TextBox 10"/>
            <p:cNvSpPr/>
            <p:nvPr/>
          </p:nvSpPr>
          <p:spPr>
            <a:xfrm>
              <a:off x="1760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489" name="Group 12"/>
          <p:cNvGrpSpPr/>
          <p:nvPr/>
        </p:nvGrpSpPr>
        <p:grpSpPr>
          <a:xfrm>
            <a:off x="17529120" y="4821120"/>
            <a:ext cx="642960" cy="644760"/>
            <a:chOff x="17529120" y="4821120"/>
            <a:chExt cx="642960" cy="644760"/>
          </a:xfrm>
        </p:grpSpPr>
        <p:sp>
          <p:nvSpPr>
            <p:cNvPr id="490" name="Freeform 13"/>
            <p:cNvSpPr/>
            <p:nvPr/>
          </p:nvSpPr>
          <p:spPr>
            <a:xfrm>
              <a:off x="175291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91" name="TextBox 14"/>
            <p:cNvSpPr/>
            <p:nvPr/>
          </p:nvSpPr>
          <p:spPr>
            <a:xfrm>
              <a:off x="175892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492" name="TextBox 16"/>
          <p:cNvSpPr/>
          <p:nvPr/>
        </p:nvSpPr>
        <p:spPr>
          <a:xfrm>
            <a:off x="5977080" y="6969240"/>
            <a:ext cx="10677240" cy="2475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Technology standards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Specifications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Protocols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Network element compatibility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Forward and backward compatibility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Freeform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94" name="Group 3"/>
          <p:cNvGrpSpPr/>
          <p:nvPr/>
        </p:nvGrpSpPr>
        <p:grpSpPr>
          <a:xfrm>
            <a:off x="436680" y="415800"/>
            <a:ext cx="17414640" cy="9455400"/>
            <a:chOff x="436680" y="415800"/>
            <a:chExt cx="17414640" cy="9455400"/>
          </a:xfrm>
        </p:grpSpPr>
        <p:sp>
          <p:nvSpPr>
            <p:cNvPr id="495" name="Freeform 4"/>
            <p:cNvSpPr/>
            <p:nvPr/>
          </p:nvSpPr>
          <p:spPr>
            <a:xfrm>
              <a:off x="436680" y="592920"/>
              <a:ext cx="17414640" cy="9278280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noFill/>
            <a:ln w="19080" cap="rnd">
              <a:solidFill>
                <a:srgbClr val="162768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96" name="TextBox 5"/>
            <p:cNvSpPr/>
            <p:nvPr/>
          </p:nvSpPr>
          <p:spPr>
            <a:xfrm>
              <a:off x="436680" y="415800"/>
              <a:ext cx="17414640" cy="9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497" name="TextBox 6"/>
          <p:cNvSpPr/>
          <p:nvPr/>
        </p:nvSpPr>
        <p:spPr>
          <a:xfrm>
            <a:off x="1028880" y="1171440"/>
            <a:ext cx="124696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1007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500" b="1" u="none" strike="noStrike">
                <a:solidFill>
                  <a:srgbClr val="1D348A"/>
                </a:solidFill>
                <a:effectLst/>
                <a:uFillTx/>
                <a:latin typeface="Calibri" panose="020F0502020204030204" charset="0"/>
                <a:ea typeface="Roca Two Heavy"/>
                <a:cs typeface="Calibri" panose="020F0502020204030204" charset="0"/>
              </a:rPr>
              <a:t>3GGP</a:t>
            </a:r>
            <a:endParaRPr lang="en-US" sz="9500" b="1" u="none" strike="noStrike">
              <a:solidFill>
                <a:srgbClr val="1D348A"/>
              </a:solidFill>
              <a:effectLst/>
              <a:uFillTx/>
              <a:latin typeface="Calibri" panose="020F0502020204030204" charset="0"/>
              <a:ea typeface="Roca Two Heavy"/>
              <a:cs typeface="Calibri" panose="020F0502020204030204" charset="0"/>
            </a:endParaRPr>
          </a:p>
        </p:txBody>
      </p:sp>
      <p:sp>
        <p:nvSpPr>
          <p:cNvPr id="498" name="TextBox 7"/>
          <p:cNvSpPr/>
          <p:nvPr/>
        </p:nvSpPr>
        <p:spPr>
          <a:xfrm>
            <a:off x="1028880" y="2297160"/>
            <a:ext cx="14036400" cy="2194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There are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three Technical Specification Groups (TSGs)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that deal with different domains of wireless technologies for building specification and technical recommendations: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499" name="Group 8"/>
          <p:cNvGrpSpPr/>
          <p:nvPr/>
        </p:nvGrpSpPr>
        <p:grpSpPr>
          <a:xfrm>
            <a:off x="115920" y="4821120"/>
            <a:ext cx="642960" cy="644760"/>
            <a:chOff x="115920" y="4821120"/>
            <a:chExt cx="642960" cy="644760"/>
          </a:xfrm>
        </p:grpSpPr>
        <p:sp>
          <p:nvSpPr>
            <p:cNvPr id="500" name="Freeform 9"/>
            <p:cNvSpPr/>
            <p:nvPr/>
          </p:nvSpPr>
          <p:spPr>
            <a:xfrm>
              <a:off x="1159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501" name="TextBox 10"/>
            <p:cNvSpPr/>
            <p:nvPr/>
          </p:nvSpPr>
          <p:spPr>
            <a:xfrm>
              <a:off x="1760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502" name="Group 12"/>
          <p:cNvGrpSpPr/>
          <p:nvPr/>
        </p:nvGrpSpPr>
        <p:grpSpPr>
          <a:xfrm>
            <a:off x="17529120" y="4821120"/>
            <a:ext cx="642960" cy="644760"/>
            <a:chOff x="17529120" y="4821120"/>
            <a:chExt cx="642960" cy="644760"/>
          </a:xfrm>
        </p:grpSpPr>
        <p:sp>
          <p:nvSpPr>
            <p:cNvPr id="503" name="Freeform 13"/>
            <p:cNvSpPr/>
            <p:nvPr/>
          </p:nvSpPr>
          <p:spPr>
            <a:xfrm>
              <a:off x="175291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504" name="TextBox 14"/>
            <p:cNvSpPr/>
            <p:nvPr/>
          </p:nvSpPr>
          <p:spPr>
            <a:xfrm>
              <a:off x="175892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505" name="TextBox 16"/>
          <p:cNvSpPr/>
          <p:nvPr/>
        </p:nvSpPr>
        <p:spPr>
          <a:xfrm>
            <a:off x="2308320" y="4802040"/>
            <a:ext cx="10677600" cy="1485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 Bold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RAN TSG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— Radio Access Network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 Bold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SA TSG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— Service &amp; System Aspect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 Bold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CT TSG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— Core Network &amp; Terminals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506" name="Picture 17" descr="3GPP and its three technical specification groups: RAN, SA and CT"/>
          <p:cNvPicPr/>
          <p:nvPr/>
        </p:nvPicPr>
        <p:blipFill>
          <a:blip r:embed="rId2"/>
          <a:stretch>
            <a:fillRect/>
          </a:stretch>
        </p:blipFill>
        <p:spPr>
          <a:xfrm>
            <a:off x="2000160" y="6699240"/>
            <a:ext cx="14000400" cy="2698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Freeform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08" name="Group 3"/>
          <p:cNvGrpSpPr/>
          <p:nvPr/>
        </p:nvGrpSpPr>
        <p:grpSpPr>
          <a:xfrm>
            <a:off x="436680" y="415800"/>
            <a:ext cx="17414640" cy="9455400"/>
            <a:chOff x="436680" y="415800"/>
            <a:chExt cx="17414640" cy="9455400"/>
          </a:xfrm>
        </p:grpSpPr>
        <p:sp>
          <p:nvSpPr>
            <p:cNvPr id="509" name="Freeform 4"/>
            <p:cNvSpPr/>
            <p:nvPr/>
          </p:nvSpPr>
          <p:spPr>
            <a:xfrm>
              <a:off x="436680" y="592920"/>
              <a:ext cx="17414640" cy="9278280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noFill/>
            <a:ln w="19080" cap="rnd">
              <a:solidFill>
                <a:srgbClr val="162768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510" name="TextBox 5"/>
            <p:cNvSpPr/>
            <p:nvPr/>
          </p:nvSpPr>
          <p:spPr>
            <a:xfrm>
              <a:off x="436680" y="415800"/>
              <a:ext cx="17414640" cy="9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511" name="TextBox 6"/>
          <p:cNvSpPr/>
          <p:nvPr/>
        </p:nvSpPr>
        <p:spPr>
          <a:xfrm>
            <a:off x="1028880" y="1171440"/>
            <a:ext cx="124696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1007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500" b="1" u="none" strike="noStrike">
                <a:solidFill>
                  <a:srgbClr val="1D348A"/>
                </a:solidFill>
                <a:effectLst/>
                <a:uFillTx/>
                <a:latin typeface="Calibri" panose="020F0502020204030204" charset="0"/>
                <a:ea typeface="Roca Two Heavy"/>
                <a:cs typeface="Calibri" panose="020F0502020204030204" charset="0"/>
              </a:rPr>
              <a:t>New Radio (NR) </a:t>
            </a:r>
            <a:endParaRPr lang="en-US" sz="9500" b="1" u="none" strike="noStrike">
              <a:solidFill>
                <a:srgbClr val="1D348A"/>
              </a:solidFill>
              <a:effectLst/>
              <a:uFillTx/>
              <a:latin typeface="Calibri" panose="020F0502020204030204" charset="0"/>
              <a:ea typeface="Roca Two Heavy"/>
              <a:cs typeface="Calibri" panose="020F0502020204030204" charset="0"/>
            </a:endParaRPr>
          </a:p>
        </p:txBody>
      </p:sp>
      <p:sp>
        <p:nvSpPr>
          <p:cNvPr id="512" name="TextBox 7"/>
          <p:cNvSpPr/>
          <p:nvPr/>
        </p:nvSpPr>
        <p:spPr>
          <a:xfrm>
            <a:off x="1028880" y="2297160"/>
            <a:ext cx="14036400" cy="3657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A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5G wireless technology standard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developed by 3GPP with its partners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Defines a wireless interface capable of performing 5G network functionalities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Two types of 5G NR: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513" name="Group 8"/>
          <p:cNvGrpSpPr/>
          <p:nvPr/>
        </p:nvGrpSpPr>
        <p:grpSpPr>
          <a:xfrm>
            <a:off x="115920" y="4821120"/>
            <a:ext cx="642960" cy="644760"/>
            <a:chOff x="115920" y="4821120"/>
            <a:chExt cx="642960" cy="644760"/>
          </a:xfrm>
        </p:grpSpPr>
        <p:sp>
          <p:nvSpPr>
            <p:cNvPr id="514" name="Freeform 9"/>
            <p:cNvSpPr/>
            <p:nvPr/>
          </p:nvSpPr>
          <p:spPr>
            <a:xfrm>
              <a:off x="1159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515" name="TextBox 10"/>
            <p:cNvSpPr/>
            <p:nvPr/>
          </p:nvSpPr>
          <p:spPr>
            <a:xfrm>
              <a:off x="1760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516" name="Group 12"/>
          <p:cNvGrpSpPr/>
          <p:nvPr/>
        </p:nvGrpSpPr>
        <p:grpSpPr>
          <a:xfrm>
            <a:off x="17529120" y="4821120"/>
            <a:ext cx="642960" cy="644760"/>
            <a:chOff x="17529120" y="4821120"/>
            <a:chExt cx="642960" cy="644760"/>
          </a:xfrm>
        </p:grpSpPr>
        <p:sp>
          <p:nvSpPr>
            <p:cNvPr id="517" name="Freeform 13"/>
            <p:cNvSpPr/>
            <p:nvPr/>
          </p:nvSpPr>
          <p:spPr>
            <a:xfrm>
              <a:off x="175291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518" name="TextBox 14"/>
            <p:cNvSpPr/>
            <p:nvPr/>
          </p:nvSpPr>
          <p:spPr>
            <a:xfrm>
              <a:off x="175892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519" name="TextBox 16"/>
          <p:cNvSpPr/>
          <p:nvPr/>
        </p:nvSpPr>
        <p:spPr>
          <a:xfrm>
            <a:off x="1379520" y="4559400"/>
            <a:ext cx="10677600" cy="495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 Bold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Non-Standalone NR</a:t>
            </a:r>
            <a:endParaRPr lang="en-US" sz="32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520" name="TextBox 17"/>
          <p:cNvSpPr/>
          <p:nvPr/>
        </p:nvSpPr>
        <p:spPr>
          <a:xfrm>
            <a:off x="2125800" y="5037120"/>
            <a:ext cx="14036400" cy="2194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Compatible with the existing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4G LTE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wireless network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Released under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3GPP Release 15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Allows frequency bands to be shared with existing 4G networks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21" name="TextBox 18"/>
          <p:cNvSpPr/>
          <p:nvPr/>
        </p:nvSpPr>
        <p:spPr>
          <a:xfrm>
            <a:off x="1747800" y="7297560"/>
            <a:ext cx="10679040" cy="495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39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2.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Standalone NR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22" name="TextBox 19"/>
          <p:cNvSpPr/>
          <p:nvPr/>
        </p:nvSpPr>
        <p:spPr>
          <a:xfrm>
            <a:off x="2125800" y="7753320"/>
            <a:ext cx="14036400" cy="292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Defines both control and data transfers under 5G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Does not require compatibility with predecessor networks such as LTE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Provides the full capabilities of 5G with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high speed and low latency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23" name="TextBox 20"/>
          <p:cNvSpPr/>
          <p:nvPr/>
        </p:nvSpPr>
        <p:spPr>
          <a:xfrm>
            <a:off x="12458880" y="3909960"/>
            <a:ext cx="5178240" cy="292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6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Frequency ranges: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FR1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: 410–7125 MHz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FR2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: 24,250–52,600 MHz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Freeform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25" name="Group 3"/>
          <p:cNvGrpSpPr/>
          <p:nvPr/>
        </p:nvGrpSpPr>
        <p:grpSpPr>
          <a:xfrm>
            <a:off x="436680" y="415800"/>
            <a:ext cx="17414640" cy="9455400"/>
            <a:chOff x="436680" y="415800"/>
            <a:chExt cx="17414640" cy="9455400"/>
          </a:xfrm>
        </p:grpSpPr>
        <p:sp>
          <p:nvSpPr>
            <p:cNvPr id="526" name="Freeform 4"/>
            <p:cNvSpPr/>
            <p:nvPr/>
          </p:nvSpPr>
          <p:spPr>
            <a:xfrm>
              <a:off x="436680" y="592920"/>
              <a:ext cx="17414640" cy="9278280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noFill/>
            <a:ln w="19080" cap="rnd">
              <a:solidFill>
                <a:srgbClr val="162768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527" name="TextBox 5"/>
            <p:cNvSpPr/>
            <p:nvPr/>
          </p:nvSpPr>
          <p:spPr>
            <a:xfrm>
              <a:off x="436680" y="415800"/>
              <a:ext cx="17414640" cy="9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528" name="TextBox 6"/>
          <p:cNvSpPr/>
          <p:nvPr/>
        </p:nvSpPr>
        <p:spPr>
          <a:xfrm>
            <a:off x="1028880" y="1171440"/>
            <a:ext cx="124696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1007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500" b="1" u="none" strike="noStrike">
                <a:solidFill>
                  <a:srgbClr val="1D348A"/>
                </a:solidFill>
                <a:effectLst/>
                <a:uFillTx/>
                <a:latin typeface="Calibri" panose="020F0502020204030204" charset="0"/>
                <a:ea typeface="Roca Two Heavy"/>
                <a:cs typeface="Calibri" panose="020F0502020204030204" charset="0"/>
              </a:rPr>
              <a:t>NextGen Core</a:t>
            </a:r>
            <a:endParaRPr lang="en-US" sz="9500" b="1" u="none" strike="noStrike">
              <a:solidFill>
                <a:srgbClr val="1D348A"/>
              </a:solidFill>
              <a:effectLst/>
              <a:uFillTx/>
              <a:latin typeface="Calibri" panose="020F0502020204030204" charset="0"/>
              <a:ea typeface="Roca Two Heavy"/>
              <a:cs typeface="Calibri" panose="020F0502020204030204" charset="0"/>
            </a:endParaRPr>
          </a:p>
        </p:txBody>
      </p:sp>
      <p:sp>
        <p:nvSpPr>
          <p:cNvPr id="529" name="TextBox 7"/>
          <p:cNvSpPr/>
          <p:nvPr/>
        </p:nvSpPr>
        <p:spPr>
          <a:xfrm>
            <a:off x="1028880" y="2297160"/>
            <a:ext cx="14036400" cy="147701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An important part of the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3GPP specification for 5G networks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Plays a crucial role in the 5G core network to materialized: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530" name="Group 8"/>
          <p:cNvGrpSpPr/>
          <p:nvPr/>
        </p:nvGrpSpPr>
        <p:grpSpPr>
          <a:xfrm>
            <a:off x="115920" y="4821120"/>
            <a:ext cx="642960" cy="644760"/>
            <a:chOff x="115920" y="4821120"/>
            <a:chExt cx="642960" cy="644760"/>
          </a:xfrm>
        </p:grpSpPr>
        <p:sp>
          <p:nvSpPr>
            <p:cNvPr id="531" name="Freeform 9"/>
            <p:cNvSpPr/>
            <p:nvPr/>
          </p:nvSpPr>
          <p:spPr>
            <a:xfrm>
              <a:off x="1159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532" name="TextBox 10"/>
            <p:cNvSpPr/>
            <p:nvPr/>
          </p:nvSpPr>
          <p:spPr>
            <a:xfrm>
              <a:off x="1760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533" name="Group 12"/>
          <p:cNvGrpSpPr/>
          <p:nvPr/>
        </p:nvGrpSpPr>
        <p:grpSpPr>
          <a:xfrm>
            <a:off x="17529120" y="4821120"/>
            <a:ext cx="642960" cy="644760"/>
            <a:chOff x="17529120" y="4821120"/>
            <a:chExt cx="642960" cy="644760"/>
          </a:xfrm>
        </p:grpSpPr>
        <p:sp>
          <p:nvSpPr>
            <p:cNvPr id="534" name="Freeform 13"/>
            <p:cNvSpPr/>
            <p:nvPr/>
          </p:nvSpPr>
          <p:spPr>
            <a:xfrm>
              <a:off x="175291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535" name="TextBox 14"/>
            <p:cNvSpPr/>
            <p:nvPr/>
          </p:nvSpPr>
          <p:spPr>
            <a:xfrm>
              <a:off x="175892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536" name="TextBox 16"/>
          <p:cNvSpPr/>
          <p:nvPr/>
        </p:nvSpPr>
        <p:spPr>
          <a:xfrm>
            <a:off x="1924200" y="3867120"/>
            <a:ext cx="10677240" cy="149987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High-speed Internet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Virtualized services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Low-latency data transmission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37" name="TextBox 17"/>
          <p:cNvSpPr/>
          <p:nvPr/>
        </p:nvSpPr>
        <p:spPr>
          <a:xfrm>
            <a:off x="1028880" y="5364000"/>
            <a:ext cx="14036400" cy="4389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Provides high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flexibility, efficiency, and scalability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Uses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SDN (Software-Defined Networking)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Supports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NFV (Network Functions Virtualization)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Allows network functions to be virtualized and used on the same hardware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Supports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network slicing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for unique and customized services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Freeform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39" name="Group 3"/>
          <p:cNvGrpSpPr/>
          <p:nvPr/>
        </p:nvGrpSpPr>
        <p:grpSpPr>
          <a:xfrm>
            <a:off x="436680" y="415800"/>
            <a:ext cx="17414640" cy="9455400"/>
            <a:chOff x="436680" y="415800"/>
            <a:chExt cx="17414640" cy="9455400"/>
          </a:xfrm>
        </p:grpSpPr>
        <p:sp>
          <p:nvSpPr>
            <p:cNvPr id="540" name="Freeform 4"/>
            <p:cNvSpPr/>
            <p:nvPr/>
          </p:nvSpPr>
          <p:spPr>
            <a:xfrm>
              <a:off x="436680" y="592920"/>
              <a:ext cx="17414640" cy="9278280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noFill/>
            <a:ln w="19080" cap="rnd">
              <a:solidFill>
                <a:srgbClr val="162768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  <p:sp>
          <p:nvSpPr>
            <p:cNvPr id="541" name="TextBox 5"/>
            <p:cNvSpPr/>
            <p:nvPr/>
          </p:nvSpPr>
          <p:spPr>
            <a:xfrm>
              <a:off x="436680" y="415800"/>
              <a:ext cx="17414640" cy="9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</p:grpSp>
      <p:sp>
        <p:nvSpPr>
          <p:cNvPr id="542" name="TextBox 6"/>
          <p:cNvSpPr/>
          <p:nvPr/>
        </p:nvSpPr>
        <p:spPr>
          <a:xfrm>
            <a:off x="1028880" y="760320"/>
            <a:ext cx="9826560" cy="1390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793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7500" b="1" u="none" strike="noStrike">
                <a:solidFill>
                  <a:srgbClr val="1D348A"/>
                </a:solidFill>
                <a:effectLst/>
                <a:uFillTx/>
                <a:latin typeface="Calibri" panose="020F0502020204030204"/>
                <a:ea typeface="Roca Two Heavy"/>
              </a:rPr>
              <a:t>LTE Advanced Pro</a:t>
            </a:r>
            <a:endParaRPr lang="en-US" sz="75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43" name="TextBox 7"/>
          <p:cNvSpPr/>
          <p:nvPr/>
        </p:nvSpPr>
        <p:spPr>
          <a:xfrm>
            <a:off x="758880" y="1825560"/>
            <a:ext cx="16500600" cy="786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LTE Advanced Pro (LTE-A Pro) is a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pre-5G wireless technology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Can be integrated with the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5G non-standalone standard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under Release 15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Defined under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3GPP Release 13 and Release 14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Also referred to as: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Pre-5G, 4.9G, 4.5G, 4.5G Pro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Supports up to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3 Gbps speed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and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32 carrier aggregation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Supports sharing of licensed and unlicensed spectrum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Incorporates massive MIMO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Uses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256 QAM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(Quadrature Amplitude Modulation)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Compatible with the first version of 5G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Useful for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data-intensive and critical applications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requiring high data rates and lower latency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544" name="Group 8"/>
          <p:cNvGrpSpPr/>
          <p:nvPr/>
        </p:nvGrpSpPr>
        <p:grpSpPr>
          <a:xfrm>
            <a:off x="115920" y="4821120"/>
            <a:ext cx="642960" cy="644760"/>
            <a:chOff x="115920" y="4821120"/>
            <a:chExt cx="642960" cy="644760"/>
          </a:xfrm>
        </p:grpSpPr>
        <p:sp>
          <p:nvSpPr>
            <p:cNvPr id="545" name="Freeform 9"/>
            <p:cNvSpPr/>
            <p:nvPr/>
          </p:nvSpPr>
          <p:spPr>
            <a:xfrm>
              <a:off x="1159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  <p:sp>
          <p:nvSpPr>
            <p:cNvPr id="546" name="TextBox 10"/>
            <p:cNvSpPr/>
            <p:nvPr/>
          </p:nvSpPr>
          <p:spPr>
            <a:xfrm>
              <a:off x="1760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</p:grpSp>
      <p:grpSp>
        <p:nvGrpSpPr>
          <p:cNvPr id="547" name="Group 12"/>
          <p:cNvGrpSpPr/>
          <p:nvPr/>
        </p:nvGrpSpPr>
        <p:grpSpPr>
          <a:xfrm>
            <a:off x="17529120" y="4821120"/>
            <a:ext cx="642960" cy="644760"/>
            <a:chOff x="17529120" y="4821120"/>
            <a:chExt cx="642960" cy="644760"/>
          </a:xfrm>
        </p:grpSpPr>
        <p:sp>
          <p:nvSpPr>
            <p:cNvPr id="548" name="Freeform 13"/>
            <p:cNvSpPr/>
            <p:nvPr/>
          </p:nvSpPr>
          <p:spPr>
            <a:xfrm>
              <a:off x="175291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  <p:sp>
          <p:nvSpPr>
            <p:cNvPr id="549" name="TextBox 14"/>
            <p:cNvSpPr/>
            <p:nvPr/>
          </p:nvSpPr>
          <p:spPr>
            <a:xfrm>
              <a:off x="175892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Freeform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51" name="Group 3"/>
          <p:cNvGrpSpPr/>
          <p:nvPr/>
        </p:nvGrpSpPr>
        <p:grpSpPr>
          <a:xfrm>
            <a:off x="436680" y="415800"/>
            <a:ext cx="17414640" cy="9455400"/>
            <a:chOff x="436680" y="415800"/>
            <a:chExt cx="17414640" cy="9455400"/>
          </a:xfrm>
        </p:grpSpPr>
        <p:sp>
          <p:nvSpPr>
            <p:cNvPr id="552" name="Freeform 4"/>
            <p:cNvSpPr/>
            <p:nvPr/>
          </p:nvSpPr>
          <p:spPr>
            <a:xfrm>
              <a:off x="436680" y="592920"/>
              <a:ext cx="17414640" cy="9278280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noFill/>
            <a:ln w="19080" cap="rnd">
              <a:solidFill>
                <a:srgbClr val="162768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  <p:sp>
          <p:nvSpPr>
            <p:cNvPr id="553" name="TextBox 5"/>
            <p:cNvSpPr/>
            <p:nvPr/>
          </p:nvSpPr>
          <p:spPr>
            <a:xfrm>
              <a:off x="436680" y="415800"/>
              <a:ext cx="17414640" cy="9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</p:grpSp>
      <p:sp>
        <p:nvSpPr>
          <p:cNvPr id="554" name="TextBox 6"/>
          <p:cNvSpPr/>
          <p:nvPr/>
        </p:nvSpPr>
        <p:spPr>
          <a:xfrm>
            <a:off x="1028880" y="1171440"/>
            <a:ext cx="124696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1007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500" b="1" u="none" strike="noStrike">
                <a:solidFill>
                  <a:srgbClr val="1D348A"/>
                </a:solidFill>
                <a:effectLst/>
                <a:uFillTx/>
                <a:latin typeface="Calibri" panose="020F0502020204030204"/>
                <a:ea typeface="Roca Two Heavy"/>
              </a:rPr>
              <a:t>EPC Evolution</a:t>
            </a:r>
            <a:endParaRPr lang="en-US" sz="95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55" name="TextBox 7"/>
          <p:cNvSpPr/>
          <p:nvPr/>
        </p:nvSpPr>
        <p:spPr>
          <a:xfrm>
            <a:off x="1028880" y="2297160"/>
            <a:ext cx="14036400" cy="590931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EPC —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Evolved Packet Core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An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LTE standard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that combines voice and data through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packet switching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Defined by the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3GPP project under Release 8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Before Release 8: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ts val="576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ts val="576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Release 8 paved the way for an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 advanced core network based on packet switching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556" name="Group 8"/>
          <p:cNvGrpSpPr/>
          <p:nvPr/>
        </p:nvGrpSpPr>
        <p:grpSpPr>
          <a:xfrm>
            <a:off x="115920" y="4821120"/>
            <a:ext cx="642960" cy="644760"/>
            <a:chOff x="115920" y="4821120"/>
            <a:chExt cx="642960" cy="644760"/>
          </a:xfrm>
        </p:grpSpPr>
        <p:sp>
          <p:nvSpPr>
            <p:cNvPr id="557" name="Freeform 9"/>
            <p:cNvSpPr/>
            <p:nvPr/>
          </p:nvSpPr>
          <p:spPr>
            <a:xfrm>
              <a:off x="1159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  <p:sp>
          <p:nvSpPr>
            <p:cNvPr id="558" name="TextBox 10"/>
            <p:cNvSpPr/>
            <p:nvPr/>
          </p:nvSpPr>
          <p:spPr>
            <a:xfrm>
              <a:off x="1760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</p:grpSp>
      <p:grpSp>
        <p:nvGrpSpPr>
          <p:cNvPr id="559" name="Group 12"/>
          <p:cNvGrpSpPr/>
          <p:nvPr/>
        </p:nvGrpSpPr>
        <p:grpSpPr>
          <a:xfrm>
            <a:off x="17529120" y="4821120"/>
            <a:ext cx="642960" cy="644760"/>
            <a:chOff x="17529120" y="4821120"/>
            <a:chExt cx="642960" cy="644760"/>
          </a:xfrm>
        </p:grpSpPr>
        <p:sp>
          <p:nvSpPr>
            <p:cNvPr id="560" name="Freeform 13"/>
            <p:cNvSpPr/>
            <p:nvPr/>
          </p:nvSpPr>
          <p:spPr>
            <a:xfrm>
              <a:off x="175291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  <p:sp>
          <p:nvSpPr>
            <p:cNvPr id="561" name="TextBox 14"/>
            <p:cNvSpPr/>
            <p:nvPr/>
          </p:nvSpPr>
          <p:spPr>
            <a:xfrm>
              <a:off x="175892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</p:grpSp>
      <p:sp>
        <p:nvSpPr>
          <p:cNvPr id="562" name="TextBox 16"/>
          <p:cNvSpPr/>
          <p:nvPr/>
        </p:nvSpPr>
        <p:spPr>
          <a:xfrm>
            <a:off x="2819520" y="5345280"/>
            <a:ext cx="10679040" cy="990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T Chocolates"/>
                <a:ea typeface="TT Chocolates"/>
              </a:rPr>
              <a:t>Voice calls used circuit switching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  <a:p>
            <a:pPr marL="690245" lvl="1" indent="-344805">
              <a:lnSpc>
                <a:spcPts val="3900"/>
              </a:lnSpc>
              <a:buClr>
                <a:srgbClr val="000000"/>
              </a:buClr>
              <a:buFont typeface="TT Chocolate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T Chocolates"/>
                <a:ea typeface="TT Chocolates"/>
              </a:rPr>
              <a:t>Data calls used packet switching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Freeform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64" name="Group 3"/>
          <p:cNvGrpSpPr/>
          <p:nvPr/>
        </p:nvGrpSpPr>
        <p:grpSpPr>
          <a:xfrm>
            <a:off x="436680" y="415800"/>
            <a:ext cx="17414640" cy="9455400"/>
            <a:chOff x="436680" y="415800"/>
            <a:chExt cx="17414640" cy="9455400"/>
          </a:xfrm>
        </p:grpSpPr>
        <p:sp>
          <p:nvSpPr>
            <p:cNvPr id="565" name="Freeform 4"/>
            <p:cNvSpPr/>
            <p:nvPr/>
          </p:nvSpPr>
          <p:spPr>
            <a:xfrm>
              <a:off x="436680" y="592920"/>
              <a:ext cx="17414640" cy="9278280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noFill/>
            <a:ln w="19080" cap="rnd">
              <a:solidFill>
                <a:srgbClr val="162768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566" name="TextBox 5"/>
            <p:cNvSpPr/>
            <p:nvPr/>
          </p:nvSpPr>
          <p:spPr>
            <a:xfrm>
              <a:off x="436680" y="415800"/>
              <a:ext cx="17414640" cy="9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567" name="TextBox 6"/>
          <p:cNvSpPr/>
          <p:nvPr/>
        </p:nvSpPr>
        <p:spPr>
          <a:xfrm>
            <a:off x="1028880" y="1133640"/>
            <a:ext cx="14250960" cy="2016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793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7500" b="1" u="none" strike="noStrike">
                <a:solidFill>
                  <a:srgbClr val="1D348A"/>
                </a:solidFill>
                <a:effectLst/>
                <a:uFillTx/>
                <a:latin typeface="Calibri" panose="020F0502020204030204" charset="0"/>
                <a:ea typeface="Roca Two Heavy"/>
                <a:cs typeface="Calibri" panose="020F0502020204030204" charset="0"/>
              </a:rPr>
              <a:t>Impact of 5G Technology on Cybersecurity</a:t>
            </a:r>
            <a:endParaRPr lang="en-US" sz="7500" b="1" u="none" strike="noStrike">
              <a:solidFill>
                <a:srgbClr val="1D348A"/>
              </a:solidFill>
              <a:effectLst/>
              <a:uFillTx/>
              <a:latin typeface="Calibri" panose="020F0502020204030204" charset="0"/>
              <a:ea typeface="Roca Two Heavy"/>
              <a:cs typeface="Calibri" panose="020F0502020204030204" charset="0"/>
            </a:endParaRPr>
          </a:p>
        </p:txBody>
      </p:sp>
      <p:grpSp>
        <p:nvGrpSpPr>
          <p:cNvPr id="568" name="Group 7"/>
          <p:cNvGrpSpPr/>
          <p:nvPr/>
        </p:nvGrpSpPr>
        <p:grpSpPr>
          <a:xfrm>
            <a:off x="115920" y="4821120"/>
            <a:ext cx="642960" cy="644760"/>
            <a:chOff x="115920" y="4821120"/>
            <a:chExt cx="642960" cy="644760"/>
          </a:xfrm>
        </p:grpSpPr>
        <p:sp>
          <p:nvSpPr>
            <p:cNvPr id="569" name="Freeform 8"/>
            <p:cNvSpPr/>
            <p:nvPr/>
          </p:nvSpPr>
          <p:spPr>
            <a:xfrm>
              <a:off x="1159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570" name="TextBox 9"/>
            <p:cNvSpPr/>
            <p:nvPr/>
          </p:nvSpPr>
          <p:spPr>
            <a:xfrm>
              <a:off x="1760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571" name="Group 11"/>
          <p:cNvGrpSpPr/>
          <p:nvPr/>
        </p:nvGrpSpPr>
        <p:grpSpPr>
          <a:xfrm>
            <a:off x="17529120" y="4821120"/>
            <a:ext cx="642960" cy="644760"/>
            <a:chOff x="17529120" y="4821120"/>
            <a:chExt cx="642960" cy="644760"/>
          </a:xfrm>
        </p:grpSpPr>
        <p:sp>
          <p:nvSpPr>
            <p:cNvPr id="572" name="Freeform 12"/>
            <p:cNvSpPr/>
            <p:nvPr/>
          </p:nvSpPr>
          <p:spPr>
            <a:xfrm>
              <a:off x="175291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573" name="TextBox 13"/>
            <p:cNvSpPr/>
            <p:nvPr/>
          </p:nvSpPr>
          <p:spPr>
            <a:xfrm>
              <a:off x="175892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574" name="TextBox 15"/>
          <p:cNvSpPr/>
          <p:nvPr/>
        </p:nvSpPr>
        <p:spPr>
          <a:xfrm>
            <a:off x="1135080" y="3044880"/>
            <a:ext cx="16124400" cy="3657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5G is very different from traditional mobile cellular networks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Numerous hardware devices are replaced by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software functions/applications: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Firewalls, Routers, Load-balancers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Traditional cybersecurity approaches may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not work properly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in the 5G environment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75" name="TextBox 16"/>
          <p:cNvSpPr/>
          <p:nvPr/>
        </p:nvSpPr>
        <p:spPr>
          <a:xfrm>
            <a:off x="1028880" y="6107040"/>
            <a:ext cx="16124040" cy="731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6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MAJOR CYBERSECURITY CHALLENGES:</a:t>
            </a:r>
            <a:endParaRPr lang="en-US" sz="3200" b="1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ea typeface="TT Chocolates Bold"/>
              <a:cs typeface="Calibri" panose="020F0502020204030204" charset="0"/>
            </a:endParaRPr>
          </a:p>
        </p:txBody>
      </p:sp>
      <p:sp>
        <p:nvSpPr>
          <p:cNvPr id="576" name="TextBox 17"/>
          <p:cNvSpPr/>
          <p:nvPr/>
        </p:nvSpPr>
        <p:spPr>
          <a:xfrm>
            <a:off x="1135080" y="6772320"/>
            <a:ext cx="16124400" cy="731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Hardware-based switching →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software-based routing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77" name="TextBox 18"/>
          <p:cNvSpPr/>
          <p:nvPr/>
        </p:nvSpPr>
        <p:spPr>
          <a:xfrm>
            <a:off x="2163600" y="7434360"/>
            <a:ext cx="16124400" cy="731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6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&gt;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Creates more routing points where attackers can intrude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78" name="TextBox 19"/>
          <p:cNvSpPr/>
          <p:nvPr/>
        </p:nvSpPr>
        <p:spPr>
          <a:xfrm>
            <a:off x="1135080" y="8094600"/>
            <a:ext cx="16124400" cy="731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Centralized switching →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distributed routing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79" name="TextBox 20"/>
          <p:cNvSpPr/>
          <p:nvPr/>
        </p:nvSpPr>
        <p:spPr>
          <a:xfrm>
            <a:off x="2163600" y="8755200"/>
            <a:ext cx="16124400" cy="73850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76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&gt;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Creates additional security risks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Freeform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81" name="Group 3"/>
          <p:cNvGrpSpPr/>
          <p:nvPr/>
        </p:nvGrpSpPr>
        <p:grpSpPr>
          <a:xfrm>
            <a:off x="436680" y="415800"/>
            <a:ext cx="17414640" cy="9455400"/>
            <a:chOff x="436680" y="415800"/>
            <a:chExt cx="17414640" cy="9455400"/>
          </a:xfrm>
        </p:grpSpPr>
        <p:sp>
          <p:nvSpPr>
            <p:cNvPr id="582" name="Freeform 4"/>
            <p:cNvSpPr/>
            <p:nvPr/>
          </p:nvSpPr>
          <p:spPr>
            <a:xfrm>
              <a:off x="436680" y="592920"/>
              <a:ext cx="17414640" cy="9278280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noFill/>
            <a:ln w="19080" cap="rnd">
              <a:solidFill>
                <a:srgbClr val="162768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  <p:sp>
          <p:nvSpPr>
            <p:cNvPr id="583" name="TextBox 5"/>
            <p:cNvSpPr/>
            <p:nvPr/>
          </p:nvSpPr>
          <p:spPr>
            <a:xfrm>
              <a:off x="436680" y="415800"/>
              <a:ext cx="17414640" cy="9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</p:grpSp>
      <p:sp>
        <p:nvSpPr>
          <p:cNvPr id="584" name="TextBox 6"/>
          <p:cNvSpPr/>
          <p:nvPr/>
        </p:nvSpPr>
        <p:spPr>
          <a:xfrm>
            <a:off x="522605" y="658495"/>
            <a:ext cx="14756765" cy="21717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793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7500" b="1" u="none" strike="noStrike">
                <a:solidFill>
                  <a:srgbClr val="1D348A"/>
                </a:solidFill>
                <a:effectLst/>
                <a:uFillTx/>
                <a:latin typeface="Calibri" panose="020F0502020204030204"/>
                <a:ea typeface="Roca Two Heavy"/>
              </a:rPr>
              <a:t>Impact of 5G Technology on Cybersecurity</a:t>
            </a:r>
            <a:endParaRPr lang="en-US" sz="75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grpSp>
        <p:nvGrpSpPr>
          <p:cNvPr id="585" name="Group 7"/>
          <p:cNvGrpSpPr/>
          <p:nvPr/>
        </p:nvGrpSpPr>
        <p:grpSpPr>
          <a:xfrm>
            <a:off x="115920" y="4821120"/>
            <a:ext cx="642960" cy="644760"/>
            <a:chOff x="115920" y="4821120"/>
            <a:chExt cx="642960" cy="644760"/>
          </a:xfrm>
        </p:grpSpPr>
        <p:sp>
          <p:nvSpPr>
            <p:cNvPr id="586" name="Freeform 8"/>
            <p:cNvSpPr/>
            <p:nvPr/>
          </p:nvSpPr>
          <p:spPr>
            <a:xfrm>
              <a:off x="1159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  <p:sp>
          <p:nvSpPr>
            <p:cNvPr id="587" name="TextBox 9"/>
            <p:cNvSpPr/>
            <p:nvPr/>
          </p:nvSpPr>
          <p:spPr>
            <a:xfrm>
              <a:off x="1760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</p:grpSp>
      <p:grpSp>
        <p:nvGrpSpPr>
          <p:cNvPr id="588" name="Group 11"/>
          <p:cNvGrpSpPr/>
          <p:nvPr/>
        </p:nvGrpSpPr>
        <p:grpSpPr>
          <a:xfrm>
            <a:off x="17529120" y="4821120"/>
            <a:ext cx="642960" cy="644760"/>
            <a:chOff x="17529120" y="4821120"/>
            <a:chExt cx="642960" cy="644760"/>
          </a:xfrm>
        </p:grpSpPr>
        <p:sp>
          <p:nvSpPr>
            <p:cNvPr id="589" name="Freeform 12"/>
            <p:cNvSpPr/>
            <p:nvPr/>
          </p:nvSpPr>
          <p:spPr>
            <a:xfrm>
              <a:off x="175291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  <p:sp>
          <p:nvSpPr>
            <p:cNvPr id="590" name="TextBox 13"/>
            <p:cNvSpPr/>
            <p:nvPr/>
          </p:nvSpPr>
          <p:spPr>
            <a:xfrm>
              <a:off x="175892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</p:grpSp>
      <p:sp>
        <p:nvSpPr>
          <p:cNvPr id="591" name="TextBox 15"/>
          <p:cNvSpPr/>
          <p:nvPr/>
        </p:nvSpPr>
        <p:spPr>
          <a:xfrm>
            <a:off x="571500" y="2505075"/>
            <a:ext cx="16581120" cy="9017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576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TT Chocolates Bold"/>
                <a:ea typeface="TT Chocolates Bold"/>
              </a:rPr>
              <a:t>MAJOR CYBERSECURITY CHALLENGES: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92" name="TextBox 16"/>
          <p:cNvSpPr/>
          <p:nvPr/>
        </p:nvSpPr>
        <p:spPr>
          <a:xfrm>
            <a:off x="608330" y="3249295"/>
            <a:ext cx="16651605" cy="822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Network function virtualization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93" name="TextBox 17"/>
          <p:cNvSpPr/>
          <p:nvPr/>
        </p:nvSpPr>
        <p:spPr>
          <a:xfrm>
            <a:off x="873760" y="4000500"/>
            <a:ext cx="17414240" cy="73850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spAutoFit/>
          </a:bodyPr>
          <a:p>
            <a:pPr>
              <a:lnSpc>
                <a:spcPts val="576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&gt;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Software-defined functions and virtualization introduce security threats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94" name="TextBox 18"/>
          <p:cNvSpPr/>
          <p:nvPr/>
        </p:nvSpPr>
        <p:spPr>
          <a:xfrm>
            <a:off x="1135080" y="4662360"/>
            <a:ext cx="16124400" cy="73850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Proprietary operating systems →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standard Internet protocols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95" name="TextBox 19"/>
          <p:cNvSpPr/>
          <p:nvPr/>
        </p:nvSpPr>
        <p:spPr>
          <a:xfrm>
            <a:off x="866140" y="5204460"/>
            <a:ext cx="17421860" cy="85725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noAutofit/>
          </a:bodyPr>
          <a:p>
            <a:pPr>
              <a:lnSpc>
                <a:spcPts val="576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TT Chocolates Bold"/>
                <a:ea typeface="TT Chocolates Bold"/>
              </a:rPr>
              <a:t>&gt;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Standard protocols may be more familiar to attackers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96" name="TextBox 20"/>
          <p:cNvSpPr/>
          <p:nvPr/>
        </p:nvSpPr>
        <p:spPr>
          <a:xfrm>
            <a:off x="381635" y="5855970"/>
            <a:ext cx="17425035" cy="45078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Software-based network management creates additional vulnerabilities and access points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Large number of access points and base-station units can increase security risks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More connected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IoT devices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 increase the potential security issues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690245" lvl="1" indent="-344805">
              <a:lnSpc>
                <a:spcPts val="576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 Bold"/>
                <a:cs typeface="Calibri" panose="020F0502020204030204" charset="0"/>
              </a:rPr>
              <a:t>Dynamic Spectrum Sharing (DSS)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through network slicing creates additional security concerns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Freeform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98" name="Group 3"/>
          <p:cNvGrpSpPr/>
          <p:nvPr/>
        </p:nvGrpSpPr>
        <p:grpSpPr>
          <a:xfrm>
            <a:off x="436680" y="415800"/>
            <a:ext cx="17414640" cy="9455400"/>
            <a:chOff x="436680" y="415800"/>
            <a:chExt cx="17414640" cy="9455400"/>
          </a:xfrm>
        </p:grpSpPr>
        <p:sp>
          <p:nvSpPr>
            <p:cNvPr id="599" name="Freeform 4"/>
            <p:cNvSpPr/>
            <p:nvPr/>
          </p:nvSpPr>
          <p:spPr>
            <a:xfrm>
              <a:off x="436680" y="592920"/>
              <a:ext cx="17414640" cy="9278280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noFill/>
            <a:ln w="19080" cap="rnd">
              <a:solidFill>
                <a:srgbClr val="162768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  <p:sp>
          <p:nvSpPr>
            <p:cNvPr id="600" name="TextBox 5"/>
            <p:cNvSpPr/>
            <p:nvPr/>
          </p:nvSpPr>
          <p:spPr>
            <a:xfrm>
              <a:off x="436680" y="415800"/>
              <a:ext cx="17414640" cy="9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</p:grpSp>
      <p:sp>
        <p:nvSpPr>
          <p:cNvPr id="601" name="TextBox 6"/>
          <p:cNvSpPr/>
          <p:nvPr/>
        </p:nvSpPr>
        <p:spPr>
          <a:xfrm>
            <a:off x="2052720" y="2874960"/>
            <a:ext cx="9894960" cy="5622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22135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7000" b="1" u="none" strike="noStrike">
                <a:solidFill>
                  <a:srgbClr val="1D348A"/>
                </a:solidFill>
                <a:effectLst/>
                <a:uFillTx/>
                <a:latin typeface="Calibri" panose="020F0502020204030204"/>
                <a:ea typeface="Roca Two Heavy"/>
              </a:rPr>
              <a:t>Thank You!</a:t>
            </a:r>
            <a:endParaRPr lang="en-US" sz="270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grpSp>
        <p:nvGrpSpPr>
          <p:cNvPr id="602" name="Group 8"/>
          <p:cNvGrpSpPr/>
          <p:nvPr/>
        </p:nvGrpSpPr>
        <p:grpSpPr>
          <a:xfrm>
            <a:off x="115920" y="4821120"/>
            <a:ext cx="642960" cy="644760"/>
            <a:chOff x="115920" y="4821120"/>
            <a:chExt cx="642960" cy="644760"/>
          </a:xfrm>
        </p:grpSpPr>
        <p:sp>
          <p:nvSpPr>
            <p:cNvPr id="603" name="Freeform 9"/>
            <p:cNvSpPr/>
            <p:nvPr/>
          </p:nvSpPr>
          <p:spPr>
            <a:xfrm>
              <a:off x="1159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  <p:sp>
          <p:nvSpPr>
            <p:cNvPr id="604" name="TextBox 10"/>
            <p:cNvSpPr/>
            <p:nvPr/>
          </p:nvSpPr>
          <p:spPr>
            <a:xfrm>
              <a:off x="1760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</p:grpSp>
      <p:grpSp>
        <p:nvGrpSpPr>
          <p:cNvPr id="606" name="Group 12"/>
          <p:cNvGrpSpPr/>
          <p:nvPr/>
        </p:nvGrpSpPr>
        <p:grpSpPr>
          <a:xfrm>
            <a:off x="17529120" y="4821120"/>
            <a:ext cx="642960" cy="644760"/>
            <a:chOff x="17529120" y="4821120"/>
            <a:chExt cx="642960" cy="644760"/>
          </a:xfrm>
        </p:grpSpPr>
        <p:sp>
          <p:nvSpPr>
            <p:cNvPr id="607" name="Freeform 13"/>
            <p:cNvSpPr/>
            <p:nvPr/>
          </p:nvSpPr>
          <p:spPr>
            <a:xfrm>
              <a:off x="17529120" y="4821120"/>
              <a:ext cx="642960" cy="64476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  <p:sp>
          <p:nvSpPr>
            <p:cNvPr id="608" name="TextBox 14"/>
            <p:cNvSpPr/>
            <p:nvPr/>
          </p:nvSpPr>
          <p:spPr>
            <a:xfrm>
              <a:off x="17589240" y="4843800"/>
              <a:ext cx="522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>
                <a:lnSpc>
                  <a:spcPts val="28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endParaRPr>
            </a:p>
          </p:txBody>
        </p:sp>
      </p:grpSp>
      <p:sp>
        <p:nvSpPr>
          <p:cNvPr id="610" name="TextBox 16"/>
          <p:cNvSpPr/>
          <p:nvPr/>
        </p:nvSpPr>
        <p:spPr>
          <a:xfrm>
            <a:off x="11183760" y="7826400"/>
            <a:ext cx="5691240" cy="71755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ts val="28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Zywynne Jedrick Ambunan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 panose="020F0502020204030204" charset="0"/>
              <a:cs typeface="Calibri" panose="020F0502020204030204" charset="0"/>
            </a:endParaRPr>
          </a:p>
          <a:p>
            <a:pPr algn="r">
              <a:lnSpc>
                <a:spcPts val="28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TT Chocolates"/>
                <a:cs typeface="Calibri" panose="020F0502020204030204" charset="0"/>
              </a:rPr>
              <a:t>Brent Mamaradl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T Chocolates"/>
                <a:ea typeface="TT Chocolates"/>
              </a:rPr>
              <a:t>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9711</Words>
  <Application>WPS Presentation</Application>
  <PresentationFormat/>
  <Paragraphs>438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1" baseType="lpstr">
      <vt:lpstr>Arial</vt:lpstr>
      <vt:lpstr>SimSun</vt:lpstr>
      <vt:lpstr>Wingdings</vt:lpstr>
      <vt:lpstr>Calibri</vt:lpstr>
      <vt:lpstr>Arial</vt:lpstr>
      <vt:lpstr>Roca Two Heavy</vt:lpstr>
      <vt:lpstr>Segoe Print</vt:lpstr>
      <vt:lpstr>TT Chocolates</vt:lpstr>
      <vt:lpstr>TT Chocolates Bold</vt:lpstr>
      <vt:lpstr>Microsoft YaHei</vt:lpstr>
      <vt:lpstr>Arial Unicode MS</vt:lpstr>
      <vt:lpstr>DejaVu Sans</vt:lpstr>
      <vt:lpstr>Calibri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Brent</cp:lastModifiedBy>
  <cp:revision>2</cp:revision>
  <dcterms:created xsi:type="dcterms:W3CDTF">2026-09-22T09:11:11Z</dcterms:created>
  <dcterms:modified xsi:type="dcterms:W3CDTF">2026-09-22T09:11:25Z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68AEB19C435E4952A28A47794551A141_13</vt:lpwstr>
  </property>
  <property fmtid="{D5CDD505-2E9C-101B-9397-08002B2CF9AE}" pid="3" name="KSOProductBuildVer">
    <vt:lpwstr>2057-12.2.0.23206</vt:lpwstr>
  </property>
</Properties>
</file>