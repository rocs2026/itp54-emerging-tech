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x="18288000" cy="10287000"/>
  <p:notesSz cx="6858000" cy="9144000"/>
  <p:embeddedFontLst>
    <p:embeddedFont>
      <p:font typeface="Canva Sans Bold" charset="1" panose="020B0803030501040103"/>
      <p:regular r:id="rId58"/>
    </p:embeddedFont>
    <p:embeddedFont>
      <p:font typeface="Canva Sans" charset="1" panose="020B0503030501040103"/>
      <p:regular r:id="rId59"/>
    </p:embeddedFont>
    <p:embeddedFont>
      <p:font typeface="Poppins Bold" charset="1" panose="00000800000000000000"/>
      <p:regular r:id="rId60"/>
    </p:embeddedFont>
    <p:embeddedFont>
      <p:font typeface="Canva Sans Italics" charset="1" panose="020B0503030501040103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media/image18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25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8196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2543" y="5053871"/>
            <a:ext cx="16316757" cy="3683853"/>
            <a:chOff x="0" y="0"/>
            <a:chExt cx="2527893" cy="570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27893" cy="570725"/>
            </a:xfrm>
            <a:custGeom>
              <a:avLst/>
              <a:gdLst/>
              <a:ahLst/>
              <a:cxnLst/>
              <a:rect r="r" b="b" t="t" l="l"/>
              <a:pathLst>
                <a:path h="570725" w="2527893">
                  <a:moveTo>
                    <a:pt x="9490" y="0"/>
                  </a:moveTo>
                  <a:lnTo>
                    <a:pt x="2518403" y="0"/>
                  </a:lnTo>
                  <a:cubicBezTo>
                    <a:pt x="2520920" y="0"/>
                    <a:pt x="2523334" y="1000"/>
                    <a:pt x="2525113" y="2779"/>
                  </a:cubicBezTo>
                  <a:cubicBezTo>
                    <a:pt x="2526893" y="4559"/>
                    <a:pt x="2527893" y="6973"/>
                    <a:pt x="2527893" y="9490"/>
                  </a:cubicBezTo>
                  <a:lnTo>
                    <a:pt x="2527893" y="561236"/>
                  </a:lnTo>
                  <a:cubicBezTo>
                    <a:pt x="2527893" y="566477"/>
                    <a:pt x="2523644" y="570725"/>
                    <a:pt x="2518403" y="570725"/>
                  </a:cubicBezTo>
                  <a:lnTo>
                    <a:pt x="9490" y="570725"/>
                  </a:lnTo>
                  <a:cubicBezTo>
                    <a:pt x="4249" y="570725"/>
                    <a:pt x="0" y="566477"/>
                    <a:pt x="0" y="561236"/>
                  </a:cubicBezTo>
                  <a:lnTo>
                    <a:pt x="0" y="9490"/>
                  </a:lnTo>
                  <a:cubicBezTo>
                    <a:pt x="0" y="4249"/>
                    <a:pt x="4249" y="0"/>
                    <a:pt x="94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0798" r="0" b="-70798"/>
              </a:stretch>
            </a:blipFill>
            <a:ln w="76200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6E97B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6756935" y="1681739"/>
            <a:ext cx="502365" cy="438339"/>
            <a:chOff x="0" y="0"/>
            <a:chExt cx="132310" cy="115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2310" cy="115447"/>
            </a:xfrm>
            <a:custGeom>
              <a:avLst/>
              <a:gdLst/>
              <a:ahLst/>
              <a:cxnLst/>
              <a:rect r="r" b="b" t="t" l="l"/>
              <a:pathLst>
                <a:path h="115447" w="132310">
                  <a:moveTo>
                    <a:pt x="57724" y="0"/>
                  </a:moveTo>
                  <a:lnTo>
                    <a:pt x="74587" y="0"/>
                  </a:lnTo>
                  <a:cubicBezTo>
                    <a:pt x="89896" y="0"/>
                    <a:pt x="104578" y="6082"/>
                    <a:pt x="115403" y="16907"/>
                  </a:cubicBezTo>
                  <a:cubicBezTo>
                    <a:pt x="126229" y="27732"/>
                    <a:pt x="132310" y="42414"/>
                    <a:pt x="132310" y="57724"/>
                  </a:cubicBezTo>
                  <a:lnTo>
                    <a:pt x="132310" y="57724"/>
                  </a:lnTo>
                  <a:cubicBezTo>
                    <a:pt x="132310" y="73033"/>
                    <a:pt x="126229" y="87715"/>
                    <a:pt x="115403" y="98540"/>
                  </a:cubicBezTo>
                  <a:cubicBezTo>
                    <a:pt x="104578" y="109366"/>
                    <a:pt x="89896" y="115447"/>
                    <a:pt x="74587" y="115447"/>
                  </a:cubicBezTo>
                  <a:lnTo>
                    <a:pt x="57724" y="115447"/>
                  </a:lnTo>
                  <a:cubicBezTo>
                    <a:pt x="42414" y="115447"/>
                    <a:pt x="27732" y="109366"/>
                    <a:pt x="16907" y="98540"/>
                  </a:cubicBezTo>
                  <a:cubicBezTo>
                    <a:pt x="6082" y="87715"/>
                    <a:pt x="0" y="73033"/>
                    <a:pt x="0" y="57724"/>
                  </a:cubicBezTo>
                  <a:lnTo>
                    <a:pt x="0" y="57724"/>
                  </a:lnTo>
                  <a:cubicBezTo>
                    <a:pt x="0" y="42414"/>
                    <a:pt x="6082" y="27732"/>
                    <a:pt x="16907" y="16907"/>
                  </a:cubicBezTo>
                  <a:cubicBezTo>
                    <a:pt x="27732" y="6082"/>
                    <a:pt x="42414" y="0"/>
                    <a:pt x="577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2310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858679" y="1751469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7" y="0"/>
                </a:lnTo>
                <a:lnTo>
                  <a:pt x="298877" y="298878"/>
                </a:lnTo>
                <a:lnTo>
                  <a:pt x="0" y="2988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6984636" y="9443896"/>
            <a:ext cx="2679796" cy="438339"/>
            <a:chOff x="0" y="0"/>
            <a:chExt cx="3573062" cy="58445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3573062" cy="584452"/>
              <a:chOff x="0" y="0"/>
              <a:chExt cx="705790" cy="11544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05790" cy="115447"/>
              </a:xfrm>
              <a:custGeom>
                <a:avLst/>
                <a:gdLst/>
                <a:ahLst/>
                <a:cxnLst/>
                <a:rect r="r" b="b" t="t" l="l"/>
                <a:pathLst>
                  <a:path h="115447" w="705790">
                    <a:moveTo>
                      <a:pt x="28890" y="0"/>
                    </a:moveTo>
                    <a:lnTo>
                      <a:pt x="676900" y="0"/>
                    </a:lnTo>
                    <a:cubicBezTo>
                      <a:pt x="684562" y="0"/>
                      <a:pt x="691910" y="3044"/>
                      <a:pt x="697328" y="8462"/>
                    </a:cubicBezTo>
                    <a:cubicBezTo>
                      <a:pt x="702746" y="13880"/>
                      <a:pt x="705790" y="21228"/>
                      <a:pt x="705790" y="28890"/>
                    </a:cubicBezTo>
                    <a:lnTo>
                      <a:pt x="705790" y="86557"/>
                    </a:lnTo>
                    <a:cubicBezTo>
                      <a:pt x="705790" y="94219"/>
                      <a:pt x="702746" y="101568"/>
                      <a:pt x="697328" y="106986"/>
                    </a:cubicBezTo>
                    <a:cubicBezTo>
                      <a:pt x="691910" y="112404"/>
                      <a:pt x="684562" y="115447"/>
                      <a:pt x="676900" y="115447"/>
                    </a:cubicBezTo>
                    <a:lnTo>
                      <a:pt x="28890" y="115447"/>
                    </a:lnTo>
                    <a:cubicBezTo>
                      <a:pt x="21228" y="115447"/>
                      <a:pt x="13880" y="112404"/>
                      <a:pt x="8462" y="106986"/>
                    </a:cubicBezTo>
                    <a:cubicBezTo>
                      <a:pt x="3044" y="101568"/>
                      <a:pt x="0" y="94219"/>
                      <a:pt x="0" y="86557"/>
                    </a:cubicBezTo>
                    <a:lnTo>
                      <a:pt x="0" y="28890"/>
                    </a:lnTo>
                    <a:cubicBezTo>
                      <a:pt x="0" y="21228"/>
                      <a:pt x="3044" y="13880"/>
                      <a:pt x="8462" y="8462"/>
                    </a:cubicBezTo>
                    <a:cubicBezTo>
                      <a:pt x="13880" y="3044"/>
                      <a:pt x="21228" y="0"/>
                      <a:pt x="28890" y="0"/>
                    </a:cubicBezTo>
                    <a:close/>
                  </a:path>
                </a:pathLst>
              </a:custGeom>
              <a:solidFill>
                <a:srgbClr val="6E97B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705790" cy="1535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2949827" y="76043"/>
              <a:ext cx="432366" cy="432366"/>
            </a:xfrm>
            <a:custGeom>
              <a:avLst/>
              <a:gdLst/>
              <a:ahLst/>
              <a:cxnLst/>
              <a:rect r="r" b="b" t="t" l="l"/>
              <a:pathLst>
                <a:path h="432366" w="432366">
                  <a:moveTo>
                    <a:pt x="0" y="0"/>
                  </a:moveTo>
                  <a:lnTo>
                    <a:pt x="432367" y="0"/>
                  </a:lnTo>
                  <a:lnTo>
                    <a:pt x="432367" y="432366"/>
                  </a:lnTo>
                  <a:lnTo>
                    <a:pt x="0" y="432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239196" y="37943"/>
              <a:ext cx="2574973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Presented by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Presentation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7486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IT501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2543" y="1777876"/>
            <a:ext cx="9585414" cy="288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</a:pPr>
            <a:r>
              <a:rPr lang="en-US" sz="11748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Quantum</a:t>
            </a:r>
          </a:p>
          <a:p>
            <a:pPr algn="l">
              <a:lnSpc>
                <a:spcPts val="10574"/>
              </a:lnSpc>
            </a:pPr>
            <a:r>
              <a:rPr lang="en-US" sz="11748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Computing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35982" y="9465898"/>
            <a:ext cx="341165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Puno, Karl Vincent D.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58152" y="9465898"/>
            <a:ext cx="341165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Satsatin, Ma. Allison 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5621" y="9465898"/>
            <a:ext cx="503084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Systems Integration and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560557" y="2157565"/>
            <a:ext cx="502365" cy="438339"/>
            <a:chOff x="0" y="0"/>
            <a:chExt cx="132310" cy="1154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310" cy="115447"/>
            </a:xfrm>
            <a:custGeom>
              <a:avLst/>
              <a:gdLst/>
              <a:ahLst/>
              <a:cxnLst/>
              <a:rect r="r" b="b" t="t" l="l"/>
              <a:pathLst>
                <a:path h="115447" w="132310">
                  <a:moveTo>
                    <a:pt x="57724" y="0"/>
                  </a:moveTo>
                  <a:lnTo>
                    <a:pt x="74587" y="0"/>
                  </a:lnTo>
                  <a:cubicBezTo>
                    <a:pt x="89896" y="0"/>
                    <a:pt x="104578" y="6082"/>
                    <a:pt x="115403" y="16907"/>
                  </a:cubicBezTo>
                  <a:cubicBezTo>
                    <a:pt x="126229" y="27732"/>
                    <a:pt x="132310" y="42414"/>
                    <a:pt x="132310" y="57724"/>
                  </a:cubicBezTo>
                  <a:lnTo>
                    <a:pt x="132310" y="57724"/>
                  </a:lnTo>
                  <a:cubicBezTo>
                    <a:pt x="132310" y="73033"/>
                    <a:pt x="126229" y="87715"/>
                    <a:pt x="115403" y="98540"/>
                  </a:cubicBezTo>
                  <a:cubicBezTo>
                    <a:pt x="104578" y="109366"/>
                    <a:pt x="89896" y="115447"/>
                    <a:pt x="74587" y="115447"/>
                  </a:cubicBezTo>
                  <a:lnTo>
                    <a:pt x="57724" y="115447"/>
                  </a:lnTo>
                  <a:cubicBezTo>
                    <a:pt x="42414" y="115447"/>
                    <a:pt x="27732" y="109366"/>
                    <a:pt x="16907" y="98540"/>
                  </a:cubicBezTo>
                  <a:cubicBezTo>
                    <a:pt x="6082" y="87715"/>
                    <a:pt x="0" y="73033"/>
                    <a:pt x="0" y="57724"/>
                  </a:cubicBezTo>
                  <a:lnTo>
                    <a:pt x="0" y="57724"/>
                  </a:lnTo>
                  <a:cubicBezTo>
                    <a:pt x="0" y="42414"/>
                    <a:pt x="6082" y="27732"/>
                    <a:pt x="16907" y="16907"/>
                  </a:cubicBezTo>
                  <a:cubicBezTo>
                    <a:pt x="27732" y="6082"/>
                    <a:pt x="42414" y="0"/>
                    <a:pt x="577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2310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662300" y="2227296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8" y="0"/>
                </a:lnTo>
                <a:lnTo>
                  <a:pt x="298878" y="298878"/>
                </a:lnTo>
                <a:lnTo>
                  <a:pt x="0" y="29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994203" y="1770291"/>
            <a:ext cx="6775601" cy="7055985"/>
            <a:chOff x="0" y="0"/>
            <a:chExt cx="2091481" cy="21780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1481" cy="2178029"/>
            </a:xfrm>
            <a:custGeom>
              <a:avLst/>
              <a:gdLst/>
              <a:ahLst/>
              <a:cxnLst/>
              <a:rect r="r" b="b" t="t" l="l"/>
              <a:pathLst>
                <a:path h="2178029" w="2091481">
                  <a:moveTo>
                    <a:pt x="1417010" y="296700"/>
                  </a:moveTo>
                  <a:lnTo>
                    <a:pt x="1417010" y="140123"/>
                  </a:lnTo>
                  <a:cubicBezTo>
                    <a:pt x="1417010" y="62736"/>
                    <a:pt x="1354276" y="1"/>
                    <a:pt x="1276888" y="0"/>
                  </a:cubicBezTo>
                  <a:lnTo>
                    <a:pt x="140123" y="0"/>
                  </a:lnTo>
                  <a:cubicBezTo>
                    <a:pt x="62735" y="0"/>
                    <a:pt x="0" y="62735"/>
                    <a:pt x="0" y="140123"/>
                  </a:cubicBezTo>
                  <a:lnTo>
                    <a:pt x="0" y="488772"/>
                  </a:lnTo>
                  <a:cubicBezTo>
                    <a:pt x="0" y="525935"/>
                    <a:pt x="14763" y="561576"/>
                    <a:pt x="41041" y="587854"/>
                  </a:cubicBezTo>
                  <a:cubicBezTo>
                    <a:pt x="67319" y="614132"/>
                    <a:pt x="102960" y="628894"/>
                    <a:pt x="140123" y="628894"/>
                  </a:cubicBezTo>
                  <a:lnTo>
                    <a:pt x="712216" y="628894"/>
                  </a:lnTo>
                  <a:cubicBezTo>
                    <a:pt x="789603" y="628895"/>
                    <a:pt x="852337" y="691630"/>
                    <a:pt x="852336" y="769017"/>
                  </a:cubicBezTo>
                  <a:lnTo>
                    <a:pt x="852336" y="2037907"/>
                  </a:lnTo>
                  <a:cubicBezTo>
                    <a:pt x="852336" y="2075069"/>
                    <a:pt x="867099" y="2110710"/>
                    <a:pt x="893377" y="2136989"/>
                  </a:cubicBezTo>
                  <a:cubicBezTo>
                    <a:pt x="919656" y="2163267"/>
                    <a:pt x="955296" y="2178029"/>
                    <a:pt x="992459" y="2178029"/>
                  </a:cubicBezTo>
                  <a:lnTo>
                    <a:pt x="1951360" y="2178029"/>
                  </a:lnTo>
                  <a:cubicBezTo>
                    <a:pt x="1988522" y="2178029"/>
                    <a:pt x="2024163" y="2163266"/>
                    <a:pt x="2050441" y="2136988"/>
                  </a:cubicBezTo>
                  <a:cubicBezTo>
                    <a:pt x="2076719" y="2110710"/>
                    <a:pt x="2091481" y="2075069"/>
                    <a:pt x="2091481" y="2037907"/>
                  </a:cubicBezTo>
                  <a:lnTo>
                    <a:pt x="2091481" y="576944"/>
                  </a:lnTo>
                  <a:cubicBezTo>
                    <a:pt x="2091481" y="499557"/>
                    <a:pt x="2028747" y="436823"/>
                    <a:pt x="1951360" y="436823"/>
                  </a:cubicBezTo>
                  <a:lnTo>
                    <a:pt x="1557133" y="436823"/>
                  </a:lnTo>
                  <a:cubicBezTo>
                    <a:pt x="1519970" y="436823"/>
                    <a:pt x="1484329" y="422060"/>
                    <a:pt x="1458051" y="395782"/>
                  </a:cubicBezTo>
                  <a:cubicBezTo>
                    <a:pt x="1431773" y="369504"/>
                    <a:pt x="1417010" y="333863"/>
                    <a:pt x="1417010" y="296700"/>
                  </a:cubicBezTo>
                  <a:close/>
                </a:path>
              </a:pathLst>
            </a:custGeom>
            <a:blipFill>
              <a:blip r:embed="rId4"/>
              <a:stretch>
                <a:fillRect l="-52471" t="0" r="-52471" b="0"/>
              </a:stretch>
            </a:blipFill>
            <a:ln w="76200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6E97B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024330" y="3850228"/>
            <a:ext cx="2663439" cy="4976048"/>
            <a:chOff x="0" y="0"/>
            <a:chExt cx="412636" cy="770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2636" cy="770920"/>
            </a:xfrm>
            <a:custGeom>
              <a:avLst/>
              <a:gdLst/>
              <a:ahLst/>
              <a:cxnLst/>
              <a:rect r="r" b="b" t="t" l="l"/>
              <a:pathLst>
                <a:path h="770920" w="412636">
                  <a:moveTo>
                    <a:pt x="124990" y="0"/>
                  </a:moveTo>
                  <a:lnTo>
                    <a:pt x="287647" y="0"/>
                  </a:lnTo>
                  <a:cubicBezTo>
                    <a:pt x="356677" y="0"/>
                    <a:pt x="412636" y="55960"/>
                    <a:pt x="412636" y="124990"/>
                  </a:cubicBezTo>
                  <a:lnTo>
                    <a:pt x="412636" y="645930"/>
                  </a:lnTo>
                  <a:cubicBezTo>
                    <a:pt x="412636" y="679080"/>
                    <a:pt x="399468" y="710871"/>
                    <a:pt x="376028" y="734311"/>
                  </a:cubicBezTo>
                  <a:cubicBezTo>
                    <a:pt x="352588" y="757752"/>
                    <a:pt x="320796" y="770920"/>
                    <a:pt x="287647" y="770920"/>
                  </a:cubicBezTo>
                  <a:lnTo>
                    <a:pt x="124990" y="770920"/>
                  </a:lnTo>
                  <a:cubicBezTo>
                    <a:pt x="91840" y="770920"/>
                    <a:pt x="60049" y="757752"/>
                    <a:pt x="36609" y="734311"/>
                  </a:cubicBezTo>
                  <a:cubicBezTo>
                    <a:pt x="13169" y="710871"/>
                    <a:pt x="0" y="679080"/>
                    <a:pt x="0" y="645930"/>
                  </a:cubicBezTo>
                  <a:lnTo>
                    <a:pt x="0" y="124990"/>
                  </a:lnTo>
                  <a:cubicBezTo>
                    <a:pt x="0" y="91840"/>
                    <a:pt x="13169" y="60049"/>
                    <a:pt x="36609" y="36609"/>
                  </a:cubicBezTo>
                  <a:cubicBezTo>
                    <a:pt x="60049" y="13169"/>
                    <a:pt x="91840" y="0"/>
                    <a:pt x="124990" y="0"/>
                  </a:cubicBezTo>
                  <a:close/>
                </a:path>
              </a:pathLst>
            </a:custGeom>
            <a:blipFill>
              <a:blip r:embed="rId5"/>
              <a:stretch>
                <a:fillRect l="-116069" t="0" r="-116069" b="0"/>
              </a:stretch>
            </a:blipFill>
            <a:ln w="762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6E97B1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18196" y="2072499"/>
            <a:ext cx="234810" cy="1936923"/>
            <a:chOff x="0" y="0"/>
            <a:chExt cx="61843" cy="510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553825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9919" y="2174237"/>
            <a:ext cx="9162734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What is Quantum</a:t>
            </a:r>
          </a:p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Computing?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84103" y="4214904"/>
            <a:ext cx="10241975" cy="504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3"/>
              </a:lnSpc>
            </a:pPr>
            <a:r>
              <a:rPr lang="en-US" sz="28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</a:t>
            </a:r>
            <a:r>
              <a:rPr lang="en-US" sz="28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uantum computing is an emerging computing paradigm built on the quantum mechanics of atomic particles, instead of transistors, it uses particles like electrons and protons to process information.</a:t>
            </a:r>
          </a:p>
          <a:p>
            <a:pPr algn="just">
              <a:lnSpc>
                <a:spcPts val="4003"/>
              </a:lnSpc>
            </a:pPr>
          </a:p>
          <a:p>
            <a:pPr algn="just">
              <a:lnSpc>
                <a:spcPts val="4003"/>
              </a:lnSpc>
            </a:pPr>
            <a:r>
              <a:rPr lang="en-US" sz="28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Classical computers store data as a bit — a 0 or a 1. Quantum computers use a qubit, which can hold 0, 1, and a superposition of both at once.</a:t>
            </a:r>
          </a:p>
          <a:p>
            <a:pPr algn="just">
              <a:lnSpc>
                <a:spcPts val="4003"/>
              </a:lnSpc>
            </a:pPr>
          </a:p>
          <a:p>
            <a:pPr algn="just">
              <a:lnSpc>
                <a:spcPts val="4003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6800014" y="1770291"/>
            <a:ext cx="502365" cy="438339"/>
            <a:chOff x="0" y="0"/>
            <a:chExt cx="132310" cy="1154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310" cy="115447"/>
            </a:xfrm>
            <a:custGeom>
              <a:avLst/>
              <a:gdLst/>
              <a:ahLst/>
              <a:cxnLst/>
              <a:rect r="r" b="b" t="t" l="l"/>
              <a:pathLst>
                <a:path h="115447" w="132310">
                  <a:moveTo>
                    <a:pt x="57724" y="0"/>
                  </a:moveTo>
                  <a:lnTo>
                    <a:pt x="74587" y="0"/>
                  </a:lnTo>
                  <a:cubicBezTo>
                    <a:pt x="89896" y="0"/>
                    <a:pt x="104578" y="6082"/>
                    <a:pt x="115403" y="16907"/>
                  </a:cubicBezTo>
                  <a:cubicBezTo>
                    <a:pt x="126229" y="27732"/>
                    <a:pt x="132310" y="42414"/>
                    <a:pt x="132310" y="57724"/>
                  </a:cubicBezTo>
                  <a:lnTo>
                    <a:pt x="132310" y="57724"/>
                  </a:lnTo>
                  <a:cubicBezTo>
                    <a:pt x="132310" y="73033"/>
                    <a:pt x="126229" y="87715"/>
                    <a:pt x="115403" y="98540"/>
                  </a:cubicBezTo>
                  <a:cubicBezTo>
                    <a:pt x="104578" y="109366"/>
                    <a:pt x="89896" y="115447"/>
                    <a:pt x="74587" y="115447"/>
                  </a:cubicBezTo>
                  <a:lnTo>
                    <a:pt x="57724" y="115447"/>
                  </a:lnTo>
                  <a:cubicBezTo>
                    <a:pt x="42414" y="115447"/>
                    <a:pt x="27732" y="109366"/>
                    <a:pt x="16907" y="98540"/>
                  </a:cubicBezTo>
                  <a:cubicBezTo>
                    <a:pt x="6082" y="87715"/>
                    <a:pt x="0" y="73033"/>
                    <a:pt x="0" y="57724"/>
                  </a:cubicBezTo>
                  <a:lnTo>
                    <a:pt x="0" y="57724"/>
                  </a:lnTo>
                  <a:cubicBezTo>
                    <a:pt x="0" y="42414"/>
                    <a:pt x="6082" y="27732"/>
                    <a:pt x="16907" y="16907"/>
                  </a:cubicBezTo>
                  <a:cubicBezTo>
                    <a:pt x="27732" y="6082"/>
                    <a:pt x="42414" y="0"/>
                    <a:pt x="577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2310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901757" y="1840022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8" y="0"/>
                </a:lnTo>
                <a:lnTo>
                  <a:pt x="298878" y="298877"/>
                </a:lnTo>
                <a:lnTo>
                  <a:pt x="0" y="298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18196" y="3663769"/>
            <a:ext cx="5567982" cy="4609460"/>
            <a:chOff x="0" y="0"/>
            <a:chExt cx="1270873" cy="10520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0873" cy="1052093"/>
            </a:xfrm>
            <a:custGeom>
              <a:avLst/>
              <a:gdLst/>
              <a:ahLst/>
              <a:cxnLst/>
              <a:rect r="r" b="b" t="t" l="l"/>
              <a:pathLst>
                <a:path h="1052093" w="1270873">
                  <a:moveTo>
                    <a:pt x="27809" y="0"/>
                  </a:moveTo>
                  <a:lnTo>
                    <a:pt x="1243064" y="0"/>
                  </a:lnTo>
                  <a:cubicBezTo>
                    <a:pt x="1250439" y="0"/>
                    <a:pt x="1257512" y="2930"/>
                    <a:pt x="1262728" y="8145"/>
                  </a:cubicBezTo>
                  <a:cubicBezTo>
                    <a:pt x="1267943" y="13360"/>
                    <a:pt x="1270873" y="20433"/>
                    <a:pt x="1270873" y="27809"/>
                  </a:cubicBezTo>
                  <a:lnTo>
                    <a:pt x="1270873" y="1024285"/>
                  </a:lnTo>
                  <a:cubicBezTo>
                    <a:pt x="1270873" y="1031660"/>
                    <a:pt x="1267943" y="1038733"/>
                    <a:pt x="1262728" y="1043948"/>
                  </a:cubicBezTo>
                  <a:cubicBezTo>
                    <a:pt x="1257512" y="1049164"/>
                    <a:pt x="1250439" y="1052093"/>
                    <a:pt x="1243064" y="1052093"/>
                  </a:cubicBezTo>
                  <a:lnTo>
                    <a:pt x="27809" y="1052093"/>
                  </a:lnTo>
                  <a:cubicBezTo>
                    <a:pt x="20433" y="1052093"/>
                    <a:pt x="13360" y="1049164"/>
                    <a:pt x="8145" y="1043948"/>
                  </a:cubicBezTo>
                  <a:cubicBezTo>
                    <a:pt x="2930" y="1038733"/>
                    <a:pt x="0" y="1031660"/>
                    <a:pt x="0" y="1024285"/>
                  </a:cubicBezTo>
                  <a:lnTo>
                    <a:pt x="0" y="27809"/>
                  </a:lnTo>
                  <a:cubicBezTo>
                    <a:pt x="0" y="20433"/>
                    <a:pt x="2930" y="13360"/>
                    <a:pt x="8145" y="8145"/>
                  </a:cubicBezTo>
                  <a:cubicBezTo>
                    <a:pt x="13360" y="2930"/>
                    <a:pt x="20433" y="0"/>
                    <a:pt x="278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70873" cy="1090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580830" y="3888278"/>
            <a:ext cx="2239074" cy="4160441"/>
          </a:xfrm>
          <a:custGeom>
            <a:avLst/>
            <a:gdLst/>
            <a:ahLst/>
            <a:cxnLst/>
            <a:rect r="r" b="b" t="t" l="l"/>
            <a:pathLst>
              <a:path h="4160441" w="2239074">
                <a:moveTo>
                  <a:pt x="0" y="0"/>
                </a:moveTo>
                <a:lnTo>
                  <a:pt x="2239074" y="0"/>
                </a:lnTo>
                <a:lnTo>
                  <a:pt x="2239074" y="4160441"/>
                </a:lnTo>
                <a:lnTo>
                  <a:pt x="0" y="4160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2201823" y="3663769"/>
            <a:ext cx="5567982" cy="4609460"/>
            <a:chOff x="0" y="0"/>
            <a:chExt cx="1270873" cy="105209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0873" cy="1052093"/>
            </a:xfrm>
            <a:custGeom>
              <a:avLst/>
              <a:gdLst/>
              <a:ahLst/>
              <a:cxnLst/>
              <a:rect r="r" b="b" t="t" l="l"/>
              <a:pathLst>
                <a:path h="1052093" w="1270873">
                  <a:moveTo>
                    <a:pt x="27809" y="0"/>
                  </a:moveTo>
                  <a:lnTo>
                    <a:pt x="1243064" y="0"/>
                  </a:lnTo>
                  <a:cubicBezTo>
                    <a:pt x="1250439" y="0"/>
                    <a:pt x="1257512" y="2930"/>
                    <a:pt x="1262728" y="8145"/>
                  </a:cubicBezTo>
                  <a:cubicBezTo>
                    <a:pt x="1267943" y="13360"/>
                    <a:pt x="1270873" y="20433"/>
                    <a:pt x="1270873" y="27809"/>
                  </a:cubicBezTo>
                  <a:lnTo>
                    <a:pt x="1270873" y="1024285"/>
                  </a:lnTo>
                  <a:cubicBezTo>
                    <a:pt x="1270873" y="1031660"/>
                    <a:pt x="1267943" y="1038733"/>
                    <a:pt x="1262728" y="1043948"/>
                  </a:cubicBezTo>
                  <a:cubicBezTo>
                    <a:pt x="1257512" y="1049164"/>
                    <a:pt x="1250439" y="1052093"/>
                    <a:pt x="1243064" y="1052093"/>
                  </a:cubicBezTo>
                  <a:lnTo>
                    <a:pt x="27809" y="1052093"/>
                  </a:lnTo>
                  <a:cubicBezTo>
                    <a:pt x="20433" y="1052093"/>
                    <a:pt x="13360" y="1049164"/>
                    <a:pt x="8145" y="1043948"/>
                  </a:cubicBezTo>
                  <a:cubicBezTo>
                    <a:pt x="2930" y="1038733"/>
                    <a:pt x="0" y="1031660"/>
                    <a:pt x="0" y="1024285"/>
                  </a:cubicBezTo>
                  <a:lnTo>
                    <a:pt x="0" y="27809"/>
                  </a:lnTo>
                  <a:cubicBezTo>
                    <a:pt x="0" y="20433"/>
                    <a:pt x="2930" y="13360"/>
                    <a:pt x="8145" y="8145"/>
                  </a:cubicBezTo>
                  <a:cubicBezTo>
                    <a:pt x="13360" y="2930"/>
                    <a:pt x="20433" y="0"/>
                    <a:pt x="278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70873" cy="1090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3978503" y="3888278"/>
            <a:ext cx="3525028" cy="4160441"/>
          </a:xfrm>
          <a:custGeom>
            <a:avLst/>
            <a:gdLst/>
            <a:ahLst/>
            <a:cxnLst/>
            <a:rect r="r" b="b" t="t" l="l"/>
            <a:pathLst>
              <a:path h="4160441" w="3525028">
                <a:moveTo>
                  <a:pt x="0" y="0"/>
                </a:moveTo>
                <a:lnTo>
                  <a:pt x="3525028" y="0"/>
                </a:lnTo>
                <a:lnTo>
                  <a:pt x="3525028" y="4160441"/>
                </a:lnTo>
                <a:lnTo>
                  <a:pt x="0" y="41604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359068" y="3663769"/>
            <a:ext cx="5567982" cy="4609460"/>
            <a:chOff x="0" y="0"/>
            <a:chExt cx="1270873" cy="105209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70873" cy="1052093"/>
            </a:xfrm>
            <a:custGeom>
              <a:avLst/>
              <a:gdLst/>
              <a:ahLst/>
              <a:cxnLst/>
              <a:rect r="r" b="b" t="t" l="l"/>
              <a:pathLst>
                <a:path h="1052093" w="1270873">
                  <a:moveTo>
                    <a:pt x="27809" y="0"/>
                  </a:moveTo>
                  <a:lnTo>
                    <a:pt x="1243064" y="0"/>
                  </a:lnTo>
                  <a:cubicBezTo>
                    <a:pt x="1250439" y="0"/>
                    <a:pt x="1257512" y="2930"/>
                    <a:pt x="1262728" y="8145"/>
                  </a:cubicBezTo>
                  <a:cubicBezTo>
                    <a:pt x="1267943" y="13360"/>
                    <a:pt x="1270873" y="20433"/>
                    <a:pt x="1270873" y="27809"/>
                  </a:cubicBezTo>
                  <a:lnTo>
                    <a:pt x="1270873" y="1024285"/>
                  </a:lnTo>
                  <a:cubicBezTo>
                    <a:pt x="1270873" y="1031660"/>
                    <a:pt x="1267943" y="1038733"/>
                    <a:pt x="1262728" y="1043948"/>
                  </a:cubicBezTo>
                  <a:cubicBezTo>
                    <a:pt x="1257512" y="1049164"/>
                    <a:pt x="1250439" y="1052093"/>
                    <a:pt x="1243064" y="1052093"/>
                  </a:cubicBezTo>
                  <a:lnTo>
                    <a:pt x="27809" y="1052093"/>
                  </a:lnTo>
                  <a:cubicBezTo>
                    <a:pt x="20433" y="1052093"/>
                    <a:pt x="13360" y="1049164"/>
                    <a:pt x="8145" y="1043948"/>
                  </a:cubicBezTo>
                  <a:cubicBezTo>
                    <a:pt x="2930" y="1038733"/>
                    <a:pt x="0" y="1031660"/>
                    <a:pt x="0" y="1024285"/>
                  </a:cubicBezTo>
                  <a:lnTo>
                    <a:pt x="0" y="27809"/>
                  </a:lnTo>
                  <a:cubicBezTo>
                    <a:pt x="0" y="20433"/>
                    <a:pt x="2930" y="13360"/>
                    <a:pt x="8145" y="8145"/>
                  </a:cubicBezTo>
                  <a:cubicBezTo>
                    <a:pt x="13360" y="2930"/>
                    <a:pt x="20433" y="0"/>
                    <a:pt x="278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70873" cy="1090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8082797" y="3888278"/>
            <a:ext cx="3577979" cy="4160441"/>
          </a:xfrm>
          <a:custGeom>
            <a:avLst/>
            <a:gdLst/>
            <a:ahLst/>
            <a:cxnLst/>
            <a:rect r="r" b="b" t="t" l="l"/>
            <a:pathLst>
              <a:path h="4160441" w="3577979">
                <a:moveTo>
                  <a:pt x="0" y="0"/>
                </a:moveTo>
                <a:lnTo>
                  <a:pt x="3577979" y="0"/>
                </a:lnTo>
                <a:lnTo>
                  <a:pt x="3577979" y="4160441"/>
                </a:lnTo>
                <a:lnTo>
                  <a:pt x="0" y="41604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354734" y="2132335"/>
            <a:ext cx="8398182" cy="10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Quantum States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97458" y="4311458"/>
            <a:ext cx="502791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INTERFERENCE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79001" y="5483033"/>
            <a:ext cx="5246370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Wav</a:t>
            </a: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es of probability combine, amplifying correct answers and cancelling out wrong ones during computation.</a:t>
            </a: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6632863" y="4311458"/>
            <a:ext cx="502791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ENTANGLEMENT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519874" y="5425883"/>
            <a:ext cx="5246370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Two p</a:t>
            </a: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articles become linked so strongly that the state of one instantly relates to the state of the other, at any distance.</a:t>
            </a: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2581085" y="4311458"/>
            <a:ext cx="502791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SUPERPO</a:t>
            </a:r>
            <a:r>
              <a:rPr lang="en-US" b="true" sz="24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62629" y="5425883"/>
            <a:ext cx="5246370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A qubit exists as a linear c</a:t>
            </a: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ombination of 0 and 1 simultaneously, not one or the other, but both at once.</a:t>
            </a:r>
          </a:p>
          <a:p>
            <a:pPr algn="ctr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575177" y="3821601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7" y="0"/>
                </a:lnTo>
                <a:lnTo>
                  <a:pt x="298877" y="298877"/>
                </a:lnTo>
                <a:lnTo>
                  <a:pt x="0" y="298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766302" y="2411777"/>
            <a:ext cx="10755396" cy="10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Classical Bit vs. Qubit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94492" y="4120478"/>
            <a:ext cx="3998101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Classical Bit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84856" y="4887450"/>
            <a:ext cx="6325280" cy="355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LINEAR </a:t>
            </a:r>
          </a:p>
          <a:p>
            <a:pPr algn="l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growth</a:t>
            </a:r>
          </a:p>
          <a:p>
            <a:pPr algn="l">
              <a:lnSpc>
                <a:spcPts val="3833"/>
              </a:lnSpc>
            </a:pPr>
          </a:p>
          <a:p>
            <a:pPr algn="l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 one transistor → capacity increases by one unit. One state (0 or 1) processed at a time.</a:t>
            </a:r>
          </a:p>
          <a:p>
            <a:pPr algn="l">
              <a:lnSpc>
                <a:spcPts val="3833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130330" y="4120478"/>
            <a:ext cx="3998101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Qubit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63899" y="4757811"/>
            <a:ext cx="6739245" cy="404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  <a:r>
              <a:rPr lang="en-US" sz="36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</a:p>
          <a:p>
            <a:pPr algn="l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exponential growth per qubit</a:t>
            </a:r>
          </a:p>
          <a:p>
            <a:pPr algn="l">
              <a:lnSpc>
                <a:spcPts val="3833"/>
              </a:lnSpc>
            </a:pPr>
          </a:p>
          <a:p>
            <a:pPr algn="l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 one qubit → processing capacity doubles. Multiple states processed simultaneously via superposition.</a:t>
            </a:r>
          </a:p>
          <a:p>
            <a:pPr algn="l">
              <a:lnSpc>
                <a:spcPts val="3833"/>
              </a:lnSpc>
            </a:pPr>
          </a:p>
          <a:p>
            <a:pPr algn="l">
              <a:lnSpc>
                <a:spcPts val="3833"/>
              </a:lnSpc>
            </a:pPr>
          </a:p>
        </p:txBody>
      </p:sp>
      <p:sp>
        <p:nvSpPr>
          <p:cNvPr name="AutoShape 28" id="28"/>
          <p:cNvSpPr/>
          <p:nvPr/>
        </p:nvSpPr>
        <p:spPr>
          <a:xfrm flipV="true">
            <a:off x="8911462" y="4358953"/>
            <a:ext cx="0" cy="3535308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821925" y="3899255"/>
            <a:ext cx="1528943" cy="1777841"/>
          </a:xfrm>
          <a:custGeom>
            <a:avLst/>
            <a:gdLst/>
            <a:ahLst/>
            <a:cxnLst/>
            <a:rect r="r" b="b" t="t" l="l"/>
            <a:pathLst>
              <a:path h="1777841" w="1528943">
                <a:moveTo>
                  <a:pt x="0" y="0"/>
                </a:moveTo>
                <a:lnTo>
                  <a:pt x="1528943" y="0"/>
                </a:lnTo>
                <a:lnTo>
                  <a:pt x="1528943" y="1777841"/>
                </a:lnTo>
                <a:lnTo>
                  <a:pt x="0" y="1777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844552" y="6214002"/>
            <a:ext cx="1506316" cy="1777841"/>
          </a:xfrm>
          <a:custGeom>
            <a:avLst/>
            <a:gdLst/>
            <a:ahLst/>
            <a:cxnLst/>
            <a:rect r="r" b="b" t="t" l="l"/>
            <a:pathLst>
              <a:path h="1777841" w="1506316">
                <a:moveTo>
                  <a:pt x="0" y="0"/>
                </a:moveTo>
                <a:lnTo>
                  <a:pt x="1506316" y="0"/>
                </a:lnTo>
                <a:lnTo>
                  <a:pt x="1506316" y="1777841"/>
                </a:lnTo>
                <a:lnTo>
                  <a:pt x="0" y="17778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18196" y="1811428"/>
            <a:ext cx="234810" cy="1936923"/>
            <a:chOff x="0" y="0"/>
            <a:chExt cx="61843" cy="5101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59919" y="1913166"/>
            <a:ext cx="11775979" cy="274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Exponential Growth of Qubit Power</a:t>
            </a:r>
          </a:p>
          <a:p>
            <a:pPr algn="l">
              <a:lnSpc>
                <a:spcPts val="6855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564183" y="4089755"/>
            <a:ext cx="3092333" cy="3211391"/>
            <a:chOff x="0" y="0"/>
            <a:chExt cx="814442" cy="8457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4442" cy="845798"/>
            </a:xfrm>
            <a:custGeom>
              <a:avLst/>
              <a:gdLst/>
              <a:ahLst/>
              <a:cxnLst/>
              <a:rect r="r" b="b" t="t" l="l"/>
              <a:pathLst>
                <a:path h="845798" w="814442">
                  <a:moveTo>
                    <a:pt x="50072" y="0"/>
                  </a:moveTo>
                  <a:lnTo>
                    <a:pt x="764370" y="0"/>
                  </a:lnTo>
                  <a:cubicBezTo>
                    <a:pt x="792024" y="0"/>
                    <a:pt x="814442" y="22418"/>
                    <a:pt x="814442" y="50072"/>
                  </a:cubicBezTo>
                  <a:lnTo>
                    <a:pt x="814442" y="795727"/>
                  </a:lnTo>
                  <a:cubicBezTo>
                    <a:pt x="814442" y="823381"/>
                    <a:pt x="792024" y="845798"/>
                    <a:pt x="764370" y="845798"/>
                  </a:cubicBezTo>
                  <a:lnTo>
                    <a:pt x="50072" y="845798"/>
                  </a:lnTo>
                  <a:cubicBezTo>
                    <a:pt x="22418" y="845798"/>
                    <a:pt x="0" y="823381"/>
                    <a:pt x="0" y="795727"/>
                  </a:cubicBezTo>
                  <a:lnTo>
                    <a:pt x="0" y="50072"/>
                  </a:lnTo>
                  <a:cubicBezTo>
                    <a:pt x="0" y="22418"/>
                    <a:pt x="22418" y="0"/>
                    <a:pt x="500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4442" cy="88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94772" y="4166363"/>
            <a:ext cx="2343818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qubit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0849" y="5275955"/>
            <a:ext cx="2580767" cy="151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1"/>
              </a:lnSpc>
            </a:pPr>
            <a:r>
              <a:rPr lang="en-US" sz="287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~</a:t>
            </a:r>
            <a:r>
              <a:rPr lang="en-US" sz="287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 1 relative states</a:t>
            </a:r>
          </a:p>
          <a:p>
            <a:pPr algn="just">
              <a:lnSpc>
                <a:spcPts val="4031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6291299" y="2122238"/>
            <a:ext cx="956802" cy="1777841"/>
          </a:xfrm>
          <a:custGeom>
            <a:avLst/>
            <a:gdLst/>
            <a:ahLst/>
            <a:cxnLst/>
            <a:rect r="r" b="b" t="t" l="l"/>
            <a:pathLst>
              <a:path h="1777841" w="956802">
                <a:moveTo>
                  <a:pt x="0" y="0"/>
                </a:moveTo>
                <a:lnTo>
                  <a:pt x="956802" y="0"/>
                </a:lnTo>
                <a:lnTo>
                  <a:pt x="956802" y="1777841"/>
                </a:lnTo>
                <a:lnTo>
                  <a:pt x="0" y="17778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4135386" y="4089755"/>
            <a:ext cx="3092333" cy="3211391"/>
            <a:chOff x="0" y="0"/>
            <a:chExt cx="814442" cy="84579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4442" cy="845798"/>
            </a:xfrm>
            <a:custGeom>
              <a:avLst/>
              <a:gdLst/>
              <a:ahLst/>
              <a:cxnLst/>
              <a:rect r="r" b="b" t="t" l="l"/>
              <a:pathLst>
                <a:path h="845798" w="814442">
                  <a:moveTo>
                    <a:pt x="50072" y="0"/>
                  </a:moveTo>
                  <a:lnTo>
                    <a:pt x="764370" y="0"/>
                  </a:lnTo>
                  <a:cubicBezTo>
                    <a:pt x="792024" y="0"/>
                    <a:pt x="814442" y="22418"/>
                    <a:pt x="814442" y="50072"/>
                  </a:cubicBezTo>
                  <a:lnTo>
                    <a:pt x="814442" y="795727"/>
                  </a:lnTo>
                  <a:cubicBezTo>
                    <a:pt x="814442" y="823381"/>
                    <a:pt x="792024" y="845798"/>
                    <a:pt x="764370" y="845798"/>
                  </a:cubicBezTo>
                  <a:lnTo>
                    <a:pt x="50072" y="845798"/>
                  </a:lnTo>
                  <a:cubicBezTo>
                    <a:pt x="22418" y="845798"/>
                    <a:pt x="0" y="823381"/>
                    <a:pt x="0" y="795727"/>
                  </a:cubicBezTo>
                  <a:lnTo>
                    <a:pt x="0" y="50072"/>
                  </a:lnTo>
                  <a:cubicBezTo>
                    <a:pt x="0" y="22418"/>
                    <a:pt x="22418" y="0"/>
                    <a:pt x="500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14442" cy="88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4365975" y="4166363"/>
            <a:ext cx="2381933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qubit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75503" y="5275955"/>
            <a:ext cx="2580767" cy="151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1"/>
              </a:lnSpc>
            </a:pPr>
            <a:r>
              <a:rPr lang="en-US" sz="287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~ 2</a:t>
            </a:r>
            <a:r>
              <a:rPr lang="en-US" sz="287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 relative states</a:t>
            </a:r>
          </a:p>
          <a:p>
            <a:pPr algn="just">
              <a:lnSpc>
                <a:spcPts val="4031"/>
              </a:lnSpc>
            </a:pPr>
          </a:p>
        </p:txBody>
      </p:sp>
      <p:grpSp>
        <p:nvGrpSpPr>
          <p:cNvPr name="Group 39" id="39"/>
          <p:cNvGrpSpPr/>
          <p:nvPr/>
        </p:nvGrpSpPr>
        <p:grpSpPr>
          <a:xfrm rot="0">
            <a:off x="7703969" y="4071401"/>
            <a:ext cx="3092333" cy="3211391"/>
            <a:chOff x="0" y="0"/>
            <a:chExt cx="814442" cy="84579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4442" cy="845798"/>
            </a:xfrm>
            <a:custGeom>
              <a:avLst/>
              <a:gdLst/>
              <a:ahLst/>
              <a:cxnLst/>
              <a:rect r="r" b="b" t="t" l="l"/>
              <a:pathLst>
                <a:path h="845798" w="814442">
                  <a:moveTo>
                    <a:pt x="50072" y="0"/>
                  </a:moveTo>
                  <a:lnTo>
                    <a:pt x="764370" y="0"/>
                  </a:lnTo>
                  <a:cubicBezTo>
                    <a:pt x="792024" y="0"/>
                    <a:pt x="814442" y="22418"/>
                    <a:pt x="814442" y="50072"/>
                  </a:cubicBezTo>
                  <a:lnTo>
                    <a:pt x="814442" y="795727"/>
                  </a:lnTo>
                  <a:cubicBezTo>
                    <a:pt x="814442" y="823381"/>
                    <a:pt x="792024" y="845798"/>
                    <a:pt x="764370" y="845798"/>
                  </a:cubicBezTo>
                  <a:lnTo>
                    <a:pt x="50072" y="845798"/>
                  </a:lnTo>
                  <a:cubicBezTo>
                    <a:pt x="22418" y="845798"/>
                    <a:pt x="0" y="823381"/>
                    <a:pt x="0" y="795727"/>
                  </a:cubicBezTo>
                  <a:lnTo>
                    <a:pt x="0" y="50072"/>
                  </a:lnTo>
                  <a:cubicBezTo>
                    <a:pt x="0" y="22418"/>
                    <a:pt x="22418" y="0"/>
                    <a:pt x="500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14442" cy="88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7934558" y="4148008"/>
            <a:ext cx="2028907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 qubit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942094" y="5275955"/>
            <a:ext cx="2580767" cy="151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1"/>
              </a:lnSpc>
            </a:pPr>
            <a:r>
              <a:rPr lang="en-US" sz="287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~ 4</a:t>
            </a:r>
            <a:r>
              <a:rPr lang="en-US" sz="287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 relative states</a:t>
            </a:r>
          </a:p>
          <a:p>
            <a:pPr algn="just">
              <a:lnSpc>
                <a:spcPts val="4031"/>
              </a:lnSpc>
            </a:pPr>
          </a:p>
        </p:txBody>
      </p:sp>
      <p:grpSp>
        <p:nvGrpSpPr>
          <p:cNvPr name="Group 44" id="44"/>
          <p:cNvGrpSpPr/>
          <p:nvPr/>
        </p:nvGrpSpPr>
        <p:grpSpPr>
          <a:xfrm rot="0">
            <a:off x="11167727" y="4091188"/>
            <a:ext cx="3092333" cy="3211391"/>
            <a:chOff x="0" y="0"/>
            <a:chExt cx="814442" cy="84579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4442" cy="845798"/>
            </a:xfrm>
            <a:custGeom>
              <a:avLst/>
              <a:gdLst/>
              <a:ahLst/>
              <a:cxnLst/>
              <a:rect r="r" b="b" t="t" l="l"/>
              <a:pathLst>
                <a:path h="845798" w="814442">
                  <a:moveTo>
                    <a:pt x="50072" y="0"/>
                  </a:moveTo>
                  <a:lnTo>
                    <a:pt x="764370" y="0"/>
                  </a:lnTo>
                  <a:cubicBezTo>
                    <a:pt x="792024" y="0"/>
                    <a:pt x="814442" y="22418"/>
                    <a:pt x="814442" y="50072"/>
                  </a:cubicBezTo>
                  <a:lnTo>
                    <a:pt x="814442" y="795727"/>
                  </a:lnTo>
                  <a:cubicBezTo>
                    <a:pt x="814442" y="823381"/>
                    <a:pt x="792024" y="845798"/>
                    <a:pt x="764370" y="845798"/>
                  </a:cubicBezTo>
                  <a:lnTo>
                    <a:pt x="50072" y="845798"/>
                  </a:lnTo>
                  <a:cubicBezTo>
                    <a:pt x="22418" y="845798"/>
                    <a:pt x="0" y="823381"/>
                    <a:pt x="0" y="795727"/>
                  </a:cubicBezTo>
                  <a:lnTo>
                    <a:pt x="0" y="50072"/>
                  </a:lnTo>
                  <a:cubicBezTo>
                    <a:pt x="0" y="22418"/>
                    <a:pt x="22418" y="0"/>
                    <a:pt x="500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14442" cy="88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398316" y="4167795"/>
            <a:ext cx="2282218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4 qubit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423510" y="5275955"/>
            <a:ext cx="2580767" cy="151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1"/>
              </a:lnSpc>
            </a:pPr>
            <a:r>
              <a:rPr lang="en-US" sz="287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~ 8</a:t>
            </a:r>
            <a:r>
              <a:rPr lang="en-US" sz="287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 relative states</a:t>
            </a:r>
          </a:p>
          <a:p>
            <a:pPr algn="just">
              <a:lnSpc>
                <a:spcPts val="4031"/>
              </a:lnSpc>
            </a:pPr>
          </a:p>
        </p:txBody>
      </p:sp>
      <p:grpSp>
        <p:nvGrpSpPr>
          <p:cNvPr name="Group 49" id="49"/>
          <p:cNvGrpSpPr/>
          <p:nvPr/>
        </p:nvGrpSpPr>
        <p:grpSpPr>
          <a:xfrm rot="0">
            <a:off x="14631484" y="4071401"/>
            <a:ext cx="3092333" cy="3211391"/>
            <a:chOff x="0" y="0"/>
            <a:chExt cx="814442" cy="8457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4442" cy="845798"/>
            </a:xfrm>
            <a:custGeom>
              <a:avLst/>
              <a:gdLst/>
              <a:ahLst/>
              <a:cxnLst/>
              <a:rect r="r" b="b" t="t" l="l"/>
              <a:pathLst>
                <a:path h="845798" w="814442">
                  <a:moveTo>
                    <a:pt x="50072" y="0"/>
                  </a:moveTo>
                  <a:lnTo>
                    <a:pt x="764370" y="0"/>
                  </a:lnTo>
                  <a:cubicBezTo>
                    <a:pt x="792024" y="0"/>
                    <a:pt x="814442" y="22418"/>
                    <a:pt x="814442" y="50072"/>
                  </a:cubicBezTo>
                  <a:lnTo>
                    <a:pt x="814442" y="795727"/>
                  </a:lnTo>
                  <a:cubicBezTo>
                    <a:pt x="814442" y="823381"/>
                    <a:pt x="792024" y="845798"/>
                    <a:pt x="764370" y="845798"/>
                  </a:cubicBezTo>
                  <a:lnTo>
                    <a:pt x="50072" y="845798"/>
                  </a:lnTo>
                  <a:cubicBezTo>
                    <a:pt x="22418" y="845798"/>
                    <a:pt x="0" y="823381"/>
                    <a:pt x="0" y="795727"/>
                  </a:cubicBezTo>
                  <a:lnTo>
                    <a:pt x="0" y="50072"/>
                  </a:lnTo>
                  <a:cubicBezTo>
                    <a:pt x="0" y="22418"/>
                    <a:pt x="22418" y="0"/>
                    <a:pt x="500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814442" cy="88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4862073" y="4148008"/>
            <a:ext cx="2128218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qubit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907760" y="5211157"/>
            <a:ext cx="2580767" cy="100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1"/>
              </a:lnSpc>
            </a:pPr>
            <a:r>
              <a:rPr lang="en-US" sz="287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2ⁿ</a:t>
            </a:r>
            <a:r>
              <a:rPr lang="en-US" sz="287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 relationship</a:t>
            </a:r>
          </a:p>
          <a:p>
            <a:pPr algn="just">
              <a:lnSpc>
                <a:spcPts val="4031"/>
              </a:lnSpc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1432669" y="7388304"/>
            <a:ext cx="15422662" cy="142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7"/>
              </a:lnSpc>
            </a:pPr>
            <a:r>
              <a:rPr lang="en-US" sz="407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Qubit power grows as 2ⁿ, whi</a:t>
            </a:r>
            <a:r>
              <a:rPr lang="en-US" sz="407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 added traditional transistors increase capacity linearly.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267439" y="8387937"/>
            <a:ext cx="502365" cy="438339"/>
            <a:chOff x="0" y="0"/>
            <a:chExt cx="132310" cy="1154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310" cy="115447"/>
            </a:xfrm>
            <a:custGeom>
              <a:avLst/>
              <a:gdLst/>
              <a:ahLst/>
              <a:cxnLst/>
              <a:rect r="r" b="b" t="t" l="l"/>
              <a:pathLst>
                <a:path h="115447" w="132310">
                  <a:moveTo>
                    <a:pt x="57724" y="0"/>
                  </a:moveTo>
                  <a:lnTo>
                    <a:pt x="74587" y="0"/>
                  </a:lnTo>
                  <a:cubicBezTo>
                    <a:pt x="89896" y="0"/>
                    <a:pt x="104578" y="6082"/>
                    <a:pt x="115403" y="16907"/>
                  </a:cubicBezTo>
                  <a:cubicBezTo>
                    <a:pt x="126229" y="27732"/>
                    <a:pt x="132310" y="42414"/>
                    <a:pt x="132310" y="57724"/>
                  </a:cubicBezTo>
                  <a:lnTo>
                    <a:pt x="132310" y="57724"/>
                  </a:lnTo>
                  <a:cubicBezTo>
                    <a:pt x="132310" y="73033"/>
                    <a:pt x="126229" y="87715"/>
                    <a:pt x="115403" y="98540"/>
                  </a:cubicBezTo>
                  <a:cubicBezTo>
                    <a:pt x="104578" y="109366"/>
                    <a:pt x="89896" y="115447"/>
                    <a:pt x="74587" y="115447"/>
                  </a:cubicBezTo>
                  <a:lnTo>
                    <a:pt x="57724" y="115447"/>
                  </a:lnTo>
                  <a:cubicBezTo>
                    <a:pt x="42414" y="115447"/>
                    <a:pt x="27732" y="109366"/>
                    <a:pt x="16907" y="98540"/>
                  </a:cubicBezTo>
                  <a:cubicBezTo>
                    <a:pt x="6082" y="87715"/>
                    <a:pt x="0" y="73033"/>
                    <a:pt x="0" y="57724"/>
                  </a:cubicBezTo>
                  <a:lnTo>
                    <a:pt x="0" y="57724"/>
                  </a:lnTo>
                  <a:cubicBezTo>
                    <a:pt x="0" y="42414"/>
                    <a:pt x="6082" y="27732"/>
                    <a:pt x="16907" y="16907"/>
                  </a:cubicBezTo>
                  <a:cubicBezTo>
                    <a:pt x="27732" y="6082"/>
                    <a:pt x="42414" y="0"/>
                    <a:pt x="577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2310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7369183" y="8457668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7" y="0"/>
                </a:lnTo>
                <a:lnTo>
                  <a:pt x="298877" y="298878"/>
                </a:lnTo>
                <a:lnTo>
                  <a:pt x="0" y="298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18196" y="1770291"/>
            <a:ext cx="17251609" cy="3373209"/>
            <a:chOff x="0" y="0"/>
            <a:chExt cx="2672726" cy="52259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72726" cy="522598"/>
            </a:xfrm>
            <a:custGeom>
              <a:avLst/>
              <a:gdLst/>
              <a:ahLst/>
              <a:cxnLst/>
              <a:rect r="r" b="b" t="t" l="l"/>
              <a:pathLst>
                <a:path h="522598" w="2672726">
                  <a:moveTo>
                    <a:pt x="8975" y="0"/>
                  </a:moveTo>
                  <a:lnTo>
                    <a:pt x="2663750" y="0"/>
                  </a:lnTo>
                  <a:cubicBezTo>
                    <a:pt x="2668707" y="0"/>
                    <a:pt x="2672726" y="4018"/>
                    <a:pt x="2672726" y="8975"/>
                  </a:cubicBezTo>
                  <a:lnTo>
                    <a:pt x="2672726" y="513623"/>
                  </a:lnTo>
                  <a:cubicBezTo>
                    <a:pt x="2672726" y="516003"/>
                    <a:pt x="2671780" y="518286"/>
                    <a:pt x="2670097" y="519970"/>
                  </a:cubicBezTo>
                  <a:cubicBezTo>
                    <a:pt x="2668414" y="521653"/>
                    <a:pt x="2666131" y="522598"/>
                    <a:pt x="2663750" y="522598"/>
                  </a:cubicBezTo>
                  <a:lnTo>
                    <a:pt x="8975" y="522598"/>
                  </a:lnTo>
                  <a:cubicBezTo>
                    <a:pt x="4018" y="522598"/>
                    <a:pt x="0" y="518580"/>
                    <a:pt x="0" y="513623"/>
                  </a:cubicBezTo>
                  <a:lnTo>
                    <a:pt x="0" y="8975"/>
                  </a:lnTo>
                  <a:cubicBezTo>
                    <a:pt x="0" y="4018"/>
                    <a:pt x="4018" y="0"/>
                    <a:pt x="8975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93839" r="0" b="-93839"/>
              </a:stretch>
            </a:blipFill>
            <a:ln w="76200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6E97B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18196" y="1770291"/>
            <a:ext cx="17251609" cy="3373209"/>
            <a:chOff x="0" y="0"/>
            <a:chExt cx="4543634" cy="88841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43634" cy="888417"/>
            </a:xfrm>
            <a:custGeom>
              <a:avLst/>
              <a:gdLst/>
              <a:ahLst/>
              <a:cxnLst/>
              <a:rect r="r" b="b" t="t" l="l"/>
              <a:pathLst>
                <a:path h="888417" w="4543634">
                  <a:moveTo>
                    <a:pt x="8975" y="0"/>
                  </a:moveTo>
                  <a:lnTo>
                    <a:pt x="4534658" y="0"/>
                  </a:lnTo>
                  <a:cubicBezTo>
                    <a:pt x="4537039" y="0"/>
                    <a:pt x="4539321" y="946"/>
                    <a:pt x="4541005" y="2629"/>
                  </a:cubicBezTo>
                  <a:cubicBezTo>
                    <a:pt x="4542688" y="4312"/>
                    <a:pt x="4543634" y="6595"/>
                    <a:pt x="4543634" y="8975"/>
                  </a:cubicBezTo>
                  <a:lnTo>
                    <a:pt x="4543634" y="879442"/>
                  </a:lnTo>
                  <a:cubicBezTo>
                    <a:pt x="4543634" y="884399"/>
                    <a:pt x="4539615" y="888417"/>
                    <a:pt x="4534658" y="888417"/>
                  </a:cubicBezTo>
                  <a:lnTo>
                    <a:pt x="8975" y="888417"/>
                  </a:lnTo>
                  <a:cubicBezTo>
                    <a:pt x="6595" y="888417"/>
                    <a:pt x="4312" y="887472"/>
                    <a:pt x="2629" y="885788"/>
                  </a:cubicBezTo>
                  <a:cubicBezTo>
                    <a:pt x="946" y="884105"/>
                    <a:pt x="0" y="881822"/>
                    <a:pt x="0" y="879442"/>
                  </a:cubicBezTo>
                  <a:lnTo>
                    <a:pt x="0" y="8975"/>
                  </a:lnTo>
                  <a:cubicBezTo>
                    <a:pt x="0" y="4018"/>
                    <a:pt x="4018" y="0"/>
                    <a:pt x="89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90000"/>
                  </a:srgbClr>
                </a:gs>
                <a:gs pos="100000">
                  <a:srgbClr val="6E97B1">
                    <a:alpha val="9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543634" cy="926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68674" y="4547511"/>
            <a:ext cx="4825345" cy="2139409"/>
            <a:chOff x="0" y="0"/>
            <a:chExt cx="1270873" cy="5634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70873" cy="563466"/>
            </a:xfrm>
            <a:custGeom>
              <a:avLst/>
              <a:gdLst/>
              <a:ahLst/>
              <a:cxnLst/>
              <a:rect r="r" b="b" t="t" l="l"/>
              <a:pathLst>
                <a:path h="563466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531377"/>
                  </a:lnTo>
                  <a:cubicBezTo>
                    <a:pt x="1270873" y="549099"/>
                    <a:pt x="1256506" y="563466"/>
                    <a:pt x="1238784" y="563466"/>
                  </a:cubicBezTo>
                  <a:lnTo>
                    <a:pt x="32089" y="563466"/>
                  </a:lnTo>
                  <a:cubicBezTo>
                    <a:pt x="14367" y="563466"/>
                    <a:pt x="0" y="549099"/>
                    <a:pt x="0" y="531377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37465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70873" cy="60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793982" y="4547511"/>
            <a:ext cx="4825345" cy="2118426"/>
            <a:chOff x="0" y="0"/>
            <a:chExt cx="1270873" cy="5579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70873" cy="557939"/>
            </a:xfrm>
            <a:custGeom>
              <a:avLst/>
              <a:gdLst/>
              <a:ahLst/>
              <a:cxnLst/>
              <a:rect r="r" b="b" t="t" l="l"/>
              <a:pathLst>
                <a:path h="557939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525851"/>
                  </a:lnTo>
                  <a:cubicBezTo>
                    <a:pt x="1270873" y="543573"/>
                    <a:pt x="1256506" y="557939"/>
                    <a:pt x="1238784" y="557939"/>
                  </a:cubicBezTo>
                  <a:lnTo>
                    <a:pt x="32089" y="557939"/>
                  </a:lnTo>
                  <a:cubicBezTo>
                    <a:pt x="14367" y="557939"/>
                    <a:pt x="0" y="543573"/>
                    <a:pt x="0" y="525851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37465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70873" cy="596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730512" y="4547511"/>
            <a:ext cx="4825345" cy="2118426"/>
            <a:chOff x="0" y="0"/>
            <a:chExt cx="1270873" cy="55793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70873" cy="557939"/>
            </a:xfrm>
            <a:custGeom>
              <a:avLst/>
              <a:gdLst/>
              <a:ahLst/>
              <a:cxnLst/>
              <a:rect r="r" b="b" t="t" l="l"/>
              <a:pathLst>
                <a:path h="557939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525851"/>
                  </a:lnTo>
                  <a:cubicBezTo>
                    <a:pt x="1270873" y="543573"/>
                    <a:pt x="1256506" y="557939"/>
                    <a:pt x="1238784" y="557939"/>
                  </a:cubicBezTo>
                  <a:lnTo>
                    <a:pt x="32089" y="557939"/>
                  </a:lnTo>
                  <a:cubicBezTo>
                    <a:pt x="14367" y="557939"/>
                    <a:pt x="0" y="543573"/>
                    <a:pt x="0" y="525851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374654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70873" cy="596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031165" y="4844020"/>
            <a:ext cx="423209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Quantum Information Science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23145" y="4844020"/>
            <a:ext cx="384170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Many Computing Models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98832" y="4797820"/>
            <a:ext cx="353113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Unstable Qubit States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082483" y="5397895"/>
            <a:ext cx="4363827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Ma</a:t>
            </a: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intaining qubit states is difficult and highly sensitive.</a:t>
            </a: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3627619" y="2262651"/>
            <a:ext cx="11032762" cy="188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5"/>
              </a:lnSpc>
            </a:pPr>
            <a:r>
              <a:rPr lang="en-US" sz="7616" b="true">
                <a:solidFill>
                  <a:srgbClr val="374654"/>
                </a:solidFill>
                <a:latin typeface="Poppins Bold"/>
                <a:ea typeface="Poppins Bold"/>
                <a:cs typeface="Poppins Bold"/>
                <a:sym typeface="Poppins Bold"/>
              </a:rPr>
              <a:t>Salient Features of Quantum Computing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668674" y="6793321"/>
            <a:ext cx="4825345" cy="2139409"/>
            <a:chOff x="0" y="0"/>
            <a:chExt cx="1270873" cy="56346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70873" cy="563466"/>
            </a:xfrm>
            <a:custGeom>
              <a:avLst/>
              <a:gdLst/>
              <a:ahLst/>
              <a:cxnLst/>
              <a:rect r="r" b="b" t="t" l="l"/>
              <a:pathLst>
                <a:path h="563466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531377"/>
                  </a:lnTo>
                  <a:cubicBezTo>
                    <a:pt x="1270873" y="549099"/>
                    <a:pt x="1256506" y="563466"/>
                    <a:pt x="1238784" y="563466"/>
                  </a:cubicBezTo>
                  <a:lnTo>
                    <a:pt x="32089" y="563466"/>
                  </a:lnTo>
                  <a:cubicBezTo>
                    <a:pt x="14367" y="563466"/>
                    <a:pt x="0" y="549099"/>
                    <a:pt x="0" y="531377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374654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270873" cy="60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730512" y="6793321"/>
            <a:ext cx="4825345" cy="2139409"/>
            <a:chOff x="0" y="0"/>
            <a:chExt cx="1270873" cy="56346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70873" cy="563466"/>
            </a:xfrm>
            <a:custGeom>
              <a:avLst/>
              <a:gdLst/>
              <a:ahLst/>
              <a:cxnLst/>
              <a:rect r="r" b="b" t="t" l="l"/>
              <a:pathLst>
                <a:path h="563466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531377"/>
                  </a:lnTo>
                  <a:cubicBezTo>
                    <a:pt x="1270873" y="549099"/>
                    <a:pt x="1256506" y="563466"/>
                    <a:pt x="1238784" y="563466"/>
                  </a:cubicBezTo>
                  <a:lnTo>
                    <a:pt x="32089" y="563466"/>
                  </a:lnTo>
                  <a:cubicBezTo>
                    <a:pt x="14367" y="563466"/>
                    <a:pt x="0" y="549099"/>
                    <a:pt x="0" y="531377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374654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270873" cy="60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736827" y="6782829"/>
            <a:ext cx="4825345" cy="2139409"/>
            <a:chOff x="0" y="0"/>
            <a:chExt cx="1270873" cy="56346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70873" cy="563466"/>
            </a:xfrm>
            <a:custGeom>
              <a:avLst/>
              <a:gdLst/>
              <a:ahLst/>
              <a:cxnLst/>
              <a:rect r="r" b="b" t="t" l="l"/>
              <a:pathLst>
                <a:path h="563466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531377"/>
                  </a:lnTo>
                  <a:cubicBezTo>
                    <a:pt x="1270873" y="549099"/>
                    <a:pt x="1256506" y="563466"/>
                    <a:pt x="1238784" y="563466"/>
                  </a:cubicBezTo>
                  <a:lnTo>
                    <a:pt x="32089" y="563466"/>
                  </a:lnTo>
                  <a:cubicBezTo>
                    <a:pt x="14367" y="563466"/>
                    <a:pt x="0" y="549099"/>
                    <a:pt x="0" y="531377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374654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70873" cy="60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498832" y="6995916"/>
            <a:ext cx="353113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Low-level Particles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378435" y="6995916"/>
            <a:ext cx="353113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Quantum Hardware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204624" y="6995916"/>
            <a:ext cx="353113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Exponential Capacity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082483" y="7605516"/>
            <a:ext cx="4363827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Compu</a:t>
            </a: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tation uses atomic and subatomic behavior.</a:t>
            </a: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6962086" y="7605516"/>
            <a:ext cx="4363827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Superco</a:t>
            </a: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nductors and superfluid are highlighted.</a:t>
            </a: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1899432" y="7605516"/>
            <a:ext cx="436382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Add</a:t>
            </a: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ing qubits increases processing power exponentially.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962086" y="5397895"/>
            <a:ext cx="4363827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ircuit, cellular automata, Turing machine, one-way, and adiabatic models.</a:t>
            </a: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1899432" y="5607215"/>
            <a:ext cx="4363827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A s</a:t>
            </a:r>
            <a:r>
              <a:rPr lang="en-US" sz="21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ubfield of quantum information science.</a:t>
            </a:r>
          </a:p>
          <a:p>
            <a:pPr algn="ctr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005228" y="4423954"/>
            <a:ext cx="1528943" cy="1777841"/>
          </a:xfrm>
          <a:custGeom>
            <a:avLst/>
            <a:gdLst/>
            <a:ahLst/>
            <a:cxnLst/>
            <a:rect r="r" b="b" t="t" l="l"/>
            <a:pathLst>
              <a:path h="1777841" w="1528943">
                <a:moveTo>
                  <a:pt x="0" y="0"/>
                </a:moveTo>
                <a:lnTo>
                  <a:pt x="1528943" y="0"/>
                </a:lnTo>
                <a:lnTo>
                  <a:pt x="1528943" y="1777841"/>
                </a:lnTo>
                <a:lnTo>
                  <a:pt x="0" y="1777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18196" y="1811428"/>
            <a:ext cx="234810" cy="1936923"/>
            <a:chOff x="0" y="0"/>
            <a:chExt cx="61843" cy="510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59919" y="1913166"/>
            <a:ext cx="10917760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Quantum Computing Models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4711352"/>
            <a:ext cx="5094040" cy="1490443"/>
            <a:chOff x="0" y="0"/>
            <a:chExt cx="1341640" cy="3925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640" cy="392545"/>
            </a:xfrm>
            <a:custGeom>
              <a:avLst/>
              <a:gdLst/>
              <a:ahLst/>
              <a:cxnLst/>
              <a:rect r="r" b="b" t="t" l="l"/>
              <a:pathLst>
                <a:path h="392545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362149"/>
                  </a:lnTo>
                  <a:cubicBezTo>
                    <a:pt x="1341640" y="370210"/>
                    <a:pt x="1338438" y="377941"/>
                    <a:pt x="1332738" y="383642"/>
                  </a:cubicBezTo>
                  <a:cubicBezTo>
                    <a:pt x="1327037" y="389342"/>
                    <a:pt x="1319306" y="392545"/>
                    <a:pt x="1311244" y="392545"/>
                  </a:cubicBezTo>
                  <a:lnTo>
                    <a:pt x="30396" y="392545"/>
                  </a:lnTo>
                  <a:cubicBezTo>
                    <a:pt x="22334" y="392545"/>
                    <a:pt x="14603" y="389342"/>
                    <a:pt x="8903" y="383642"/>
                  </a:cubicBezTo>
                  <a:cubicBezTo>
                    <a:pt x="3202" y="377941"/>
                    <a:pt x="0" y="370210"/>
                    <a:pt x="0" y="362149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41640" cy="43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66718" y="5029854"/>
            <a:ext cx="381800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</a:t>
            </a:r>
            <a:r>
              <a:rPr lang="en-US" b="true" sz="24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antum Circuit model</a:t>
            </a:r>
          </a:p>
          <a:p>
            <a:pPr algn="ctr">
              <a:lnSpc>
                <a:spcPts val="335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07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6291299" y="2122238"/>
            <a:ext cx="956802" cy="1777841"/>
          </a:xfrm>
          <a:custGeom>
            <a:avLst/>
            <a:gdLst/>
            <a:ahLst/>
            <a:cxnLst/>
            <a:rect r="r" b="b" t="t" l="l"/>
            <a:pathLst>
              <a:path h="1777841" w="956802">
                <a:moveTo>
                  <a:pt x="0" y="0"/>
                </a:moveTo>
                <a:lnTo>
                  <a:pt x="956802" y="0"/>
                </a:lnTo>
                <a:lnTo>
                  <a:pt x="956802" y="1777841"/>
                </a:lnTo>
                <a:lnTo>
                  <a:pt x="0" y="17778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6481351" y="4711352"/>
            <a:ext cx="5094040" cy="1490443"/>
            <a:chOff x="0" y="0"/>
            <a:chExt cx="1341640" cy="39254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640" cy="392545"/>
            </a:xfrm>
            <a:custGeom>
              <a:avLst/>
              <a:gdLst/>
              <a:ahLst/>
              <a:cxnLst/>
              <a:rect r="r" b="b" t="t" l="l"/>
              <a:pathLst>
                <a:path h="392545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362149"/>
                  </a:lnTo>
                  <a:cubicBezTo>
                    <a:pt x="1341640" y="370210"/>
                    <a:pt x="1338438" y="377941"/>
                    <a:pt x="1332738" y="383642"/>
                  </a:cubicBezTo>
                  <a:cubicBezTo>
                    <a:pt x="1327037" y="389342"/>
                    <a:pt x="1319306" y="392545"/>
                    <a:pt x="1311244" y="392545"/>
                  </a:cubicBezTo>
                  <a:lnTo>
                    <a:pt x="30396" y="392545"/>
                  </a:lnTo>
                  <a:cubicBezTo>
                    <a:pt x="22334" y="392545"/>
                    <a:pt x="14603" y="389342"/>
                    <a:pt x="8903" y="383642"/>
                  </a:cubicBezTo>
                  <a:cubicBezTo>
                    <a:pt x="3202" y="377941"/>
                    <a:pt x="0" y="370210"/>
                    <a:pt x="0" y="362149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41640" cy="43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621184" y="5060296"/>
            <a:ext cx="3045632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</a:t>
            </a:r>
            <a:r>
              <a:rPr lang="en-US" b="true" sz="24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antum Cellular Automata</a:t>
            </a:r>
          </a:p>
          <a:p>
            <a:pPr algn="ctr">
              <a:lnSpc>
                <a:spcPts val="3359"/>
              </a:lnSpc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11937341" y="4711352"/>
            <a:ext cx="5094040" cy="1490443"/>
            <a:chOff x="0" y="0"/>
            <a:chExt cx="1341640" cy="3925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1640" cy="392545"/>
            </a:xfrm>
            <a:custGeom>
              <a:avLst/>
              <a:gdLst/>
              <a:ahLst/>
              <a:cxnLst/>
              <a:rect r="r" b="b" t="t" l="l"/>
              <a:pathLst>
                <a:path h="392545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362149"/>
                  </a:lnTo>
                  <a:cubicBezTo>
                    <a:pt x="1341640" y="370210"/>
                    <a:pt x="1338438" y="377941"/>
                    <a:pt x="1332738" y="383642"/>
                  </a:cubicBezTo>
                  <a:cubicBezTo>
                    <a:pt x="1327037" y="389342"/>
                    <a:pt x="1319306" y="392545"/>
                    <a:pt x="1311244" y="392545"/>
                  </a:cubicBezTo>
                  <a:lnTo>
                    <a:pt x="30396" y="392545"/>
                  </a:lnTo>
                  <a:cubicBezTo>
                    <a:pt x="22334" y="392545"/>
                    <a:pt x="14603" y="389342"/>
                    <a:pt x="8903" y="383642"/>
                  </a:cubicBezTo>
                  <a:cubicBezTo>
                    <a:pt x="3202" y="377941"/>
                    <a:pt x="0" y="370210"/>
                    <a:pt x="0" y="362149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341640" cy="43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070816" y="5060296"/>
            <a:ext cx="3045632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Quantum Turing Machine</a:t>
            </a:r>
          </a:p>
          <a:p>
            <a:pPr algn="ctr">
              <a:lnSpc>
                <a:spcPts val="3359"/>
              </a:lnSpc>
            </a:pPr>
          </a:p>
        </p:txBody>
      </p:sp>
      <p:grpSp>
        <p:nvGrpSpPr>
          <p:cNvPr name="Group 40" id="40"/>
          <p:cNvGrpSpPr/>
          <p:nvPr/>
        </p:nvGrpSpPr>
        <p:grpSpPr>
          <a:xfrm rot="0">
            <a:off x="3771778" y="6738701"/>
            <a:ext cx="5094040" cy="1490443"/>
            <a:chOff x="0" y="0"/>
            <a:chExt cx="1341640" cy="39254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640" cy="392545"/>
            </a:xfrm>
            <a:custGeom>
              <a:avLst/>
              <a:gdLst/>
              <a:ahLst/>
              <a:cxnLst/>
              <a:rect r="r" b="b" t="t" l="l"/>
              <a:pathLst>
                <a:path h="392545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362149"/>
                  </a:lnTo>
                  <a:cubicBezTo>
                    <a:pt x="1341640" y="370210"/>
                    <a:pt x="1338438" y="377941"/>
                    <a:pt x="1332738" y="383642"/>
                  </a:cubicBezTo>
                  <a:cubicBezTo>
                    <a:pt x="1327037" y="389342"/>
                    <a:pt x="1319306" y="392545"/>
                    <a:pt x="1311244" y="392545"/>
                  </a:cubicBezTo>
                  <a:lnTo>
                    <a:pt x="30396" y="392545"/>
                  </a:lnTo>
                  <a:cubicBezTo>
                    <a:pt x="22334" y="392545"/>
                    <a:pt x="14603" y="389342"/>
                    <a:pt x="8903" y="383642"/>
                  </a:cubicBezTo>
                  <a:cubicBezTo>
                    <a:pt x="3202" y="377941"/>
                    <a:pt x="0" y="370210"/>
                    <a:pt x="0" y="362149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341640" cy="43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4775112" y="7030664"/>
            <a:ext cx="3045632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One-W</a:t>
            </a:r>
            <a:r>
              <a:rPr lang="en-US" b="true" sz="24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ay Quantum Computer</a:t>
            </a:r>
          </a:p>
          <a:p>
            <a:pPr algn="ctr">
              <a:lnSpc>
                <a:spcPts val="3359"/>
              </a:lnSpc>
            </a:pPr>
          </a:p>
        </p:txBody>
      </p:sp>
      <p:grpSp>
        <p:nvGrpSpPr>
          <p:cNvPr name="Group 44" id="44"/>
          <p:cNvGrpSpPr/>
          <p:nvPr/>
        </p:nvGrpSpPr>
        <p:grpSpPr>
          <a:xfrm rot="0">
            <a:off x="9390321" y="6738701"/>
            <a:ext cx="5094040" cy="1490443"/>
            <a:chOff x="0" y="0"/>
            <a:chExt cx="1341640" cy="3925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41640" cy="392545"/>
            </a:xfrm>
            <a:custGeom>
              <a:avLst/>
              <a:gdLst/>
              <a:ahLst/>
              <a:cxnLst/>
              <a:rect r="r" b="b" t="t" l="l"/>
              <a:pathLst>
                <a:path h="392545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362149"/>
                  </a:lnTo>
                  <a:cubicBezTo>
                    <a:pt x="1341640" y="370210"/>
                    <a:pt x="1338438" y="377941"/>
                    <a:pt x="1332738" y="383642"/>
                  </a:cubicBezTo>
                  <a:cubicBezTo>
                    <a:pt x="1327037" y="389342"/>
                    <a:pt x="1319306" y="392545"/>
                    <a:pt x="1311244" y="392545"/>
                  </a:cubicBezTo>
                  <a:lnTo>
                    <a:pt x="30396" y="392545"/>
                  </a:lnTo>
                  <a:cubicBezTo>
                    <a:pt x="22334" y="392545"/>
                    <a:pt x="14603" y="389342"/>
                    <a:pt x="8903" y="383642"/>
                  </a:cubicBezTo>
                  <a:cubicBezTo>
                    <a:pt x="3202" y="377941"/>
                    <a:pt x="0" y="370210"/>
                    <a:pt x="0" y="362149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341640" cy="43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414525" y="7030664"/>
            <a:ext cx="3045632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Adiab</a:t>
            </a:r>
            <a:r>
              <a:rPr lang="en-US" b="true" sz="24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atic Quantum Computer</a:t>
            </a:r>
          </a:p>
          <a:p>
            <a:pPr algn="ctr">
              <a:lnSpc>
                <a:spcPts val="3359"/>
              </a:lnSpc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1432669" y="3722813"/>
            <a:ext cx="15422662" cy="110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7"/>
              </a:lnSpc>
            </a:pPr>
            <a:r>
              <a:rPr lang="en-US" sz="317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Five architectura</a:t>
            </a:r>
            <a:r>
              <a:rPr lang="en-US" sz="317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 approaches researchers use to realize quantum computation.</a:t>
            </a:r>
          </a:p>
          <a:p>
            <a:pPr algn="ctr">
              <a:lnSpc>
                <a:spcPts val="444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18196" y="1767750"/>
            <a:ext cx="234810" cy="1936923"/>
            <a:chOff x="0" y="0"/>
            <a:chExt cx="61843" cy="5101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1528" y="3844673"/>
            <a:ext cx="11585081" cy="5095595"/>
            <a:chOff x="0" y="0"/>
            <a:chExt cx="15446774" cy="67941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69391" y="1947602"/>
              <a:ext cx="10056337" cy="2614648"/>
            </a:xfrm>
            <a:custGeom>
              <a:avLst/>
              <a:gdLst/>
              <a:ahLst/>
              <a:cxnLst/>
              <a:rect r="r" b="b" t="t" l="l"/>
              <a:pathLst>
                <a:path h="2614648" w="10056337">
                  <a:moveTo>
                    <a:pt x="0" y="0"/>
                  </a:moveTo>
                  <a:lnTo>
                    <a:pt x="10056338" y="0"/>
                  </a:lnTo>
                  <a:lnTo>
                    <a:pt x="10056338" y="2614648"/>
                  </a:lnTo>
                  <a:lnTo>
                    <a:pt x="0" y="2614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>
              <a:off x="11515134" y="1947602"/>
              <a:ext cx="0" cy="1134473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1843079" y="3254926"/>
              <a:ext cx="0" cy="1307324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549486" y="4628925"/>
              <a:ext cx="2707414" cy="557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94"/>
                </a:lnSpc>
              </a:pPr>
              <a:r>
                <a:rPr lang="en-US" sz="2567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1900–1925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129532" y="-47625"/>
              <a:ext cx="1353707" cy="557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94"/>
                </a:lnSpc>
              </a:pPr>
              <a:r>
                <a:rPr lang="en-US" sz="2567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1980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111351" y="4628925"/>
              <a:ext cx="1226340" cy="557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94"/>
                </a:lnSpc>
              </a:pPr>
              <a:r>
                <a:rPr lang="en-US" sz="2567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1985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956214" y="-47625"/>
              <a:ext cx="1313116" cy="557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94"/>
                </a:lnSpc>
              </a:pPr>
              <a:r>
                <a:rPr lang="en-US" sz="2567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1994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9024373" y="4628925"/>
              <a:ext cx="1175612" cy="557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94"/>
                </a:lnSpc>
              </a:pPr>
              <a:r>
                <a:rPr lang="en-US" sz="2567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1998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0845011" y="-47625"/>
              <a:ext cx="1293379" cy="557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94"/>
                </a:lnSpc>
              </a:pPr>
              <a:r>
                <a:rPr lang="en-US" sz="2567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2000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5148386"/>
              <a:ext cx="3806386" cy="108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2"/>
                </a:lnSpc>
              </a:pPr>
              <a:r>
                <a:rPr lang="en-US" sz="24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Qu</a:t>
              </a:r>
              <a:r>
                <a:rPr lang="en-US" sz="24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antum physics ideas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812482" y="586136"/>
              <a:ext cx="3806386" cy="108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2"/>
                </a:lnSpc>
              </a:pPr>
              <a:r>
                <a:rPr lang="en-US" sz="24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Feynman &amp; M</a:t>
              </a:r>
              <a:r>
                <a:rPr lang="en-US" sz="24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anin proposals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821328" y="5148386"/>
              <a:ext cx="3806386" cy="519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2"/>
                </a:lnSpc>
              </a:pPr>
              <a:r>
                <a:rPr lang="en-US" sz="24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</a:t>
              </a:r>
              <a:r>
                <a:rPr lang="en-US" sz="24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avid Deutsch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5709579" y="560137"/>
              <a:ext cx="3806386" cy="1645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2"/>
                </a:lnSpc>
              </a:pPr>
              <a:r>
                <a:rPr lang="en-US" sz="24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Shor’s f</a:t>
              </a:r>
              <a:r>
                <a:rPr lang="en-US" sz="24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actoring algorithm</a:t>
              </a:r>
            </a:p>
            <a:p>
              <a:pPr algn="ctr">
                <a:lnSpc>
                  <a:spcPts val="3372"/>
                </a:lnSpc>
              </a:pP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7612772" y="5148386"/>
              <a:ext cx="3806386" cy="1645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2"/>
                </a:lnSpc>
              </a:pPr>
              <a:r>
                <a:rPr lang="en-US" sz="24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</a:t>
              </a:r>
              <a:r>
                <a:rPr lang="en-US" sz="24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irst 2-qubit computer</a:t>
              </a:r>
            </a:p>
            <a:p>
              <a:pPr algn="ctr">
                <a:lnSpc>
                  <a:spcPts val="3372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9515965" y="560137"/>
              <a:ext cx="3806386" cy="108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2"/>
                </a:lnSpc>
              </a:pPr>
              <a:r>
                <a:rPr lang="en-US" sz="24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7-qub</a:t>
              </a:r>
              <a:r>
                <a:rPr lang="en-US" sz="24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it computer</a:t>
              </a:r>
            </a:p>
            <a:p>
              <a:pPr algn="ctr">
                <a:lnSpc>
                  <a:spcPts val="3372"/>
                </a:lnSpc>
              </a:pPr>
            </a:p>
          </p:txBody>
        </p:sp>
        <p:sp>
          <p:nvSpPr>
            <p:cNvPr name="AutoShape 34" id="34"/>
            <p:cNvSpPr/>
            <p:nvPr/>
          </p:nvSpPr>
          <p:spPr>
            <a:xfrm>
              <a:off x="11699198" y="3249039"/>
              <a:ext cx="1832840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5" id="35"/>
            <p:cNvGrpSpPr/>
            <p:nvPr/>
          </p:nvGrpSpPr>
          <p:grpSpPr>
            <a:xfrm rot="0">
              <a:off x="13352101" y="3055607"/>
              <a:ext cx="373369" cy="373369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AutoShape 38" id="38"/>
            <p:cNvSpPr/>
            <p:nvPr/>
          </p:nvSpPr>
          <p:spPr>
            <a:xfrm flipH="true">
              <a:off x="13538785" y="3397588"/>
              <a:ext cx="4796" cy="1106181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9" id="39"/>
            <p:cNvSpPr txBox="true"/>
            <p:nvPr/>
          </p:nvSpPr>
          <p:spPr>
            <a:xfrm rot="0">
              <a:off x="13125480" y="4583254"/>
              <a:ext cx="1175612" cy="557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94"/>
                </a:lnSpc>
              </a:pPr>
              <a:r>
                <a:rPr lang="en-US" sz="2567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2017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1640388" y="5102715"/>
              <a:ext cx="3806386" cy="1645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2"/>
                </a:lnSpc>
              </a:pPr>
              <a:r>
                <a:rPr lang="en-US" sz="24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IBM commercial</a:t>
              </a:r>
              <a:r>
                <a:rPr lang="en-US" sz="240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-use announcement</a:t>
              </a:r>
            </a:p>
            <a:p>
              <a:pPr algn="ctr">
                <a:lnSpc>
                  <a:spcPts val="3372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957454" y="2349577"/>
            <a:ext cx="4283892" cy="5922656"/>
            <a:chOff x="0" y="0"/>
            <a:chExt cx="493554" cy="68235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3554" cy="682358"/>
            </a:xfrm>
            <a:custGeom>
              <a:avLst/>
              <a:gdLst/>
              <a:ahLst/>
              <a:cxnLst/>
              <a:rect r="r" b="b" t="t" l="l"/>
              <a:pathLst>
                <a:path h="682358" w="493554">
                  <a:moveTo>
                    <a:pt x="77710" y="0"/>
                  </a:moveTo>
                  <a:lnTo>
                    <a:pt x="415843" y="0"/>
                  </a:lnTo>
                  <a:cubicBezTo>
                    <a:pt x="458761" y="0"/>
                    <a:pt x="493554" y="34792"/>
                    <a:pt x="493554" y="77710"/>
                  </a:cubicBezTo>
                  <a:lnTo>
                    <a:pt x="493554" y="604648"/>
                  </a:lnTo>
                  <a:cubicBezTo>
                    <a:pt x="493554" y="647566"/>
                    <a:pt x="458761" y="682358"/>
                    <a:pt x="415843" y="682358"/>
                  </a:cubicBezTo>
                  <a:lnTo>
                    <a:pt x="77710" y="682358"/>
                  </a:lnTo>
                  <a:cubicBezTo>
                    <a:pt x="34792" y="682358"/>
                    <a:pt x="0" y="647566"/>
                    <a:pt x="0" y="604648"/>
                  </a:cubicBezTo>
                  <a:lnTo>
                    <a:pt x="0" y="77710"/>
                  </a:lnTo>
                  <a:cubicBezTo>
                    <a:pt x="0" y="34792"/>
                    <a:pt x="34792" y="0"/>
                    <a:pt x="77710" y="0"/>
                  </a:cubicBezTo>
                  <a:close/>
                </a:path>
              </a:pathLst>
            </a:custGeom>
            <a:blipFill>
              <a:blip r:embed="rId6"/>
              <a:stretch>
                <a:fillRect l="-53658" t="0" r="-53658" b="0"/>
              </a:stretch>
            </a:blipFill>
            <a:ln w="762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6E97B1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08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59919" y="1869488"/>
            <a:ext cx="11248299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History of</a:t>
            </a:r>
          </a:p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Quantum Computing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8196" y="2072499"/>
            <a:ext cx="234810" cy="1936923"/>
            <a:chOff x="0" y="0"/>
            <a:chExt cx="61843" cy="510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09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9919" y="2174237"/>
            <a:ext cx="16235924" cy="274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1980s–1985: From Idea to Universal Quantum Computing</a:t>
            </a:r>
          </a:p>
          <a:p>
            <a:pPr algn="l">
              <a:lnSpc>
                <a:spcPts val="685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92158" y="4590285"/>
            <a:ext cx="15903685" cy="3714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2529" indent="-326264" lvl="1">
              <a:lnSpc>
                <a:spcPts val="4231"/>
              </a:lnSpc>
              <a:buFont typeface="Arial"/>
              <a:buChar char="•"/>
            </a:pPr>
            <a:r>
              <a:rPr lang="en-US" sz="302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chapter traces domain-specific q</a:t>
            </a:r>
            <a:r>
              <a:rPr lang="en-US" sz="302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uantum-computing work to the 1980s.</a:t>
            </a:r>
          </a:p>
          <a:p>
            <a:pPr algn="just" marL="652529" indent="-326264" lvl="1">
              <a:lnSpc>
                <a:spcPts val="4231"/>
              </a:lnSpc>
              <a:buFont typeface="Arial"/>
              <a:buChar char="•"/>
            </a:pPr>
            <a:r>
              <a:rPr lang="en-US" sz="302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Richard Feynman and Yuri Manin proposed the development of quantum computers.</a:t>
            </a:r>
          </a:p>
          <a:p>
            <a:pPr algn="just" marL="652529" indent="-326264" lvl="1">
              <a:lnSpc>
                <a:spcPts val="4231"/>
              </a:lnSpc>
              <a:buFont typeface="Arial"/>
              <a:buChar char="•"/>
            </a:pPr>
            <a:r>
              <a:rPr lang="en-US" sz="302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1985, David Deutsch of Oxford worked on quantum logical gates for a universal quantum computer processor.</a:t>
            </a:r>
          </a:p>
          <a:p>
            <a:pPr algn="just" marL="652529" indent="-326264" lvl="1">
              <a:lnSpc>
                <a:spcPts val="4231"/>
              </a:lnSpc>
              <a:buFont typeface="Arial"/>
              <a:buChar char="•"/>
            </a:pPr>
            <a:r>
              <a:rPr lang="en-US" sz="302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chapter identifies Deutsch as the father of modern quantum computing systems.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46549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0210" y="4547511"/>
            <a:ext cx="4825345" cy="3994667"/>
            <a:chOff x="0" y="0"/>
            <a:chExt cx="1270873" cy="10520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0873" cy="1052093"/>
            </a:xfrm>
            <a:custGeom>
              <a:avLst/>
              <a:gdLst/>
              <a:ahLst/>
              <a:cxnLst/>
              <a:rect r="r" b="b" t="t" l="l"/>
              <a:pathLst>
                <a:path h="1052093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1020005"/>
                  </a:lnTo>
                  <a:cubicBezTo>
                    <a:pt x="1270873" y="1037727"/>
                    <a:pt x="1256506" y="1052093"/>
                    <a:pt x="1238784" y="1052093"/>
                  </a:cubicBezTo>
                  <a:lnTo>
                    <a:pt x="32089" y="1052093"/>
                  </a:lnTo>
                  <a:cubicBezTo>
                    <a:pt x="14367" y="1052093"/>
                    <a:pt x="0" y="1037727"/>
                    <a:pt x="0" y="1020005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70873" cy="1090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10847" y="1770291"/>
            <a:ext cx="5298514" cy="7055985"/>
            <a:chOff x="0" y="0"/>
            <a:chExt cx="1256153" cy="16728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6157" cy="1672808"/>
            </a:xfrm>
            <a:custGeom>
              <a:avLst/>
              <a:gdLst/>
              <a:ahLst/>
              <a:cxnLst/>
              <a:rect r="r" b="b" t="t" l="l"/>
              <a:pathLst>
                <a:path h="1672808" w="1256157">
                  <a:moveTo>
                    <a:pt x="841892" y="38122"/>
                  </a:moveTo>
                  <a:cubicBezTo>
                    <a:pt x="820192" y="13865"/>
                    <a:pt x="789187" y="0"/>
                    <a:pt x="756641" y="0"/>
                  </a:cubicBezTo>
                  <a:lnTo>
                    <a:pt x="114385" y="0"/>
                  </a:lnTo>
                  <a:cubicBezTo>
                    <a:pt x="51213" y="1"/>
                    <a:pt x="1" y="51211"/>
                    <a:pt x="0" y="114384"/>
                  </a:cubicBezTo>
                  <a:lnTo>
                    <a:pt x="0" y="501214"/>
                  </a:lnTo>
                  <a:lnTo>
                    <a:pt x="0" y="1224323"/>
                  </a:lnTo>
                  <a:cubicBezTo>
                    <a:pt x="0" y="1287496"/>
                    <a:pt x="51211" y="1338707"/>
                    <a:pt x="114384" y="1338707"/>
                  </a:cubicBezTo>
                  <a:lnTo>
                    <a:pt x="383116" y="1338707"/>
                  </a:lnTo>
                  <a:cubicBezTo>
                    <a:pt x="415662" y="1338707"/>
                    <a:pt x="446668" y="1352571"/>
                    <a:pt x="468367" y="1376828"/>
                  </a:cubicBezTo>
                  <a:lnTo>
                    <a:pt x="699031" y="1634687"/>
                  </a:lnTo>
                  <a:cubicBezTo>
                    <a:pt x="720731" y="1658944"/>
                    <a:pt x="751737" y="1672809"/>
                    <a:pt x="784283" y="1672808"/>
                  </a:cubicBezTo>
                  <a:lnTo>
                    <a:pt x="1141769" y="1672808"/>
                  </a:lnTo>
                  <a:cubicBezTo>
                    <a:pt x="1172106" y="1672809"/>
                    <a:pt x="1201200" y="1660759"/>
                    <a:pt x="1222652" y="1639309"/>
                  </a:cubicBezTo>
                  <a:cubicBezTo>
                    <a:pt x="1244104" y="1617858"/>
                    <a:pt x="1256156" y="1588765"/>
                    <a:pt x="1256157" y="1558428"/>
                  </a:cubicBezTo>
                  <a:lnTo>
                    <a:pt x="1256157" y="562247"/>
                  </a:lnTo>
                  <a:cubicBezTo>
                    <a:pt x="1256157" y="522943"/>
                    <a:pt x="1241670" y="485019"/>
                    <a:pt x="1215465" y="455726"/>
                  </a:cubicBezTo>
                  <a:close/>
                </a:path>
              </a:pathLst>
            </a:custGeom>
            <a:blipFill>
              <a:blip r:embed="rId2"/>
              <a:stretch>
                <a:fillRect l="-72071" t="0" r="-72071" b="0"/>
              </a:stretch>
            </a:blipFill>
            <a:ln w="76200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6E97B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465518" y="4547511"/>
            <a:ext cx="4825345" cy="3994667"/>
            <a:chOff x="0" y="0"/>
            <a:chExt cx="1270873" cy="10520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0873" cy="1052093"/>
            </a:xfrm>
            <a:custGeom>
              <a:avLst/>
              <a:gdLst/>
              <a:ahLst/>
              <a:cxnLst/>
              <a:rect r="r" b="b" t="t" l="l"/>
              <a:pathLst>
                <a:path h="1052093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1020005"/>
                  </a:lnTo>
                  <a:cubicBezTo>
                    <a:pt x="1270873" y="1037727"/>
                    <a:pt x="1256506" y="1052093"/>
                    <a:pt x="1238784" y="1052093"/>
                  </a:cubicBezTo>
                  <a:lnTo>
                    <a:pt x="32089" y="1052093"/>
                  </a:lnTo>
                  <a:cubicBezTo>
                    <a:pt x="14367" y="1052093"/>
                    <a:pt x="0" y="1037727"/>
                    <a:pt x="0" y="1020005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374654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70873" cy="1090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53247" y="809531"/>
            <a:ext cx="1638932" cy="438339"/>
            <a:chOff x="0" y="0"/>
            <a:chExt cx="431653" cy="115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9039131"/>
            <a:ext cx="18525314" cy="1247869"/>
            <a:chOff x="0" y="0"/>
            <a:chExt cx="4879095" cy="32865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79095" cy="328657"/>
            </a:xfrm>
            <a:custGeom>
              <a:avLst/>
              <a:gdLst/>
              <a:ahLst/>
              <a:cxnLst/>
              <a:rect r="r" b="b" t="t" l="l"/>
              <a:pathLst>
                <a:path h="328657" w="4879095">
                  <a:moveTo>
                    <a:pt x="0" y="0"/>
                  </a:moveTo>
                  <a:lnTo>
                    <a:pt x="4879095" y="0"/>
                  </a:lnTo>
                  <a:lnTo>
                    <a:pt x="4879095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879095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561860" y="9434061"/>
            <a:ext cx="2029959" cy="438339"/>
            <a:chOff x="0" y="0"/>
            <a:chExt cx="534639" cy="11544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7124393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5" y="0"/>
                </a:lnTo>
                <a:lnTo>
                  <a:pt x="324275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162050" y="9400280"/>
            <a:ext cx="505900" cy="505900"/>
          </a:xfrm>
          <a:custGeom>
            <a:avLst/>
            <a:gdLst/>
            <a:ahLst/>
            <a:cxnLst/>
            <a:rect r="r" b="b" t="t" l="l"/>
            <a:pathLst>
              <a:path h="505900" w="505900">
                <a:moveTo>
                  <a:pt x="0" y="0"/>
                </a:moveTo>
                <a:lnTo>
                  <a:pt x="505900" y="0"/>
                </a:lnTo>
                <a:lnTo>
                  <a:pt x="505900" y="505900"/>
                </a:lnTo>
                <a:lnTo>
                  <a:pt x="0" y="505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976032" y="9400280"/>
            <a:ext cx="505900" cy="505900"/>
          </a:xfrm>
          <a:custGeom>
            <a:avLst/>
            <a:gdLst/>
            <a:ahLst/>
            <a:cxnLst/>
            <a:rect r="r" b="b" t="t" l="l"/>
            <a:pathLst>
              <a:path h="505900" w="505900">
                <a:moveTo>
                  <a:pt x="0" y="0"/>
                </a:moveTo>
                <a:lnTo>
                  <a:pt x="505900" y="0"/>
                </a:lnTo>
                <a:lnTo>
                  <a:pt x="505900" y="505900"/>
                </a:lnTo>
                <a:lnTo>
                  <a:pt x="0" y="505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593394" y="9400280"/>
            <a:ext cx="505900" cy="505900"/>
          </a:xfrm>
          <a:custGeom>
            <a:avLst/>
            <a:gdLst/>
            <a:ahLst/>
            <a:cxnLst/>
            <a:rect r="r" b="b" t="t" l="l"/>
            <a:pathLst>
              <a:path h="505900" w="505900">
                <a:moveTo>
                  <a:pt x="0" y="0"/>
                </a:moveTo>
                <a:lnTo>
                  <a:pt x="505900" y="0"/>
                </a:lnTo>
                <a:lnTo>
                  <a:pt x="505900" y="505900"/>
                </a:lnTo>
                <a:lnTo>
                  <a:pt x="0" y="505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340210" y="2072499"/>
            <a:ext cx="234810" cy="1936923"/>
            <a:chOff x="0" y="0"/>
            <a:chExt cx="61843" cy="5101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02049" y="4547511"/>
            <a:ext cx="4825345" cy="3994667"/>
            <a:chOff x="0" y="0"/>
            <a:chExt cx="1270873" cy="105209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0873" cy="1052093"/>
            </a:xfrm>
            <a:custGeom>
              <a:avLst/>
              <a:gdLst/>
              <a:ahLst/>
              <a:cxnLst/>
              <a:rect r="r" b="b" t="t" l="l"/>
              <a:pathLst>
                <a:path h="1052093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1020005"/>
                  </a:lnTo>
                  <a:cubicBezTo>
                    <a:pt x="1270873" y="1037727"/>
                    <a:pt x="1256506" y="1052093"/>
                    <a:pt x="1238784" y="1052093"/>
                  </a:cubicBezTo>
                  <a:lnTo>
                    <a:pt x="32089" y="1052093"/>
                  </a:lnTo>
                  <a:cubicBezTo>
                    <a:pt x="14367" y="1052093"/>
                    <a:pt x="0" y="1037727"/>
                    <a:pt x="0" y="1020005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37465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270873" cy="1090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375839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88057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792204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266515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69501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705011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40210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829264" y="9456044"/>
            <a:ext cx="1618556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Website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643857" y="9456044"/>
            <a:ext cx="242566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Email Address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261219" y="9456044"/>
            <a:ext cx="163318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Address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3100" y="2252089"/>
            <a:ext cx="12115091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1994–2000: Algorithms and Early Qubits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659456" y="4988367"/>
            <a:ext cx="246989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9"/>
              </a:lnSpc>
            </a:pPr>
            <a:r>
              <a:rPr lang="en-US" sz="37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2000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0969" y="5969442"/>
            <a:ext cx="4363827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79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eter Shor proposed an algorithm for factoring numbers.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632807" y="5969442"/>
            <a:ext cx="4363827" cy="240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69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saac Chuang, Neil Gershenfeld, and Mark Kubinec built the first 2-qubit computer.</a:t>
            </a:r>
          </a:p>
          <a:p>
            <a:pPr algn="just">
              <a:lnSpc>
                <a:spcPts val="4059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10696277" y="5978967"/>
            <a:ext cx="4363827" cy="259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49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manuel Knill, Raymond Laflamme, and Rudy Martinez developed a 7-qubit computer using trans-crotonic-acid.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6580591" y="5012534"/>
            <a:ext cx="246989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9"/>
              </a:lnSpc>
            </a:pPr>
            <a:r>
              <a:rPr lang="en-US" sz="37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1998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77574" y="5012534"/>
            <a:ext cx="246989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9"/>
              </a:lnSpc>
            </a:pPr>
            <a:r>
              <a:rPr lang="en-US" sz="37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1994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18196" y="1767750"/>
            <a:ext cx="234810" cy="1936923"/>
            <a:chOff x="0" y="0"/>
            <a:chExt cx="61843" cy="5101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9919" y="1869488"/>
            <a:ext cx="15271965" cy="274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2017 and the Quantum Computing Industry</a:t>
            </a:r>
          </a:p>
          <a:p>
            <a:pPr algn="l">
              <a:lnSpc>
                <a:spcPts val="685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79103" y="3993538"/>
            <a:ext cx="16329794" cy="455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2194" indent="-351097" lvl="1">
              <a:lnSpc>
                <a:spcPts val="4553"/>
              </a:lnSpc>
              <a:buFont typeface="Arial"/>
              <a:buChar char="•"/>
            </a:pPr>
            <a:r>
              <a:rPr lang="en-US" sz="32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2017, IBM announced a q</a:t>
            </a:r>
            <a:r>
              <a:rPr lang="en-US" sz="32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uantum computer intended for commercial use within its network and with selected partners.</a:t>
            </a:r>
          </a:p>
          <a:p>
            <a:pPr algn="just" marL="702194" indent="-351097" lvl="1">
              <a:lnSpc>
                <a:spcPts val="4553"/>
              </a:lnSpc>
              <a:buFont typeface="Arial"/>
              <a:buChar char="•"/>
            </a:pPr>
            <a:r>
              <a:rPr lang="en-US" sz="32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Major companies involved in quantum-computing research and development include IBM, Google, Microsoft, Alibaba, D-Wave Systems, Intel, Nokia, and HP.</a:t>
            </a:r>
          </a:p>
          <a:p>
            <a:pPr algn="just" marL="702194" indent="-351097" lvl="1">
              <a:lnSpc>
                <a:spcPts val="4553"/>
              </a:lnSpc>
              <a:buFont typeface="Arial"/>
              <a:buChar char="•"/>
            </a:pPr>
            <a:r>
              <a:rPr lang="en-US" sz="32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These developments highlight the growing interest and investment in quantum-computing technology.</a:t>
            </a:r>
          </a:p>
          <a:p>
            <a:pPr algn="just" marL="702194" indent="-351097" lvl="1">
              <a:lnSpc>
                <a:spcPts val="4553"/>
              </a:lnSpc>
              <a:buFont typeface="Arial"/>
              <a:buChar char="•"/>
            </a:pPr>
            <a:r>
              <a:rPr lang="en-US" sz="32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Historical projections mentioned here reflect expectations at the time and should be viewed as historical context rather than current forecasts.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748239" y="3369579"/>
            <a:ext cx="502365" cy="438339"/>
            <a:chOff x="0" y="0"/>
            <a:chExt cx="132310" cy="1154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310" cy="115447"/>
            </a:xfrm>
            <a:custGeom>
              <a:avLst/>
              <a:gdLst/>
              <a:ahLst/>
              <a:cxnLst/>
              <a:rect r="r" b="b" t="t" l="l"/>
              <a:pathLst>
                <a:path h="115447" w="132310">
                  <a:moveTo>
                    <a:pt x="57724" y="0"/>
                  </a:moveTo>
                  <a:lnTo>
                    <a:pt x="74587" y="0"/>
                  </a:lnTo>
                  <a:cubicBezTo>
                    <a:pt x="89896" y="0"/>
                    <a:pt x="104578" y="6082"/>
                    <a:pt x="115403" y="16907"/>
                  </a:cubicBezTo>
                  <a:cubicBezTo>
                    <a:pt x="126229" y="27732"/>
                    <a:pt x="132310" y="42414"/>
                    <a:pt x="132310" y="57724"/>
                  </a:cubicBezTo>
                  <a:lnTo>
                    <a:pt x="132310" y="57724"/>
                  </a:lnTo>
                  <a:cubicBezTo>
                    <a:pt x="132310" y="73033"/>
                    <a:pt x="126229" y="87715"/>
                    <a:pt x="115403" y="98540"/>
                  </a:cubicBezTo>
                  <a:cubicBezTo>
                    <a:pt x="104578" y="109366"/>
                    <a:pt x="89896" y="115447"/>
                    <a:pt x="74587" y="115447"/>
                  </a:cubicBezTo>
                  <a:lnTo>
                    <a:pt x="57724" y="115447"/>
                  </a:lnTo>
                  <a:cubicBezTo>
                    <a:pt x="42414" y="115447"/>
                    <a:pt x="27732" y="109366"/>
                    <a:pt x="16907" y="98540"/>
                  </a:cubicBezTo>
                  <a:cubicBezTo>
                    <a:pt x="6082" y="87715"/>
                    <a:pt x="0" y="73033"/>
                    <a:pt x="0" y="57724"/>
                  </a:cubicBezTo>
                  <a:lnTo>
                    <a:pt x="0" y="57724"/>
                  </a:lnTo>
                  <a:cubicBezTo>
                    <a:pt x="0" y="42414"/>
                    <a:pt x="6082" y="27732"/>
                    <a:pt x="16907" y="16907"/>
                  </a:cubicBezTo>
                  <a:cubicBezTo>
                    <a:pt x="27732" y="6082"/>
                    <a:pt x="42414" y="0"/>
                    <a:pt x="577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2310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849983" y="3439310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7" y="0"/>
                </a:lnTo>
                <a:lnTo>
                  <a:pt x="298877" y="298877"/>
                </a:lnTo>
                <a:lnTo>
                  <a:pt x="0" y="298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18196" y="2072499"/>
            <a:ext cx="234810" cy="1936923"/>
            <a:chOff x="0" y="0"/>
            <a:chExt cx="61843" cy="5101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18196" y="4263783"/>
            <a:ext cx="10805742" cy="4064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9577" indent="-354789" lvl="1">
              <a:lnSpc>
                <a:spcPts val="4601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</a:t>
            </a:r>
            <a:r>
              <a:rPr lang="en-US" sz="32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uantum physics deals with very small particles and units of matter and energy.</a:t>
            </a:r>
          </a:p>
          <a:p>
            <a:pPr algn="l" marL="709577" indent="-354789" lvl="1">
              <a:lnSpc>
                <a:spcPts val="4601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examines how small particles behave under energy, electromagnetic effects, and other forces.</a:t>
            </a:r>
          </a:p>
          <a:p>
            <a:pPr algn="l" marL="709577" indent="-354789" lvl="1">
              <a:lnSpc>
                <a:spcPts val="4601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Understanding particle states helps support the development of quantum logical gates and quantum computing systems.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110318" y="2667374"/>
            <a:ext cx="4858290" cy="5287061"/>
            <a:chOff x="0" y="0"/>
            <a:chExt cx="1108888" cy="12067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8888" cy="1206753"/>
            </a:xfrm>
            <a:custGeom>
              <a:avLst/>
              <a:gdLst/>
              <a:ahLst/>
              <a:cxnLst/>
              <a:rect r="r" b="b" t="t" l="l"/>
              <a:pathLst>
                <a:path h="1206753" w="1108888">
                  <a:moveTo>
                    <a:pt x="31871" y="0"/>
                  </a:moveTo>
                  <a:lnTo>
                    <a:pt x="1077017" y="0"/>
                  </a:lnTo>
                  <a:cubicBezTo>
                    <a:pt x="1085470" y="0"/>
                    <a:pt x="1093576" y="3358"/>
                    <a:pt x="1099553" y="9335"/>
                  </a:cubicBezTo>
                  <a:cubicBezTo>
                    <a:pt x="1105530" y="15312"/>
                    <a:pt x="1108888" y="23418"/>
                    <a:pt x="1108888" y="31871"/>
                  </a:cubicBezTo>
                  <a:lnTo>
                    <a:pt x="1108888" y="1174883"/>
                  </a:lnTo>
                  <a:cubicBezTo>
                    <a:pt x="1108888" y="1183335"/>
                    <a:pt x="1105530" y="1191442"/>
                    <a:pt x="1099553" y="1197419"/>
                  </a:cubicBezTo>
                  <a:cubicBezTo>
                    <a:pt x="1093576" y="1203396"/>
                    <a:pt x="1085470" y="1206753"/>
                    <a:pt x="1077017" y="1206753"/>
                  </a:cubicBezTo>
                  <a:lnTo>
                    <a:pt x="31871" y="1206753"/>
                  </a:lnTo>
                  <a:cubicBezTo>
                    <a:pt x="23418" y="1206753"/>
                    <a:pt x="15312" y="1203396"/>
                    <a:pt x="9335" y="1197419"/>
                  </a:cubicBezTo>
                  <a:cubicBezTo>
                    <a:pt x="3358" y="1191442"/>
                    <a:pt x="0" y="1183335"/>
                    <a:pt x="0" y="1174883"/>
                  </a:cubicBezTo>
                  <a:lnTo>
                    <a:pt x="0" y="31871"/>
                  </a:lnTo>
                  <a:cubicBezTo>
                    <a:pt x="0" y="23418"/>
                    <a:pt x="3358" y="15312"/>
                    <a:pt x="9335" y="9335"/>
                  </a:cubicBezTo>
                  <a:cubicBezTo>
                    <a:pt x="15312" y="3358"/>
                    <a:pt x="23418" y="0"/>
                    <a:pt x="318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108888" cy="1244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2537959" y="3676973"/>
            <a:ext cx="400311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9919" y="2174237"/>
            <a:ext cx="8783545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What is Quantum Physics?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37959" y="2919793"/>
            <a:ext cx="4195773" cy="4742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3357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</a:t>
            </a:r>
            <a:r>
              <a:rPr lang="en-US" sz="3357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 include:</a:t>
            </a:r>
          </a:p>
          <a:p>
            <a:pPr algn="l">
              <a:lnSpc>
                <a:spcPts val="4701"/>
              </a:lnSpc>
            </a:pPr>
          </a:p>
          <a:p>
            <a:pPr algn="l" marL="724989" indent="-362495" lvl="1">
              <a:lnSpc>
                <a:spcPts val="4701"/>
              </a:lnSpc>
              <a:buFont typeface="Arial"/>
              <a:buChar char="•"/>
            </a:pPr>
            <a:r>
              <a:rPr lang="en-US" sz="3357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 electrons</a:t>
            </a:r>
          </a:p>
          <a:p>
            <a:pPr algn="l" marL="724989" indent="-362495" lvl="1">
              <a:lnSpc>
                <a:spcPts val="4701"/>
              </a:lnSpc>
              <a:buFont typeface="Arial"/>
              <a:buChar char="•"/>
            </a:pPr>
            <a:r>
              <a:rPr lang="en-US" sz="3357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protons</a:t>
            </a:r>
          </a:p>
          <a:p>
            <a:pPr algn="l" marL="724989" indent="-362495" lvl="1">
              <a:lnSpc>
                <a:spcPts val="4701"/>
              </a:lnSpc>
              <a:buFont typeface="Arial"/>
              <a:buChar char="•"/>
            </a:pPr>
            <a:r>
              <a:rPr lang="en-US" sz="3357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neutrons</a:t>
            </a:r>
          </a:p>
          <a:p>
            <a:pPr algn="l" marL="724989" indent="-362495" lvl="1">
              <a:lnSpc>
                <a:spcPts val="4701"/>
              </a:lnSpc>
              <a:buFont typeface="Arial"/>
              <a:buChar char="•"/>
            </a:pPr>
            <a:r>
              <a:rPr lang="en-US" sz="3357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photons</a:t>
            </a:r>
          </a:p>
          <a:p>
            <a:pPr algn="l" marL="724989" indent="-362495" lvl="1">
              <a:lnSpc>
                <a:spcPts val="4701"/>
              </a:lnSpc>
              <a:buFont typeface="Arial"/>
              <a:buChar char="•"/>
            </a:pPr>
            <a:r>
              <a:rPr lang="en-US" sz="3357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waves</a:t>
            </a:r>
          </a:p>
          <a:p>
            <a:pPr algn="ctr">
              <a:lnSpc>
                <a:spcPts val="4701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457067" y="3790253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7" y="0"/>
                </a:lnTo>
                <a:lnTo>
                  <a:pt x="298877" y="298877"/>
                </a:lnTo>
                <a:lnTo>
                  <a:pt x="0" y="298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2428759"/>
            <a:ext cx="15994380" cy="10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heory of Quantum Computing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76382" y="4089130"/>
            <a:ext cx="3998101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Classical Approach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66746" y="4875152"/>
            <a:ext cx="6325280" cy="240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Trad</a:t>
            </a: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itional digital machines use binary logic: voltage/current present = 1; absent = 0. More transistors are added to increase capacity.</a:t>
            </a:r>
          </a:p>
          <a:p>
            <a:pPr algn="just">
              <a:lnSpc>
                <a:spcPts val="3833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012220" y="4089130"/>
            <a:ext cx="3998101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Quantum Approach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45789" y="4745513"/>
            <a:ext cx="6739245" cy="289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</a:t>
            </a: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uantum mechanics allows additional states through interference, superposition, and entanglement, supporting exponential growth in processing capacity.</a:t>
            </a:r>
          </a:p>
          <a:p>
            <a:pPr algn="just">
              <a:lnSpc>
                <a:spcPts val="3833"/>
              </a:lnSpc>
            </a:pPr>
          </a:p>
        </p:txBody>
      </p:sp>
      <p:sp>
        <p:nvSpPr>
          <p:cNvPr name="AutoShape 28" id="28"/>
          <p:cNvSpPr/>
          <p:nvPr/>
        </p:nvSpPr>
        <p:spPr>
          <a:xfrm flipV="true">
            <a:off x="8793352" y="4327605"/>
            <a:ext cx="0" cy="3535308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483970" y="2004322"/>
            <a:ext cx="263516" cy="1545810"/>
            <a:chOff x="0" y="0"/>
            <a:chExt cx="69403" cy="4071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403" cy="407127"/>
            </a:xfrm>
            <a:custGeom>
              <a:avLst/>
              <a:gdLst/>
              <a:ahLst/>
              <a:cxnLst/>
              <a:rect r="r" b="b" t="t" l="l"/>
              <a:pathLst>
                <a:path h="407127" w="69403">
                  <a:moveTo>
                    <a:pt x="34702" y="0"/>
                  </a:moveTo>
                  <a:lnTo>
                    <a:pt x="34702" y="0"/>
                  </a:lnTo>
                  <a:cubicBezTo>
                    <a:pt x="53867" y="0"/>
                    <a:pt x="69403" y="15536"/>
                    <a:pt x="69403" y="34702"/>
                  </a:cubicBezTo>
                  <a:lnTo>
                    <a:pt x="69403" y="372425"/>
                  </a:lnTo>
                  <a:cubicBezTo>
                    <a:pt x="69403" y="381629"/>
                    <a:pt x="65747" y="390455"/>
                    <a:pt x="59240" y="396963"/>
                  </a:cubicBezTo>
                  <a:cubicBezTo>
                    <a:pt x="52732" y="403471"/>
                    <a:pt x="43905" y="407127"/>
                    <a:pt x="34702" y="407127"/>
                  </a:cubicBezTo>
                  <a:lnTo>
                    <a:pt x="34702" y="407127"/>
                  </a:lnTo>
                  <a:cubicBezTo>
                    <a:pt x="25498" y="407127"/>
                    <a:pt x="16672" y="403471"/>
                    <a:pt x="10164" y="396963"/>
                  </a:cubicBezTo>
                  <a:cubicBezTo>
                    <a:pt x="3656" y="390455"/>
                    <a:pt x="0" y="381629"/>
                    <a:pt x="0" y="372425"/>
                  </a:cubicBezTo>
                  <a:lnTo>
                    <a:pt x="0" y="34702"/>
                  </a:lnTo>
                  <a:cubicBezTo>
                    <a:pt x="0" y="25498"/>
                    <a:pt x="3656" y="16672"/>
                    <a:pt x="10164" y="10164"/>
                  </a:cubicBezTo>
                  <a:cubicBezTo>
                    <a:pt x="16672" y="3656"/>
                    <a:pt x="25498" y="0"/>
                    <a:pt x="347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9403" cy="445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849983" y="3439310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7" y="0"/>
                </a:lnTo>
                <a:lnTo>
                  <a:pt x="298877" y="298877"/>
                </a:lnTo>
                <a:lnTo>
                  <a:pt x="0" y="298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18196" y="2072499"/>
            <a:ext cx="234810" cy="1936923"/>
            <a:chOff x="0" y="0"/>
            <a:chExt cx="61843" cy="510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59919" y="4486322"/>
            <a:ext cx="16043976" cy="405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9576" indent="-354788" lvl="1">
              <a:lnSpc>
                <a:spcPts val="4601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2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article can exist under multiple conditions at the same time.</a:t>
            </a:r>
          </a:p>
          <a:p>
            <a:pPr algn="just" marL="709576" indent="-354788" lvl="1">
              <a:lnSpc>
                <a:spcPts val="4601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Influences mentioned include electromagnetic waves, temperature, flipping, rotations, and other physical processes.</a:t>
            </a:r>
          </a:p>
          <a:p>
            <a:pPr algn="just" marL="709576" indent="-354788" lvl="1">
              <a:lnSpc>
                <a:spcPts val="4601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Superposition combines states so that numerous states can be represented simultaneously.</a:t>
            </a:r>
          </a:p>
          <a:p>
            <a:pPr algn="just" marL="709576" indent="-354788" lvl="1">
              <a:lnSpc>
                <a:spcPts val="4601"/>
              </a:lnSpc>
              <a:buFont typeface="Arial"/>
              <a:buChar char="•"/>
            </a:pPr>
            <a:r>
              <a:rPr lang="en-US" sz="32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Adding more qubits increases the number of possible states exponentially.</a:t>
            </a:r>
          </a:p>
          <a:p>
            <a:pPr algn="just">
              <a:lnSpc>
                <a:spcPts val="4601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9919" y="2174237"/>
            <a:ext cx="12325549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Working Principle of Quantum Computing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244917" y="3519017"/>
            <a:ext cx="502365" cy="438339"/>
            <a:chOff x="0" y="0"/>
            <a:chExt cx="669820" cy="58445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669820" cy="584452"/>
              <a:chOff x="0" y="0"/>
              <a:chExt cx="132310" cy="11544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32310" cy="115447"/>
              </a:xfrm>
              <a:custGeom>
                <a:avLst/>
                <a:gdLst/>
                <a:ahLst/>
                <a:cxnLst/>
                <a:rect r="r" b="b" t="t" l="l"/>
                <a:pathLst>
                  <a:path h="115447" w="132310">
                    <a:moveTo>
                      <a:pt x="57724" y="0"/>
                    </a:moveTo>
                    <a:lnTo>
                      <a:pt x="74587" y="0"/>
                    </a:lnTo>
                    <a:cubicBezTo>
                      <a:pt x="89896" y="0"/>
                      <a:pt x="104578" y="6082"/>
                      <a:pt x="115403" y="16907"/>
                    </a:cubicBezTo>
                    <a:cubicBezTo>
                      <a:pt x="126229" y="27732"/>
                      <a:pt x="132310" y="42414"/>
                      <a:pt x="132310" y="57724"/>
                    </a:cubicBezTo>
                    <a:lnTo>
                      <a:pt x="132310" y="57724"/>
                    </a:lnTo>
                    <a:cubicBezTo>
                      <a:pt x="132310" y="73033"/>
                      <a:pt x="126229" y="87715"/>
                      <a:pt x="115403" y="98540"/>
                    </a:cubicBezTo>
                    <a:cubicBezTo>
                      <a:pt x="104578" y="109366"/>
                      <a:pt x="89896" y="115447"/>
                      <a:pt x="74587" y="115447"/>
                    </a:cubicBezTo>
                    <a:lnTo>
                      <a:pt x="57724" y="115447"/>
                    </a:lnTo>
                    <a:cubicBezTo>
                      <a:pt x="42414" y="115447"/>
                      <a:pt x="27732" y="109366"/>
                      <a:pt x="16907" y="98540"/>
                    </a:cubicBezTo>
                    <a:cubicBezTo>
                      <a:pt x="6082" y="87715"/>
                      <a:pt x="0" y="73033"/>
                      <a:pt x="0" y="57724"/>
                    </a:cubicBezTo>
                    <a:lnTo>
                      <a:pt x="0" y="57724"/>
                    </a:lnTo>
                    <a:cubicBezTo>
                      <a:pt x="0" y="42414"/>
                      <a:pt x="6082" y="27732"/>
                      <a:pt x="16907" y="16907"/>
                    </a:cubicBezTo>
                    <a:cubicBezTo>
                      <a:pt x="27732" y="6082"/>
                      <a:pt x="42414" y="0"/>
                      <a:pt x="5772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6E97B1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32310" cy="1535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135659" y="92974"/>
              <a:ext cx="398503" cy="398503"/>
            </a:xfrm>
            <a:custGeom>
              <a:avLst/>
              <a:gdLst/>
              <a:ahLst/>
              <a:cxnLst/>
              <a:rect r="r" b="b" t="t" l="l"/>
              <a:pathLst>
                <a:path h="398503" w="398503">
                  <a:moveTo>
                    <a:pt x="0" y="0"/>
                  </a:moveTo>
                  <a:lnTo>
                    <a:pt x="398503" y="0"/>
                  </a:lnTo>
                  <a:lnTo>
                    <a:pt x="398503" y="398503"/>
                  </a:lnTo>
                  <a:lnTo>
                    <a:pt x="0" y="398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18196" y="5371374"/>
            <a:ext cx="1733705" cy="1817309"/>
            <a:chOff x="0" y="0"/>
            <a:chExt cx="806888" cy="8457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6888" cy="845798"/>
            </a:xfrm>
            <a:custGeom>
              <a:avLst/>
              <a:gdLst/>
              <a:ahLst/>
              <a:cxnLst/>
              <a:rect r="r" b="b" t="t" l="l"/>
              <a:pathLst>
                <a:path h="845798" w="806888">
                  <a:moveTo>
                    <a:pt x="89311" y="0"/>
                  </a:moveTo>
                  <a:lnTo>
                    <a:pt x="717578" y="0"/>
                  </a:lnTo>
                  <a:cubicBezTo>
                    <a:pt x="741264" y="0"/>
                    <a:pt x="763981" y="9409"/>
                    <a:pt x="780730" y="26158"/>
                  </a:cubicBezTo>
                  <a:cubicBezTo>
                    <a:pt x="797479" y="42907"/>
                    <a:pt x="806888" y="65624"/>
                    <a:pt x="806888" y="89311"/>
                  </a:cubicBezTo>
                  <a:lnTo>
                    <a:pt x="806888" y="756488"/>
                  </a:lnTo>
                  <a:cubicBezTo>
                    <a:pt x="806888" y="780174"/>
                    <a:pt x="797479" y="802891"/>
                    <a:pt x="780730" y="819640"/>
                  </a:cubicBezTo>
                  <a:cubicBezTo>
                    <a:pt x="763981" y="836389"/>
                    <a:pt x="741264" y="845798"/>
                    <a:pt x="717578" y="845798"/>
                  </a:cubicBezTo>
                  <a:lnTo>
                    <a:pt x="89311" y="845798"/>
                  </a:lnTo>
                  <a:cubicBezTo>
                    <a:pt x="65624" y="845798"/>
                    <a:pt x="42907" y="836389"/>
                    <a:pt x="26158" y="819640"/>
                  </a:cubicBezTo>
                  <a:cubicBezTo>
                    <a:pt x="9409" y="802891"/>
                    <a:pt x="0" y="780174"/>
                    <a:pt x="0" y="756488"/>
                  </a:cubicBezTo>
                  <a:lnTo>
                    <a:pt x="0" y="89311"/>
                  </a:lnTo>
                  <a:cubicBezTo>
                    <a:pt x="0" y="65624"/>
                    <a:pt x="9409" y="42907"/>
                    <a:pt x="26158" y="26158"/>
                  </a:cubicBezTo>
                  <a:cubicBezTo>
                    <a:pt x="42907" y="9409"/>
                    <a:pt x="65624" y="0"/>
                    <a:pt x="893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6888" cy="88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158799" y="6279790"/>
            <a:ext cx="849858" cy="988207"/>
          </a:xfrm>
          <a:custGeom>
            <a:avLst/>
            <a:gdLst/>
            <a:ahLst/>
            <a:cxnLst/>
            <a:rect r="r" b="b" t="t" l="l"/>
            <a:pathLst>
              <a:path h="988207" w="849858">
                <a:moveTo>
                  <a:pt x="0" y="0"/>
                </a:moveTo>
                <a:lnTo>
                  <a:pt x="849858" y="0"/>
                </a:lnTo>
                <a:lnTo>
                  <a:pt x="849858" y="988207"/>
                </a:lnTo>
                <a:lnTo>
                  <a:pt x="0" y="988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171376" y="7566434"/>
            <a:ext cx="837281" cy="988207"/>
          </a:xfrm>
          <a:custGeom>
            <a:avLst/>
            <a:gdLst/>
            <a:ahLst/>
            <a:cxnLst/>
            <a:rect r="r" b="b" t="t" l="l"/>
            <a:pathLst>
              <a:path h="988207" w="837281">
                <a:moveTo>
                  <a:pt x="0" y="0"/>
                </a:moveTo>
                <a:lnTo>
                  <a:pt x="837281" y="0"/>
                </a:lnTo>
                <a:lnTo>
                  <a:pt x="837281" y="988208"/>
                </a:lnTo>
                <a:lnTo>
                  <a:pt x="0" y="988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47486" y="2265113"/>
            <a:ext cx="6986409" cy="10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Binary States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4912" y="5726248"/>
            <a:ext cx="1260272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6291299" y="2122238"/>
            <a:ext cx="956802" cy="1777841"/>
          </a:xfrm>
          <a:custGeom>
            <a:avLst/>
            <a:gdLst/>
            <a:ahLst/>
            <a:cxnLst/>
            <a:rect r="r" b="b" t="t" l="l"/>
            <a:pathLst>
              <a:path h="1777841" w="956802">
                <a:moveTo>
                  <a:pt x="0" y="0"/>
                </a:moveTo>
                <a:lnTo>
                  <a:pt x="956802" y="0"/>
                </a:lnTo>
                <a:lnTo>
                  <a:pt x="956802" y="1777841"/>
                </a:lnTo>
                <a:lnTo>
                  <a:pt x="0" y="17778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2603135" y="5371374"/>
            <a:ext cx="1733705" cy="1817309"/>
            <a:chOff x="0" y="0"/>
            <a:chExt cx="806888" cy="8457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6888" cy="845798"/>
            </a:xfrm>
            <a:custGeom>
              <a:avLst/>
              <a:gdLst/>
              <a:ahLst/>
              <a:cxnLst/>
              <a:rect r="r" b="b" t="t" l="l"/>
              <a:pathLst>
                <a:path h="845798" w="806888">
                  <a:moveTo>
                    <a:pt x="89311" y="0"/>
                  </a:moveTo>
                  <a:lnTo>
                    <a:pt x="717578" y="0"/>
                  </a:lnTo>
                  <a:cubicBezTo>
                    <a:pt x="741264" y="0"/>
                    <a:pt x="763981" y="9409"/>
                    <a:pt x="780730" y="26158"/>
                  </a:cubicBezTo>
                  <a:cubicBezTo>
                    <a:pt x="797479" y="42907"/>
                    <a:pt x="806888" y="65624"/>
                    <a:pt x="806888" y="89311"/>
                  </a:cubicBezTo>
                  <a:lnTo>
                    <a:pt x="806888" y="756488"/>
                  </a:lnTo>
                  <a:cubicBezTo>
                    <a:pt x="806888" y="780174"/>
                    <a:pt x="797479" y="802891"/>
                    <a:pt x="780730" y="819640"/>
                  </a:cubicBezTo>
                  <a:cubicBezTo>
                    <a:pt x="763981" y="836389"/>
                    <a:pt x="741264" y="845798"/>
                    <a:pt x="717578" y="845798"/>
                  </a:cubicBezTo>
                  <a:lnTo>
                    <a:pt x="89311" y="845798"/>
                  </a:lnTo>
                  <a:cubicBezTo>
                    <a:pt x="65624" y="845798"/>
                    <a:pt x="42907" y="836389"/>
                    <a:pt x="26158" y="819640"/>
                  </a:cubicBezTo>
                  <a:cubicBezTo>
                    <a:pt x="9409" y="802891"/>
                    <a:pt x="0" y="780174"/>
                    <a:pt x="0" y="756488"/>
                  </a:cubicBezTo>
                  <a:lnTo>
                    <a:pt x="0" y="89311"/>
                  </a:lnTo>
                  <a:cubicBezTo>
                    <a:pt x="0" y="65624"/>
                    <a:pt x="9409" y="42907"/>
                    <a:pt x="26158" y="26158"/>
                  </a:cubicBezTo>
                  <a:cubicBezTo>
                    <a:pt x="42907" y="9409"/>
                    <a:pt x="65624" y="0"/>
                    <a:pt x="893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06888" cy="88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652924" y="5360987"/>
            <a:ext cx="1733705" cy="1817309"/>
            <a:chOff x="0" y="0"/>
            <a:chExt cx="806888" cy="84579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6888" cy="845798"/>
            </a:xfrm>
            <a:custGeom>
              <a:avLst/>
              <a:gdLst/>
              <a:ahLst/>
              <a:cxnLst/>
              <a:rect r="r" b="b" t="t" l="l"/>
              <a:pathLst>
                <a:path h="845798" w="806888">
                  <a:moveTo>
                    <a:pt x="89311" y="0"/>
                  </a:moveTo>
                  <a:lnTo>
                    <a:pt x="717578" y="0"/>
                  </a:lnTo>
                  <a:cubicBezTo>
                    <a:pt x="741264" y="0"/>
                    <a:pt x="763981" y="9409"/>
                    <a:pt x="780730" y="26158"/>
                  </a:cubicBezTo>
                  <a:cubicBezTo>
                    <a:pt x="797479" y="42907"/>
                    <a:pt x="806888" y="65624"/>
                    <a:pt x="806888" y="89311"/>
                  </a:cubicBezTo>
                  <a:lnTo>
                    <a:pt x="806888" y="756488"/>
                  </a:lnTo>
                  <a:cubicBezTo>
                    <a:pt x="806888" y="780174"/>
                    <a:pt x="797479" y="802891"/>
                    <a:pt x="780730" y="819640"/>
                  </a:cubicBezTo>
                  <a:cubicBezTo>
                    <a:pt x="763981" y="836389"/>
                    <a:pt x="741264" y="845798"/>
                    <a:pt x="717578" y="845798"/>
                  </a:cubicBezTo>
                  <a:lnTo>
                    <a:pt x="89311" y="845798"/>
                  </a:lnTo>
                  <a:cubicBezTo>
                    <a:pt x="65624" y="845798"/>
                    <a:pt x="42907" y="836389"/>
                    <a:pt x="26158" y="819640"/>
                  </a:cubicBezTo>
                  <a:cubicBezTo>
                    <a:pt x="9409" y="802891"/>
                    <a:pt x="0" y="780174"/>
                    <a:pt x="0" y="756488"/>
                  </a:cubicBezTo>
                  <a:lnTo>
                    <a:pt x="0" y="89311"/>
                  </a:lnTo>
                  <a:cubicBezTo>
                    <a:pt x="0" y="65624"/>
                    <a:pt x="9409" y="42907"/>
                    <a:pt x="26158" y="26158"/>
                  </a:cubicBezTo>
                  <a:cubicBezTo>
                    <a:pt x="42907" y="9409"/>
                    <a:pt x="65624" y="0"/>
                    <a:pt x="893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06888" cy="88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702714" y="5360987"/>
            <a:ext cx="1733705" cy="1817309"/>
            <a:chOff x="0" y="0"/>
            <a:chExt cx="806888" cy="8457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6888" cy="845798"/>
            </a:xfrm>
            <a:custGeom>
              <a:avLst/>
              <a:gdLst/>
              <a:ahLst/>
              <a:cxnLst/>
              <a:rect r="r" b="b" t="t" l="l"/>
              <a:pathLst>
                <a:path h="845798" w="806888">
                  <a:moveTo>
                    <a:pt x="89311" y="0"/>
                  </a:moveTo>
                  <a:lnTo>
                    <a:pt x="717578" y="0"/>
                  </a:lnTo>
                  <a:cubicBezTo>
                    <a:pt x="741264" y="0"/>
                    <a:pt x="763981" y="9409"/>
                    <a:pt x="780730" y="26158"/>
                  </a:cubicBezTo>
                  <a:cubicBezTo>
                    <a:pt x="797479" y="42907"/>
                    <a:pt x="806888" y="65624"/>
                    <a:pt x="806888" y="89311"/>
                  </a:cubicBezTo>
                  <a:lnTo>
                    <a:pt x="806888" y="756488"/>
                  </a:lnTo>
                  <a:cubicBezTo>
                    <a:pt x="806888" y="780174"/>
                    <a:pt x="797479" y="802891"/>
                    <a:pt x="780730" y="819640"/>
                  </a:cubicBezTo>
                  <a:cubicBezTo>
                    <a:pt x="763981" y="836389"/>
                    <a:pt x="741264" y="845798"/>
                    <a:pt x="717578" y="845798"/>
                  </a:cubicBezTo>
                  <a:lnTo>
                    <a:pt x="89311" y="845798"/>
                  </a:lnTo>
                  <a:cubicBezTo>
                    <a:pt x="65624" y="845798"/>
                    <a:pt x="42907" y="836389"/>
                    <a:pt x="26158" y="819640"/>
                  </a:cubicBezTo>
                  <a:cubicBezTo>
                    <a:pt x="9409" y="802891"/>
                    <a:pt x="0" y="780174"/>
                    <a:pt x="0" y="756488"/>
                  </a:cubicBezTo>
                  <a:lnTo>
                    <a:pt x="0" y="89311"/>
                  </a:lnTo>
                  <a:cubicBezTo>
                    <a:pt x="0" y="65624"/>
                    <a:pt x="9409" y="42907"/>
                    <a:pt x="26158" y="26158"/>
                  </a:cubicBezTo>
                  <a:cubicBezTo>
                    <a:pt x="42907" y="9409"/>
                    <a:pt x="65624" y="0"/>
                    <a:pt x="893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06888" cy="883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917710" y="5699723"/>
            <a:ext cx="1470098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54558" y="5647176"/>
            <a:ext cx="1029031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81545" y="5652104"/>
            <a:ext cx="993784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324534" y="2265113"/>
            <a:ext cx="9630918" cy="10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Quantum Particles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40149" y="3852454"/>
            <a:ext cx="7419151" cy="453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7"/>
              </a:lnSpc>
            </a:pPr>
            <a:r>
              <a:rPr lang="en-US" sz="26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</a:t>
            </a:r>
            <a:r>
              <a:rPr lang="en-US" sz="26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particle can hold multiple states simultaneously under the influence of triggers such as electromagnetic waves, temperature, flipping, and rotation.</a:t>
            </a:r>
          </a:p>
          <a:p>
            <a:pPr algn="just">
              <a:lnSpc>
                <a:spcPts val="3687"/>
              </a:lnSpc>
            </a:pPr>
          </a:p>
          <a:p>
            <a:pPr algn="just">
              <a:lnSpc>
                <a:spcPts val="3687"/>
              </a:lnSpc>
            </a:pPr>
            <a:r>
              <a:rPr lang="en-US" sz="26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Numerous states are achieved at the same time and space, using superposition to combine two states into another.</a:t>
            </a:r>
          </a:p>
          <a:p>
            <a:pPr algn="just">
              <a:lnSpc>
                <a:spcPts val="3687"/>
              </a:lnSpc>
            </a:pPr>
          </a:p>
          <a:p>
            <a:pPr algn="just">
              <a:lnSpc>
                <a:spcPts val="2729"/>
              </a:lnSpc>
            </a:pPr>
          </a:p>
        </p:txBody>
      </p:sp>
      <p:sp>
        <p:nvSpPr>
          <p:cNvPr name="AutoShape 44" id="44"/>
          <p:cNvSpPr/>
          <p:nvPr/>
        </p:nvSpPr>
        <p:spPr>
          <a:xfrm flipV="true">
            <a:off x="8911462" y="4358953"/>
            <a:ext cx="0" cy="3535308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1096886" y="4105611"/>
            <a:ext cx="6978443" cy="126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7"/>
              </a:lnSpc>
            </a:pPr>
            <a:r>
              <a:rPr lang="en-US" sz="26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6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nly four possible combination</a:t>
            </a:r>
            <a:r>
              <a:rPr lang="en-US" sz="26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exist, processed one at a time:</a:t>
            </a:r>
          </a:p>
          <a:p>
            <a:pPr algn="just">
              <a:lnSpc>
                <a:spcPts val="272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47486" y="2076895"/>
            <a:ext cx="234810" cy="1936923"/>
            <a:chOff x="0" y="0"/>
            <a:chExt cx="61843" cy="5101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89209" y="2178633"/>
            <a:ext cx="15085592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How Many States Can Quantum Computing Handle?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92922" y="4483587"/>
            <a:ext cx="5236942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TOD</a:t>
            </a: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AY'S PROCESSORS</a:t>
            </a:r>
          </a:p>
          <a:p>
            <a:pPr algn="ctr">
              <a:lnSpc>
                <a:spcPts val="359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3031951" y="5350362"/>
            <a:ext cx="4797913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27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states handled simultaneously by present-day quantum processors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0087790" y="4474062"/>
            <a:ext cx="429212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ORETICAL LIMIT</a:t>
            </a:r>
          </a:p>
          <a:p>
            <a:pPr algn="ctr">
              <a:lnSpc>
                <a:spcPts val="360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9069381" y="5159862"/>
            <a:ext cx="6328945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UNLIMITED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the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ory, the number of states supported in quantum computing is infinite  unlike classical systems, which process one state at a time.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30" id="30"/>
          <p:cNvSpPr/>
          <p:nvPr/>
        </p:nvSpPr>
        <p:spPr>
          <a:xfrm flipV="true">
            <a:off x="8502679" y="5163640"/>
            <a:ext cx="0" cy="271113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03276" y="4502215"/>
            <a:ext cx="14281449" cy="362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4303" indent="-372151" lvl="1">
              <a:lnSpc>
                <a:spcPts val="4826"/>
              </a:lnSpc>
              <a:buFont typeface="Arial"/>
              <a:buChar char="•"/>
            </a:pPr>
            <a:r>
              <a:rPr lang="en-US" sz="34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Describes </a:t>
            </a:r>
            <a:r>
              <a:rPr lang="en-US" sz="34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as the combination of two distinct quantum states.</a:t>
            </a:r>
          </a:p>
          <a:p>
            <a:pPr algn="just" marL="744303" indent="-372151" lvl="1">
              <a:lnSpc>
                <a:spcPts val="4826"/>
              </a:lnSpc>
              <a:buFont typeface="Arial"/>
              <a:buChar char="•"/>
            </a:pPr>
            <a:r>
              <a:rPr lang="en-US" sz="34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resulting state is a linear combination of those states.</a:t>
            </a:r>
          </a:p>
          <a:p>
            <a:pPr algn="just" marL="744303" indent="-372151" lvl="1">
              <a:lnSpc>
                <a:spcPts val="4826"/>
              </a:lnSpc>
              <a:buFont typeface="Arial"/>
              <a:buChar char="•"/>
            </a:pPr>
            <a:r>
              <a:rPr lang="en-US" sz="34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lets a qubit represent a richer state than a classical bit’s single 0-or-1 condition.</a:t>
            </a:r>
          </a:p>
          <a:p>
            <a:pPr algn="just" marL="744303" indent="-372151" lvl="1">
              <a:lnSpc>
                <a:spcPts val="4826"/>
              </a:lnSpc>
              <a:buFont typeface="Arial"/>
              <a:buChar char="•"/>
            </a:pPr>
            <a:r>
              <a:rPr lang="en-US" sz="34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Superposition is one of the central ideas used to explain quantum speedups. 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47486" y="2076895"/>
            <a:ext cx="234810" cy="1936923"/>
            <a:chOff x="0" y="0"/>
            <a:chExt cx="61843" cy="5101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89209" y="2178633"/>
            <a:ext cx="9233586" cy="274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Superimposition / Superposition</a:t>
            </a:r>
          </a:p>
          <a:p>
            <a:pPr algn="l">
              <a:lnSpc>
                <a:spcPts val="6855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42959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81223" y="1837762"/>
            <a:ext cx="204010" cy="1413322"/>
            <a:chOff x="0" y="0"/>
            <a:chExt cx="53731" cy="3722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731" cy="372233"/>
            </a:xfrm>
            <a:custGeom>
              <a:avLst/>
              <a:gdLst/>
              <a:ahLst/>
              <a:cxnLst/>
              <a:rect r="r" b="b" t="t" l="l"/>
              <a:pathLst>
                <a:path h="372233" w="53731">
                  <a:moveTo>
                    <a:pt x="26865" y="0"/>
                  </a:moveTo>
                  <a:lnTo>
                    <a:pt x="26865" y="0"/>
                  </a:lnTo>
                  <a:cubicBezTo>
                    <a:pt x="41703" y="0"/>
                    <a:pt x="53731" y="12028"/>
                    <a:pt x="53731" y="26865"/>
                  </a:cubicBezTo>
                  <a:lnTo>
                    <a:pt x="53731" y="345368"/>
                  </a:lnTo>
                  <a:cubicBezTo>
                    <a:pt x="53731" y="352493"/>
                    <a:pt x="50900" y="359326"/>
                    <a:pt x="45862" y="364364"/>
                  </a:cubicBezTo>
                  <a:cubicBezTo>
                    <a:pt x="40824" y="369403"/>
                    <a:pt x="33991" y="372233"/>
                    <a:pt x="26865" y="372233"/>
                  </a:cubicBezTo>
                  <a:lnTo>
                    <a:pt x="26865" y="372233"/>
                  </a:lnTo>
                  <a:cubicBezTo>
                    <a:pt x="12028" y="372233"/>
                    <a:pt x="0" y="360205"/>
                    <a:pt x="0" y="345368"/>
                  </a:cubicBezTo>
                  <a:lnTo>
                    <a:pt x="0" y="26865"/>
                  </a:lnTo>
                  <a:cubicBezTo>
                    <a:pt x="0" y="19740"/>
                    <a:pt x="2830" y="12907"/>
                    <a:pt x="7869" y="7869"/>
                  </a:cubicBezTo>
                  <a:cubicBezTo>
                    <a:pt x="12907" y="2830"/>
                    <a:pt x="19740" y="0"/>
                    <a:pt x="26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3731" cy="410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45259" y="2134245"/>
            <a:ext cx="9233586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Entanglement</a:t>
            </a:r>
          </a:p>
          <a:p>
            <a:pPr algn="l">
              <a:lnSpc>
                <a:spcPts val="685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892306" y="3184410"/>
            <a:ext cx="5771485" cy="58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26"/>
              </a:lnSpc>
            </a:pPr>
            <a:r>
              <a:rPr lang="en-US" sz="34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Linked quantum particles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186031" y="4262902"/>
            <a:ext cx="5567982" cy="4176501"/>
            <a:chOff x="0" y="0"/>
            <a:chExt cx="1270873" cy="9532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70873" cy="953272"/>
            </a:xfrm>
            <a:custGeom>
              <a:avLst/>
              <a:gdLst/>
              <a:ahLst/>
              <a:cxnLst/>
              <a:rect r="r" b="b" t="t" l="l"/>
              <a:pathLst>
                <a:path h="953272" w="1270873">
                  <a:moveTo>
                    <a:pt x="27809" y="0"/>
                  </a:moveTo>
                  <a:lnTo>
                    <a:pt x="1243064" y="0"/>
                  </a:lnTo>
                  <a:cubicBezTo>
                    <a:pt x="1250439" y="0"/>
                    <a:pt x="1257512" y="2930"/>
                    <a:pt x="1262728" y="8145"/>
                  </a:cubicBezTo>
                  <a:cubicBezTo>
                    <a:pt x="1267943" y="13360"/>
                    <a:pt x="1270873" y="20433"/>
                    <a:pt x="1270873" y="27809"/>
                  </a:cubicBezTo>
                  <a:lnTo>
                    <a:pt x="1270873" y="925463"/>
                  </a:lnTo>
                  <a:cubicBezTo>
                    <a:pt x="1270873" y="932839"/>
                    <a:pt x="1267943" y="939912"/>
                    <a:pt x="1262728" y="945127"/>
                  </a:cubicBezTo>
                  <a:cubicBezTo>
                    <a:pt x="1257512" y="950342"/>
                    <a:pt x="1250439" y="953272"/>
                    <a:pt x="1243064" y="953272"/>
                  </a:cubicBezTo>
                  <a:lnTo>
                    <a:pt x="27809" y="953272"/>
                  </a:lnTo>
                  <a:cubicBezTo>
                    <a:pt x="20433" y="953272"/>
                    <a:pt x="13360" y="950342"/>
                    <a:pt x="8145" y="945127"/>
                  </a:cubicBezTo>
                  <a:cubicBezTo>
                    <a:pt x="2930" y="939912"/>
                    <a:pt x="0" y="932839"/>
                    <a:pt x="0" y="925463"/>
                  </a:cubicBezTo>
                  <a:lnTo>
                    <a:pt x="0" y="27809"/>
                  </a:lnTo>
                  <a:cubicBezTo>
                    <a:pt x="0" y="20433"/>
                    <a:pt x="2930" y="13360"/>
                    <a:pt x="8145" y="8145"/>
                  </a:cubicBezTo>
                  <a:cubicBezTo>
                    <a:pt x="13360" y="2930"/>
                    <a:pt x="20433" y="0"/>
                    <a:pt x="278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70873" cy="991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33988" y="4262902"/>
            <a:ext cx="5567982" cy="4176501"/>
            <a:chOff x="0" y="0"/>
            <a:chExt cx="1270873" cy="9532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70873" cy="953272"/>
            </a:xfrm>
            <a:custGeom>
              <a:avLst/>
              <a:gdLst/>
              <a:ahLst/>
              <a:cxnLst/>
              <a:rect r="r" b="b" t="t" l="l"/>
              <a:pathLst>
                <a:path h="953272" w="1270873">
                  <a:moveTo>
                    <a:pt x="27809" y="0"/>
                  </a:moveTo>
                  <a:lnTo>
                    <a:pt x="1243064" y="0"/>
                  </a:lnTo>
                  <a:cubicBezTo>
                    <a:pt x="1250439" y="0"/>
                    <a:pt x="1257512" y="2930"/>
                    <a:pt x="1262728" y="8145"/>
                  </a:cubicBezTo>
                  <a:cubicBezTo>
                    <a:pt x="1267943" y="13360"/>
                    <a:pt x="1270873" y="20433"/>
                    <a:pt x="1270873" y="27809"/>
                  </a:cubicBezTo>
                  <a:lnTo>
                    <a:pt x="1270873" y="925463"/>
                  </a:lnTo>
                  <a:cubicBezTo>
                    <a:pt x="1270873" y="932839"/>
                    <a:pt x="1267943" y="939912"/>
                    <a:pt x="1262728" y="945127"/>
                  </a:cubicBezTo>
                  <a:cubicBezTo>
                    <a:pt x="1257512" y="950342"/>
                    <a:pt x="1250439" y="953272"/>
                    <a:pt x="1243064" y="953272"/>
                  </a:cubicBezTo>
                  <a:lnTo>
                    <a:pt x="27809" y="953272"/>
                  </a:lnTo>
                  <a:cubicBezTo>
                    <a:pt x="20433" y="953272"/>
                    <a:pt x="13360" y="950342"/>
                    <a:pt x="8145" y="945127"/>
                  </a:cubicBezTo>
                  <a:cubicBezTo>
                    <a:pt x="2930" y="939912"/>
                    <a:pt x="0" y="932839"/>
                    <a:pt x="0" y="925463"/>
                  </a:cubicBezTo>
                  <a:lnTo>
                    <a:pt x="0" y="27809"/>
                  </a:lnTo>
                  <a:cubicBezTo>
                    <a:pt x="0" y="20433"/>
                    <a:pt x="2930" y="13360"/>
                    <a:pt x="8145" y="8145"/>
                  </a:cubicBezTo>
                  <a:cubicBezTo>
                    <a:pt x="13360" y="2930"/>
                    <a:pt x="20433" y="0"/>
                    <a:pt x="278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270873" cy="991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376875" y="4727995"/>
            <a:ext cx="318629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PARTICLE 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724832" y="4727995"/>
            <a:ext cx="318629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PARTICLE 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542551" y="5403752"/>
            <a:ext cx="4854942" cy="2680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1"/>
              </a:lnSpc>
            </a:pPr>
            <a:r>
              <a:rPr lang="en-US" sz="3072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A quantum particle ca</a:t>
            </a:r>
            <a:r>
              <a:rPr lang="en-US" sz="3072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n be related to another particle through a shared quantum state.</a:t>
            </a:r>
          </a:p>
          <a:p>
            <a:pPr algn="just">
              <a:lnSpc>
                <a:spcPts val="4301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9963466" y="5329160"/>
            <a:ext cx="4854942" cy="214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1"/>
              </a:lnSpc>
            </a:pPr>
            <a:r>
              <a:rPr lang="en-US" sz="3072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072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inking two quantum particles even when they are separated in space.</a:t>
            </a:r>
          </a:p>
          <a:p>
            <a:pPr algn="just">
              <a:lnSpc>
                <a:spcPts val="4301"/>
              </a:lnSpc>
            </a:pPr>
          </a:p>
        </p:txBody>
      </p:sp>
      <p:sp>
        <p:nvSpPr>
          <p:cNvPr name="AutoShape 37" id="37"/>
          <p:cNvSpPr/>
          <p:nvPr/>
        </p:nvSpPr>
        <p:spPr>
          <a:xfrm>
            <a:off x="8754012" y="6524849"/>
            <a:ext cx="73562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573993" y="4093433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7" y="0"/>
                </a:lnTo>
                <a:lnTo>
                  <a:pt x="298877" y="298877"/>
                </a:lnTo>
                <a:lnTo>
                  <a:pt x="0" y="298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766302" y="2212559"/>
            <a:ext cx="10755396" cy="188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5"/>
              </a:lnSpc>
            </a:pPr>
            <a:r>
              <a:rPr lang="en-US" b="true" sz="761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Traditional vs. Quantum Computing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8148" y="4763820"/>
            <a:ext cx="473938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PROCESSING MATERI</a:t>
            </a: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</a:t>
            </a:r>
          </a:p>
          <a:p>
            <a:pPr algn="ctr">
              <a:lnSpc>
                <a:spcPts val="359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58243" y="5421045"/>
            <a:ext cx="4241175" cy="33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</a:t>
            </a: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aditional: semiconductors and transistors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Quantum: atomic and subatomic particles</a:t>
            </a:r>
          </a:p>
          <a:p>
            <a:pPr algn="just">
              <a:lnSpc>
                <a:spcPts val="377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589027" y="4754295"/>
            <a:ext cx="30673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UNIT</a:t>
            </a:r>
          </a:p>
          <a:p>
            <a:pPr algn="ctr">
              <a:lnSpc>
                <a:spcPts val="360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5015159" y="5592495"/>
            <a:ext cx="4241175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</a:t>
            </a: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aditional: bits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Quantum: qubits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0096024" y="4754295"/>
            <a:ext cx="306603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08453" y="5421045"/>
            <a:ext cx="4241175" cy="284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</a:t>
            </a: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aditional: one state at a time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Quantum: multiple states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AutoShape 30" id="30"/>
          <p:cNvSpPr/>
          <p:nvPr/>
        </p:nvSpPr>
        <p:spPr>
          <a:xfrm flipV="true">
            <a:off x="5303277" y="4937175"/>
            <a:ext cx="0" cy="33299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4054428" y="5630595"/>
            <a:ext cx="3955425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</a:t>
            </a: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aditional: linear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Quantum: exponential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4340178" y="4754295"/>
            <a:ext cx="306603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SCALING</a:t>
            </a:r>
          </a:p>
        </p:txBody>
      </p:sp>
      <p:sp>
        <p:nvSpPr>
          <p:cNvPr name="AutoShape 33" id="33"/>
          <p:cNvSpPr/>
          <p:nvPr/>
        </p:nvSpPr>
        <p:spPr>
          <a:xfrm flipV="true">
            <a:off x="9124950" y="4901312"/>
            <a:ext cx="0" cy="33299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4073478" y="4754295"/>
            <a:ext cx="0" cy="33299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20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573993" y="4093433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7" y="0"/>
                </a:lnTo>
                <a:lnTo>
                  <a:pt x="298877" y="298877"/>
                </a:lnTo>
                <a:lnTo>
                  <a:pt x="0" y="298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746065" y="2212559"/>
            <a:ext cx="12795869" cy="188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5"/>
              </a:lnSpc>
            </a:pPr>
            <a:r>
              <a:rPr lang="en-US" b="true" sz="761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Traditional vs. Quantum: Suitability and Cost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27935" y="5387363"/>
            <a:ext cx="4445161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Traditional Computing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87875" y="6181258"/>
            <a:ext cx="6325280" cy="192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</a:t>
            </a: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ture technology with broad software support and wide everyday use.</a:t>
            </a:r>
          </a:p>
          <a:p>
            <a:pPr algn="just">
              <a:lnSpc>
                <a:spcPts val="3833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127311" y="5321538"/>
            <a:ext cx="4206729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Quantum Computing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60880" y="5977921"/>
            <a:ext cx="6739245" cy="240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</a:t>
            </a: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nted as especially relevant to factorization, data analysis, machine learning, AI, and simulation; everyday applications may not be as suitable.</a:t>
            </a:r>
          </a:p>
          <a:p>
            <a:pPr algn="just">
              <a:lnSpc>
                <a:spcPts val="3833"/>
              </a:lnSpc>
            </a:pPr>
          </a:p>
        </p:txBody>
      </p:sp>
      <p:sp>
        <p:nvSpPr>
          <p:cNvPr name="AutoShape 28" id="28"/>
          <p:cNvSpPr/>
          <p:nvPr/>
        </p:nvSpPr>
        <p:spPr>
          <a:xfrm flipV="true">
            <a:off x="8937018" y="5154137"/>
            <a:ext cx="0" cy="3535308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5320973" y="4203428"/>
            <a:ext cx="7646055" cy="46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Not every task needs quantum computing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21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573993" y="4093433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7" y="0"/>
                </a:lnTo>
                <a:lnTo>
                  <a:pt x="298877" y="298877"/>
                </a:lnTo>
                <a:lnTo>
                  <a:pt x="0" y="298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746065" y="2212559"/>
            <a:ext cx="12795869" cy="274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5"/>
              </a:lnSpc>
            </a:pPr>
            <a:r>
              <a:rPr lang="en-US" b="true" sz="761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Environment and Error Rate</a:t>
            </a:r>
          </a:p>
          <a:p>
            <a:pPr algn="ctr">
              <a:lnSpc>
                <a:spcPts val="6855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3127935" y="5387363"/>
            <a:ext cx="4445161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ENVIRONMENT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87875" y="5982340"/>
            <a:ext cx="6325280" cy="240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Tradi</a:t>
            </a: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tional computers can operate in normal environments. Quantum computers require highly cool environments and specialized cooling approaches.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27311" y="5321538"/>
            <a:ext cx="4206729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ERROR RATE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60880" y="5977921"/>
            <a:ext cx="6739245" cy="192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</a:t>
            </a: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ntum systems have higher error rates because they are strongly affected by external sources and physical interference.</a:t>
            </a:r>
          </a:p>
        </p:txBody>
      </p:sp>
      <p:sp>
        <p:nvSpPr>
          <p:cNvPr name="AutoShape 28" id="28"/>
          <p:cNvSpPr/>
          <p:nvPr/>
        </p:nvSpPr>
        <p:spPr>
          <a:xfrm flipV="true">
            <a:off x="8937018" y="5154137"/>
            <a:ext cx="0" cy="3535308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5002432" y="4209994"/>
            <a:ext cx="8283137" cy="94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Why quantum hardware needs special conditions</a:t>
            </a:r>
          </a:p>
          <a:p>
            <a:pPr algn="just">
              <a:lnSpc>
                <a:spcPts val="3833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22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3276" y="4502215"/>
            <a:ext cx="14281449" cy="423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4303" indent="-372151" lvl="1">
              <a:lnSpc>
                <a:spcPts val="4826"/>
              </a:lnSpc>
              <a:buFont typeface="Arial"/>
              <a:buChar char="•"/>
            </a:pPr>
            <a:r>
              <a:rPr lang="en-US" sz="34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4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raditional computing uses linear algebra while quantum computing uses Boolean algebra for operations.</a:t>
            </a:r>
          </a:p>
          <a:p>
            <a:pPr algn="just" marL="744303" indent="-372151" lvl="1">
              <a:lnSpc>
                <a:spcPts val="4826"/>
              </a:lnSpc>
              <a:buFont typeface="Arial"/>
              <a:buChar char="•"/>
            </a:pPr>
            <a:r>
              <a:rPr lang="en-US" sz="34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Classical computing states are discrete while quantum-computing states are continuous.</a:t>
            </a:r>
          </a:p>
          <a:p>
            <a:pPr algn="just" marL="744303" indent="-372151" lvl="1">
              <a:lnSpc>
                <a:spcPts val="4826"/>
              </a:lnSpc>
              <a:buFont typeface="Arial"/>
              <a:buChar char="•"/>
            </a:pPr>
            <a:r>
              <a:rPr lang="en-US" sz="34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These statements are reproduced here as they appear in the source chapter.</a:t>
            </a:r>
          </a:p>
          <a:p>
            <a:pPr algn="just">
              <a:lnSpc>
                <a:spcPts val="4826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747486" y="2076895"/>
            <a:ext cx="234810" cy="1936923"/>
            <a:chOff x="0" y="0"/>
            <a:chExt cx="61843" cy="5101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89209" y="2178633"/>
            <a:ext cx="9233586" cy="274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Operations and State Behavior</a:t>
            </a:r>
          </a:p>
          <a:p>
            <a:pPr algn="l">
              <a:lnSpc>
                <a:spcPts val="6855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0" y="9039131"/>
            <a:ext cx="18418779" cy="1247869"/>
            <a:chOff x="0" y="0"/>
            <a:chExt cx="4851037" cy="3286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51036" cy="328657"/>
            </a:xfrm>
            <a:custGeom>
              <a:avLst/>
              <a:gdLst/>
              <a:ahLst/>
              <a:cxnLst/>
              <a:rect r="r" b="b" t="t" l="l"/>
              <a:pathLst>
                <a:path h="328657" w="4851036">
                  <a:moveTo>
                    <a:pt x="0" y="0"/>
                  </a:moveTo>
                  <a:lnTo>
                    <a:pt x="4851036" y="0"/>
                  </a:lnTo>
                  <a:lnTo>
                    <a:pt x="4851036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851037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267439" y="8387937"/>
            <a:ext cx="502365" cy="438339"/>
            <a:chOff x="0" y="0"/>
            <a:chExt cx="132310" cy="1154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310" cy="115447"/>
            </a:xfrm>
            <a:custGeom>
              <a:avLst/>
              <a:gdLst/>
              <a:ahLst/>
              <a:cxnLst/>
              <a:rect r="r" b="b" t="t" l="l"/>
              <a:pathLst>
                <a:path h="115447" w="132310">
                  <a:moveTo>
                    <a:pt x="57724" y="0"/>
                  </a:moveTo>
                  <a:lnTo>
                    <a:pt x="74587" y="0"/>
                  </a:lnTo>
                  <a:cubicBezTo>
                    <a:pt x="89896" y="0"/>
                    <a:pt x="104578" y="6082"/>
                    <a:pt x="115403" y="16907"/>
                  </a:cubicBezTo>
                  <a:cubicBezTo>
                    <a:pt x="126229" y="27732"/>
                    <a:pt x="132310" y="42414"/>
                    <a:pt x="132310" y="57724"/>
                  </a:cubicBezTo>
                  <a:lnTo>
                    <a:pt x="132310" y="57724"/>
                  </a:lnTo>
                  <a:cubicBezTo>
                    <a:pt x="132310" y="73033"/>
                    <a:pt x="126229" y="87715"/>
                    <a:pt x="115403" y="98540"/>
                  </a:cubicBezTo>
                  <a:cubicBezTo>
                    <a:pt x="104578" y="109366"/>
                    <a:pt x="89896" y="115447"/>
                    <a:pt x="74587" y="115447"/>
                  </a:cubicBezTo>
                  <a:lnTo>
                    <a:pt x="57724" y="115447"/>
                  </a:lnTo>
                  <a:cubicBezTo>
                    <a:pt x="42414" y="115447"/>
                    <a:pt x="27732" y="109366"/>
                    <a:pt x="16907" y="98540"/>
                  </a:cubicBezTo>
                  <a:cubicBezTo>
                    <a:pt x="6082" y="87715"/>
                    <a:pt x="0" y="73033"/>
                    <a:pt x="0" y="57724"/>
                  </a:cubicBezTo>
                  <a:lnTo>
                    <a:pt x="0" y="57724"/>
                  </a:lnTo>
                  <a:cubicBezTo>
                    <a:pt x="0" y="42414"/>
                    <a:pt x="6082" y="27732"/>
                    <a:pt x="16907" y="16907"/>
                  </a:cubicBezTo>
                  <a:cubicBezTo>
                    <a:pt x="27732" y="6082"/>
                    <a:pt x="42414" y="0"/>
                    <a:pt x="577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2310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7369183" y="8457668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7" y="0"/>
                </a:lnTo>
                <a:lnTo>
                  <a:pt x="298877" y="298878"/>
                </a:lnTo>
                <a:lnTo>
                  <a:pt x="0" y="298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23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18196" y="1770291"/>
            <a:ext cx="17251609" cy="3373209"/>
            <a:chOff x="0" y="0"/>
            <a:chExt cx="2672726" cy="52259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72726" cy="522598"/>
            </a:xfrm>
            <a:custGeom>
              <a:avLst/>
              <a:gdLst/>
              <a:ahLst/>
              <a:cxnLst/>
              <a:rect r="r" b="b" t="t" l="l"/>
              <a:pathLst>
                <a:path h="522598" w="2672726">
                  <a:moveTo>
                    <a:pt x="8975" y="0"/>
                  </a:moveTo>
                  <a:lnTo>
                    <a:pt x="2663750" y="0"/>
                  </a:lnTo>
                  <a:cubicBezTo>
                    <a:pt x="2668707" y="0"/>
                    <a:pt x="2672726" y="4018"/>
                    <a:pt x="2672726" y="8975"/>
                  </a:cubicBezTo>
                  <a:lnTo>
                    <a:pt x="2672726" y="513623"/>
                  </a:lnTo>
                  <a:cubicBezTo>
                    <a:pt x="2672726" y="516003"/>
                    <a:pt x="2671780" y="518286"/>
                    <a:pt x="2670097" y="519970"/>
                  </a:cubicBezTo>
                  <a:cubicBezTo>
                    <a:pt x="2668414" y="521653"/>
                    <a:pt x="2666131" y="522598"/>
                    <a:pt x="2663750" y="522598"/>
                  </a:cubicBezTo>
                  <a:lnTo>
                    <a:pt x="8975" y="522598"/>
                  </a:lnTo>
                  <a:cubicBezTo>
                    <a:pt x="4018" y="522598"/>
                    <a:pt x="0" y="518580"/>
                    <a:pt x="0" y="513623"/>
                  </a:cubicBezTo>
                  <a:lnTo>
                    <a:pt x="0" y="8975"/>
                  </a:lnTo>
                  <a:cubicBezTo>
                    <a:pt x="0" y="4018"/>
                    <a:pt x="4018" y="0"/>
                    <a:pt x="8975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93839" r="0" b="-93839"/>
              </a:stretch>
            </a:blipFill>
            <a:ln w="76200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6E97B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18196" y="1770291"/>
            <a:ext cx="17251609" cy="3373209"/>
            <a:chOff x="0" y="0"/>
            <a:chExt cx="4543634" cy="88841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43634" cy="888417"/>
            </a:xfrm>
            <a:custGeom>
              <a:avLst/>
              <a:gdLst/>
              <a:ahLst/>
              <a:cxnLst/>
              <a:rect r="r" b="b" t="t" l="l"/>
              <a:pathLst>
                <a:path h="888417" w="4543634">
                  <a:moveTo>
                    <a:pt x="8975" y="0"/>
                  </a:moveTo>
                  <a:lnTo>
                    <a:pt x="4534658" y="0"/>
                  </a:lnTo>
                  <a:cubicBezTo>
                    <a:pt x="4537039" y="0"/>
                    <a:pt x="4539321" y="946"/>
                    <a:pt x="4541005" y="2629"/>
                  </a:cubicBezTo>
                  <a:cubicBezTo>
                    <a:pt x="4542688" y="4312"/>
                    <a:pt x="4543634" y="6595"/>
                    <a:pt x="4543634" y="8975"/>
                  </a:cubicBezTo>
                  <a:lnTo>
                    <a:pt x="4543634" y="879442"/>
                  </a:lnTo>
                  <a:cubicBezTo>
                    <a:pt x="4543634" y="884399"/>
                    <a:pt x="4539615" y="888417"/>
                    <a:pt x="4534658" y="888417"/>
                  </a:cubicBezTo>
                  <a:lnTo>
                    <a:pt x="8975" y="888417"/>
                  </a:lnTo>
                  <a:cubicBezTo>
                    <a:pt x="6595" y="888417"/>
                    <a:pt x="4312" y="887472"/>
                    <a:pt x="2629" y="885788"/>
                  </a:cubicBezTo>
                  <a:cubicBezTo>
                    <a:pt x="946" y="884105"/>
                    <a:pt x="0" y="881822"/>
                    <a:pt x="0" y="879442"/>
                  </a:cubicBezTo>
                  <a:lnTo>
                    <a:pt x="0" y="8975"/>
                  </a:lnTo>
                  <a:cubicBezTo>
                    <a:pt x="0" y="4018"/>
                    <a:pt x="4018" y="0"/>
                    <a:pt x="89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90000"/>
                  </a:srgbClr>
                </a:gs>
                <a:gs pos="100000">
                  <a:srgbClr val="6E97B1">
                    <a:alpha val="9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543634" cy="926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68674" y="4547511"/>
            <a:ext cx="4825345" cy="2139409"/>
            <a:chOff x="0" y="0"/>
            <a:chExt cx="1270873" cy="5634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70873" cy="563466"/>
            </a:xfrm>
            <a:custGeom>
              <a:avLst/>
              <a:gdLst/>
              <a:ahLst/>
              <a:cxnLst/>
              <a:rect r="r" b="b" t="t" l="l"/>
              <a:pathLst>
                <a:path h="563466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531377"/>
                  </a:lnTo>
                  <a:cubicBezTo>
                    <a:pt x="1270873" y="549099"/>
                    <a:pt x="1256506" y="563466"/>
                    <a:pt x="1238784" y="563466"/>
                  </a:cubicBezTo>
                  <a:lnTo>
                    <a:pt x="32089" y="563466"/>
                  </a:lnTo>
                  <a:cubicBezTo>
                    <a:pt x="14367" y="563466"/>
                    <a:pt x="0" y="549099"/>
                    <a:pt x="0" y="531377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37465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70873" cy="60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793982" y="4547511"/>
            <a:ext cx="4825345" cy="2118426"/>
            <a:chOff x="0" y="0"/>
            <a:chExt cx="1270873" cy="5579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70873" cy="557939"/>
            </a:xfrm>
            <a:custGeom>
              <a:avLst/>
              <a:gdLst/>
              <a:ahLst/>
              <a:cxnLst/>
              <a:rect r="r" b="b" t="t" l="l"/>
              <a:pathLst>
                <a:path h="557939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525851"/>
                  </a:lnTo>
                  <a:cubicBezTo>
                    <a:pt x="1270873" y="543573"/>
                    <a:pt x="1256506" y="557939"/>
                    <a:pt x="1238784" y="557939"/>
                  </a:cubicBezTo>
                  <a:lnTo>
                    <a:pt x="32089" y="557939"/>
                  </a:lnTo>
                  <a:cubicBezTo>
                    <a:pt x="14367" y="557939"/>
                    <a:pt x="0" y="543573"/>
                    <a:pt x="0" y="525851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37465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70873" cy="596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730512" y="4547511"/>
            <a:ext cx="4825345" cy="2118426"/>
            <a:chOff x="0" y="0"/>
            <a:chExt cx="1270873" cy="55793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70873" cy="557939"/>
            </a:xfrm>
            <a:custGeom>
              <a:avLst/>
              <a:gdLst/>
              <a:ahLst/>
              <a:cxnLst/>
              <a:rect r="r" b="b" t="t" l="l"/>
              <a:pathLst>
                <a:path h="557939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525851"/>
                  </a:lnTo>
                  <a:cubicBezTo>
                    <a:pt x="1270873" y="543573"/>
                    <a:pt x="1256506" y="557939"/>
                    <a:pt x="1238784" y="557939"/>
                  </a:cubicBezTo>
                  <a:lnTo>
                    <a:pt x="32089" y="557939"/>
                  </a:lnTo>
                  <a:cubicBezTo>
                    <a:pt x="14367" y="557939"/>
                    <a:pt x="0" y="543573"/>
                    <a:pt x="0" y="525851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374654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70873" cy="596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031165" y="4844020"/>
            <a:ext cx="423209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Healthcare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22330" y="4740670"/>
            <a:ext cx="384170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Cybersecurity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204149" y="4740670"/>
            <a:ext cx="412049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Artificial intelligence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082483" y="5388370"/>
            <a:ext cx="4363827" cy="121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</a:pPr>
            <a:r>
              <a:rPr lang="en-US" sz="231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231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ig data, machine learning, analytics, recognition</a:t>
            </a:r>
          </a:p>
          <a:p>
            <a:pPr algn="ctr">
              <a:lnSpc>
                <a:spcPts val="3247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3397908" y="2333262"/>
            <a:ext cx="11492184" cy="188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5"/>
              </a:lnSpc>
            </a:pPr>
            <a:r>
              <a:rPr lang="en-US" sz="7616" b="true">
                <a:solidFill>
                  <a:srgbClr val="374654"/>
                </a:solidFill>
                <a:latin typeface="Poppins Bold"/>
                <a:ea typeface="Poppins Bold"/>
                <a:cs typeface="Poppins Bold"/>
                <a:sym typeface="Poppins Bold"/>
              </a:rPr>
              <a:t>Real-World</a:t>
            </a:r>
          </a:p>
          <a:p>
            <a:pPr algn="ctr">
              <a:lnSpc>
                <a:spcPts val="6855"/>
              </a:lnSpc>
            </a:pPr>
            <a:r>
              <a:rPr lang="en-US" sz="7616" b="true">
                <a:solidFill>
                  <a:srgbClr val="374654"/>
                </a:solidFill>
                <a:latin typeface="Poppins Bold"/>
                <a:ea typeface="Poppins Bold"/>
                <a:cs typeface="Poppins Bold"/>
                <a:sym typeface="Poppins Bold"/>
              </a:rPr>
              <a:t>Quantum Applications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668674" y="6793321"/>
            <a:ext cx="4825345" cy="2139409"/>
            <a:chOff x="0" y="0"/>
            <a:chExt cx="1270873" cy="56346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70873" cy="563466"/>
            </a:xfrm>
            <a:custGeom>
              <a:avLst/>
              <a:gdLst/>
              <a:ahLst/>
              <a:cxnLst/>
              <a:rect r="r" b="b" t="t" l="l"/>
              <a:pathLst>
                <a:path h="563466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531377"/>
                  </a:lnTo>
                  <a:cubicBezTo>
                    <a:pt x="1270873" y="549099"/>
                    <a:pt x="1256506" y="563466"/>
                    <a:pt x="1238784" y="563466"/>
                  </a:cubicBezTo>
                  <a:lnTo>
                    <a:pt x="32089" y="563466"/>
                  </a:lnTo>
                  <a:cubicBezTo>
                    <a:pt x="14367" y="563466"/>
                    <a:pt x="0" y="549099"/>
                    <a:pt x="0" y="531377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374654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270873" cy="60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730512" y="6793321"/>
            <a:ext cx="4825345" cy="2139409"/>
            <a:chOff x="0" y="0"/>
            <a:chExt cx="1270873" cy="56346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70873" cy="563466"/>
            </a:xfrm>
            <a:custGeom>
              <a:avLst/>
              <a:gdLst/>
              <a:ahLst/>
              <a:cxnLst/>
              <a:rect r="r" b="b" t="t" l="l"/>
              <a:pathLst>
                <a:path h="563466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531377"/>
                  </a:lnTo>
                  <a:cubicBezTo>
                    <a:pt x="1270873" y="549099"/>
                    <a:pt x="1256506" y="563466"/>
                    <a:pt x="1238784" y="563466"/>
                  </a:cubicBezTo>
                  <a:lnTo>
                    <a:pt x="32089" y="563466"/>
                  </a:lnTo>
                  <a:cubicBezTo>
                    <a:pt x="14367" y="563466"/>
                    <a:pt x="0" y="549099"/>
                    <a:pt x="0" y="531377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374654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270873" cy="60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736827" y="6782829"/>
            <a:ext cx="4825345" cy="2139409"/>
            <a:chOff x="0" y="0"/>
            <a:chExt cx="1270873" cy="56346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70873" cy="563466"/>
            </a:xfrm>
            <a:custGeom>
              <a:avLst/>
              <a:gdLst/>
              <a:ahLst/>
              <a:cxnLst/>
              <a:rect r="r" b="b" t="t" l="l"/>
              <a:pathLst>
                <a:path h="563466" w="1270873">
                  <a:moveTo>
                    <a:pt x="32089" y="0"/>
                  </a:moveTo>
                  <a:lnTo>
                    <a:pt x="1238784" y="0"/>
                  </a:lnTo>
                  <a:cubicBezTo>
                    <a:pt x="1247295" y="0"/>
                    <a:pt x="1255456" y="3381"/>
                    <a:pt x="1261474" y="9399"/>
                  </a:cubicBezTo>
                  <a:cubicBezTo>
                    <a:pt x="1267492" y="15416"/>
                    <a:pt x="1270873" y="23578"/>
                    <a:pt x="1270873" y="32089"/>
                  </a:cubicBezTo>
                  <a:lnTo>
                    <a:pt x="1270873" y="531377"/>
                  </a:lnTo>
                  <a:cubicBezTo>
                    <a:pt x="1270873" y="549099"/>
                    <a:pt x="1256506" y="563466"/>
                    <a:pt x="1238784" y="563466"/>
                  </a:cubicBezTo>
                  <a:lnTo>
                    <a:pt x="32089" y="563466"/>
                  </a:lnTo>
                  <a:cubicBezTo>
                    <a:pt x="14367" y="563466"/>
                    <a:pt x="0" y="549099"/>
                    <a:pt x="0" y="531377"/>
                  </a:cubicBezTo>
                  <a:lnTo>
                    <a:pt x="0" y="32089"/>
                  </a:lnTo>
                  <a:cubicBezTo>
                    <a:pt x="0" y="14367"/>
                    <a:pt x="14367" y="0"/>
                    <a:pt x="32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w="76200" cap="sq">
              <a:solidFill>
                <a:srgbClr val="374654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70873" cy="60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351490" y="6986391"/>
            <a:ext cx="382581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Telecommunication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349858" y="6947267"/>
            <a:ext cx="353113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Complex manufacturing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204624" y="6986391"/>
            <a:ext cx="353113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Finance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082483" y="7595991"/>
            <a:ext cx="4363827" cy="80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</a:pPr>
            <a:r>
              <a:rPr lang="en-US" sz="231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Defe</a:t>
            </a:r>
            <a:r>
              <a:rPr lang="en-US" sz="231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nse, radar, satellite, meteorology, telemetry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962086" y="7899767"/>
            <a:ext cx="4363827" cy="80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</a:pPr>
            <a:r>
              <a:rPr lang="en-US" sz="231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Large combi</a:t>
            </a:r>
            <a:r>
              <a:rPr lang="en-US" sz="231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natorial and interrelated processes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899432" y="7595991"/>
            <a:ext cx="4363827" cy="80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</a:pPr>
            <a:r>
              <a:rPr lang="en-US" sz="231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Bank</a:t>
            </a:r>
            <a:r>
              <a:rPr lang="en-US" sz="231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ing, Forex, trading, real-time processing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961271" y="5234545"/>
            <a:ext cx="4363827" cy="162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</a:pPr>
            <a:r>
              <a:rPr lang="en-US" sz="231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231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reaking or testing encryption and simulating security techniques</a:t>
            </a:r>
          </a:p>
          <a:p>
            <a:pPr algn="ctr">
              <a:lnSpc>
                <a:spcPts val="3247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1965035" y="5517300"/>
            <a:ext cx="4364355" cy="1222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</a:pPr>
            <a:r>
              <a:rPr lang="en-US" sz="2324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Drug sim</a:t>
            </a:r>
            <a:r>
              <a:rPr lang="en-US" sz="2324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ulation, diagnosis, and treatment</a:t>
            </a:r>
          </a:p>
          <a:p>
            <a:pPr algn="ctr">
              <a:lnSpc>
                <a:spcPts val="3254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24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5772" y="4136327"/>
            <a:ext cx="16376455" cy="471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rug development can involve simulating the behavior of many molecules and comparing complex processes.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Quantum computing could help with simulation and comparison in drug manufacturing.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may support diagnosis by examining multidimensional attributes of the body at atomic and molecular levels.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may also be useful in treatments, especially radiology and similar techniques.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47486" y="1843701"/>
            <a:ext cx="234810" cy="1936923"/>
            <a:chOff x="0" y="0"/>
            <a:chExt cx="61843" cy="5101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89209" y="1945439"/>
            <a:ext cx="9233586" cy="274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Healthcare Applications</a:t>
            </a:r>
          </a:p>
          <a:p>
            <a:pPr algn="l">
              <a:lnSpc>
                <a:spcPts val="6855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27935" y="5193689"/>
            <a:ext cx="4445161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 RISK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87875" y="5788665"/>
            <a:ext cx="6325280" cy="240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High-</a:t>
            </a: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power quantum computing could decode complex ciphering and encryption methodologies, creating risks for communication security.</a:t>
            </a:r>
          </a:p>
          <a:p>
            <a:pPr algn="just">
              <a:lnSpc>
                <a:spcPts val="383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127311" y="5127864"/>
            <a:ext cx="4206729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 DEFENSE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60880" y="5784246"/>
            <a:ext cx="6739245" cy="240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</a:t>
            </a: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antum computing can also be used to simulate security techniques, explore combinatorial patterns, and identify network security issues.</a:t>
            </a:r>
          </a:p>
          <a:p>
            <a:pPr algn="just">
              <a:lnSpc>
                <a:spcPts val="3833"/>
              </a:lnSpc>
            </a:pPr>
          </a:p>
        </p:txBody>
      </p:sp>
      <p:sp>
        <p:nvSpPr>
          <p:cNvPr name="AutoShape 6" id="6"/>
          <p:cNvSpPr/>
          <p:nvPr/>
        </p:nvSpPr>
        <p:spPr>
          <a:xfrm flipV="true">
            <a:off x="8937018" y="4960463"/>
            <a:ext cx="0" cy="3535308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25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47486" y="1843701"/>
            <a:ext cx="234810" cy="1936923"/>
            <a:chOff x="0" y="0"/>
            <a:chExt cx="61843" cy="510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89209" y="1945439"/>
            <a:ext cx="9233586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Cybersecurity Applications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31233" y="4134669"/>
            <a:ext cx="8283137" cy="46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Threat and defense perspectives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22437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26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2296" y="4545075"/>
            <a:ext cx="16285574" cy="409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0213" indent="-360107" lvl="1">
              <a:lnSpc>
                <a:spcPts val="4670"/>
              </a:lnSpc>
              <a:buFont typeface="Arial"/>
              <a:buChar char="•"/>
            </a:pPr>
            <a:r>
              <a:rPr lang="en-US" sz="33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33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ighly demanding in processing power because of big-data analytics and pattern understanding.</a:t>
            </a:r>
          </a:p>
          <a:p>
            <a:pPr algn="just" marL="720213" indent="-360107" lvl="1">
              <a:lnSpc>
                <a:spcPts val="4670"/>
              </a:lnSpc>
              <a:buFont typeface="Arial"/>
              <a:buChar char="•"/>
            </a:pPr>
            <a:r>
              <a:rPr lang="en-US" sz="33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Quantum computing is presented as a possible way to supply additional processing power.</a:t>
            </a:r>
          </a:p>
          <a:p>
            <a:pPr algn="just" marL="720213" indent="-360107" lvl="1">
              <a:lnSpc>
                <a:spcPts val="4670"/>
              </a:lnSpc>
              <a:buFont typeface="Arial"/>
              <a:buChar char="•"/>
            </a:pPr>
            <a:r>
              <a:rPr lang="en-US" sz="33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Potential areas mentioned include more efficient machine learning, real-time data analytics, automated actions, object recognition, and movement recognition.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47486" y="1683466"/>
            <a:ext cx="234810" cy="1936923"/>
            <a:chOff x="0" y="0"/>
            <a:chExt cx="61843" cy="5101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89209" y="1785204"/>
            <a:ext cx="11832029" cy="274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Artificial Intelligence Applications</a:t>
            </a:r>
          </a:p>
          <a:p>
            <a:pPr algn="l">
              <a:lnSpc>
                <a:spcPts val="6855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131233" y="3886804"/>
            <a:ext cx="8283137" cy="46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Quantum processing and data-heavy AI work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27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47486" y="1843701"/>
            <a:ext cx="234810" cy="1936923"/>
            <a:chOff x="0" y="0"/>
            <a:chExt cx="61843" cy="5101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89209" y="1945439"/>
            <a:ext cx="9233586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Financial Applications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72120" y="4992966"/>
            <a:ext cx="3066034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BANKING</a:t>
            </a:r>
          </a:p>
          <a:p>
            <a:pPr algn="ctr">
              <a:lnSpc>
                <a:spcPts val="359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927837" y="5726391"/>
            <a:ext cx="4241175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Financial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systems require large amounts of computation for real-time decisions.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7095295" y="4983441"/>
            <a:ext cx="361659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REX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20017" y="5726391"/>
            <a:ext cx="4241175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oreign-exchange markets operate globally and depend on fast processing.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1777541" y="4983441"/>
            <a:ext cx="421911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TRADING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77541" y="5720018"/>
            <a:ext cx="4241175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Quantum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power is presented as useful for processing-heavy, low-latency trading tasks.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32" id="32"/>
          <p:cNvSpPr/>
          <p:nvPr/>
        </p:nvSpPr>
        <p:spPr>
          <a:xfrm flipV="true">
            <a:off x="6472871" y="5166321"/>
            <a:ext cx="0" cy="271113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1408338" y="5166321"/>
            <a:ext cx="0" cy="271113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28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5772" y="5076825"/>
            <a:ext cx="16376455" cy="293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</a:t>
            </a: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ufacturing can involve thousands of interrelated processes and components.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Such combinatorial calculations can demand high processing capacity.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chapter suggests quantum computing could make these processes more useful, reliable, accurate, and efficient.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47486" y="2076895"/>
            <a:ext cx="234810" cy="1936923"/>
            <a:chOff x="0" y="0"/>
            <a:chExt cx="61843" cy="5101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89209" y="2178633"/>
            <a:ext cx="9233586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Complex</a:t>
            </a:r>
          </a:p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Manufacturing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31233" y="4194507"/>
            <a:ext cx="8283137" cy="46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Large combinations of interrelated processes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29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5924" y="4781351"/>
            <a:ext cx="16376455" cy="353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Defense,</a:t>
            </a: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security, research and development, telemetry, meteorology, radar communication, and satellite communication.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These areas often require high-level and fast processing for complex algorithms.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Quantum computing is presented as a possible source of the processing power needed for complex, real-time data and signal work.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47486" y="1595893"/>
            <a:ext cx="234810" cy="1936923"/>
            <a:chOff x="0" y="0"/>
            <a:chExt cx="61843" cy="5101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89209" y="1697631"/>
            <a:ext cx="12708306" cy="274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Telecommunication Applications</a:t>
            </a:r>
          </a:p>
          <a:p>
            <a:pPr algn="l">
              <a:lnSpc>
                <a:spcPts val="6855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131233" y="3714246"/>
            <a:ext cx="8283137" cy="46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Processing complex signals and large data sets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867792" y="4175443"/>
            <a:ext cx="1528943" cy="1777841"/>
          </a:xfrm>
          <a:custGeom>
            <a:avLst/>
            <a:gdLst/>
            <a:ahLst/>
            <a:cxnLst/>
            <a:rect r="r" b="b" t="t" l="l"/>
            <a:pathLst>
              <a:path h="1777841" w="1528943">
                <a:moveTo>
                  <a:pt x="0" y="0"/>
                </a:moveTo>
                <a:lnTo>
                  <a:pt x="1528944" y="0"/>
                </a:lnTo>
                <a:lnTo>
                  <a:pt x="1528944" y="1777841"/>
                </a:lnTo>
                <a:lnTo>
                  <a:pt x="0" y="1777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18196" y="1966114"/>
            <a:ext cx="290034" cy="1660799"/>
            <a:chOff x="0" y="0"/>
            <a:chExt cx="76388" cy="4374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388" cy="437412"/>
            </a:xfrm>
            <a:custGeom>
              <a:avLst/>
              <a:gdLst/>
              <a:ahLst/>
              <a:cxnLst/>
              <a:rect r="r" b="b" t="t" l="l"/>
              <a:pathLst>
                <a:path h="437412" w="76388">
                  <a:moveTo>
                    <a:pt x="38194" y="0"/>
                  </a:moveTo>
                  <a:lnTo>
                    <a:pt x="38194" y="0"/>
                  </a:lnTo>
                  <a:cubicBezTo>
                    <a:pt x="48323" y="0"/>
                    <a:pt x="58038" y="4024"/>
                    <a:pt x="65201" y="11187"/>
                  </a:cubicBezTo>
                  <a:cubicBezTo>
                    <a:pt x="72364" y="18349"/>
                    <a:pt x="76388" y="28064"/>
                    <a:pt x="76388" y="38194"/>
                  </a:cubicBezTo>
                  <a:lnTo>
                    <a:pt x="76388" y="399218"/>
                  </a:lnTo>
                  <a:cubicBezTo>
                    <a:pt x="76388" y="409348"/>
                    <a:pt x="72364" y="419063"/>
                    <a:pt x="65201" y="426225"/>
                  </a:cubicBezTo>
                  <a:cubicBezTo>
                    <a:pt x="58038" y="433388"/>
                    <a:pt x="48323" y="437412"/>
                    <a:pt x="38194" y="437412"/>
                  </a:cubicBezTo>
                  <a:lnTo>
                    <a:pt x="38194" y="437412"/>
                  </a:lnTo>
                  <a:cubicBezTo>
                    <a:pt x="28064" y="437412"/>
                    <a:pt x="18349" y="433388"/>
                    <a:pt x="11187" y="426225"/>
                  </a:cubicBezTo>
                  <a:cubicBezTo>
                    <a:pt x="4024" y="419063"/>
                    <a:pt x="0" y="409348"/>
                    <a:pt x="0" y="399218"/>
                  </a:cubicBezTo>
                  <a:lnTo>
                    <a:pt x="0" y="38194"/>
                  </a:lnTo>
                  <a:cubicBezTo>
                    <a:pt x="0" y="28064"/>
                    <a:pt x="4024" y="18349"/>
                    <a:pt x="11187" y="11187"/>
                  </a:cubicBezTo>
                  <a:cubicBezTo>
                    <a:pt x="18349" y="4024"/>
                    <a:pt x="28064" y="0"/>
                    <a:pt x="381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6388" cy="475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0918" y="2299121"/>
            <a:ext cx="14127909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Other Possible Applications</a:t>
            </a:r>
          </a:p>
          <a:p>
            <a:pPr algn="l">
              <a:lnSpc>
                <a:spcPts val="6855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891264" y="4175443"/>
            <a:ext cx="5094040" cy="1759119"/>
            <a:chOff x="0" y="0"/>
            <a:chExt cx="1341640" cy="4633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640" cy="463307"/>
            </a:xfrm>
            <a:custGeom>
              <a:avLst/>
              <a:gdLst/>
              <a:ahLst/>
              <a:cxnLst/>
              <a:rect r="r" b="b" t="t" l="l"/>
              <a:pathLst>
                <a:path h="463307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432911"/>
                  </a:lnTo>
                  <a:cubicBezTo>
                    <a:pt x="1341640" y="440973"/>
                    <a:pt x="1338438" y="448704"/>
                    <a:pt x="1332738" y="454404"/>
                  </a:cubicBezTo>
                  <a:cubicBezTo>
                    <a:pt x="1327037" y="460105"/>
                    <a:pt x="1319306" y="463307"/>
                    <a:pt x="1311244" y="463307"/>
                  </a:cubicBezTo>
                  <a:lnTo>
                    <a:pt x="30396" y="463307"/>
                  </a:lnTo>
                  <a:cubicBezTo>
                    <a:pt x="22334" y="463307"/>
                    <a:pt x="14603" y="460105"/>
                    <a:pt x="8903" y="454404"/>
                  </a:cubicBezTo>
                  <a:cubicBezTo>
                    <a:pt x="3202" y="448704"/>
                    <a:pt x="0" y="440973"/>
                    <a:pt x="0" y="432911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41640" cy="501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529283" y="4531127"/>
            <a:ext cx="381800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2999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ogistics and supply chain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30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Presentation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6291299" y="2122238"/>
            <a:ext cx="956802" cy="1777841"/>
          </a:xfrm>
          <a:custGeom>
            <a:avLst/>
            <a:gdLst/>
            <a:ahLst/>
            <a:cxnLst/>
            <a:rect r="r" b="b" t="t" l="l"/>
            <a:pathLst>
              <a:path h="1777841" w="956802">
                <a:moveTo>
                  <a:pt x="0" y="0"/>
                </a:moveTo>
                <a:lnTo>
                  <a:pt x="956802" y="0"/>
                </a:lnTo>
                <a:lnTo>
                  <a:pt x="956802" y="1777841"/>
                </a:lnTo>
                <a:lnTo>
                  <a:pt x="0" y="17778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6343915" y="4175443"/>
            <a:ext cx="5094040" cy="1759119"/>
            <a:chOff x="0" y="0"/>
            <a:chExt cx="1341640" cy="46330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640" cy="463307"/>
            </a:xfrm>
            <a:custGeom>
              <a:avLst/>
              <a:gdLst/>
              <a:ahLst/>
              <a:cxnLst/>
              <a:rect r="r" b="b" t="t" l="l"/>
              <a:pathLst>
                <a:path h="463307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432911"/>
                  </a:lnTo>
                  <a:cubicBezTo>
                    <a:pt x="1341640" y="440973"/>
                    <a:pt x="1338438" y="448704"/>
                    <a:pt x="1332738" y="454404"/>
                  </a:cubicBezTo>
                  <a:cubicBezTo>
                    <a:pt x="1327037" y="460105"/>
                    <a:pt x="1319306" y="463307"/>
                    <a:pt x="1311244" y="463307"/>
                  </a:cubicBezTo>
                  <a:lnTo>
                    <a:pt x="30396" y="463307"/>
                  </a:lnTo>
                  <a:cubicBezTo>
                    <a:pt x="22334" y="463307"/>
                    <a:pt x="14603" y="460105"/>
                    <a:pt x="8903" y="454404"/>
                  </a:cubicBezTo>
                  <a:cubicBezTo>
                    <a:pt x="3202" y="448704"/>
                    <a:pt x="0" y="440973"/>
                    <a:pt x="0" y="432911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41640" cy="501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396583" y="4502553"/>
            <a:ext cx="304563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Digita</a:t>
            </a:r>
            <a:r>
              <a:rPr lang="en-US" b="true" sz="30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 marketing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1799906" y="4175443"/>
            <a:ext cx="5094040" cy="1759119"/>
            <a:chOff x="0" y="0"/>
            <a:chExt cx="1341640" cy="4633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1640" cy="463307"/>
            </a:xfrm>
            <a:custGeom>
              <a:avLst/>
              <a:gdLst/>
              <a:ahLst/>
              <a:cxnLst/>
              <a:rect r="r" b="b" t="t" l="l"/>
              <a:pathLst>
                <a:path h="463307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432911"/>
                  </a:lnTo>
                  <a:cubicBezTo>
                    <a:pt x="1341640" y="440973"/>
                    <a:pt x="1338438" y="448704"/>
                    <a:pt x="1332738" y="454404"/>
                  </a:cubicBezTo>
                  <a:cubicBezTo>
                    <a:pt x="1327037" y="460105"/>
                    <a:pt x="1319306" y="463307"/>
                    <a:pt x="1311244" y="463307"/>
                  </a:cubicBezTo>
                  <a:lnTo>
                    <a:pt x="30396" y="463307"/>
                  </a:lnTo>
                  <a:cubicBezTo>
                    <a:pt x="22334" y="463307"/>
                    <a:pt x="14603" y="460105"/>
                    <a:pt x="8903" y="454404"/>
                  </a:cubicBezTo>
                  <a:cubicBezTo>
                    <a:pt x="3202" y="448704"/>
                    <a:pt x="0" y="440973"/>
                    <a:pt x="0" y="432911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341640" cy="501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462231" y="4502553"/>
            <a:ext cx="403713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</a:t>
            </a:r>
            <a:r>
              <a:rPr lang="en-US" b="true" sz="30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tware development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3649466" y="6417731"/>
            <a:ext cx="5094040" cy="1889719"/>
            <a:chOff x="0" y="0"/>
            <a:chExt cx="1341640" cy="4977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640" cy="497704"/>
            </a:xfrm>
            <a:custGeom>
              <a:avLst/>
              <a:gdLst/>
              <a:ahLst/>
              <a:cxnLst/>
              <a:rect r="r" b="b" t="t" l="l"/>
              <a:pathLst>
                <a:path h="497704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467308"/>
                  </a:lnTo>
                  <a:cubicBezTo>
                    <a:pt x="1341640" y="475369"/>
                    <a:pt x="1338438" y="483101"/>
                    <a:pt x="1332738" y="488801"/>
                  </a:cubicBezTo>
                  <a:cubicBezTo>
                    <a:pt x="1327037" y="494501"/>
                    <a:pt x="1319306" y="497704"/>
                    <a:pt x="1311244" y="497704"/>
                  </a:cubicBezTo>
                  <a:lnTo>
                    <a:pt x="30396" y="497704"/>
                  </a:lnTo>
                  <a:cubicBezTo>
                    <a:pt x="22334" y="497704"/>
                    <a:pt x="14603" y="494501"/>
                    <a:pt x="8903" y="488801"/>
                  </a:cubicBezTo>
                  <a:cubicBezTo>
                    <a:pt x="3202" y="483101"/>
                    <a:pt x="0" y="475369"/>
                    <a:pt x="0" y="467308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341640" cy="535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4420028" y="6810141"/>
            <a:ext cx="347218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Defense and national sec</a:t>
            </a:r>
            <a:r>
              <a:rPr lang="en-US" b="true" sz="30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urity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269623" y="6417731"/>
            <a:ext cx="5094040" cy="1889719"/>
            <a:chOff x="0" y="0"/>
            <a:chExt cx="1341640" cy="4977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41640" cy="497704"/>
            </a:xfrm>
            <a:custGeom>
              <a:avLst/>
              <a:gdLst/>
              <a:ahLst/>
              <a:cxnLst/>
              <a:rect r="r" b="b" t="t" l="l"/>
              <a:pathLst>
                <a:path h="497704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467308"/>
                  </a:lnTo>
                  <a:cubicBezTo>
                    <a:pt x="1341640" y="475369"/>
                    <a:pt x="1338438" y="483101"/>
                    <a:pt x="1332738" y="488801"/>
                  </a:cubicBezTo>
                  <a:cubicBezTo>
                    <a:pt x="1327037" y="494501"/>
                    <a:pt x="1319306" y="497704"/>
                    <a:pt x="1311244" y="497704"/>
                  </a:cubicBezTo>
                  <a:lnTo>
                    <a:pt x="30396" y="497704"/>
                  </a:lnTo>
                  <a:cubicBezTo>
                    <a:pt x="22334" y="497704"/>
                    <a:pt x="14603" y="494501"/>
                    <a:pt x="8903" y="488801"/>
                  </a:cubicBezTo>
                  <a:cubicBezTo>
                    <a:pt x="3202" y="483101"/>
                    <a:pt x="0" y="475369"/>
                    <a:pt x="0" y="467308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341640" cy="535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917927" y="6810141"/>
            <a:ext cx="379743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Military research a</a:t>
            </a:r>
            <a:r>
              <a:rPr lang="en-US" b="true" sz="30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nd development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31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5772" y="3818566"/>
            <a:ext cx="16376455" cy="471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chapter describes quan</a:t>
            </a: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tum computing as a pathfinder technology because of its high processing capacity.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Modern communication systems and IT applications have greatly increased the volume of data that must be processed.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Traditional systems are described as struggling with growing processing demands.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Large technology companies therefore started major quantum-computing projects.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47486" y="1595893"/>
            <a:ext cx="234810" cy="1936923"/>
            <a:chOff x="0" y="0"/>
            <a:chExt cx="61843" cy="5101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89209" y="1697631"/>
            <a:ext cx="12708306" cy="274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Why Major Quantum Projects Matter</a:t>
            </a:r>
          </a:p>
          <a:p>
            <a:pPr algn="l">
              <a:lnSpc>
                <a:spcPts val="6855"/>
              </a:lnSpc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32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9637" y="3730569"/>
            <a:ext cx="15605188" cy="471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IBM is described as a pioneer in quan</a:t>
            </a: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tum-computing adaptation.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IBM tested quantum computing in a cloud environment in 2016 and 2017.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chapter highlights Circuit and Qiskit development and identifies Falcon 27 qubits as the starting point of a 2020 roadmap.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book describes targets and projections for much larger processors and continued cloud-based development.</a:t>
            </a:r>
          </a:p>
          <a:p>
            <a:pPr algn="just">
              <a:lnSpc>
                <a:spcPts val="4696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747486" y="1924599"/>
            <a:ext cx="234810" cy="1327323"/>
            <a:chOff x="0" y="0"/>
            <a:chExt cx="61843" cy="3495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843" cy="349583"/>
            </a:xfrm>
            <a:custGeom>
              <a:avLst/>
              <a:gdLst/>
              <a:ahLst/>
              <a:cxnLst/>
              <a:rect r="r" b="b" t="t" l="l"/>
              <a:pathLst>
                <a:path h="349583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318662"/>
                  </a:lnTo>
                  <a:cubicBezTo>
                    <a:pt x="61843" y="335739"/>
                    <a:pt x="47999" y="349583"/>
                    <a:pt x="30921" y="349583"/>
                  </a:cubicBezTo>
                  <a:lnTo>
                    <a:pt x="30921" y="349583"/>
                  </a:lnTo>
                  <a:cubicBezTo>
                    <a:pt x="13844" y="349583"/>
                    <a:pt x="0" y="335739"/>
                    <a:pt x="0" y="318662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1843" cy="3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49637" y="2190480"/>
            <a:ext cx="12708306" cy="10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IBM Quantum Project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33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47486" y="2337014"/>
            <a:ext cx="234810" cy="1352852"/>
            <a:chOff x="0" y="0"/>
            <a:chExt cx="61843" cy="3563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843" cy="356307"/>
            </a:xfrm>
            <a:custGeom>
              <a:avLst/>
              <a:gdLst/>
              <a:ahLst/>
              <a:cxnLst/>
              <a:rect r="r" b="b" t="t" l="l"/>
              <a:pathLst>
                <a:path h="356307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325385"/>
                  </a:lnTo>
                  <a:cubicBezTo>
                    <a:pt x="61843" y="342463"/>
                    <a:pt x="47999" y="356307"/>
                    <a:pt x="30921" y="356307"/>
                  </a:cubicBezTo>
                  <a:lnTo>
                    <a:pt x="30921" y="356307"/>
                  </a:lnTo>
                  <a:cubicBezTo>
                    <a:pt x="13844" y="356307"/>
                    <a:pt x="0" y="342463"/>
                    <a:pt x="0" y="32538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1843" cy="394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14462" y="2578966"/>
            <a:ext cx="15085592" cy="10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IBM: Tools and Development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72120" y="4605655"/>
            <a:ext cx="306603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QISKIT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27837" y="5339080"/>
            <a:ext cx="4241175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leading platform highlighted for quantum developers.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7095295" y="4596130"/>
            <a:ext cx="361659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QISKIT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RUNTIME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20017" y="5339080"/>
            <a:ext cx="4241175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devel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opment/runtime environment identified as a major platform.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1777541" y="4596130"/>
            <a:ext cx="421911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SERVERLESS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77541" y="5332708"/>
            <a:ext cx="4241175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 chapter describes quantum applications and cloud software, including a quantum serverless platform.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32" id="32"/>
          <p:cNvSpPr/>
          <p:nvPr/>
        </p:nvSpPr>
        <p:spPr>
          <a:xfrm flipV="true">
            <a:off x="6472871" y="4779010"/>
            <a:ext cx="0" cy="271113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1408338" y="4779010"/>
            <a:ext cx="0" cy="271113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34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7486" y="3479749"/>
            <a:ext cx="11291096" cy="511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9719" indent="-314859" lvl="1">
              <a:lnSpc>
                <a:spcPts val="4083"/>
              </a:lnSpc>
              <a:buFont typeface="Arial"/>
              <a:buChar char="•"/>
            </a:pPr>
            <a:r>
              <a:rPr lang="en-US" sz="29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Honeywell is described as a leader us</a:t>
            </a:r>
            <a:r>
              <a:rPr lang="en-US" sz="29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ing charged atoms (ions) to hold quantum data.</a:t>
            </a:r>
          </a:p>
          <a:p>
            <a:pPr algn="just" marL="629719" indent="-314859" lvl="1">
              <a:lnSpc>
                <a:spcPts val="4083"/>
              </a:lnSpc>
              <a:buFont typeface="Arial"/>
              <a:buChar char="•"/>
            </a:pPr>
            <a:r>
              <a:rPr lang="en-US" sz="29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Lasers, microwave signals, and electromagnetic fields are used to hold and manipulate charges on ions.</a:t>
            </a:r>
          </a:p>
          <a:p>
            <a:pPr algn="just" marL="629719" indent="-314859" lvl="1">
              <a:lnSpc>
                <a:spcPts val="4083"/>
              </a:lnSpc>
              <a:buFont typeface="Arial"/>
              <a:buChar char="•"/>
            </a:pPr>
            <a:r>
              <a:rPr lang="en-US" sz="29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Electromagnetic traps are used for holding ions.</a:t>
            </a:r>
          </a:p>
          <a:p>
            <a:pPr algn="just" marL="629719" indent="-314859" lvl="1">
              <a:lnSpc>
                <a:spcPts val="4083"/>
              </a:lnSpc>
              <a:buFont typeface="Arial"/>
              <a:buChar char="•"/>
            </a:pPr>
            <a:r>
              <a:rPr lang="en-US" sz="29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Two projects are highlighted: Honeywell Quantum Solutions (HQS) and Cambridge Quantum Computing (CQC).</a:t>
            </a:r>
          </a:p>
          <a:p>
            <a:pPr algn="just" marL="629719" indent="-314859" lvl="1">
              <a:lnSpc>
                <a:spcPts val="4083"/>
              </a:lnSpc>
              <a:buFont typeface="Arial"/>
              <a:buChar char="•"/>
            </a:pPr>
            <a:r>
              <a:rPr lang="en-US" sz="29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chapter says the two were merged to provide broader quantum-computing solutions for demanding industries.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47486" y="1380245"/>
            <a:ext cx="344073" cy="1956448"/>
            <a:chOff x="0" y="0"/>
            <a:chExt cx="90620" cy="5152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620" cy="515278"/>
            </a:xfrm>
            <a:custGeom>
              <a:avLst/>
              <a:gdLst/>
              <a:ahLst/>
              <a:cxnLst/>
              <a:rect r="r" b="b" t="t" l="l"/>
              <a:pathLst>
                <a:path h="515278" w="90620">
                  <a:moveTo>
                    <a:pt x="45310" y="0"/>
                  </a:moveTo>
                  <a:lnTo>
                    <a:pt x="45310" y="0"/>
                  </a:lnTo>
                  <a:cubicBezTo>
                    <a:pt x="57327" y="0"/>
                    <a:pt x="68852" y="4774"/>
                    <a:pt x="77349" y="13271"/>
                  </a:cubicBezTo>
                  <a:cubicBezTo>
                    <a:pt x="85846" y="21768"/>
                    <a:pt x="90620" y="33293"/>
                    <a:pt x="90620" y="45310"/>
                  </a:cubicBezTo>
                  <a:lnTo>
                    <a:pt x="90620" y="469968"/>
                  </a:lnTo>
                  <a:cubicBezTo>
                    <a:pt x="90620" y="494993"/>
                    <a:pt x="70334" y="515278"/>
                    <a:pt x="45310" y="515278"/>
                  </a:cubicBezTo>
                  <a:lnTo>
                    <a:pt x="45310" y="515278"/>
                  </a:lnTo>
                  <a:cubicBezTo>
                    <a:pt x="33293" y="515278"/>
                    <a:pt x="21768" y="510505"/>
                    <a:pt x="13271" y="502007"/>
                  </a:cubicBezTo>
                  <a:cubicBezTo>
                    <a:pt x="4774" y="493510"/>
                    <a:pt x="0" y="481985"/>
                    <a:pt x="0" y="469968"/>
                  </a:cubicBezTo>
                  <a:lnTo>
                    <a:pt x="0" y="45310"/>
                  </a:lnTo>
                  <a:cubicBezTo>
                    <a:pt x="0" y="20286"/>
                    <a:pt x="20286" y="0"/>
                    <a:pt x="453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0620" cy="553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37661" y="1523120"/>
            <a:ext cx="12666109" cy="274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Honeywell Quantum Project</a:t>
            </a:r>
          </a:p>
          <a:p>
            <a:pPr algn="l">
              <a:lnSpc>
                <a:spcPts val="6855"/>
              </a:lnSpc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14075286" y="3304113"/>
            <a:ext cx="3159919" cy="783302"/>
            <a:chOff x="0" y="0"/>
            <a:chExt cx="832242" cy="2063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32242" cy="206302"/>
            </a:xfrm>
            <a:custGeom>
              <a:avLst/>
              <a:gdLst/>
              <a:ahLst/>
              <a:cxnLst/>
              <a:rect r="r" b="b" t="t" l="l"/>
              <a:pathLst>
                <a:path h="206302" w="832242">
                  <a:moveTo>
                    <a:pt x="49001" y="0"/>
                  </a:moveTo>
                  <a:lnTo>
                    <a:pt x="783241" y="0"/>
                  </a:lnTo>
                  <a:cubicBezTo>
                    <a:pt x="796237" y="0"/>
                    <a:pt x="808701" y="5163"/>
                    <a:pt x="817890" y="14352"/>
                  </a:cubicBezTo>
                  <a:cubicBezTo>
                    <a:pt x="827079" y="23541"/>
                    <a:pt x="832242" y="36005"/>
                    <a:pt x="832242" y="49001"/>
                  </a:cubicBezTo>
                  <a:lnTo>
                    <a:pt x="832242" y="157301"/>
                  </a:lnTo>
                  <a:cubicBezTo>
                    <a:pt x="832242" y="184363"/>
                    <a:pt x="810304" y="206302"/>
                    <a:pt x="783241" y="206302"/>
                  </a:cubicBezTo>
                  <a:lnTo>
                    <a:pt x="49001" y="206302"/>
                  </a:lnTo>
                  <a:cubicBezTo>
                    <a:pt x="36005" y="206302"/>
                    <a:pt x="23541" y="201139"/>
                    <a:pt x="14352" y="191950"/>
                  </a:cubicBezTo>
                  <a:cubicBezTo>
                    <a:pt x="5163" y="182760"/>
                    <a:pt x="0" y="170297"/>
                    <a:pt x="0" y="157301"/>
                  </a:cubicBezTo>
                  <a:lnTo>
                    <a:pt x="0" y="49001"/>
                  </a:lnTo>
                  <a:cubicBezTo>
                    <a:pt x="0" y="36005"/>
                    <a:pt x="5163" y="23541"/>
                    <a:pt x="14352" y="14352"/>
                  </a:cubicBezTo>
                  <a:cubicBezTo>
                    <a:pt x="23541" y="5163"/>
                    <a:pt x="36005" y="0"/>
                    <a:pt x="490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32242" cy="24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075286" y="4395450"/>
            <a:ext cx="3159919" cy="783302"/>
            <a:chOff x="0" y="0"/>
            <a:chExt cx="832242" cy="20630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32242" cy="206302"/>
            </a:xfrm>
            <a:custGeom>
              <a:avLst/>
              <a:gdLst/>
              <a:ahLst/>
              <a:cxnLst/>
              <a:rect r="r" b="b" t="t" l="l"/>
              <a:pathLst>
                <a:path h="206302" w="832242">
                  <a:moveTo>
                    <a:pt x="49001" y="0"/>
                  </a:moveTo>
                  <a:lnTo>
                    <a:pt x="783241" y="0"/>
                  </a:lnTo>
                  <a:cubicBezTo>
                    <a:pt x="796237" y="0"/>
                    <a:pt x="808701" y="5163"/>
                    <a:pt x="817890" y="14352"/>
                  </a:cubicBezTo>
                  <a:cubicBezTo>
                    <a:pt x="827079" y="23541"/>
                    <a:pt x="832242" y="36005"/>
                    <a:pt x="832242" y="49001"/>
                  </a:cubicBezTo>
                  <a:lnTo>
                    <a:pt x="832242" y="157301"/>
                  </a:lnTo>
                  <a:cubicBezTo>
                    <a:pt x="832242" y="184363"/>
                    <a:pt x="810304" y="206302"/>
                    <a:pt x="783241" y="206302"/>
                  </a:cubicBezTo>
                  <a:lnTo>
                    <a:pt x="49001" y="206302"/>
                  </a:lnTo>
                  <a:cubicBezTo>
                    <a:pt x="36005" y="206302"/>
                    <a:pt x="23541" y="201139"/>
                    <a:pt x="14352" y="191950"/>
                  </a:cubicBezTo>
                  <a:cubicBezTo>
                    <a:pt x="5163" y="182760"/>
                    <a:pt x="0" y="170297"/>
                    <a:pt x="0" y="157301"/>
                  </a:cubicBezTo>
                  <a:lnTo>
                    <a:pt x="0" y="49001"/>
                  </a:lnTo>
                  <a:cubicBezTo>
                    <a:pt x="0" y="36005"/>
                    <a:pt x="5163" y="23541"/>
                    <a:pt x="14352" y="14352"/>
                  </a:cubicBezTo>
                  <a:cubicBezTo>
                    <a:pt x="23541" y="5163"/>
                    <a:pt x="36005" y="0"/>
                    <a:pt x="490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32242" cy="24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075286" y="5486542"/>
            <a:ext cx="3159919" cy="783302"/>
            <a:chOff x="0" y="0"/>
            <a:chExt cx="832242" cy="20630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32242" cy="206302"/>
            </a:xfrm>
            <a:custGeom>
              <a:avLst/>
              <a:gdLst/>
              <a:ahLst/>
              <a:cxnLst/>
              <a:rect r="r" b="b" t="t" l="l"/>
              <a:pathLst>
                <a:path h="206302" w="832242">
                  <a:moveTo>
                    <a:pt x="49001" y="0"/>
                  </a:moveTo>
                  <a:lnTo>
                    <a:pt x="783241" y="0"/>
                  </a:lnTo>
                  <a:cubicBezTo>
                    <a:pt x="796237" y="0"/>
                    <a:pt x="808701" y="5163"/>
                    <a:pt x="817890" y="14352"/>
                  </a:cubicBezTo>
                  <a:cubicBezTo>
                    <a:pt x="827079" y="23541"/>
                    <a:pt x="832242" y="36005"/>
                    <a:pt x="832242" y="49001"/>
                  </a:cubicBezTo>
                  <a:lnTo>
                    <a:pt x="832242" y="157301"/>
                  </a:lnTo>
                  <a:cubicBezTo>
                    <a:pt x="832242" y="184363"/>
                    <a:pt x="810304" y="206302"/>
                    <a:pt x="783241" y="206302"/>
                  </a:cubicBezTo>
                  <a:lnTo>
                    <a:pt x="49001" y="206302"/>
                  </a:lnTo>
                  <a:cubicBezTo>
                    <a:pt x="36005" y="206302"/>
                    <a:pt x="23541" y="201139"/>
                    <a:pt x="14352" y="191950"/>
                  </a:cubicBezTo>
                  <a:cubicBezTo>
                    <a:pt x="5163" y="182760"/>
                    <a:pt x="0" y="170297"/>
                    <a:pt x="0" y="157301"/>
                  </a:cubicBezTo>
                  <a:lnTo>
                    <a:pt x="0" y="49001"/>
                  </a:lnTo>
                  <a:cubicBezTo>
                    <a:pt x="0" y="36005"/>
                    <a:pt x="5163" y="23541"/>
                    <a:pt x="14352" y="14352"/>
                  </a:cubicBezTo>
                  <a:cubicBezTo>
                    <a:pt x="23541" y="5163"/>
                    <a:pt x="36005" y="0"/>
                    <a:pt x="490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32242" cy="24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075286" y="6534395"/>
            <a:ext cx="3159919" cy="783302"/>
            <a:chOff x="0" y="0"/>
            <a:chExt cx="832242" cy="20630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32242" cy="206302"/>
            </a:xfrm>
            <a:custGeom>
              <a:avLst/>
              <a:gdLst/>
              <a:ahLst/>
              <a:cxnLst/>
              <a:rect r="r" b="b" t="t" l="l"/>
              <a:pathLst>
                <a:path h="206302" w="832242">
                  <a:moveTo>
                    <a:pt x="49001" y="0"/>
                  </a:moveTo>
                  <a:lnTo>
                    <a:pt x="783241" y="0"/>
                  </a:lnTo>
                  <a:cubicBezTo>
                    <a:pt x="796237" y="0"/>
                    <a:pt x="808701" y="5163"/>
                    <a:pt x="817890" y="14352"/>
                  </a:cubicBezTo>
                  <a:cubicBezTo>
                    <a:pt x="827079" y="23541"/>
                    <a:pt x="832242" y="36005"/>
                    <a:pt x="832242" y="49001"/>
                  </a:cubicBezTo>
                  <a:lnTo>
                    <a:pt x="832242" y="157301"/>
                  </a:lnTo>
                  <a:cubicBezTo>
                    <a:pt x="832242" y="184363"/>
                    <a:pt x="810304" y="206302"/>
                    <a:pt x="783241" y="206302"/>
                  </a:cubicBezTo>
                  <a:lnTo>
                    <a:pt x="49001" y="206302"/>
                  </a:lnTo>
                  <a:cubicBezTo>
                    <a:pt x="36005" y="206302"/>
                    <a:pt x="23541" y="201139"/>
                    <a:pt x="14352" y="191950"/>
                  </a:cubicBezTo>
                  <a:cubicBezTo>
                    <a:pt x="5163" y="182760"/>
                    <a:pt x="0" y="170297"/>
                    <a:pt x="0" y="157301"/>
                  </a:cubicBezTo>
                  <a:lnTo>
                    <a:pt x="0" y="49001"/>
                  </a:lnTo>
                  <a:cubicBezTo>
                    <a:pt x="0" y="36005"/>
                    <a:pt x="5163" y="23541"/>
                    <a:pt x="14352" y="14352"/>
                  </a:cubicBezTo>
                  <a:cubicBezTo>
                    <a:pt x="23541" y="5163"/>
                    <a:pt x="36005" y="0"/>
                    <a:pt x="490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32242" cy="24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075286" y="7625486"/>
            <a:ext cx="3159919" cy="783302"/>
            <a:chOff x="0" y="0"/>
            <a:chExt cx="832242" cy="20630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32242" cy="206302"/>
            </a:xfrm>
            <a:custGeom>
              <a:avLst/>
              <a:gdLst/>
              <a:ahLst/>
              <a:cxnLst/>
              <a:rect r="r" b="b" t="t" l="l"/>
              <a:pathLst>
                <a:path h="206302" w="832242">
                  <a:moveTo>
                    <a:pt x="49001" y="0"/>
                  </a:moveTo>
                  <a:lnTo>
                    <a:pt x="783241" y="0"/>
                  </a:lnTo>
                  <a:cubicBezTo>
                    <a:pt x="796237" y="0"/>
                    <a:pt x="808701" y="5163"/>
                    <a:pt x="817890" y="14352"/>
                  </a:cubicBezTo>
                  <a:cubicBezTo>
                    <a:pt x="827079" y="23541"/>
                    <a:pt x="832242" y="36005"/>
                    <a:pt x="832242" y="49001"/>
                  </a:cubicBezTo>
                  <a:lnTo>
                    <a:pt x="832242" y="157301"/>
                  </a:lnTo>
                  <a:cubicBezTo>
                    <a:pt x="832242" y="184363"/>
                    <a:pt x="810304" y="206302"/>
                    <a:pt x="783241" y="206302"/>
                  </a:cubicBezTo>
                  <a:lnTo>
                    <a:pt x="49001" y="206302"/>
                  </a:lnTo>
                  <a:cubicBezTo>
                    <a:pt x="36005" y="206302"/>
                    <a:pt x="23541" y="201139"/>
                    <a:pt x="14352" y="191950"/>
                  </a:cubicBezTo>
                  <a:cubicBezTo>
                    <a:pt x="5163" y="182760"/>
                    <a:pt x="0" y="170297"/>
                    <a:pt x="0" y="157301"/>
                  </a:cubicBezTo>
                  <a:lnTo>
                    <a:pt x="0" y="49001"/>
                  </a:lnTo>
                  <a:cubicBezTo>
                    <a:pt x="0" y="36005"/>
                    <a:pt x="5163" y="23541"/>
                    <a:pt x="14352" y="14352"/>
                  </a:cubicBezTo>
                  <a:cubicBezTo>
                    <a:pt x="23541" y="5163"/>
                    <a:pt x="36005" y="0"/>
                    <a:pt x="490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32242" cy="24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075286" y="2213022"/>
            <a:ext cx="3159919" cy="783302"/>
            <a:chOff x="0" y="0"/>
            <a:chExt cx="832242" cy="20630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32242" cy="206302"/>
            </a:xfrm>
            <a:custGeom>
              <a:avLst/>
              <a:gdLst/>
              <a:ahLst/>
              <a:cxnLst/>
              <a:rect r="r" b="b" t="t" l="l"/>
              <a:pathLst>
                <a:path h="206302" w="832242">
                  <a:moveTo>
                    <a:pt x="49001" y="0"/>
                  </a:moveTo>
                  <a:lnTo>
                    <a:pt x="783241" y="0"/>
                  </a:lnTo>
                  <a:cubicBezTo>
                    <a:pt x="796237" y="0"/>
                    <a:pt x="808701" y="5163"/>
                    <a:pt x="817890" y="14352"/>
                  </a:cubicBezTo>
                  <a:cubicBezTo>
                    <a:pt x="827079" y="23541"/>
                    <a:pt x="832242" y="36005"/>
                    <a:pt x="832242" y="49001"/>
                  </a:cubicBezTo>
                  <a:lnTo>
                    <a:pt x="832242" y="157301"/>
                  </a:lnTo>
                  <a:cubicBezTo>
                    <a:pt x="832242" y="184363"/>
                    <a:pt x="810304" y="206302"/>
                    <a:pt x="783241" y="206302"/>
                  </a:cubicBezTo>
                  <a:lnTo>
                    <a:pt x="49001" y="206302"/>
                  </a:lnTo>
                  <a:cubicBezTo>
                    <a:pt x="36005" y="206302"/>
                    <a:pt x="23541" y="201139"/>
                    <a:pt x="14352" y="191950"/>
                  </a:cubicBezTo>
                  <a:cubicBezTo>
                    <a:pt x="5163" y="182760"/>
                    <a:pt x="0" y="170297"/>
                    <a:pt x="0" y="157301"/>
                  </a:cubicBezTo>
                  <a:lnTo>
                    <a:pt x="0" y="49001"/>
                  </a:lnTo>
                  <a:cubicBezTo>
                    <a:pt x="0" y="36005"/>
                    <a:pt x="5163" y="23541"/>
                    <a:pt x="14352" y="14352"/>
                  </a:cubicBezTo>
                  <a:cubicBezTo>
                    <a:pt x="23541" y="5163"/>
                    <a:pt x="36005" y="0"/>
                    <a:pt x="490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32242" cy="24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3746243" y="2351942"/>
            <a:ext cx="381800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Defe</a:t>
            </a:r>
            <a:r>
              <a:rPr lang="en-US" b="true" sz="2599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nse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072331" y="3453259"/>
            <a:ext cx="304563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Aerospac</a:t>
            </a:r>
            <a:r>
              <a:rPr lang="en-US" b="true" sz="2599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588584" y="4572888"/>
            <a:ext cx="403713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Cybers</a:t>
            </a:r>
            <a:r>
              <a:rPr lang="en-US" b="true" sz="2599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ecurity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746243" y="5396863"/>
            <a:ext cx="3754392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Complex manufact</a:t>
            </a:r>
            <a:r>
              <a:rPr lang="en-US" b="true" sz="2599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030117" y="6632248"/>
            <a:ext cx="321996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</a:t>
            </a:r>
            <a:r>
              <a:rPr lang="en-US" b="true" sz="2599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ance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766815" y="7755847"/>
            <a:ext cx="379743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Pharmace</a:t>
            </a:r>
            <a:r>
              <a:rPr lang="en-US" b="true" sz="2599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uticals</a:t>
            </a:r>
          </a:p>
        </p:txBody>
      </p:sp>
      <p:sp>
        <p:nvSpPr>
          <p:cNvPr name="TextBox 51" id="51"/>
          <p:cNvSpPr txBox="true"/>
          <p:nvPr/>
        </p:nvSpPr>
        <p:spPr>
          <a:xfrm rot="-5400000">
            <a:off x="9955560" y="4785782"/>
            <a:ext cx="6797949" cy="78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9"/>
              </a:lnSpc>
            </a:pPr>
            <a:r>
              <a:rPr lang="en-US" sz="5921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target  industries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35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7661" y="3935728"/>
            <a:ext cx="15605188" cy="412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eveloped effort toward advanced quantum systems.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Google announced a Noisy Intermediate Scale Quantum (NISQ) platform and used it to simulate a chemical reaction.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Fermi–Hubbard model was simulated using 16 qubits.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company worked toward error-corrected quantum systems and developed the open-source Cirq library.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chapter also describes a 100-qubit system for further research.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47486" y="1924599"/>
            <a:ext cx="234810" cy="1327323"/>
            <a:chOff x="0" y="0"/>
            <a:chExt cx="61843" cy="3495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843" cy="349583"/>
            </a:xfrm>
            <a:custGeom>
              <a:avLst/>
              <a:gdLst/>
              <a:ahLst/>
              <a:cxnLst/>
              <a:rect r="r" b="b" t="t" l="l"/>
              <a:pathLst>
                <a:path h="349583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318662"/>
                  </a:lnTo>
                  <a:cubicBezTo>
                    <a:pt x="61843" y="335739"/>
                    <a:pt x="47999" y="349583"/>
                    <a:pt x="30921" y="349583"/>
                  </a:cubicBezTo>
                  <a:lnTo>
                    <a:pt x="30921" y="349583"/>
                  </a:lnTo>
                  <a:cubicBezTo>
                    <a:pt x="13844" y="349583"/>
                    <a:pt x="0" y="335739"/>
                    <a:pt x="0" y="318662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1843" cy="3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49637" y="2190480"/>
            <a:ext cx="12708306" cy="10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Google Quantum Project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36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1406" y="3442927"/>
            <a:ext cx="15605188" cy="530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Microsoft </a:t>
            </a: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established Azure Quantum as a platform for hardware and software development.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Its approach in the chapter centers on topological qubits and Majorana Zero Modes.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Support for Q#, Cirq, Qiskit, and other development platforms and languages.</a:t>
            </a:r>
          </a:p>
          <a:p>
            <a:pPr algn="just" marL="724232" indent="-362116" lvl="1">
              <a:lnSpc>
                <a:spcPts val="4696"/>
              </a:lnSpc>
              <a:buFont typeface="Arial"/>
              <a:buChar char="•"/>
            </a:pPr>
            <a:r>
              <a:rPr lang="en-US" sz="33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Other areas include nanomaterials, quantum-mechanics equipment, open-source contribution, testing laboratories, and cloud access for partners.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47486" y="1924599"/>
            <a:ext cx="234810" cy="1327323"/>
            <a:chOff x="0" y="0"/>
            <a:chExt cx="61843" cy="3495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843" cy="349583"/>
            </a:xfrm>
            <a:custGeom>
              <a:avLst/>
              <a:gdLst/>
              <a:ahLst/>
              <a:cxnLst/>
              <a:rect r="r" b="b" t="t" l="l"/>
              <a:pathLst>
                <a:path h="349583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318662"/>
                  </a:lnTo>
                  <a:cubicBezTo>
                    <a:pt x="61843" y="335739"/>
                    <a:pt x="47999" y="349583"/>
                    <a:pt x="30921" y="349583"/>
                  </a:cubicBezTo>
                  <a:lnTo>
                    <a:pt x="30921" y="349583"/>
                  </a:lnTo>
                  <a:cubicBezTo>
                    <a:pt x="13844" y="349583"/>
                    <a:pt x="0" y="335739"/>
                    <a:pt x="0" y="318662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1843" cy="3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49637" y="2190480"/>
            <a:ext cx="13509107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Microsoft Azure Quantum</a:t>
            </a:r>
          </a:p>
          <a:p>
            <a:pPr algn="l">
              <a:lnSpc>
                <a:spcPts val="6855"/>
              </a:lnSpc>
            </a:pP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005228" y="4423954"/>
            <a:ext cx="1528943" cy="1777841"/>
          </a:xfrm>
          <a:custGeom>
            <a:avLst/>
            <a:gdLst/>
            <a:ahLst/>
            <a:cxnLst/>
            <a:rect r="r" b="b" t="t" l="l"/>
            <a:pathLst>
              <a:path h="1777841" w="1528943">
                <a:moveTo>
                  <a:pt x="0" y="0"/>
                </a:moveTo>
                <a:lnTo>
                  <a:pt x="1528943" y="0"/>
                </a:lnTo>
                <a:lnTo>
                  <a:pt x="1528943" y="1777841"/>
                </a:lnTo>
                <a:lnTo>
                  <a:pt x="0" y="1777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18196" y="1811428"/>
            <a:ext cx="234810" cy="1936923"/>
            <a:chOff x="0" y="0"/>
            <a:chExt cx="61843" cy="510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843" cy="510136"/>
            </a:xfrm>
            <a:custGeom>
              <a:avLst/>
              <a:gdLst/>
              <a:ahLst/>
              <a:cxnLst/>
              <a:rect r="r" b="b" t="t" l="l"/>
              <a:pathLst>
                <a:path h="510136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479215"/>
                  </a:lnTo>
                  <a:cubicBezTo>
                    <a:pt x="61843" y="496292"/>
                    <a:pt x="47999" y="510136"/>
                    <a:pt x="30921" y="510136"/>
                  </a:cubicBezTo>
                  <a:lnTo>
                    <a:pt x="30921" y="510136"/>
                  </a:lnTo>
                  <a:cubicBezTo>
                    <a:pt x="13844" y="510136"/>
                    <a:pt x="0" y="496292"/>
                    <a:pt x="0" y="479215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1843" cy="548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59919" y="1913166"/>
            <a:ext cx="14127909" cy="274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Main Quantum-Computing Terminologies</a:t>
            </a:r>
          </a:p>
          <a:p>
            <a:pPr algn="l">
              <a:lnSpc>
                <a:spcPts val="6855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4423954"/>
            <a:ext cx="5094040" cy="1759119"/>
            <a:chOff x="0" y="0"/>
            <a:chExt cx="1341640" cy="4633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640" cy="463307"/>
            </a:xfrm>
            <a:custGeom>
              <a:avLst/>
              <a:gdLst/>
              <a:ahLst/>
              <a:cxnLst/>
              <a:rect r="r" b="b" t="t" l="l"/>
              <a:pathLst>
                <a:path h="463307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432911"/>
                  </a:lnTo>
                  <a:cubicBezTo>
                    <a:pt x="1341640" y="440973"/>
                    <a:pt x="1338438" y="448704"/>
                    <a:pt x="1332738" y="454404"/>
                  </a:cubicBezTo>
                  <a:cubicBezTo>
                    <a:pt x="1327037" y="460105"/>
                    <a:pt x="1319306" y="463307"/>
                    <a:pt x="1311244" y="463307"/>
                  </a:cubicBezTo>
                  <a:lnTo>
                    <a:pt x="30396" y="463307"/>
                  </a:lnTo>
                  <a:cubicBezTo>
                    <a:pt x="22334" y="463307"/>
                    <a:pt x="14603" y="460105"/>
                    <a:pt x="8903" y="454404"/>
                  </a:cubicBezTo>
                  <a:cubicBezTo>
                    <a:pt x="3202" y="448704"/>
                    <a:pt x="0" y="440973"/>
                    <a:pt x="0" y="432911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41640" cy="501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6353" y="4550507"/>
            <a:ext cx="381800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</a:t>
            </a:r>
            <a:r>
              <a:rPr lang="en-US" b="true" sz="2599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rconductors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37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6291299" y="2122238"/>
            <a:ext cx="956802" cy="1777841"/>
          </a:xfrm>
          <a:custGeom>
            <a:avLst/>
            <a:gdLst/>
            <a:ahLst/>
            <a:cxnLst/>
            <a:rect r="r" b="b" t="t" l="l"/>
            <a:pathLst>
              <a:path h="1777841" w="956802">
                <a:moveTo>
                  <a:pt x="0" y="0"/>
                </a:moveTo>
                <a:lnTo>
                  <a:pt x="956802" y="0"/>
                </a:lnTo>
                <a:lnTo>
                  <a:pt x="956802" y="1777841"/>
                </a:lnTo>
                <a:lnTo>
                  <a:pt x="0" y="17778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6481351" y="4423954"/>
            <a:ext cx="5094040" cy="1759119"/>
            <a:chOff x="0" y="0"/>
            <a:chExt cx="1341640" cy="46330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640" cy="463307"/>
            </a:xfrm>
            <a:custGeom>
              <a:avLst/>
              <a:gdLst/>
              <a:ahLst/>
              <a:cxnLst/>
              <a:rect r="r" b="b" t="t" l="l"/>
              <a:pathLst>
                <a:path h="463307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432911"/>
                  </a:lnTo>
                  <a:cubicBezTo>
                    <a:pt x="1341640" y="440973"/>
                    <a:pt x="1338438" y="448704"/>
                    <a:pt x="1332738" y="454404"/>
                  </a:cubicBezTo>
                  <a:cubicBezTo>
                    <a:pt x="1327037" y="460105"/>
                    <a:pt x="1319306" y="463307"/>
                    <a:pt x="1311244" y="463307"/>
                  </a:cubicBezTo>
                  <a:lnTo>
                    <a:pt x="30396" y="463307"/>
                  </a:lnTo>
                  <a:cubicBezTo>
                    <a:pt x="22334" y="463307"/>
                    <a:pt x="14603" y="460105"/>
                    <a:pt x="8903" y="454404"/>
                  </a:cubicBezTo>
                  <a:cubicBezTo>
                    <a:pt x="3202" y="448704"/>
                    <a:pt x="0" y="440973"/>
                    <a:pt x="0" y="432911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41640" cy="501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534019" y="4550507"/>
            <a:ext cx="304563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</a:t>
            </a:r>
            <a:r>
              <a:rPr lang="en-US" b="true" sz="2599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erfluid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1937341" y="4423954"/>
            <a:ext cx="5094040" cy="1759119"/>
            <a:chOff x="0" y="0"/>
            <a:chExt cx="1341640" cy="4633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1640" cy="463307"/>
            </a:xfrm>
            <a:custGeom>
              <a:avLst/>
              <a:gdLst/>
              <a:ahLst/>
              <a:cxnLst/>
              <a:rect r="r" b="b" t="t" l="l"/>
              <a:pathLst>
                <a:path h="463307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432911"/>
                  </a:lnTo>
                  <a:cubicBezTo>
                    <a:pt x="1341640" y="440973"/>
                    <a:pt x="1338438" y="448704"/>
                    <a:pt x="1332738" y="454404"/>
                  </a:cubicBezTo>
                  <a:cubicBezTo>
                    <a:pt x="1327037" y="460105"/>
                    <a:pt x="1319306" y="463307"/>
                    <a:pt x="1311244" y="463307"/>
                  </a:cubicBezTo>
                  <a:lnTo>
                    <a:pt x="30396" y="463307"/>
                  </a:lnTo>
                  <a:cubicBezTo>
                    <a:pt x="22334" y="463307"/>
                    <a:pt x="14603" y="460105"/>
                    <a:pt x="8903" y="454404"/>
                  </a:cubicBezTo>
                  <a:cubicBezTo>
                    <a:pt x="3202" y="448704"/>
                    <a:pt x="0" y="440973"/>
                    <a:pt x="0" y="432911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341640" cy="501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484765" y="4550507"/>
            <a:ext cx="4037136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Quantum mechanics</a:t>
            </a:r>
          </a:p>
          <a:p>
            <a:pPr algn="ctr">
              <a:lnSpc>
                <a:spcPts val="3639"/>
              </a:lnSpc>
            </a:pPr>
          </a:p>
        </p:txBody>
      </p:sp>
      <p:grpSp>
        <p:nvGrpSpPr>
          <p:cNvPr name="Group 40" id="40"/>
          <p:cNvGrpSpPr/>
          <p:nvPr/>
        </p:nvGrpSpPr>
        <p:grpSpPr>
          <a:xfrm rot="0">
            <a:off x="1028700" y="6537807"/>
            <a:ext cx="5094040" cy="1889719"/>
            <a:chOff x="0" y="0"/>
            <a:chExt cx="1341640" cy="4977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640" cy="497704"/>
            </a:xfrm>
            <a:custGeom>
              <a:avLst/>
              <a:gdLst/>
              <a:ahLst/>
              <a:cxnLst/>
              <a:rect r="r" b="b" t="t" l="l"/>
              <a:pathLst>
                <a:path h="497704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467308"/>
                  </a:lnTo>
                  <a:cubicBezTo>
                    <a:pt x="1341640" y="475369"/>
                    <a:pt x="1338438" y="483101"/>
                    <a:pt x="1332738" y="488801"/>
                  </a:cubicBezTo>
                  <a:cubicBezTo>
                    <a:pt x="1327037" y="494501"/>
                    <a:pt x="1319306" y="497704"/>
                    <a:pt x="1311244" y="497704"/>
                  </a:cubicBezTo>
                  <a:lnTo>
                    <a:pt x="30396" y="497704"/>
                  </a:lnTo>
                  <a:cubicBezTo>
                    <a:pt x="22334" y="497704"/>
                    <a:pt x="14603" y="494501"/>
                    <a:pt x="8903" y="488801"/>
                  </a:cubicBezTo>
                  <a:cubicBezTo>
                    <a:pt x="3202" y="483101"/>
                    <a:pt x="0" y="475369"/>
                    <a:pt x="0" y="467308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341640" cy="535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2012538" y="6649798"/>
            <a:ext cx="304563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Qubit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481351" y="6537807"/>
            <a:ext cx="5094040" cy="1889719"/>
            <a:chOff x="0" y="0"/>
            <a:chExt cx="1341640" cy="4977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41640" cy="497704"/>
            </a:xfrm>
            <a:custGeom>
              <a:avLst/>
              <a:gdLst/>
              <a:ahLst/>
              <a:cxnLst/>
              <a:rect r="r" b="b" t="t" l="l"/>
              <a:pathLst>
                <a:path h="497704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467308"/>
                  </a:lnTo>
                  <a:cubicBezTo>
                    <a:pt x="1341640" y="475369"/>
                    <a:pt x="1338438" y="483101"/>
                    <a:pt x="1332738" y="488801"/>
                  </a:cubicBezTo>
                  <a:cubicBezTo>
                    <a:pt x="1327037" y="494501"/>
                    <a:pt x="1319306" y="497704"/>
                    <a:pt x="1311244" y="497704"/>
                  </a:cubicBezTo>
                  <a:lnTo>
                    <a:pt x="30396" y="497704"/>
                  </a:lnTo>
                  <a:cubicBezTo>
                    <a:pt x="22334" y="497704"/>
                    <a:pt x="14603" y="494501"/>
                    <a:pt x="8903" y="488801"/>
                  </a:cubicBezTo>
                  <a:cubicBezTo>
                    <a:pt x="3202" y="483101"/>
                    <a:pt x="0" y="475369"/>
                    <a:pt x="0" y="467308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341640" cy="535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7446854" y="6649798"/>
            <a:ext cx="3219963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Quantum logic gate</a:t>
            </a:r>
          </a:p>
          <a:p>
            <a:pPr algn="ctr">
              <a:lnSpc>
                <a:spcPts val="3639"/>
              </a:lnSpc>
            </a:pPr>
          </a:p>
        </p:txBody>
      </p:sp>
      <p:grpSp>
        <p:nvGrpSpPr>
          <p:cNvPr name="Group 48" id="48"/>
          <p:cNvGrpSpPr/>
          <p:nvPr/>
        </p:nvGrpSpPr>
        <p:grpSpPr>
          <a:xfrm rot="0">
            <a:off x="11937341" y="6537807"/>
            <a:ext cx="5094040" cy="1889719"/>
            <a:chOff x="0" y="0"/>
            <a:chExt cx="1341640" cy="49770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41640" cy="497704"/>
            </a:xfrm>
            <a:custGeom>
              <a:avLst/>
              <a:gdLst/>
              <a:ahLst/>
              <a:cxnLst/>
              <a:rect r="r" b="b" t="t" l="l"/>
              <a:pathLst>
                <a:path h="497704" w="1341640">
                  <a:moveTo>
                    <a:pt x="30396" y="0"/>
                  </a:moveTo>
                  <a:lnTo>
                    <a:pt x="1311244" y="0"/>
                  </a:lnTo>
                  <a:cubicBezTo>
                    <a:pt x="1319306" y="0"/>
                    <a:pt x="1327037" y="3202"/>
                    <a:pt x="1332738" y="8903"/>
                  </a:cubicBezTo>
                  <a:cubicBezTo>
                    <a:pt x="1338438" y="14603"/>
                    <a:pt x="1341640" y="22334"/>
                    <a:pt x="1341640" y="30396"/>
                  </a:cubicBezTo>
                  <a:lnTo>
                    <a:pt x="1341640" y="467308"/>
                  </a:lnTo>
                  <a:cubicBezTo>
                    <a:pt x="1341640" y="475369"/>
                    <a:pt x="1338438" y="483101"/>
                    <a:pt x="1332738" y="488801"/>
                  </a:cubicBezTo>
                  <a:cubicBezTo>
                    <a:pt x="1327037" y="494501"/>
                    <a:pt x="1319306" y="497704"/>
                    <a:pt x="1311244" y="497704"/>
                  </a:cubicBezTo>
                  <a:lnTo>
                    <a:pt x="30396" y="497704"/>
                  </a:lnTo>
                  <a:cubicBezTo>
                    <a:pt x="22334" y="497704"/>
                    <a:pt x="14603" y="494501"/>
                    <a:pt x="8903" y="488801"/>
                  </a:cubicBezTo>
                  <a:cubicBezTo>
                    <a:pt x="3202" y="483101"/>
                    <a:pt x="0" y="475369"/>
                    <a:pt x="0" y="467308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341640" cy="535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599667" y="6649798"/>
            <a:ext cx="3797432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Josephso</a:t>
            </a:r>
            <a:r>
              <a:rPr lang="en-US" b="true" sz="2599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junction</a:t>
            </a:r>
          </a:p>
          <a:p>
            <a:pPr algn="ctr">
              <a:lnSpc>
                <a:spcPts val="3639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1337661" y="5034263"/>
            <a:ext cx="4551334" cy="134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V</a:t>
            </a: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ery low resistance; divided into Type-I and Type-II.</a:t>
            </a:r>
          </a:p>
          <a:p>
            <a:pPr algn="just">
              <a:lnSpc>
                <a:spcPts val="3592"/>
              </a:lnSpc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6903993" y="5019722"/>
            <a:ext cx="4248756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Z</a:t>
            </a:r>
            <a:r>
              <a:rPr lang="en-US" sz="2300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ero-viscosity fluid state used especially in cooling contexts.</a:t>
            </a:r>
          </a:p>
          <a:p>
            <a:pPr algn="just">
              <a:lnSpc>
                <a:spcPts val="3220"/>
              </a:lnSpc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12222716" y="5019722"/>
            <a:ext cx="4551334" cy="134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Ph</a:t>
            </a: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ysics of atomic and subatomic behavior.</a:t>
            </a:r>
          </a:p>
          <a:p>
            <a:pPr algn="just">
              <a:lnSpc>
                <a:spcPts val="3592"/>
              </a:lnSpc>
            </a:pPr>
          </a:p>
        </p:txBody>
      </p:sp>
      <p:sp>
        <p:nvSpPr>
          <p:cNvPr name="TextBox 55" id="55"/>
          <p:cNvSpPr txBox="true"/>
          <p:nvPr/>
        </p:nvSpPr>
        <p:spPr>
          <a:xfrm rot="0">
            <a:off x="12232616" y="7116734"/>
            <a:ext cx="4541433" cy="168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1"/>
              </a:lnSpc>
            </a:pPr>
            <a:r>
              <a:rPr lang="en-US" sz="241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Two sup</a:t>
            </a:r>
            <a:r>
              <a:rPr lang="en-US" sz="241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erconductors separated by a non-superconducting barrier.</a:t>
            </a:r>
          </a:p>
          <a:p>
            <a:pPr algn="just">
              <a:lnSpc>
                <a:spcPts val="3381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6781168" y="7107209"/>
            <a:ext cx="4551334" cy="134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eversible quantum circuit building unit.</a:t>
            </a:r>
          </a:p>
          <a:p>
            <a:pPr algn="just">
              <a:lnSpc>
                <a:spcPts val="3592"/>
              </a:lnSpc>
            </a:pPr>
          </a:p>
        </p:txBody>
      </p:sp>
      <p:sp>
        <p:nvSpPr>
          <p:cNvPr name="TextBox 57" id="57"/>
          <p:cNvSpPr txBox="true"/>
          <p:nvPr/>
        </p:nvSpPr>
        <p:spPr>
          <a:xfrm rot="0">
            <a:off x="1272792" y="7083503"/>
            <a:ext cx="4551334" cy="134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Fundam</a:t>
            </a: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ental quantum data unit.</a:t>
            </a:r>
          </a:p>
          <a:p>
            <a:pPr algn="just">
              <a:lnSpc>
                <a:spcPts val="3592"/>
              </a:lnSpc>
            </a:pP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38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573993" y="4093433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7" y="0"/>
                </a:lnTo>
                <a:lnTo>
                  <a:pt x="298877" y="298877"/>
                </a:lnTo>
                <a:lnTo>
                  <a:pt x="0" y="298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592922" y="2625563"/>
            <a:ext cx="12795869" cy="101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5"/>
              </a:lnSpc>
            </a:pPr>
            <a:r>
              <a:rPr lang="en-US" b="true" sz="761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Superconductors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27935" y="4476098"/>
            <a:ext cx="4445161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TYPE-I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87875" y="5071074"/>
            <a:ext cx="6325280" cy="240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chapter lists mercury, lead, zinc, aluminum, sulfur, and others. It gives a critical-temperature range of about 0.000325 to 7.8 K.</a:t>
            </a:r>
          </a:p>
          <a:p>
            <a:pPr algn="just">
              <a:lnSpc>
                <a:spcPts val="3833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127311" y="4410273"/>
            <a:ext cx="4206729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TYPE-II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60880" y="5066655"/>
            <a:ext cx="6739245" cy="289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 chapter describes compounds of lead and copper, including HgBa₂Ca₂Cu₃O₈, and notes that electromagnetic fields can penetrate Type-II materials.</a:t>
            </a:r>
          </a:p>
          <a:p>
            <a:pPr algn="just">
              <a:lnSpc>
                <a:spcPts val="3833"/>
              </a:lnSpc>
            </a:pPr>
          </a:p>
        </p:txBody>
      </p:sp>
      <p:sp>
        <p:nvSpPr>
          <p:cNvPr name="AutoShape 28" id="28"/>
          <p:cNvSpPr/>
          <p:nvPr/>
        </p:nvSpPr>
        <p:spPr>
          <a:xfrm flipV="true">
            <a:off x="8937018" y="4242872"/>
            <a:ext cx="0" cy="3535308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39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0758" y="4151380"/>
            <a:ext cx="15906484" cy="510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6828" indent="-348414" lvl="1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superfluid is d</a:t>
            </a: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escribed as flowing without losing kinetic energy because of zero viscosity.</a:t>
            </a:r>
          </a:p>
          <a:p>
            <a:pPr algn="just" marL="696828" indent="-348414" lvl="1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can maintain motion without external energy and can creep along container walls.</a:t>
            </a:r>
          </a:p>
          <a:p>
            <a:pPr algn="just" marL="696828" indent="-348414" lvl="1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may have very high thermal conductivity, making it useful in cooling sophisticated equipment, including quantum computing systems.</a:t>
            </a:r>
          </a:p>
          <a:p>
            <a:pPr algn="just" marL="696828" indent="-348414" lvl="1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Examples named include helium-3, helium-4, some Bose–Einstein condensates, lithium-6 atoms, atomic rubidium-85, and atomic sodium.</a:t>
            </a:r>
          </a:p>
          <a:p>
            <a:pPr algn="just">
              <a:lnSpc>
                <a:spcPts val="4518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747486" y="1711308"/>
            <a:ext cx="234810" cy="1327323"/>
            <a:chOff x="0" y="0"/>
            <a:chExt cx="61843" cy="3495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843" cy="349583"/>
            </a:xfrm>
            <a:custGeom>
              <a:avLst/>
              <a:gdLst/>
              <a:ahLst/>
              <a:cxnLst/>
              <a:rect r="r" b="b" t="t" l="l"/>
              <a:pathLst>
                <a:path h="349583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318662"/>
                  </a:lnTo>
                  <a:cubicBezTo>
                    <a:pt x="61843" y="335739"/>
                    <a:pt x="47999" y="349583"/>
                    <a:pt x="30921" y="349583"/>
                  </a:cubicBezTo>
                  <a:lnTo>
                    <a:pt x="30921" y="349583"/>
                  </a:lnTo>
                  <a:cubicBezTo>
                    <a:pt x="13844" y="349583"/>
                    <a:pt x="0" y="335739"/>
                    <a:pt x="0" y="318662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1843" cy="3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49637" y="1977189"/>
            <a:ext cx="13509107" cy="10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Superfluid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92922" y="3347799"/>
            <a:ext cx="8283137" cy="46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 special fluid state used in cooling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40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69686" y="2337014"/>
            <a:ext cx="312610" cy="2259116"/>
            <a:chOff x="0" y="0"/>
            <a:chExt cx="82334" cy="5949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334" cy="594994"/>
            </a:xfrm>
            <a:custGeom>
              <a:avLst/>
              <a:gdLst/>
              <a:ahLst/>
              <a:cxnLst/>
              <a:rect r="r" b="b" t="t" l="l"/>
              <a:pathLst>
                <a:path h="594994" w="82334">
                  <a:moveTo>
                    <a:pt x="41167" y="0"/>
                  </a:moveTo>
                  <a:lnTo>
                    <a:pt x="41167" y="0"/>
                  </a:lnTo>
                  <a:cubicBezTo>
                    <a:pt x="52085" y="0"/>
                    <a:pt x="62556" y="4337"/>
                    <a:pt x="70276" y="12057"/>
                  </a:cubicBezTo>
                  <a:cubicBezTo>
                    <a:pt x="77996" y="19778"/>
                    <a:pt x="82334" y="30249"/>
                    <a:pt x="82334" y="41167"/>
                  </a:cubicBezTo>
                  <a:lnTo>
                    <a:pt x="82334" y="553827"/>
                  </a:lnTo>
                  <a:cubicBezTo>
                    <a:pt x="82334" y="576563"/>
                    <a:pt x="63903" y="594994"/>
                    <a:pt x="41167" y="594994"/>
                  </a:cubicBezTo>
                  <a:lnTo>
                    <a:pt x="41167" y="594994"/>
                  </a:lnTo>
                  <a:cubicBezTo>
                    <a:pt x="30249" y="594994"/>
                    <a:pt x="19778" y="590656"/>
                    <a:pt x="12057" y="582936"/>
                  </a:cubicBezTo>
                  <a:cubicBezTo>
                    <a:pt x="4337" y="575216"/>
                    <a:pt x="0" y="564745"/>
                    <a:pt x="0" y="553827"/>
                  </a:cubicBezTo>
                  <a:lnTo>
                    <a:pt x="0" y="41167"/>
                  </a:lnTo>
                  <a:cubicBezTo>
                    <a:pt x="0" y="18431"/>
                    <a:pt x="18431" y="0"/>
                    <a:pt x="411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2334" cy="633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14462" y="2578966"/>
            <a:ext cx="15447709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Superfluid: Characteristics and Uses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72120" y="4940421"/>
            <a:ext cx="362927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CHARACTERISTICS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27837" y="5673846"/>
            <a:ext cx="4241175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creep along container walls; motion is maintained; some examples are compressible while others are not.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7095295" y="4930896"/>
            <a:ext cx="361659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THERMAL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ROLE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20017" y="5673846"/>
            <a:ext cx="4241175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 thermal c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onductivity makes superfluids useful in cooling high-performance equipment.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1777541" y="4930896"/>
            <a:ext cx="421911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77541" y="5667474"/>
            <a:ext cx="4241175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Cooling high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magnetic fields, detecting exotic particles, and supporting quantum-computing systems.</a:t>
            </a:r>
          </a:p>
        </p:txBody>
      </p:sp>
      <p:sp>
        <p:nvSpPr>
          <p:cNvPr name="AutoShape 32" id="32"/>
          <p:cNvSpPr/>
          <p:nvPr/>
        </p:nvSpPr>
        <p:spPr>
          <a:xfrm flipV="true">
            <a:off x="6472871" y="5113776"/>
            <a:ext cx="0" cy="271113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1408338" y="5113776"/>
            <a:ext cx="0" cy="271113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41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0758" y="3921575"/>
            <a:ext cx="15906484" cy="453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6828" indent="-348414" lvl="1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Quantum mechanics studi</a:t>
            </a: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 the behavior of very small particles at atomic and subatomic levels.</a:t>
            </a:r>
          </a:p>
          <a:p>
            <a:pPr algn="just" marL="696828" indent="-348414" lvl="1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examines movement, conditions, energy levels, and the effects of external energy sources.</a:t>
            </a:r>
          </a:p>
          <a:p>
            <a:pPr algn="just" marL="696828" indent="-348414" lvl="1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chapter contrasts it with classical physics, which focuses on macroscopic physical behavior.</a:t>
            </a:r>
          </a:p>
          <a:p>
            <a:pPr algn="just" marL="696828" indent="-348414" lvl="1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Quantum behavior can appear strange because classical physical theories do not fully apply under certain conditions.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47486" y="1711308"/>
            <a:ext cx="234810" cy="1327323"/>
            <a:chOff x="0" y="0"/>
            <a:chExt cx="61843" cy="3495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843" cy="349583"/>
            </a:xfrm>
            <a:custGeom>
              <a:avLst/>
              <a:gdLst/>
              <a:ahLst/>
              <a:cxnLst/>
              <a:rect r="r" b="b" t="t" l="l"/>
              <a:pathLst>
                <a:path h="349583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318662"/>
                  </a:lnTo>
                  <a:cubicBezTo>
                    <a:pt x="61843" y="335739"/>
                    <a:pt x="47999" y="349583"/>
                    <a:pt x="30921" y="349583"/>
                  </a:cubicBezTo>
                  <a:lnTo>
                    <a:pt x="30921" y="349583"/>
                  </a:lnTo>
                  <a:cubicBezTo>
                    <a:pt x="13844" y="349583"/>
                    <a:pt x="0" y="335739"/>
                    <a:pt x="0" y="318662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1843" cy="3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49637" y="1977189"/>
            <a:ext cx="13509107" cy="10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Quantum Mechanics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92922" y="2991006"/>
            <a:ext cx="8283137" cy="94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The branch of physics behind the chapter</a:t>
            </a:r>
          </a:p>
          <a:p>
            <a:pPr algn="just">
              <a:lnSpc>
                <a:spcPts val="3833"/>
              </a:lnSpc>
            </a:pP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42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69686" y="2337014"/>
            <a:ext cx="312610" cy="2259116"/>
            <a:chOff x="0" y="0"/>
            <a:chExt cx="82334" cy="5949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334" cy="594994"/>
            </a:xfrm>
            <a:custGeom>
              <a:avLst/>
              <a:gdLst/>
              <a:ahLst/>
              <a:cxnLst/>
              <a:rect r="r" b="b" t="t" l="l"/>
              <a:pathLst>
                <a:path h="594994" w="82334">
                  <a:moveTo>
                    <a:pt x="41167" y="0"/>
                  </a:moveTo>
                  <a:lnTo>
                    <a:pt x="41167" y="0"/>
                  </a:lnTo>
                  <a:cubicBezTo>
                    <a:pt x="52085" y="0"/>
                    <a:pt x="62556" y="4337"/>
                    <a:pt x="70276" y="12057"/>
                  </a:cubicBezTo>
                  <a:cubicBezTo>
                    <a:pt x="77996" y="19778"/>
                    <a:pt x="82334" y="30249"/>
                    <a:pt x="82334" y="41167"/>
                  </a:cubicBezTo>
                  <a:lnTo>
                    <a:pt x="82334" y="553827"/>
                  </a:lnTo>
                  <a:cubicBezTo>
                    <a:pt x="82334" y="576563"/>
                    <a:pt x="63903" y="594994"/>
                    <a:pt x="41167" y="594994"/>
                  </a:cubicBezTo>
                  <a:lnTo>
                    <a:pt x="41167" y="594994"/>
                  </a:lnTo>
                  <a:cubicBezTo>
                    <a:pt x="30249" y="594994"/>
                    <a:pt x="19778" y="590656"/>
                    <a:pt x="12057" y="582936"/>
                  </a:cubicBezTo>
                  <a:cubicBezTo>
                    <a:pt x="4337" y="575216"/>
                    <a:pt x="0" y="564745"/>
                    <a:pt x="0" y="553827"/>
                  </a:cubicBezTo>
                  <a:lnTo>
                    <a:pt x="0" y="41167"/>
                  </a:lnTo>
                  <a:cubicBezTo>
                    <a:pt x="0" y="18431"/>
                    <a:pt x="18431" y="0"/>
                    <a:pt x="411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2334" cy="633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14462" y="2578966"/>
            <a:ext cx="11814644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Quantum Mechanics: Main Characteristics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04510" y="5019043"/>
            <a:ext cx="3629275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UNCERTAINTY &amp; PROBABILITY</a:t>
            </a:r>
          </a:p>
          <a:p>
            <a:pPr algn="ctr">
              <a:lnSpc>
                <a:spcPts val="359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098560" y="5993160"/>
            <a:ext cx="4241175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Heavily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based on mathematical calculations governed by uncertainty and probability.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66019" y="5009518"/>
            <a:ext cx="3616591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WAVE–PA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RTICLE DUALITY</a:t>
            </a:r>
          </a:p>
          <a:p>
            <a:pPr algn="ctr">
              <a:lnSpc>
                <a:spcPts val="360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6990741" y="5993160"/>
            <a:ext cx="4241175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Quantum 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objects are presented with wave-particle duality, unlike the separated classical treatment.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1948265" y="5009518"/>
            <a:ext cx="421911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SCIENTISTS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48265" y="5746096"/>
            <a:ext cx="4241175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Max Planck, Albert Einstein, Ludwig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Boltzmann, Niels Bohr, Werner Heisenberg, Erwin Schrödinger, and Max Born are named.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32" id="32"/>
          <p:cNvSpPr/>
          <p:nvPr/>
        </p:nvSpPr>
        <p:spPr>
          <a:xfrm flipV="true">
            <a:off x="6643594" y="5192398"/>
            <a:ext cx="0" cy="271113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1579061" y="5192398"/>
            <a:ext cx="0" cy="271113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43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47799" y="4301122"/>
            <a:ext cx="4236747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THREE DESCRIPTIVE STATES</a:t>
            </a:r>
          </a:p>
          <a:p>
            <a:pPr algn="ctr">
              <a:lnSpc>
                <a:spcPts val="359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249321" y="5275239"/>
            <a:ext cx="4241175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0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ear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combination of 0 &amp; 1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source calls this linear combination superposition.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7416780" y="4291597"/>
            <a:ext cx="361659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41502" y="5028175"/>
            <a:ext cx="4241175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Photon p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olarization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Electron spin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Electron energy levels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Angular rotation of a particle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2099026" y="4291597"/>
            <a:ext cx="421911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99026" y="5112967"/>
            <a:ext cx="4241175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Trapped ions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At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oms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Molecules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Photons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Quasiparticles</a:t>
            </a:r>
          </a:p>
        </p:txBody>
      </p:sp>
      <p:sp>
        <p:nvSpPr>
          <p:cNvPr name="AutoShape 28" id="28"/>
          <p:cNvSpPr/>
          <p:nvPr/>
        </p:nvSpPr>
        <p:spPr>
          <a:xfrm flipH="true" flipV="true">
            <a:off x="6794355" y="4474477"/>
            <a:ext cx="0" cy="367766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11729822" y="4474477"/>
            <a:ext cx="0" cy="367766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747486" y="2291545"/>
            <a:ext cx="234810" cy="1327323"/>
            <a:chOff x="0" y="0"/>
            <a:chExt cx="61843" cy="34958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843" cy="349583"/>
            </a:xfrm>
            <a:custGeom>
              <a:avLst/>
              <a:gdLst/>
              <a:ahLst/>
              <a:cxnLst/>
              <a:rect r="r" b="b" t="t" l="l"/>
              <a:pathLst>
                <a:path h="349583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318662"/>
                  </a:lnTo>
                  <a:cubicBezTo>
                    <a:pt x="61843" y="335739"/>
                    <a:pt x="47999" y="349583"/>
                    <a:pt x="30921" y="349583"/>
                  </a:cubicBezTo>
                  <a:lnTo>
                    <a:pt x="30921" y="349583"/>
                  </a:lnTo>
                  <a:cubicBezTo>
                    <a:pt x="13844" y="349583"/>
                    <a:pt x="0" y="335739"/>
                    <a:pt x="0" y="318662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1843" cy="3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49637" y="2557427"/>
            <a:ext cx="13509107" cy="10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Qubits in More Detail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44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0758" y="3921575"/>
            <a:ext cx="15906484" cy="453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6828" indent="-348414" lvl="1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quantum logic gate is describ</a:t>
            </a: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ed as the quantum analogue of a classical digital logic gate.</a:t>
            </a:r>
          </a:p>
          <a:p>
            <a:pPr algn="just" marL="696828" indent="-348414" lvl="1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is a building unit of a quantum circuit used to process qubit information.</a:t>
            </a:r>
          </a:p>
          <a:p>
            <a:pPr algn="just" marL="696828" indent="-348414" lvl="1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source emphasizes that quantum gates are reversible and are also called unitary operators.</a:t>
            </a:r>
          </a:p>
          <a:p>
            <a:pPr algn="just" marL="696828" indent="-348414" lvl="1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Examples listed include Pauli, Identity, controlled, phase shift, rotation, Hadamard, Swap, Toffoli, Fredkin, Ising coupling, Deutsch, and universal quantum gates.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47486" y="1711308"/>
            <a:ext cx="234810" cy="1327323"/>
            <a:chOff x="0" y="0"/>
            <a:chExt cx="61843" cy="3495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843" cy="349583"/>
            </a:xfrm>
            <a:custGeom>
              <a:avLst/>
              <a:gdLst/>
              <a:ahLst/>
              <a:cxnLst/>
              <a:rect r="r" b="b" t="t" l="l"/>
              <a:pathLst>
                <a:path h="349583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318662"/>
                  </a:lnTo>
                  <a:cubicBezTo>
                    <a:pt x="61843" y="335739"/>
                    <a:pt x="47999" y="349583"/>
                    <a:pt x="30921" y="349583"/>
                  </a:cubicBezTo>
                  <a:lnTo>
                    <a:pt x="30921" y="349583"/>
                  </a:lnTo>
                  <a:cubicBezTo>
                    <a:pt x="13844" y="349583"/>
                    <a:pt x="0" y="335739"/>
                    <a:pt x="0" y="318662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1843" cy="3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49637" y="1977189"/>
            <a:ext cx="13509107" cy="10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Quantum Logic Gates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92922" y="2991006"/>
            <a:ext cx="8283137" cy="46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Building blocks of a quantum circuit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45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573993" y="4497023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7" y="0"/>
                </a:lnTo>
                <a:lnTo>
                  <a:pt x="298877" y="298878"/>
                </a:lnTo>
                <a:lnTo>
                  <a:pt x="0" y="298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592922" y="2625563"/>
            <a:ext cx="12795869" cy="101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5"/>
              </a:lnSpc>
            </a:pPr>
            <a:r>
              <a:rPr lang="en-US" b="true" sz="761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Quantum Counting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27935" y="4879688"/>
            <a:ext cx="4445161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MEANING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87875" y="5474664"/>
            <a:ext cx="6325280" cy="240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chapter describes quantum counting as the number of possible quantum solutions for a problem, also called efficiency counting.</a:t>
            </a:r>
          </a:p>
          <a:p>
            <a:pPr algn="just">
              <a:lnSpc>
                <a:spcPts val="3833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127311" y="4813863"/>
            <a:ext cx="4206729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CONNECTED IDEAS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60880" y="5470245"/>
            <a:ext cx="6739245" cy="240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is r</a:t>
            </a: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elated to search problems using Grover’s search algorithm, quantum phase estimation, and other quantum methods.</a:t>
            </a:r>
          </a:p>
          <a:p>
            <a:pPr algn="just">
              <a:lnSpc>
                <a:spcPts val="3833"/>
              </a:lnSpc>
            </a:pPr>
          </a:p>
        </p:txBody>
      </p:sp>
      <p:sp>
        <p:nvSpPr>
          <p:cNvPr name="AutoShape 28" id="28"/>
          <p:cNvSpPr/>
          <p:nvPr/>
        </p:nvSpPr>
        <p:spPr>
          <a:xfrm flipV="true">
            <a:off x="8937018" y="4646462"/>
            <a:ext cx="0" cy="3535308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6402190" y="3592037"/>
            <a:ext cx="5069655" cy="46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Counting probable solutions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71131" y="1637384"/>
            <a:ext cx="270229" cy="1375057"/>
            <a:chOff x="0" y="0"/>
            <a:chExt cx="71171" cy="3621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171" cy="362155"/>
            </a:xfrm>
            <a:custGeom>
              <a:avLst/>
              <a:gdLst/>
              <a:ahLst/>
              <a:cxnLst/>
              <a:rect r="r" b="b" t="t" l="l"/>
              <a:pathLst>
                <a:path h="362155" w="71171">
                  <a:moveTo>
                    <a:pt x="35586" y="0"/>
                  </a:moveTo>
                  <a:lnTo>
                    <a:pt x="35586" y="0"/>
                  </a:lnTo>
                  <a:cubicBezTo>
                    <a:pt x="55239" y="0"/>
                    <a:pt x="71171" y="15932"/>
                    <a:pt x="71171" y="35586"/>
                  </a:cubicBezTo>
                  <a:lnTo>
                    <a:pt x="71171" y="326569"/>
                  </a:lnTo>
                  <a:cubicBezTo>
                    <a:pt x="71171" y="336007"/>
                    <a:pt x="67422" y="345058"/>
                    <a:pt x="60749" y="351732"/>
                  </a:cubicBezTo>
                  <a:cubicBezTo>
                    <a:pt x="54075" y="358406"/>
                    <a:pt x="45024" y="362155"/>
                    <a:pt x="35586" y="362155"/>
                  </a:cubicBezTo>
                  <a:lnTo>
                    <a:pt x="35586" y="362155"/>
                  </a:lnTo>
                  <a:cubicBezTo>
                    <a:pt x="15932" y="362155"/>
                    <a:pt x="0" y="346223"/>
                    <a:pt x="0" y="326569"/>
                  </a:cubicBezTo>
                  <a:lnTo>
                    <a:pt x="0" y="35586"/>
                  </a:lnTo>
                  <a:cubicBezTo>
                    <a:pt x="0" y="26148"/>
                    <a:pt x="3749" y="17096"/>
                    <a:pt x="10423" y="10423"/>
                  </a:cubicBezTo>
                  <a:cubicBezTo>
                    <a:pt x="17096" y="3749"/>
                    <a:pt x="26148" y="0"/>
                    <a:pt x="355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1171" cy="400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46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2574" y="1945616"/>
            <a:ext cx="9666362" cy="10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Grover’s Algorithm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6246" y="4022767"/>
            <a:ext cx="9522001" cy="440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7447" indent="-338723" lvl="1">
              <a:lnSpc>
                <a:spcPts val="4392"/>
              </a:lnSpc>
              <a:buFont typeface="Arial"/>
              <a:buChar char="•"/>
            </a:pPr>
            <a:r>
              <a:rPr lang="en-US" sz="31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1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roposed by Indian-American engineer Lov Kumar Grover in 1996.</a:t>
            </a:r>
          </a:p>
          <a:p>
            <a:pPr algn="just" marL="677447" indent="-338723" lvl="1">
              <a:lnSpc>
                <a:spcPts val="4392"/>
              </a:lnSpc>
              <a:buFont typeface="Arial"/>
              <a:buChar char="•"/>
            </a:pPr>
            <a:r>
              <a:rPr lang="en-US" sz="31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Uses superposition and interference to improve search speed.</a:t>
            </a:r>
          </a:p>
          <a:p>
            <a:pPr algn="just" marL="677447" indent="-338723" lvl="1">
              <a:lnSpc>
                <a:spcPts val="4392"/>
              </a:lnSpc>
              <a:buFont typeface="Arial"/>
              <a:buChar char="•"/>
            </a:pPr>
            <a:r>
              <a:rPr lang="en-US" sz="31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If a classical search takes N steps, Grover’s search can find the value in about √N steps.</a:t>
            </a:r>
          </a:p>
          <a:p>
            <a:pPr algn="just" marL="677447" indent="-338723" lvl="1">
              <a:lnSpc>
                <a:spcPts val="4392"/>
              </a:lnSpc>
              <a:buFont typeface="Arial"/>
              <a:buChar char="•"/>
            </a:pPr>
            <a:r>
              <a:rPr lang="en-US" sz="31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uses amplitude amplification to increase the probability of the desired solution.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946245" y="3488343"/>
            <a:ext cx="6572377" cy="2124247"/>
            <a:chOff x="0" y="0"/>
            <a:chExt cx="1730996" cy="5594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30996" cy="559472"/>
            </a:xfrm>
            <a:custGeom>
              <a:avLst/>
              <a:gdLst/>
              <a:ahLst/>
              <a:cxnLst/>
              <a:rect r="r" b="b" t="t" l="l"/>
              <a:pathLst>
                <a:path h="559472" w="1730996">
                  <a:moveTo>
                    <a:pt x="23559" y="0"/>
                  </a:moveTo>
                  <a:lnTo>
                    <a:pt x="1707437" y="0"/>
                  </a:lnTo>
                  <a:cubicBezTo>
                    <a:pt x="1720449" y="0"/>
                    <a:pt x="1730996" y="10548"/>
                    <a:pt x="1730996" y="23559"/>
                  </a:cubicBezTo>
                  <a:lnTo>
                    <a:pt x="1730996" y="535913"/>
                  </a:lnTo>
                  <a:cubicBezTo>
                    <a:pt x="1730996" y="548925"/>
                    <a:pt x="1720449" y="559472"/>
                    <a:pt x="1707437" y="559472"/>
                  </a:cubicBezTo>
                  <a:lnTo>
                    <a:pt x="23559" y="559472"/>
                  </a:lnTo>
                  <a:cubicBezTo>
                    <a:pt x="10548" y="559472"/>
                    <a:pt x="0" y="548925"/>
                    <a:pt x="0" y="535913"/>
                  </a:cubicBezTo>
                  <a:lnTo>
                    <a:pt x="0" y="23559"/>
                  </a:lnTo>
                  <a:cubicBezTo>
                    <a:pt x="0" y="10548"/>
                    <a:pt x="10548" y="0"/>
                    <a:pt x="235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730996" cy="597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46245" y="6155515"/>
            <a:ext cx="6572377" cy="2124247"/>
            <a:chOff x="0" y="0"/>
            <a:chExt cx="1730996" cy="5594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30996" cy="559472"/>
            </a:xfrm>
            <a:custGeom>
              <a:avLst/>
              <a:gdLst/>
              <a:ahLst/>
              <a:cxnLst/>
              <a:rect r="r" b="b" t="t" l="l"/>
              <a:pathLst>
                <a:path h="559472" w="1730996">
                  <a:moveTo>
                    <a:pt x="23559" y="0"/>
                  </a:moveTo>
                  <a:lnTo>
                    <a:pt x="1707437" y="0"/>
                  </a:lnTo>
                  <a:cubicBezTo>
                    <a:pt x="1720449" y="0"/>
                    <a:pt x="1730996" y="10548"/>
                    <a:pt x="1730996" y="23559"/>
                  </a:cubicBezTo>
                  <a:lnTo>
                    <a:pt x="1730996" y="535913"/>
                  </a:lnTo>
                  <a:cubicBezTo>
                    <a:pt x="1730996" y="548925"/>
                    <a:pt x="1720449" y="559472"/>
                    <a:pt x="1707437" y="559472"/>
                  </a:cubicBezTo>
                  <a:lnTo>
                    <a:pt x="23559" y="559472"/>
                  </a:lnTo>
                  <a:cubicBezTo>
                    <a:pt x="10548" y="559472"/>
                    <a:pt x="0" y="548925"/>
                    <a:pt x="0" y="535913"/>
                  </a:cubicBezTo>
                  <a:lnTo>
                    <a:pt x="0" y="23559"/>
                  </a:lnTo>
                  <a:cubicBezTo>
                    <a:pt x="0" y="10548"/>
                    <a:pt x="10548" y="0"/>
                    <a:pt x="235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730996" cy="597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197428" y="3571770"/>
            <a:ext cx="3739765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CLASSICAL SEARCH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1197428" y="6330215"/>
            <a:ext cx="303500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GROVER SEARCH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054277" y="4180293"/>
            <a:ext cx="6572377" cy="127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1716" indent="-265858" lvl="1">
              <a:lnSpc>
                <a:spcPts val="3447"/>
              </a:lnSpc>
              <a:buFont typeface="Arial"/>
              <a:buChar char="•"/>
            </a:pPr>
            <a:r>
              <a:rPr lang="en-US" sz="2462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Unstr</a:t>
            </a:r>
            <a:r>
              <a:rPr lang="en-US" sz="2462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uctured data</a:t>
            </a:r>
          </a:p>
          <a:p>
            <a:pPr algn="l" marL="531716" indent="-265858" lvl="1">
              <a:lnSpc>
                <a:spcPts val="3447"/>
              </a:lnSpc>
              <a:buFont typeface="Arial"/>
              <a:buChar char="•"/>
            </a:pPr>
            <a:r>
              <a:rPr lang="en-US" sz="2462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Approximately N checks in the chapter’s simplified comparison.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78904" y="6836773"/>
            <a:ext cx="6104951" cy="132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939" indent="-276969" lvl="1">
              <a:lnSpc>
                <a:spcPts val="3592"/>
              </a:lnSpc>
              <a:buFont typeface="Arial"/>
              <a:buChar char="•"/>
            </a:pP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Unstructur</a:t>
            </a: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ed data</a:t>
            </a:r>
          </a:p>
          <a:p>
            <a:pPr algn="l" marL="553939" indent="-276969" lvl="1">
              <a:lnSpc>
                <a:spcPts val="3592"/>
              </a:lnSpc>
              <a:buFont typeface="Arial"/>
              <a:buChar char="•"/>
            </a:pP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Approximately √N steps in the chapter’s simplified comparison.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078904" y="2347750"/>
            <a:ext cx="6385612" cy="91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6845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COMPARISON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7661" y="3130297"/>
            <a:ext cx="8283137" cy="94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Quadratic improvement for unstructured search</a:t>
            </a:r>
          </a:p>
          <a:p>
            <a:pPr algn="just">
              <a:lnSpc>
                <a:spcPts val="3833"/>
              </a:lnSpc>
            </a:pP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71131" y="1637384"/>
            <a:ext cx="270229" cy="1375057"/>
            <a:chOff x="0" y="0"/>
            <a:chExt cx="71171" cy="3621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171" cy="362155"/>
            </a:xfrm>
            <a:custGeom>
              <a:avLst/>
              <a:gdLst/>
              <a:ahLst/>
              <a:cxnLst/>
              <a:rect r="r" b="b" t="t" l="l"/>
              <a:pathLst>
                <a:path h="362155" w="71171">
                  <a:moveTo>
                    <a:pt x="35586" y="0"/>
                  </a:moveTo>
                  <a:lnTo>
                    <a:pt x="35586" y="0"/>
                  </a:lnTo>
                  <a:cubicBezTo>
                    <a:pt x="55239" y="0"/>
                    <a:pt x="71171" y="15932"/>
                    <a:pt x="71171" y="35586"/>
                  </a:cubicBezTo>
                  <a:lnTo>
                    <a:pt x="71171" y="326569"/>
                  </a:lnTo>
                  <a:cubicBezTo>
                    <a:pt x="71171" y="336007"/>
                    <a:pt x="67422" y="345058"/>
                    <a:pt x="60749" y="351732"/>
                  </a:cubicBezTo>
                  <a:cubicBezTo>
                    <a:pt x="54075" y="358406"/>
                    <a:pt x="45024" y="362155"/>
                    <a:pt x="35586" y="362155"/>
                  </a:cubicBezTo>
                  <a:lnTo>
                    <a:pt x="35586" y="362155"/>
                  </a:lnTo>
                  <a:cubicBezTo>
                    <a:pt x="15932" y="362155"/>
                    <a:pt x="0" y="346223"/>
                    <a:pt x="0" y="326569"/>
                  </a:cubicBezTo>
                  <a:lnTo>
                    <a:pt x="0" y="35586"/>
                  </a:lnTo>
                  <a:cubicBezTo>
                    <a:pt x="0" y="26148"/>
                    <a:pt x="3749" y="17096"/>
                    <a:pt x="10423" y="10423"/>
                  </a:cubicBezTo>
                  <a:cubicBezTo>
                    <a:pt x="17096" y="3749"/>
                    <a:pt x="26148" y="0"/>
                    <a:pt x="355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1171" cy="400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47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2574" y="1945616"/>
            <a:ext cx="9666362" cy="101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Shor’s Algorithm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2372" y="3204480"/>
            <a:ext cx="9522001" cy="5510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7447" indent="-338723" lvl="1">
              <a:lnSpc>
                <a:spcPts val="4392"/>
              </a:lnSpc>
              <a:buFont typeface="Arial"/>
              <a:buChar char="•"/>
            </a:pPr>
            <a:r>
              <a:rPr lang="en-US" sz="31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Shor’s </a:t>
            </a:r>
            <a:r>
              <a:rPr lang="en-US" sz="31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algorithm finds the prime factors of an integer.</a:t>
            </a:r>
          </a:p>
          <a:p>
            <a:pPr algn="just" marL="677447" indent="-338723" lvl="1">
              <a:lnSpc>
                <a:spcPts val="4392"/>
              </a:lnSpc>
              <a:buFont typeface="Arial"/>
              <a:buChar char="•"/>
            </a:pPr>
            <a:r>
              <a:rPr lang="en-US" sz="31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was proposed by American mathematician Peter Shor in 1994.</a:t>
            </a:r>
          </a:p>
          <a:p>
            <a:pPr algn="just" marL="677447" indent="-338723" lvl="1">
              <a:lnSpc>
                <a:spcPts val="4392"/>
              </a:lnSpc>
              <a:buFont typeface="Arial"/>
              <a:buChar char="•"/>
            </a:pPr>
            <a:r>
              <a:rPr lang="en-US" sz="31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chapter states a time complexity of O((log N)³) and O(log N) space for the factoring formulation it describes.</a:t>
            </a:r>
          </a:p>
          <a:p>
            <a:pPr algn="just" marL="677447" indent="-338723" lvl="1">
              <a:lnSpc>
                <a:spcPts val="4392"/>
              </a:lnSpc>
              <a:buFont typeface="Arial"/>
              <a:buChar char="•"/>
            </a:pPr>
            <a:r>
              <a:rPr lang="en-US" sz="31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algorithm is presented as a major security concern because it can threaten encryption systems such as RSA and Diffie–Hellman.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946245" y="3488343"/>
            <a:ext cx="6572377" cy="2124247"/>
            <a:chOff x="0" y="0"/>
            <a:chExt cx="1730996" cy="5594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30996" cy="559472"/>
            </a:xfrm>
            <a:custGeom>
              <a:avLst/>
              <a:gdLst/>
              <a:ahLst/>
              <a:cxnLst/>
              <a:rect r="r" b="b" t="t" l="l"/>
              <a:pathLst>
                <a:path h="559472" w="1730996">
                  <a:moveTo>
                    <a:pt x="23559" y="0"/>
                  </a:moveTo>
                  <a:lnTo>
                    <a:pt x="1707437" y="0"/>
                  </a:lnTo>
                  <a:cubicBezTo>
                    <a:pt x="1720449" y="0"/>
                    <a:pt x="1730996" y="10548"/>
                    <a:pt x="1730996" y="23559"/>
                  </a:cubicBezTo>
                  <a:lnTo>
                    <a:pt x="1730996" y="535913"/>
                  </a:lnTo>
                  <a:cubicBezTo>
                    <a:pt x="1730996" y="548925"/>
                    <a:pt x="1720449" y="559472"/>
                    <a:pt x="1707437" y="559472"/>
                  </a:cubicBezTo>
                  <a:lnTo>
                    <a:pt x="23559" y="559472"/>
                  </a:lnTo>
                  <a:cubicBezTo>
                    <a:pt x="10548" y="559472"/>
                    <a:pt x="0" y="548925"/>
                    <a:pt x="0" y="535913"/>
                  </a:cubicBezTo>
                  <a:lnTo>
                    <a:pt x="0" y="23559"/>
                  </a:lnTo>
                  <a:cubicBezTo>
                    <a:pt x="0" y="10548"/>
                    <a:pt x="10548" y="0"/>
                    <a:pt x="235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730996" cy="597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46245" y="6155515"/>
            <a:ext cx="6572377" cy="2124247"/>
            <a:chOff x="0" y="0"/>
            <a:chExt cx="1730996" cy="5594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30996" cy="559472"/>
            </a:xfrm>
            <a:custGeom>
              <a:avLst/>
              <a:gdLst/>
              <a:ahLst/>
              <a:cxnLst/>
              <a:rect r="r" b="b" t="t" l="l"/>
              <a:pathLst>
                <a:path h="559472" w="1730996">
                  <a:moveTo>
                    <a:pt x="23559" y="0"/>
                  </a:moveTo>
                  <a:lnTo>
                    <a:pt x="1707437" y="0"/>
                  </a:lnTo>
                  <a:cubicBezTo>
                    <a:pt x="1720449" y="0"/>
                    <a:pt x="1730996" y="10548"/>
                    <a:pt x="1730996" y="23559"/>
                  </a:cubicBezTo>
                  <a:lnTo>
                    <a:pt x="1730996" y="535913"/>
                  </a:lnTo>
                  <a:cubicBezTo>
                    <a:pt x="1730996" y="548925"/>
                    <a:pt x="1720449" y="559472"/>
                    <a:pt x="1707437" y="559472"/>
                  </a:cubicBezTo>
                  <a:lnTo>
                    <a:pt x="23559" y="559472"/>
                  </a:lnTo>
                  <a:cubicBezTo>
                    <a:pt x="10548" y="559472"/>
                    <a:pt x="0" y="548925"/>
                    <a:pt x="0" y="535913"/>
                  </a:cubicBezTo>
                  <a:lnTo>
                    <a:pt x="0" y="23559"/>
                  </a:lnTo>
                  <a:cubicBezTo>
                    <a:pt x="0" y="10548"/>
                    <a:pt x="10548" y="0"/>
                    <a:pt x="235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730996" cy="597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197428" y="3770834"/>
            <a:ext cx="28370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CLASSICAL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197428" y="6374590"/>
            <a:ext cx="283704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QUANTUM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197428" y="4321342"/>
            <a:ext cx="6104951" cy="134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educe the factoring problem to an order-finding problem.</a:t>
            </a:r>
          </a:p>
          <a:p>
            <a:pPr algn="just">
              <a:lnSpc>
                <a:spcPts val="3592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1179958" y="6935739"/>
            <a:ext cx="6104951" cy="134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Us</a:t>
            </a:r>
            <a:r>
              <a:rPr lang="en-US" sz="2565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e quantum computation to perform the order-finding step.</a:t>
            </a:r>
          </a:p>
          <a:p>
            <a:pPr algn="just">
              <a:lnSpc>
                <a:spcPts val="3592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1078904" y="2347750"/>
            <a:ext cx="6385612" cy="91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6845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2 MAIN PARTS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71131" y="1637384"/>
            <a:ext cx="294268" cy="1520527"/>
            <a:chOff x="0" y="0"/>
            <a:chExt cx="77503" cy="4004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503" cy="400468"/>
            </a:xfrm>
            <a:custGeom>
              <a:avLst/>
              <a:gdLst/>
              <a:ahLst/>
              <a:cxnLst/>
              <a:rect r="r" b="b" t="t" l="l"/>
              <a:pathLst>
                <a:path h="400468" w="77503">
                  <a:moveTo>
                    <a:pt x="38751" y="0"/>
                  </a:moveTo>
                  <a:lnTo>
                    <a:pt x="38751" y="0"/>
                  </a:lnTo>
                  <a:cubicBezTo>
                    <a:pt x="60153" y="0"/>
                    <a:pt x="77503" y="17350"/>
                    <a:pt x="77503" y="38751"/>
                  </a:cubicBezTo>
                  <a:lnTo>
                    <a:pt x="77503" y="361717"/>
                  </a:lnTo>
                  <a:cubicBezTo>
                    <a:pt x="77503" y="383118"/>
                    <a:pt x="60153" y="400468"/>
                    <a:pt x="38751" y="400468"/>
                  </a:cubicBezTo>
                  <a:lnTo>
                    <a:pt x="38751" y="400468"/>
                  </a:lnTo>
                  <a:cubicBezTo>
                    <a:pt x="17350" y="400468"/>
                    <a:pt x="0" y="383118"/>
                    <a:pt x="0" y="361717"/>
                  </a:cubicBezTo>
                  <a:lnTo>
                    <a:pt x="0" y="38751"/>
                  </a:lnTo>
                  <a:cubicBezTo>
                    <a:pt x="0" y="17350"/>
                    <a:pt x="17350" y="0"/>
                    <a:pt x="387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7503" cy="438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48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2574" y="1945616"/>
            <a:ext cx="11808525" cy="187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Josephson Junction</a:t>
            </a:r>
          </a:p>
          <a:p>
            <a:pPr algn="l">
              <a:lnSpc>
                <a:spcPts val="6855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518196" y="3663769"/>
            <a:ext cx="5567982" cy="4609460"/>
            <a:chOff x="0" y="0"/>
            <a:chExt cx="1270873" cy="10520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70873" cy="1052093"/>
            </a:xfrm>
            <a:custGeom>
              <a:avLst/>
              <a:gdLst/>
              <a:ahLst/>
              <a:cxnLst/>
              <a:rect r="r" b="b" t="t" l="l"/>
              <a:pathLst>
                <a:path h="1052093" w="1270873">
                  <a:moveTo>
                    <a:pt x="27809" y="0"/>
                  </a:moveTo>
                  <a:lnTo>
                    <a:pt x="1243064" y="0"/>
                  </a:lnTo>
                  <a:cubicBezTo>
                    <a:pt x="1250439" y="0"/>
                    <a:pt x="1257512" y="2930"/>
                    <a:pt x="1262728" y="8145"/>
                  </a:cubicBezTo>
                  <a:cubicBezTo>
                    <a:pt x="1267943" y="13360"/>
                    <a:pt x="1270873" y="20433"/>
                    <a:pt x="1270873" y="27809"/>
                  </a:cubicBezTo>
                  <a:lnTo>
                    <a:pt x="1270873" y="1024285"/>
                  </a:lnTo>
                  <a:cubicBezTo>
                    <a:pt x="1270873" y="1031660"/>
                    <a:pt x="1267943" y="1038733"/>
                    <a:pt x="1262728" y="1043948"/>
                  </a:cubicBezTo>
                  <a:cubicBezTo>
                    <a:pt x="1257512" y="1049164"/>
                    <a:pt x="1250439" y="1052093"/>
                    <a:pt x="1243064" y="1052093"/>
                  </a:cubicBezTo>
                  <a:lnTo>
                    <a:pt x="27809" y="1052093"/>
                  </a:lnTo>
                  <a:cubicBezTo>
                    <a:pt x="20433" y="1052093"/>
                    <a:pt x="13360" y="1049164"/>
                    <a:pt x="8145" y="1043948"/>
                  </a:cubicBezTo>
                  <a:cubicBezTo>
                    <a:pt x="2930" y="1038733"/>
                    <a:pt x="0" y="1031660"/>
                    <a:pt x="0" y="1024285"/>
                  </a:cubicBezTo>
                  <a:lnTo>
                    <a:pt x="0" y="27809"/>
                  </a:lnTo>
                  <a:cubicBezTo>
                    <a:pt x="0" y="20433"/>
                    <a:pt x="2930" y="13360"/>
                    <a:pt x="8145" y="8145"/>
                  </a:cubicBezTo>
                  <a:cubicBezTo>
                    <a:pt x="13360" y="2930"/>
                    <a:pt x="20433" y="0"/>
                    <a:pt x="278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70873" cy="1090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3580830" y="3888278"/>
            <a:ext cx="2239074" cy="4160441"/>
          </a:xfrm>
          <a:custGeom>
            <a:avLst/>
            <a:gdLst/>
            <a:ahLst/>
            <a:cxnLst/>
            <a:rect r="r" b="b" t="t" l="l"/>
            <a:pathLst>
              <a:path h="4160441" w="2239074">
                <a:moveTo>
                  <a:pt x="0" y="0"/>
                </a:moveTo>
                <a:lnTo>
                  <a:pt x="2239074" y="0"/>
                </a:lnTo>
                <a:lnTo>
                  <a:pt x="2239074" y="4160441"/>
                </a:lnTo>
                <a:lnTo>
                  <a:pt x="0" y="4160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2201823" y="3663769"/>
            <a:ext cx="5567982" cy="4609460"/>
            <a:chOff x="0" y="0"/>
            <a:chExt cx="1270873" cy="10520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70873" cy="1052093"/>
            </a:xfrm>
            <a:custGeom>
              <a:avLst/>
              <a:gdLst/>
              <a:ahLst/>
              <a:cxnLst/>
              <a:rect r="r" b="b" t="t" l="l"/>
              <a:pathLst>
                <a:path h="1052093" w="1270873">
                  <a:moveTo>
                    <a:pt x="27809" y="0"/>
                  </a:moveTo>
                  <a:lnTo>
                    <a:pt x="1243064" y="0"/>
                  </a:lnTo>
                  <a:cubicBezTo>
                    <a:pt x="1250439" y="0"/>
                    <a:pt x="1257512" y="2930"/>
                    <a:pt x="1262728" y="8145"/>
                  </a:cubicBezTo>
                  <a:cubicBezTo>
                    <a:pt x="1267943" y="13360"/>
                    <a:pt x="1270873" y="20433"/>
                    <a:pt x="1270873" y="27809"/>
                  </a:cubicBezTo>
                  <a:lnTo>
                    <a:pt x="1270873" y="1024285"/>
                  </a:lnTo>
                  <a:cubicBezTo>
                    <a:pt x="1270873" y="1031660"/>
                    <a:pt x="1267943" y="1038733"/>
                    <a:pt x="1262728" y="1043948"/>
                  </a:cubicBezTo>
                  <a:cubicBezTo>
                    <a:pt x="1257512" y="1049164"/>
                    <a:pt x="1250439" y="1052093"/>
                    <a:pt x="1243064" y="1052093"/>
                  </a:cubicBezTo>
                  <a:lnTo>
                    <a:pt x="27809" y="1052093"/>
                  </a:lnTo>
                  <a:cubicBezTo>
                    <a:pt x="20433" y="1052093"/>
                    <a:pt x="13360" y="1049164"/>
                    <a:pt x="8145" y="1043948"/>
                  </a:cubicBezTo>
                  <a:cubicBezTo>
                    <a:pt x="2930" y="1038733"/>
                    <a:pt x="0" y="1031660"/>
                    <a:pt x="0" y="1024285"/>
                  </a:cubicBezTo>
                  <a:lnTo>
                    <a:pt x="0" y="27809"/>
                  </a:lnTo>
                  <a:cubicBezTo>
                    <a:pt x="0" y="20433"/>
                    <a:pt x="2930" y="13360"/>
                    <a:pt x="8145" y="8145"/>
                  </a:cubicBezTo>
                  <a:cubicBezTo>
                    <a:pt x="13360" y="2930"/>
                    <a:pt x="20433" y="0"/>
                    <a:pt x="278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270873" cy="1090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3978503" y="3888278"/>
            <a:ext cx="3525028" cy="4160441"/>
          </a:xfrm>
          <a:custGeom>
            <a:avLst/>
            <a:gdLst/>
            <a:ahLst/>
            <a:cxnLst/>
            <a:rect r="r" b="b" t="t" l="l"/>
            <a:pathLst>
              <a:path h="4160441" w="3525028">
                <a:moveTo>
                  <a:pt x="0" y="0"/>
                </a:moveTo>
                <a:lnTo>
                  <a:pt x="3525028" y="0"/>
                </a:lnTo>
                <a:lnTo>
                  <a:pt x="3525028" y="4160441"/>
                </a:lnTo>
                <a:lnTo>
                  <a:pt x="0" y="4160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6359068" y="3663769"/>
            <a:ext cx="5567982" cy="4609460"/>
            <a:chOff x="0" y="0"/>
            <a:chExt cx="1270873" cy="105209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70873" cy="1052093"/>
            </a:xfrm>
            <a:custGeom>
              <a:avLst/>
              <a:gdLst/>
              <a:ahLst/>
              <a:cxnLst/>
              <a:rect r="r" b="b" t="t" l="l"/>
              <a:pathLst>
                <a:path h="1052093" w="1270873">
                  <a:moveTo>
                    <a:pt x="27809" y="0"/>
                  </a:moveTo>
                  <a:lnTo>
                    <a:pt x="1243064" y="0"/>
                  </a:lnTo>
                  <a:cubicBezTo>
                    <a:pt x="1250439" y="0"/>
                    <a:pt x="1257512" y="2930"/>
                    <a:pt x="1262728" y="8145"/>
                  </a:cubicBezTo>
                  <a:cubicBezTo>
                    <a:pt x="1267943" y="13360"/>
                    <a:pt x="1270873" y="20433"/>
                    <a:pt x="1270873" y="27809"/>
                  </a:cubicBezTo>
                  <a:lnTo>
                    <a:pt x="1270873" y="1024285"/>
                  </a:lnTo>
                  <a:cubicBezTo>
                    <a:pt x="1270873" y="1031660"/>
                    <a:pt x="1267943" y="1038733"/>
                    <a:pt x="1262728" y="1043948"/>
                  </a:cubicBezTo>
                  <a:cubicBezTo>
                    <a:pt x="1257512" y="1049164"/>
                    <a:pt x="1250439" y="1052093"/>
                    <a:pt x="1243064" y="1052093"/>
                  </a:cubicBezTo>
                  <a:lnTo>
                    <a:pt x="27809" y="1052093"/>
                  </a:lnTo>
                  <a:cubicBezTo>
                    <a:pt x="20433" y="1052093"/>
                    <a:pt x="13360" y="1049164"/>
                    <a:pt x="8145" y="1043948"/>
                  </a:cubicBezTo>
                  <a:cubicBezTo>
                    <a:pt x="2930" y="1038733"/>
                    <a:pt x="0" y="1031660"/>
                    <a:pt x="0" y="1024285"/>
                  </a:cubicBezTo>
                  <a:lnTo>
                    <a:pt x="0" y="27809"/>
                  </a:lnTo>
                  <a:cubicBezTo>
                    <a:pt x="0" y="20433"/>
                    <a:pt x="2930" y="13360"/>
                    <a:pt x="8145" y="8145"/>
                  </a:cubicBezTo>
                  <a:cubicBezTo>
                    <a:pt x="13360" y="2930"/>
                    <a:pt x="20433" y="0"/>
                    <a:pt x="278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70873" cy="1090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8082797" y="3888278"/>
            <a:ext cx="3577979" cy="4160441"/>
          </a:xfrm>
          <a:custGeom>
            <a:avLst/>
            <a:gdLst/>
            <a:ahLst/>
            <a:cxnLst/>
            <a:rect r="r" b="b" t="t" l="l"/>
            <a:pathLst>
              <a:path h="4160441" w="3577979">
                <a:moveTo>
                  <a:pt x="0" y="0"/>
                </a:moveTo>
                <a:lnTo>
                  <a:pt x="3577979" y="0"/>
                </a:lnTo>
                <a:lnTo>
                  <a:pt x="3577979" y="4160441"/>
                </a:lnTo>
                <a:lnTo>
                  <a:pt x="0" y="41604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897458" y="4311458"/>
            <a:ext cx="502791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STRUCTURE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32863" y="4311458"/>
            <a:ext cx="502791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TUNNELING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81085" y="4311458"/>
            <a:ext cx="502791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 CURRENT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552926" y="5259343"/>
            <a:ext cx="5084233" cy="227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3"/>
              </a:lnSpc>
            </a:pPr>
            <a:r>
              <a:rPr lang="en-US" sz="260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The curre</a:t>
            </a:r>
            <a:r>
              <a:rPr lang="en-US" sz="260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nt associated with this effect is called supercurrent and the structure is used in quantum systems.</a:t>
            </a:r>
          </a:p>
          <a:p>
            <a:pPr algn="just">
              <a:lnSpc>
                <a:spcPts val="3653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6632863" y="5259343"/>
            <a:ext cx="5084233" cy="181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3"/>
              </a:lnSpc>
            </a:pPr>
            <a:r>
              <a:rPr lang="en-US" sz="260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The ch</a:t>
            </a:r>
            <a:r>
              <a:rPr lang="en-US" sz="260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apter describes superconducting electrons tunneling through the barrier.</a:t>
            </a:r>
          </a:p>
          <a:p>
            <a:pPr algn="just">
              <a:lnSpc>
                <a:spcPts val="3653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735671" y="5259343"/>
            <a:ext cx="5084233" cy="181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3"/>
              </a:lnSpc>
            </a:pPr>
            <a:r>
              <a:rPr lang="en-US" sz="260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Two superco</a:t>
            </a:r>
            <a:r>
              <a:rPr lang="en-US" sz="260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nducting materials separated by a non-superconducting material.</a:t>
            </a:r>
          </a:p>
          <a:p>
            <a:pPr algn="just">
              <a:lnSpc>
                <a:spcPts val="3653"/>
              </a:lnSpc>
            </a:pP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49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3172" y="4464488"/>
            <a:ext cx="15541657" cy="3841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839" indent="-392919" lvl="1">
              <a:lnSpc>
                <a:spcPts val="5095"/>
              </a:lnSpc>
              <a:buFont typeface="Arial"/>
              <a:buChar char="•"/>
            </a:pPr>
            <a:r>
              <a:rPr lang="en-US" sz="3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junction is nam</a:t>
            </a:r>
            <a:r>
              <a:rPr lang="en-US" sz="3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ed after Brian David Josephson.</a:t>
            </a:r>
          </a:p>
          <a:p>
            <a:pPr algn="just" marL="785839" indent="-392919" lvl="1">
              <a:lnSpc>
                <a:spcPts val="5095"/>
              </a:lnSpc>
              <a:buFont typeface="Arial"/>
              <a:buChar char="•"/>
            </a:pPr>
            <a:r>
              <a:rPr lang="en-US" sz="3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Josephson predicted and demonstrated the effect of current through a non-superconducting tunnel between superconductors.</a:t>
            </a:r>
          </a:p>
          <a:p>
            <a:pPr algn="just" marL="785839" indent="-392919" lvl="1">
              <a:lnSpc>
                <a:spcPts val="5095"/>
              </a:lnSpc>
              <a:buFont typeface="Arial"/>
              <a:buChar char="•"/>
            </a:pPr>
            <a:r>
              <a:rPr lang="en-US" sz="36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 was awarded the Nobel Prize for this discovery.</a:t>
            </a:r>
          </a:p>
          <a:p>
            <a:pPr algn="just">
              <a:lnSpc>
                <a:spcPts val="5095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716686" y="1711308"/>
            <a:ext cx="265610" cy="2312924"/>
            <a:chOff x="0" y="0"/>
            <a:chExt cx="69955" cy="6091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955" cy="609165"/>
            </a:xfrm>
            <a:custGeom>
              <a:avLst/>
              <a:gdLst/>
              <a:ahLst/>
              <a:cxnLst/>
              <a:rect r="r" b="b" t="t" l="l"/>
              <a:pathLst>
                <a:path h="609165" w="69955">
                  <a:moveTo>
                    <a:pt x="34977" y="0"/>
                  </a:moveTo>
                  <a:lnTo>
                    <a:pt x="34977" y="0"/>
                  </a:lnTo>
                  <a:cubicBezTo>
                    <a:pt x="44254" y="0"/>
                    <a:pt x="53151" y="3685"/>
                    <a:pt x="59710" y="10245"/>
                  </a:cubicBezTo>
                  <a:cubicBezTo>
                    <a:pt x="66270" y="16804"/>
                    <a:pt x="69955" y="25701"/>
                    <a:pt x="69955" y="34977"/>
                  </a:cubicBezTo>
                  <a:lnTo>
                    <a:pt x="69955" y="574188"/>
                  </a:lnTo>
                  <a:cubicBezTo>
                    <a:pt x="69955" y="583464"/>
                    <a:pt x="66270" y="592361"/>
                    <a:pt x="59710" y="598921"/>
                  </a:cubicBezTo>
                  <a:cubicBezTo>
                    <a:pt x="53151" y="605480"/>
                    <a:pt x="44254" y="609165"/>
                    <a:pt x="34977" y="609165"/>
                  </a:cubicBezTo>
                  <a:lnTo>
                    <a:pt x="34977" y="609165"/>
                  </a:lnTo>
                  <a:cubicBezTo>
                    <a:pt x="25701" y="609165"/>
                    <a:pt x="16804" y="605480"/>
                    <a:pt x="10245" y="598921"/>
                  </a:cubicBezTo>
                  <a:cubicBezTo>
                    <a:pt x="3685" y="592361"/>
                    <a:pt x="0" y="583464"/>
                    <a:pt x="0" y="574188"/>
                  </a:cubicBezTo>
                  <a:lnTo>
                    <a:pt x="0" y="34977"/>
                  </a:lnTo>
                  <a:cubicBezTo>
                    <a:pt x="0" y="25701"/>
                    <a:pt x="3685" y="16804"/>
                    <a:pt x="10245" y="10245"/>
                  </a:cubicBezTo>
                  <a:cubicBezTo>
                    <a:pt x="16804" y="3685"/>
                    <a:pt x="25701" y="0"/>
                    <a:pt x="349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9955" cy="647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49637" y="1977189"/>
            <a:ext cx="13509107" cy="274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761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Josephson Junction: Historical Note</a:t>
            </a:r>
          </a:p>
          <a:p>
            <a:pPr algn="l">
              <a:lnSpc>
                <a:spcPts val="6855"/>
              </a:lnSpc>
            </a:pP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986120" y="1949035"/>
            <a:ext cx="8783684" cy="2124247"/>
            <a:chOff x="0" y="0"/>
            <a:chExt cx="2313398" cy="5594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13398" cy="559472"/>
            </a:xfrm>
            <a:custGeom>
              <a:avLst/>
              <a:gdLst/>
              <a:ahLst/>
              <a:cxnLst/>
              <a:rect r="r" b="b" t="t" l="l"/>
              <a:pathLst>
                <a:path h="559472" w="2313398">
                  <a:moveTo>
                    <a:pt x="17628" y="0"/>
                  </a:moveTo>
                  <a:lnTo>
                    <a:pt x="2295770" y="0"/>
                  </a:lnTo>
                  <a:cubicBezTo>
                    <a:pt x="2305506" y="0"/>
                    <a:pt x="2313398" y="7892"/>
                    <a:pt x="2313398" y="17628"/>
                  </a:cubicBezTo>
                  <a:lnTo>
                    <a:pt x="2313398" y="541844"/>
                  </a:lnTo>
                  <a:cubicBezTo>
                    <a:pt x="2313398" y="551580"/>
                    <a:pt x="2305506" y="559472"/>
                    <a:pt x="2295770" y="559472"/>
                  </a:cubicBezTo>
                  <a:lnTo>
                    <a:pt x="17628" y="559472"/>
                  </a:lnTo>
                  <a:cubicBezTo>
                    <a:pt x="7892" y="559472"/>
                    <a:pt x="0" y="551580"/>
                    <a:pt x="0" y="541844"/>
                  </a:cubicBezTo>
                  <a:lnTo>
                    <a:pt x="0" y="17628"/>
                  </a:lnTo>
                  <a:cubicBezTo>
                    <a:pt x="0" y="7892"/>
                    <a:pt x="7892" y="0"/>
                    <a:pt x="176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313398" cy="597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986120" y="4260121"/>
            <a:ext cx="8783684" cy="2124247"/>
            <a:chOff x="0" y="0"/>
            <a:chExt cx="2313398" cy="5594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13398" cy="559472"/>
            </a:xfrm>
            <a:custGeom>
              <a:avLst/>
              <a:gdLst/>
              <a:ahLst/>
              <a:cxnLst/>
              <a:rect r="r" b="b" t="t" l="l"/>
              <a:pathLst>
                <a:path h="559472" w="2313398">
                  <a:moveTo>
                    <a:pt x="17628" y="0"/>
                  </a:moveTo>
                  <a:lnTo>
                    <a:pt x="2295770" y="0"/>
                  </a:lnTo>
                  <a:cubicBezTo>
                    <a:pt x="2305506" y="0"/>
                    <a:pt x="2313398" y="7892"/>
                    <a:pt x="2313398" y="17628"/>
                  </a:cubicBezTo>
                  <a:lnTo>
                    <a:pt x="2313398" y="541844"/>
                  </a:lnTo>
                  <a:cubicBezTo>
                    <a:pt x="2313398" y="551580"/>
                    <a:pt x="2305506" y="559472"/>
                    <a:pt x="2295770" y="559472"/>
                  </a:cubicBezTo>
                  <a:lnTo>
                    <a:pt x="17628" y="559472"/>
                  </a:lnTo>
                  <a:cubicBezTo>
                    <a:pt x="7892" y="559472"/>
                    <a:pt x="0" y="551580"/>
                    <a:pt x="0" y="541844"/>
                  </a:cubicBezTo>
                  <a:lnTo>
                    <a:pt x="0" y="17628"/>
                  </a:lnTo>
                  <a:cubicBezTo>
                    <a:pt x="0" y="7892"/>
                    <a:pt x="7892" y="0"/>
                    <a:pt x="176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313398" cy="597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6005228" y="4433324"/>
            <a:ext cx="1528943" cy="1777841"/>
          </a:xfrm>
          <a:custGeom>
            <a:avLst/>
            <a:gdLst/>
            <a:ahLst/>
            <a:cxnLst/>
            <a:rect r="r" b="b" t="t" l="l"/>
            <a:pathLst>
              <a:path h="1777841" w="1528943">
                <a:moveTo>
                  <a:pt x="0" y="0"/>
                </a:moveTo>
                <a:lnTo>
                  <a:pt x="1528943" y="0"/>
                </a:lnTo>
                <a:lnTo>
                  <a:pt x="1528943" y="1777841"/>
                </a:lnTo>
                <a:lnTo>
                  <a:pt x="0" y="1777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986120" y="6574868"/>
            <a:ext cx="8783684" cy="2124247"/>
            <a:chOff x="0" y="0"/>
            <a:chExt cx="2313398" cy="5594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13398" cy="559472"/>
            </a:xfrm>
            <a:custGeom>
              <a:avLst/>
              <a:gdLst/>
              <a:ahLst/>
              <a:cxnLst/>
              <a:rect r="r" b="b" t="t" l="l"/>
              <a:pathLst>
                <a:path h="559472" w="2313398">
                  <a:moveTo>
                    <a:pt x="17628" y="0"/>
                  </a:moveTo>
                  <a:lnTo>
                    <a:pt x="2295770" y="0"/>
                  </a:lnTo>
                  <a:cubicBezTo>
                    <a:pt x="2305506" y="0"/>
                    <a:pt x="2313398" y="7892"/>
                    <a:pt x="2313398" y="17628"/>
                  </a:cubicBezTo>
                  <a:lnTo>
                    <a:pt x="2313398" y="541844"/>
                  </a:lnTo>
                  <a:cubicBezTo>
                    <a:pt x="2313398" y="551580"/>
                    <a:pt x="2305506" y="559472"/>
                    <a:pt x="2295770" y="559472"/>
                  </a:cubicBezTo>
                  <a:lnTo>
                    <a:pt x="17628" y="559472"/>
                  </a:lnTo>
                  <a:cubicBezTo>
                    <a:pt x="7892" y="559472"/>
                    <a:pt x="0" y="551580"/>
                    <a:pt x="0" y="541844"/>
                  </a:cubicBezTo>
                  <a:lnTo>
                    <a:pt x="0" y="17628"/>
                  </a:lnTo>
                  <a:cubicBezTo>
                    <a:pt x="0" y="7892"/>
                    <a:pt x="7892" y="0"/>
                    <a:pt x="176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313398" cy="597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6027855" y="6748071"/>
            <a:ext cx="1506316" cy="1777841"/>
          </a:xfrm>
          <a:custGeom>
            <a:avLst/>
            <a:gdLst/>
            <a:ahLst/>
            <a:cxnLst/>
            <a:rect r="r" b="b" t="t" l="l"/>
            <a:pathLst>
              <a:path h="1777841" w="1506316">
                <a:moveTo>
                  <a:pt x="0" y="0"/>
                </a:moveTo>
                <a:lnTo>
                  <a:pt x="1506316" y="0"/>
                </a:lnTo>
                <a:lnTo>
                  <a:pt x="1506316" y="1777840"/>
                </a:lnTo>
                <a:lnTo>
                  <a:pt x="0" y="17778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518196" y="1811428"/>
            <a:ext cx="234810" cy="2711095"/>
            <a:chOff x="0" y="0"/>
            <a:chExt cx="61843" cy="71403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843" cy="714033"/>
            </a:xfrm>
            <a:custGeom>
              <a:avLst/>
              <a:gdLst/>
              <a:ahLst/>
              <a:cxnLst/>
              <a:rect r="r" b="b" t="t" l="l"/>
              <a:pathLst>
                <a:path h="714033" w="61843">
                  <a:moveTo>
                    <a:pt x="30921" y="0"/>
                  </a:moveTo>
                  <a:lnTo>
                    <a:pt x="30921" y="0"/>
                  </a:lnTo>
                  <a:cubicBezTo>
                    <a:pt x="47999" y="0"/>
                    <a:pt x="61843" y="13844"/>
                    <a:pt x="61843" y="30921"/>
                  </a:cubicBezTo>
                  <a:lnTo>
                    <a:pt x="61843" y="683112"/>
                  </a:lnTo>
                  <a:cubicBezTo>
                    <a:pt x="61843" y="700189"/>
                    <a:pt x="47999" y="714033"/>
                    <a:pt x="30921" y="714033"/>
                  </a:cubicBezTo>
                  <a:lnTo>
                    <a:pt x="30921" y="714033"/>
                  </a:lnTo>
                  <a:cubicBezTo>
                    <a:pt x="13844" y="714033"/>
                    <a:pt x="0" y="700189"/>
                    <a:pt x="0" y="683112"/>
                  </a:cubicBezTo>
                  <a:lnTo>
                    <a:pt x="0" y="30921"/>
                  </a:lnTo>
                  <a:cubicBezTo>
                    <a:pt x="0" y="13844"/>
                    <a:pt x="13844" y="0"/>
                    <a:pt x="309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1843" cy="752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03259" y="4680409"/>
            <a:ext cx="7098819" cy="4145867"/>
            <a:chOff x="0" y="0"/>
            <a:chExt cx="10522333" cy="61452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-44"/>
              <a:ext cx="10522345" cy="6145193"/>
            </a:xfrm>
            <a:custGeom>
              <a:avLst/>
              <a:gdLst/>
              <a:ahLst/>
              <a:cxnLst/>
              <a:rect r="r" b="b" t="t" l="l"/>
              <a:pathLst>
                <a:path h="6145193" w="10522345">
                  <a:moveTo>
                    <a:pt x="10319641" y="1265091"/>
                  </a:moveTo>
                  <a:cubicBezTo>
                    <a:pt x="10476613" y="1299254"/>
                    <a:pt x="10560307" y="1450765"/>
                    <a:pt x="10505570" y="1601895"/>
                  </a:cubicBezTo>
                  <a:lnTo>
                    <a:pt x="8958964" y="5870619"/>
                  </a:lnTo>
                  <a:cubicBezTo>
                    <a:pt x="8904227" y="6021622"/>
                    <a:pt x="8728078" y="6145193"/>
                    <a:pt x="8567423" y="6145193"/>
                  </a:cubicBezTo>
                  <a:lnTo>
                    <a:pt x="292100" y="6145193"/>
                  </a:lnTo>
                  <a:cubicBezTo>
                    <a:pt x="131445" y="6145193"/>
                    <a:pt x="0" y="6013748"/>
                    <a:pt x="0" y="5853093"/>
                  </a:cubicBezTo>
                  <a:lnTo>
                    <a:pt x="0" y="236518"/>
                  </a:lnTo>
                  <a:cubicBezTo>
                    <a:pt x="0" y="75863"/>
                    <a:pt x="128397" y="-27642"/>
                    <a:pt x="285369" y="6521"/>
                  </a:cubicBezTo>
                  <a:lnTo>
                    <a:pt x="10319641" y="1265091"/>
                  </a:lnTo>
                  <a:close/>
                </a:path>
              </a:pathLst>
            </a:custGeom>
            <a:blipFill>
              <a:blip r:embed="rId8"/>
              <a:stretch>
                <a:fillRect l="-1912" t="0" r="-1912" b="0"/>
              </a:stretch>
            </a:blipFill>
            <a:ln w="76200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6E97B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859919" y="1903641"/>
            <a:ext cx="9170899" cy="3422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3"/>
              </a:lnSpc>
            </a:pPr>
            <a:r>
              <a:rPr lang="en-US" sz="7225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Quantum Computing and Cybersecurity</a:t>
            </a:r>
          </a:p>
          <a:p>
            <a:pPr algn="l">
              <a:lnSpc>
                <a:spcPts val="6503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9158087" y="2074613"/>
            <a:ext cx="456223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</a:t>
            </a:r>
            <a:r>
              <a:rPr lang="en-US" sz="2999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21753" y="2626350"/>
            <a:ext cx="8404900" cy="187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8"/>
              </a:lnSpc>
            </a:pPr>
            <a:r>
              <a:rPr lang="en-US" sz="2677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Quant</a:t>
            </a:r>
            <a:r>
              <a:rPr lang="en-US" sz="2677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um computing may weaken some existing encryption methods by making difficult mathematical problems easier to attack.</a:t>
            </a:r>
          </a:p>
          <a:p>
            <a:pPr algn="just">
              <a:lnSpc>
                <a:spcPts val="3748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9221753" y="4465372"/>
            <a:ext cx="456223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DEFENSE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21753" y="5013145"/>
            <a:ext cx="8312418" cy="133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Quant</a:t>
            </a:r>
            <a:r>
              <a:rPr lang="en-US" sz="249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um resources can also be used to simulate security techniques and test the resilience of systems.</a:t>
            </a:r>
          </a:p>
          <a:p>
            <a:pPr algn="just">
              <a:lnSpc>
                <a:spcPts val="3779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9221753" y="6774893"/>
            <a:ext cx="456223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IT MATTERS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21753" y="7327892"/>
            <a:ext cx="8312418" cy="171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2499">
                <a:solidFill>
                  <a:srgbClr val="374654"/>
                </a:solidFill>
                <a:latin typeface="Canva Sans"/>
                <a:ea typeface="Canva Sans"/>
                <a:cs typeface="Canva Sans"/>
                <a:sym typeface="Canva Sans"/>
              </a:rPr>
              <a:t>e chapter links quantum processing with complex combinatorial calculations and communication security.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50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6291299" y="2122238"/>
            <a:ext cx="956802" cy="1777841"/>
          </a:xfrm>
          <a:custGeom>
            <a:avLst/>
            <a:gdLst/>
            <a:ahLst/>
            <a:cxnLst/>
            <a:rect r="r" b="b" t="t" l="l"/>
            <a:pathLst>
              <a:path h="1777841" w="956802">
                <a:moveTo>
                  <a:pt x="0" y="0"/>
                </a:moveTo>
                <a:lnTo>
                  <a:pt x="956802" y="0"/>
                </a:lnTo>
                <a:lnTo>
                  <a:pt x="956802" y="1777841"/>
                </a:lnTo>
                <a:lnTo>
                  <a:pt x="0" y="17778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2366042" y="4325355"/>
            <a:ext cx="435579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 ce</a:t>
            </a:r>
            <a:r>
              <a:rPr lang="en-US" sz="2100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ntral application and risk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31233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739846" y="9434061"/>
            <a:ext cx="2029959" cy="438339"/>
            <a:chOff x="0" y="0"/>
            <a:chExt cx="534639" cy="1154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4639" cy="115447"/>
            </a:xfrm>
            <a:custGeom>
              <a:avLst/>
              <a:gdLst/>
              <a:ahLst/>
              <a:cxnLst/>
              <a:rect r="r" b="b" t="t" l="l"/>
              <a:pathLst>
                <a:path h="115447" w="534639">
                  <a:moveTo>
                    <a:pt x="38138" y="0"/>
                  </a:moveTo>
                  <a:lnTo>
                    <a:pt x="496501" y="0"/>
                  </a:lnTo>
                  <a:cubicBezTo>
                    <a:pt x="506616" y="0"/>
                    <a:pt x="516317" y="4018"/>
                    <a:pt x="523469" y="11170"/>
                  </a:cubicBezTo>
                  <a:cubicBezTo>
                    <a:pt x="530621" y="18323"/>
                    <a:pt x="534639" y="28023"/>
                    <a:pt x="534639" y="38138"/>
                  </a:cubicBezTo>
                  <a:lnTo>
                    <a:pt x="534639" y="77309"/>
                  </a:lnTo>
                  <a:cubicBezTo>
                    <a:pt x="534639" y="87424"/>
                    <a:pt x="530621" y="97124"/>
                    <a:pt x="523469" y="104277"/>
                  </a:cubicBezTo>
                  <a:cubicBezTo>
                    <a:pt x="516317" y="111429"/>
                    <a:pt x="506616" y="115447"/>
                    <a:pt x="496501" y="115447"/>
                  </a:cubicBezTo>
                  <a:lnTo>
                    <a:pt x="38138" y="115447"/>
                  </a:lnTo>
                  <a:cubicBezTo>
                    <a:pt x="28023" y="115447"/>
                    <a:pt x="18323" y="111429"/>
                    <a:pt x="11170" y="104277"/>
                  </a:cubicBezTo>
                  <a:cubicBezTo>
                    <a:pt x="4018" y="97124"/>
                    <a:pt x="0" y="87424"/>
                    <a:pt x="0" y="77309"/>
                  </a:cubicBezTo>
                  <a:lnTo>
                    <a:pt x="0" y="38138"/>
                  </a:lnTo>
                  <a:cubicBezTo>
                    <a:pt x="0" y="28023"/>
                    <a:pt x="4018" y="18323"/>
                    <a:pt x="11170" y="11170"/>
                  </a:cubicBezTo>
                  <a:cubicBezTo>
                    <a:pt x="18323" y="4018"/>
                    <a:pt x="28023" y="0"/>
                    <a:pt x="38138" y="0"/>
                  </a:cubicBezTo>
                  <a:close/>
                </a:path>
              </a:pathLst>
            </a:custGeom>
            <a:solidFill>
              <a:srgbClr val="6E9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4639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02379" y="9491093"/>
            <a:ext cx="324275" cy="324275"/>
          </a:xfrm>
          <a:custGeom>
            <a:avLst/>
            <a:gdLst/>
            <a:ahLst/>
            <a:cxnLst/>
            <a:rect r="r" b="b" t="t" l="l"/>
            <a:pathLst>
              <a:path h="324275" w="324275">
                <a:moveTo>
                  <a:pt x="0" y="0"/>
                </a:moveTo>
                <a:lnTo>
                  <a:pt x="324274" y="0"/>
                </a:lnTo>
                <a:lnTo>
                  <a:pt x="324274" y="324275"/>
                </a:lnTo>
                <a:lnTo>
                  <a:pt x="0" y="32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3825" y="831514"/>
            <a:ext cx="118035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51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70189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82997" y="9452993"/>
            <a:ext cx="1358350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 Page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573993" y="4497023"/>
            <a:ext cx="298877" cy="298877"/>
          </a:xfrm>
          <a:custGeom>
            <a:avLst/>
            <a:gdLst/>
            <a:ahLst/>
            <a:cxnLst/>
            <a:rect r="r" b="b" t="t" l="l"/>
            <a:pathLst>
              <a:path h="298877" w="298877">
                <a:moveTo>
                  <a:pt x="0" y="0"/>
                </a:moveTo>
                <a:lnTo>
                  <a:pt x="298877" y="0"/>
                </a:lnTo>
                <a:lnTo>
                  <a:pt x="298877" y="298878"/>
                </a:lnTo>
                <a:lnTo>
                  <a:pt x="0" y="2988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592922" y="2017081"/>
            <a:ext cx="12795869" cy="188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5"/>
              </a:lnSpc>
            </a:pPr>
            <a:r>
              <a:rPr lang="en-US" b="true" sz="761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Challenges &amp; Outlook</a:t>
            </a:r>
          </a:p>
          <a:p>
            <a:pPr algn="ctr">
              <a:lnSpc>
                <a:spcPts val="6855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3127935" y="3727789"/>
            <a:ext cx="4445161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87875" y="4322765"/>
            <a:ext cx="6325280" cy="4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•Qubit</a:t>
            </a: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states are highly unstable and prone to interference</a:t>
            </a:r>
          </a:p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•Requires ultra-cold, isolated environments to maintain stability</a:t>
            </a:r>
          </a:p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•Error rates are far higher than classical systems</a:t>
            </a:r>
          </a:p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•Technology is costly and not yet mature for public use</a:t>
            </a:r>
          </a:p>
          <a:p>
            <a:pPr algn="just">
              <a:lnSpc>
                <a:spcPts val="3833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127311" y="3661964"/>
            <a:ext cx="4206729" cy="47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2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Outlook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60880" y="4318346"/>
            <a:ext cx="6739245" cy="4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•IBM targ</a:t>
            </a: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ets 4,000+ qubit systems and 10K+ qubits by 2026</a:t>
            </a:r>
          </a:p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•Google is working toward a 1,000,000-qubit system by 2029</a:t>
            </a:r>
          </a:p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•Microsoft &amp; Honeywell are advancing new qubit architectures</a:t>
            </a:r>
          </a:p>
          <a:p>
            <a:pPr algn="just">
              <a:lnSpc>
                <a:spcPts val="3833"/>
              </a:lnSpc>
            </a:pPr>
            <a:r>
              <a:rPr lang="en-US" sz="27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•Growth will unlock breakthroughs across medicine, AI, and security</a:t>
            </a:r>
          </a:p>
          <a:p>
            <a:pPr algn="just">
              <a:lnSpc>
                <a:spcPts val="3833"/>
              </a:lnSpc>
            </a:pPr>
          </a:p>
        </p:txBody>
      </p:sp>
      <p:sp>
        <p:nvSpPr>
          <p:cNvPr name="AutoShape 28" id="28"/>
          <p:cNvSpPr/>
          <p:nvPr/>
        </p:nvSpPr>
        <p:spPr>
          <a:xfrm flipV="true">
            <a:off x="8937018" y="4365971"/>
            <a:ext cx="0" cy="3535308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bg>
      <p:bgPr>
        <a:solidFill>
          <a:srgbClr val="374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4534" y="809531"/>
            <a:ext cx="1638932" cy="438339"/>
            <a:chOff x="0" y="0"/>
            <a:chExt cx="431653" cy="11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41102" y="809531"/>
            <a:ext cx="1638932" cy="438339"/>
            <a:chOff x="0" y="0"/>
            <a:chExt cx="431653" cy="1154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1653" cy="115447"/>
            </a:xfrm>
            <a:custGeom>
              <a:avLst/>
              <a:gdLst/>
              <a:ahLst/>
              <a:cxnLst/>
              <a:rect r="r" b="b" t="t" l="l"/>
              <a:pathLst>
                <a:path h="115447" w="431653">
                  <a:moveTo>
                    <a:pt x="47238" y="0"/>
                  </a:moveTo>
                  <a:lnTo>
                    <a:pt x="384415" y="0"/>
                  </a:lnTo>
                  <a:cubicBezTo>
                    <a:pt x="396943" y="0"/>
                    <a:pt x="408958" y="4977"/>
                    <a:pt x="417817" y="13836"/>
                  </a:cubicBezTo>
                  <a:cubicBezTo>
                    <a:pt x="426676" y="22694"/>
                    <a:pt x="431653" y="34709"/>
                    <a:pt x="431653" y="47238"/>
                  </a:cubicBezTo>
                  <a:lnTo>
                    <a:pt x="431653" y="68210"/>
                  </a:lnTo>
                  <a:cubicBezTo>
                    <a:pt x="431653" y="80738"/>
                    <a:pt x="426676" y="92753"/>
                    <a:pt x="417817" y="101612"/>
                  </a:cubicBezTo>
                  <a:cubicBezTo>
                    <a:pt x="408958" y="110470"/>
                    <a:pt x="396943" y="115447"/>
                    <a:pt x="384415" y="115447"/>
                  </a:cubicBezTo>
                  <a:lnTo>
                    <a:pt x="47238" y="115447"/>
                  </a:lnTo>
                  <a:cubicBezTo>
                    <a:pt x="34709" y="115447"/>
                    <a:pt x="22694" y="110470"/>
                    <a:pt x="13836" y="101612"/>
                  </a:cubicBezTo>
                  <a:cubicBezTo>
                    <a:pt x="4977" y="92753"/>
                    <a:pt x="0" y="80738"/>
                    <a:pt x="0" y="68210"/>
                  </a:cubicBezTo>
                  <a:lnTo>
                    <a:pt x="0" y="47238"/>
                  </a:lnTo>
                  <a:cubicBezTo>
                    <a:pt x="0" y="34709"/>
                    <a:pt x="4977" y="22694"/>
                    <a:pt x="13836" y="13836"/>
                  </a:cubicBezTo>
                  <a:cubicBezTo>
                    <a:pt x="22694" y="4977"/>
                    <a:pt x="34709" y="0"/>
                    <a:pt x="47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6E97B1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1653" cy="15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039131"/>
            <a:ext cx="18288000" cy="1247869"/>
            <a:chOff x="0" y="0"/>
            <a:chExt cx="4816593" cy="328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328657"/>
            </a:xfrm>
            <a:custGeom>
              <a:avLst/>
              <a:gdLst/>
              <a:ahLst/>
              <a:cxnLst/>
              <a:rect r="r" b="b" t="t" l="l"/>
              <a:pathLst>
                <a:path h="328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657"/>
                  </a:lnTo>
                  <a:lnTo>
                    <a:pt x="0" y="328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66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439179" y="831514"/>
            <a:ext cx="140964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Last Page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66042" y="831514"/>
            <a:ext cx="1169312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55646" y="831514"/>
            <a:ext cx="1609845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Contact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4500" y="831514"/>
            <a:ext cx="432530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7486" y="831514"/>
            <a:ext cx="118035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8196" y="9456044"/>
            <a:ext cx="2074727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746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Closing Page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8196" y="2948130"/>
            <a:ext cx="8322562" cy="4219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</a:pPr>
            <a:r>
              <a:rPr lang="en-US" sz="11748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6E97B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DAHUyNGCFXs</dc:identifier>
  <dcterms:modified xsi:type="dcterms:W3CDTF">2011-08-01T06:04:30Z</dcterms:modified>
  <cp:revision>1</cp:revision>
  <dc:title>Quantum Computing Presentation</dc:title>
</cp:coreProperties>
</file>