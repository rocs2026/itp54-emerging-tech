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Roca Two Heavy" charset="1" panose="00000A00000000000000"/>
      <p:regular r:id="rId30"/>
    </p:embeddedFont>
    <p:embeddedFont>
      <p:font typeface="TT Chocolates" charset="1" panose="02000503020000020003"/>
      <p:regular r:id="rId31"/>
    </p:embeddedFont>
    <p:embeddedFont>
      <p:font typeface="TT Chocolates Bold" charset="1" panose="02000803020000020003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3156809"/>
            <a:ext cx="14167123" cy="4763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64"/>
              </a:lnSpc>
            </a:pPr>
            <a:r>
              <a:rPr lang="en-US" sz="21663" spc="-1646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5G Technology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148710" y="5541274"/>
            <a:ext cx="1393548" cy="1440654"/>
          </a:xfrm>
          <a:custGeom>
            <a:avLst/>
            <a:gdLst/>
            <a:ahLst/>
            <a:cxnLst/>
            <a:rect r="r" b="b" t="t" l="l"/>
            <a:pathLst>
              <a:path h="1440654" w="1393548">
                <a:moveTo>
                  <a:pt x="0" y="0"/>
                </a:moveTo>
                <a:lnTo>
                  <a:pt x="1393548" y="0"/>
                </a:lnTo>
                <a:lnTo>
                  <a:pt x="1393548" y="1440654"/>
                </a:lnTo>
                <a:lnTo>
                  <a:pt x="0" y="14406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850918" y="8030091"/>
            <a:ext cx="5691340" cy="70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Zywynne Jedrick Ambunan</a:t>
            </a:r>
          </a:p>
          <a:p>
            <a:pPr algn="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Brent Mamaradlo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930173" y="210613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930173" y="9634278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322371"/>
            <a:ext cx="12469102" cy="25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8"/>
              </a:lnSpc>
            </a:pP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An Introduction to 5G Technology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301134"/>
            <a:ext cx="14393900" cy="519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4"/>
              </a:lnSpc>
            </a:pPr>
          </a:p>
          <a:p>
            <a:pPr algn="l" marL="836510" indent="-418255" lvl="1">
              <a:lnSpc>
                <a:spcPts val="6974"/>
              </a:lnSpc>
              <a:buFont typeface="Arial"/>
              <a:buChar char="•"/>
            </a:pPr>
            <a:r>
              <a:rPr lang="en-US" sz="3874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5G is the fifth generation of wireless technology.</a:t>
            </a:r>
          </a:p>
          <a:p>
            <a:pPr algn="l" marL="836510" indent="-418255" lvl="1">
              <a:lnSpc>
                <a:spcPts val="6974"/>
              </a:lnSpc>
              <a:buFont typeface="Arial"/>
              <a:buChar char="•"/>
            </a:pPr>
            <a:r>
              <a:rPr lang="en-US" sz="3874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It is designed to provide significantly faster speed, reduced latency, improved performance, greater capacity, and higher bandwidth.</a:t>
            </a:r>
          </a:p>
          <a:p>
            <a:pPr algn="l" marL="836510" indent="-418255" lvl="1">
              <a:lnSpc>
                <a:spcPts val="6974"/>
              </a:lnSpc>
              <a:buFont typeface="Arial"/>
              <a:buChar char="•"/>
            </a:pPr>
            <a:r>
              <a:rPr lang="en-US" sz="3874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It can support massive connectivity of devices and services.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66976" y="1171575"/>
            <a:ext cx="12469102" cy="25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8"/>
              </a:lnSpc>
            </a:pP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I</a:t>
            </a: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mportance of</a:t>
            </a:r>
          </a:p>
          <a:p>
            <a:pPr algn="l">
              <a:lnSpc>
                <a:spcPts val="10068"/>
              </a:lnSpc>
            </a:pP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﻿5G  Technology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4731" y="3610815"/>
            <a:ext cx="9470568" cy="139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5G wireless technology is the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next-generation technology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that can impact: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5174055"/>
            <a:ext cx="11592550" cy="429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Business and industries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Society and social life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Governments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Automation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Modern technologies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Cybersecurity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30159" y="5295975"/>
            <a:ext cx="3991136" cy="211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Industry 4.0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Remote workplace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Healthcare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60582" y="3093507"/>
            <a:ext cx="3991136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Why is 5G important?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60582" y="3610815"/>
            <a:ext cx="7485184" cy="573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highspeed 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adoptability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low-latency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enormous capacity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improved 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performance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greater efficiency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reduced carbon footprints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supersmooth mobility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66976" y="1171575"/>
            <a:ext cx="12469102" cy="25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8"/>
              </a:lnSpc>
            </a:pP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E</a:t>
            </a: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volution of Cellular Networks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4731" y="3610815"/>
            <a:ext cx="14390791" cy="139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Cellular networks have evolved through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four decades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using numerous analog and digital technologies, with task-specific applications and communication protocols.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66976" y="5664899"/>
            <a:ext cx="15420458" cy="714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2"/>
              </a:lnSpc>
            </a:pPr>
            <a:r>
              <a:rPr lang="en-US" b="true" sz="342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﻿GENERATION OF CELLULAR NETWORKS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888273" y="7238981"/>
            <a:ext cx="11747956" cy="1086114"/>
            <a:chOff x="0" y="0"/>
            <a:chExt cx="15663942" cy="1448152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896304" cy="1448152"/>
              <a:chOff x="0" y="0"/>
              <a:chExt cx="812800" cy="4064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77800" y="-47625"/>
                <a:ext cx="558800" cy="454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2553527" y="0"/>
              <a:ext cx="2896304" cy="1448152"/>
              <a:chOff x="0" y="0"/>
              <a:chExt cx="812800" cy="406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77800" y="-47625"/>
                <a:ext cx="558800" cy="454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5107055" y="0"/>
              <a:ext cx="2896304" cy="1448152"/>
              <a:chOff x="0" y="0"/>
              <a:chExt cx="812800" cy="4064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77800" y="-47625"/>
                <a:ext cx="558800" cy="454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7660582" y="0"/>
              <a:ext cx="2896304" cy="1448152"/>
              <a:chOff x="0" y="0"/>
              <a:chExt cx="812800" cy="4064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77800" y="-47625"/>
                <a:ext cx="558800" cy="454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0214110" y="0"/>
              <a:ext cx="2896304" cy="1448152"/>
              <a:chOff x="0" y="0"/>
              <a:chExt cx="812800" cy="4064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77800" y="-47625"/>
                <a:ext cx="558800" cy="454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12767637" y="0"/>
              <a:ext cx="2896304" cy="1448152"/>
              <a:chOff x="0" y="0"/>
              <a:chExt cx="812800" cy="4064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177800" y="-47625"/>
                <a:ext cx="558800" cy="454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873235" y="-214454"/>
              <a:ext cx="1149834" cy="1534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620"/>
                </a:lnSpc>
              </a:pPr>
              <a:r>
                <a:rPr lang="en-US" b="true" sz="5900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1G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3428676" y="-214454"/>
              <a:ext cx="1574051" cy="1534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620"/>
                </a:lnSpc>
              </a:pPr>
              <a:r>
                <a:rPr lang="en-US" b="true" sz="5900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2G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5984118" y="-214454"/>
              <a:ext cx="1574051" cy="1534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620"/>
                </a:lnSpc>
              </a:pPr>
              <a:r>
                <a:rPr lang="en-US" b="true" sz="5900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3G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8539559" y="-214454"/>
              <a:ext cx="1574051" cy="1534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620"/>
                </a:lnSpc>
              </a:pPr>
              <a:r>
                <a:rPr lang="en-US" b="true" sz="5900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4G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1095000" y="-214454"/>
              <a:ext cx="1574051" cy="1534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620"/>
                </a:lnSpc>
              </a:pPr>
              <a:r>
                <a:rPr lang="en-US" b="true" sz="5900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5G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3643814" y="-214454"/>
              <a:ext cx="1574051" cy="1534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620"/>
                </a:lnSpc>
              </a:pPr>
              <a:r>
                <a:rPr lang="en-US" b="true" sz="5900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6G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24731" y="1485151"/>
            <a:ext cx="12469102" cy="131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8"/>
              </a:lnSpc>
            </a:pP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F</a:t>
            </a: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irst Generation (1G)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0572" y="2610794"/>
            <a:ext cx="14390791" cy="573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Can be tracked back to the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1960s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through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primitive research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and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development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Started when commercial cellular communication was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launched in 1979 in Tokyo, Japan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. 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1980 - different countries launched technologies such as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AMPS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(USA),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NMT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(Nordic)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used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800 MHz band 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for voice and signaling based on frequency division multiple access (FDMA) technology.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930889" y="8965765"/>
            <a:ext cx="1170140" cy="585070"/>
            <a:chOff x="0" y="0"/>
            <a:chExt cx="8128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348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962543" y="8965765"/>
            <a:ext cx="1170140" cy="585070"/>
            <a:chOff x="0" y="0"/>
            <a:chExt cx="812800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94197" y="8965765"/>
            <a:ext cx="1170140" cy="585070"/>
            <a:chOff x="0" y="0"/>
            <a:chExt cx="812800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025851" y="8965765"/>
            <a:ext cx="1170140" cy="585070"/>
            <a:chOff x="0" y="0"/>
            <a:chExt cx="812800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057506" y="8965765"/>
            <a:ext cx="1170140" cy="585070"/>
            <a:chOff x="0" y="0"/>
            <a:chExt cx="812800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089160" y="8965765"/>
            <a:ext cx="1170140" cy="585070"/>
            <a:chOff x="0" y="0"/>
            <a:chExt cx="812800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283686" y="8827159"/>
            <a:ext cx="464546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16113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48541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3G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380968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4G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413395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5G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43145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6G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24731" y="1485151"/>
            <a:ext cx="12469102" cy="131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8"/>
              </a:lnSpc>
            </a:pP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F</a:t>
            </a: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irst Generation (1G)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4731" y="2623380"/>
            <a:ext cx="14390791" cy="284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It was an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analog wireless technology — highly prone to interference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Limited to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voice calls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with no support for text or other software-based applications.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Initial paging networks were also considered part of 1G wireless networks.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930889" y="8965765"/>
            <a:ext cx="1170140" cy="585070"/>
            <a:chOff x="0" y="0"/>
            <a:chExt cx="8128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348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962543" y="8965765"/>
            <a:ext cx="1170140" cy="585070"/>
            <a:chOff x="0" y="0"/>
            <a:chExt cx="812800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94197" y="8965765"/>
            <a:ext cx="1170140" cy="585070"/>
            <a:chOff x="0" y="0"/>
            <a:chExt cx="812800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025851" y="8965765"/>
            <a:ext cx="1170140" cy="585070"/>
            <a:chOff x="0" y="0"/>
            <a:chExt cx="812800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057506" y="8965765"/>
            <a:ext cx="1170140" cy="585070"/>
            <a:chOff x="0" y="0"/>
            <a:chExt cx="812800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089160" y="8965765"/>
            <a:ext cx="1170140" cy="585070"/>
            <a:chOff x="0" y="0"/>
            <a:chExt cx="812800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283686" y="8827159"/>
            <a:ext cx="464546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16113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48541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3G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380968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4G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413395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5G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43145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6G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51785" y="1116007"/>
            <a:ext cx="12469102" cy="131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8"/>
              </a:lnSpc>
            </a:pP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Second </a:t>
            </a: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Generation (2G)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0572" y="2241649"/>
            <a:ext cx="14390791" cy="139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Evolved from the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1G analog networks 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to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digital networks.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Supported: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930889" y="8965765"/>
            <a:ext cx="1170140" cy="585070"/>
            <a:chOff x="0" y="0"/>
            <a:chExt cx="8128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962543" y="8965765"/>
            <a:ext cx="1170140" cy="585070"/>
            <a:chOff x="0" y="0"/>
            <a:chExt cx="812800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348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94197" y="8965765"/>
            <a:ext cx="1170140" cy="585070"/>
            <a:chOff x="0" y="0"/>
            <a:chExt cx="812800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025851" y="8965765"/>
            <a:ext cx="1170140" cy="585070"/>
            <a:chOff x="0" y="0"/>
            <a:chExt cx="812800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057506" y="8965765"/>
            <a:ext cx="1170140" cy="585070"/>
            <a:chOff x="0" y="0"/>
            <a:chExt cx="812800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089160" y="8965765"/>
            <a:ext cx="1170140" cy="585070"/>
            <a:chOff x="0" y="0"/>
            <a:chExt cx="812800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283686" y="8827159"/>
            <a:ext cx="464546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16113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48541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3G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380968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4G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413395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5G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43145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6G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897209" y="3165065"/>
            <a:ext cx="6267942" cy="1992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Voice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Text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mess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gi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n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g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Multimedi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messa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ges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Very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low-spee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In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er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net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ervices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40572" y="5275140"/>
            <a:ext cx="14390791" cy="356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Operated at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900 MHz and 1800 MHz bands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Used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Time Division Multiple Access (TDMA)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instead of FDMA.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GPRS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and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EDGE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were introduced to improve Internet speed.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GSM (Global System for Mobile Communication)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was launched in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1991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in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Finland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51785" y="1116007"/>
            <a:ext cx="12469102" cy="131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8"/>
              </a:lnSpc>
            </a:pP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Third </a:t>
            </a: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Generation (3G)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1026" y="2072640"/>
            <a:ext cx="14390791" cy="718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based on the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core structure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of wireless n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etwork governed by the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Universal Mobile Telecommunication System (UMTS) 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standard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Designed to provide better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Internet speed 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and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performance.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Example: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IS95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(Interim Standard 95) used in the USA,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CDMA-One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,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CDMA2000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offered better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speeds up to 21.6 Mbp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 under HSPA + (Evolved High Speed Packet Access plus)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Initially supported speeds of up to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 Mbps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Started utilizing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packet switching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to improve data throughput and transmission performance.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Operated at 2100 MHz with 15–20 MHz channel bands.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930889" y="8965765"/>
            <a:ext cx="1170140" cy="585070"/>
            <a:chOff x="0" y="0"/>
            <a:chExt cx="8128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962543" y="8965765"/>
            <a:ext cx="1170140" cy="585070"/>
            <a:chOff x="0" y="0"/>
            <a:chExt cx="812800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94197" y="8965765"/>
            <a:ext cx="1170140" cy="585070"/>
            <a:chOff x="0" y="0"/>
            <a:chExt cx="812800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348A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025851" y="8965765"/>
            <a:ext cx="1170140" cy="585070"/>
            <a:chOff x="0" y="0"/>
            <a:chExt cx="812800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057506" y="8965765"/>
            <a:ext cx="1170140" cy="585070"/>
            <a:chOff x="0" y="0"/>
            <a:chExt cx="812800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089160" y="8965765"/>
            <a:ext cx="1170140" cy="585070"/>
            <a:chOff x="0" y="0"/>
            <a:chExt cx="812800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283686" y="8827159"/>
            <a:ext cx="464546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16113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48541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3G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380968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4G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413395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5G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43145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6G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51785" y="1116007"/>
            <a:ext cx="12469102" cy="131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8"/>
              </a:lnSpc>
            </a:pP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Fourth </a:t>
            </a: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Generation (4G)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139510"/>
            <a:ext cx="14390791" cy="6461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Developed under the 3rd Generation Partnership Project (3GPP).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The fundamental technology for the evolution of 4G is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Long Term Evolution (LTE).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Wi-Max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provided fixed and mobile wireless communication.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First 4G network was launched in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2009 in Norway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Released in two versions: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R8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and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R9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Uses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Orthogonal Frequency Division Multiplexing (OFDM).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Supports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Multiple Input and Multiple Output (MIMO) 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for increased throughput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930889" y="8965765"/>
            <a:ext cx="1170140" cy="585070"/>
            <a:chOff x="0" y="0"/>
            <a:chExt cx="8128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962543" y="8965765"/>
            <a:ext cx="1170140" cy="585070"/>
            <a:chOff x="0" y="0"/>
            <a:chExt cx="812800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94197" y="8965765"/>
            <a:ext cx="1170140" cy="585070"/>
            <a:chOff x="0" y="0"/>
            <a:chExt cx="812800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025851" y="8965765"/>
            <a:ext cx="1170140" cy="585070"/>
            <a:chOff x="0" y="0"/>
            <a:chExt cx="812800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348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057506" y="8965765"/>
            <a:ext cx="1170140" cy="585070"/>
            <a:chOff x="0" y="0"/>
            <a:chExt cx="812800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089160" y="8965765"/>
            <a:ext cx="1170140" cy="585070"/>
            <a:chOff x="0" y="0"/>
            <a:chExt cx="812800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283686" y="8827159"/>
            <a:ext cx="464546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16113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48541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3G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380968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4G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413395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5G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43145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6G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51785" y="1116007"/>
            <a:ext cx="12469102" cy="131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8"/>
              </a:lnSpc>
            </a:pP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Fourth </a:t>
            </a: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Generation (4G)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241649"/>
            <a:ext cx="14390791" cy="211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Mostly operates at the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700 MHz band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Supports high-speed video streaming, voice, and multimedia services.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Peak speed: up to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50 Mbps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; real-world average: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15–20 Mbps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930889" y="8965765"/>
            <a:ext cx="1170140" cy="585070"/>
            <a:chOff x="0" y="0"/>
            <a:chExt cx="8128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962543" y="8965765"/>
            <a:ext cx="1170140" cy="585070"/>
            <a:chOff x="0" y="0"/>
            <a:chExt cx="812800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94197" y="8965765"/>
            <a:ext cx="1170140" cy="585070"/>
            <a:chOff x="0" y="0"/>
            <a:chExt cx="812800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025851" y="8965765"/>
            <a:ext cx="1170140" cy="585070"/>
            <a:chOff x="0" y="0"/>
            <a:chExt cx="812800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348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057506" y="8965765"/>
            <a:ext cx="1170140" cy="585070"/>
            <a:chOff x="0" y="0"/>
            <a:chExt cx="812800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089160" y="8965765"/>
            <a:ext cx="1170140" cy="585070"/>
            <a:chOff x="0" y="0"/>
            <a:chExt cx="812800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283686" y="8827159"/>
            <a:ext cx="464546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16113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48541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3G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380968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4G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413395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5G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43145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6G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51785" y="1116007"/>
            <a:ext cx="12469102" cy="131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8"/>
              </a:lnSpc>
            </a:pP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Fifth </a:t>
            </a: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Generation (5G)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241649"/>
            <a:ext cx="14390791" cy="429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Considered a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futuristic wireless technology.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Provides about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100 times faster speed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compared to 4G.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Has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reduced latency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and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improved performance.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Designed to support up to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10 Gbps Internet speed.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Provides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very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negligible latency.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Basic characteristics include: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930889" y="8965765"/>
            <a:ext cx="1170140" cy="585070"/>
            <a:chOff x="0" y="0"/>
            <a:chExt cx="8128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962543" y="8965765"/>
            <a:ext cx="1170140" cy="585070"/>
            <a:chOff x="0" y="0"/>
            <a:chExt cx="812800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94197" y="8965765"/>
            <a:ext cx="1170140" cy="585070"/>
            <a:chOff x="0" y="0"/>
            <a:chExt cx="812800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025851" y="8965765"/>
            <a:ext cx="1170140" cy="585070"/>
            <a:chOff x="0" y="0"/>
            <a:chExt cx="812800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057506" y="8965765"/>
            <a:ext cx="1170140" cy="585070"/>
            <a:chOff x="0" y="0"/>
            <a:chExt cx="812800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348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089160" y="8965765"/>
            <a:ext cx="1170140" cy="585070"/>
            <a:chOff x="0" y="0"/>
            <a:chExt cx="812800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283686" y="8827159"/>
            <a:ext cx="464546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16113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48541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3G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380968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4G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413395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5G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43145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6G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194210" y="6512659"/>
            <a:ext cx="6267942" cy="1496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larger bandwidths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lower latency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higher capacity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22605" y="8057093"/>
            <a:ext cx="14390791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was launched in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2019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and will continue to 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expand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51785" y="1116007"/>
            <a:ext cx="12469102" cy="131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8"/>
              </a:lnSpc>
            </a:pP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Fifth </a:t>
            </a: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Generation (5G)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241649"/>
            <a:ext cx="14390791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The most salient capabilities can be defined as: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930889" y="8965765"/>
            <a:ext cx="1170140" cy="585070"/>
            <a:chOff x="0" y="0"/>
            <a:chExt cx="8128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962543" y="8965765"/>
            <a:ext cx="1170140" cy="585070"/>
            <a:chOff x="0" y="0"/>
            <a:chExt cx="812800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94197" y="8965765"/>
            <a:ext cx="1170140" cy="585070"/>
            <a:chOff x="0" y="0"/>
            <a:chExt cx="812800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025851" y="8965765"/>
            <a:ext cx="1170140" cy="585070"/>
            <a:chOff x="0" y="0"/>
            <a:chExt cx="812800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057506" y="8965765"/>
            <a:ext cx="1170140" cy="585070"/>
            <a:chOff x="0" y="0"/>
            <a:chExt cx="812800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348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089160" y="8965765"/>
            <a:ext cx="1170140" cy="585070"/>
            <a:chOff x="0" y="0"/>
            <a:chExt cx="812800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283686" y="8827159"/>
            <a:ext cx="464546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16113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48541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3G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380968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4G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413395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5G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43145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6G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956153" y="3051019"/>
            <a:ext cx="10677927" cy="1496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eMBB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– Enhanced Mobile Broadband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mMTC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– Massive Machine Type Communication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URLLC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– Ultra-Reliable Low Latency Communication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28700" y="4693995"/>
            <a:ext cx="14390791" cy="139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Uses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millimeter waves. 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Effective for: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956153" y="6231330"/>
            <a:ext cx="10677927" cy="2487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Internet of Things (IoT)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Virtual Reality and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Augmented Reality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(AR/V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R)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driverless vehicles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drones and robotics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51785" y="1116007"/>
            <a:ext cx="12469102" cy="131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8"/>
              </a:lnSpc>
            </a:pP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Sixth </a:t>
            </a: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Generation (6G)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1785" y="2703000"/>
            <a:ext cx="14390791" cy="211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6G technology is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under development and research phase.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It has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not materialized yet.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It is characterized as an </a:t>
            </a: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upcoming futuristic technology.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930889" y="8965765"/>
            <a:ext cx="1170140" cy="585070"/>
            <a:chOff x="0" y="0"/>
            <a:chExt cx="8128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962543" y="8965765"/>
            <a:ext cx="1170140" cy="585070"/>
            <a:chOff x="0" y="0"/>
            <a:chExt cx="812800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94197" y="8965765"/>
            <a:ext cx="1170140" cy="585070"/>
            <a:chOff x="0" y="0"/>
            <a:chExt cx="812800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025851" y="8965765"/>
            <a:ext cx="1170140" cy="585070"/>
            <a:chOff x="0" y="0"/>
            <a:chExt cx="812800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057506" y="8965765"/>
            <a:ext cx="1170140" cy="585070"/>
            <a:chOff x="0" y="0"/>
            <a:chExt cx="812800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089160" y="8965765"/>
            <a:ext cx="1170140" cy="585070"/>
            <a:chOff x="0" y="0"/>
            <a:chExt cx="812800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348A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27365" lIns="27365" bIns="27365" rIns="27365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283686" y="8827159"/>
            <a:ext cx="464546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16113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48541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3G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380968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4G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413395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5G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43145" y="8827159"/>
            <a:ext cx="635934" cy="6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b="true" sz="3178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6G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322371"/>
            <a:ext cx="12469102" cy="25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8"/>
              </a:lnSpc>
            </a:pP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A</a:t>
            </a: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rchitecture of 5G Network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724363"/>
            <a:ext cx="14036130" cy="284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5G architecture is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modular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and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open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Powered by more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software-defined infrastructure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Open for custom development of interfaces, applications, and services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Uses: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24288" y="6547574"/>
            <a:ext cx="10677927" cy="1992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Application Programming Interfaces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Cloud computing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Edge computing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New radio interfaces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322371"/>
            <a:ext cx="12469102" cy="25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8"/>
              </a:lnSpc>
            </a:pP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A</a:t>
            </a: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rchitecture of 5G Network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724363"/>
            <a:ext cx="1403613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Three major components according to 3GPP: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436813" y="4491246"/>
            <a:ext cx="10677927" cy="1496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Core Transport Network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Radio Access Network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Service Capabilities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5912941"/>
            <a:ext cx="14036130" cy="356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Core network consists of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servers, data storage, switches, and security systems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Radio Access Network supports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eCPRI, beamforming, MIMO, and 5G NR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5G supports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network slicing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— process of using the same infrastructures for numerous virtual networks through virtualization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171575"/>
            <a:ext cx="12469102" cy="131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8"/>
              </a:lnSpc>
            </a:pP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3GGP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97217"/>
            <a:ext cx="14036130" cy="501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3GPP —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Third-Generation Partnership Project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Organization focused on developing standards for wireless telecommunication systems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Established in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1998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Originally focused on standards for the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3rd generation wireless network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At present, it is a core standard development body behind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5G technology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Supports development of: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976420" y="6969085"/>
            <a:ext cx="10677927" cy="2487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Technology standards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Specifications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Protocols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Network element compatibility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Forward and backward compatibility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171575"/>
            <a:ext cx="12469102" cy="131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8"/>
              </a:lnSpc>
            </a:pP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3GGP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97217"/>
            <a:ext cx="14036130" cy="211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There are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three Technical Specification Groups (TSGs)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that deal 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with different domains of wireless technologies for building specification and technical recommendations: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308133" y="4802310"/>
            <a:ext cx="10677927" cy="1496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RAN TSG 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— Radio Access Network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SA TSG 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— Service &amp; System Aspect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CT TSG 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— Core Network &amp; Terminals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171575"/>
            <a:ext cx="12469102" cy="131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8"/>
              </a:lnSpc>
            </a:pP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New Radio (NR)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97217"/>
            <a:ext cx="14036130" cy="211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5G wireless technology standard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developed by 3GPP with its partners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Defines a wireless interface capable of performing 5G network functionalities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Two types of 5G NR: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78865" y="4558724"/>
            <a:ext cx="10677927" cy="50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b="true" sz="32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Non-Standalone NR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25935" y="5036371"/>
            <a:ext cx="14036130" cy="211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Compatible with the existing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4G LTE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wireless network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Released under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3GPP Release 15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Allows frequency bands to be shared with existing 4G networks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48349" y="7297607"/>
            <a:ext cx="10677927" cy="50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2. </a:t>
            </a:r>
            <a:r>
              <a:rPr lang="en-US" sz="3200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Standalone NR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25935" y="7753308"/>
            <a:ext cx="14036130" cy="211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Defines both control and data transfers under 5G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Does not require compatibility with predecessor networks such as LTE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Provides the full capabilities of 5G with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high speed and low latency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58985" y="3910516"/>
            <a:ext cx="5177880" cy="211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3199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Frequency ranges: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FR1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: 410–7125 MHz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FR2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: 24,250–52,600 MHz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171575"/>
            <a:ext cx="12469102" cy="131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8"/>
              </a:lnSpc>
            </a:pP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NextGen Core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97217"/>
            <a:ext cx="14036130" cy="139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An 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mp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tan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 p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ar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 of the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3GPP spec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ification for 5G networks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Plays a crucial r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ole in the 5G core network to materialized: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24288" y="3867733"/>
            <a:ext cx="10677927" cy="1496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High-speed Internet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Virtualized services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Low-latency data transmission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5364555"/>
            <a:ext cx="14036130" cy="356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Provides high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flexibility, efficiency, and scalability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Uses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SDN (Software-Defined Networking)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Supports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NFV (Network Functions Virtualization)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Allows network functions to be virtualized and used on the same hardware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Supports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network slicing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for unique and customized services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133475"/>
            <a:ext cx="9827015" cy="1045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4"/>
              </a:lnSpc>
            </a:pPr>
            <a:r>
              <a:rPr lang="en-US" sz="7557" spc="-574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LTE Advanced Pro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9448" y="1962108"/>
            <a:ext cx="16499852" cy="790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LTE Advanced Pro (LTE-A Pro) is a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pre-5G wireless technology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Can be integrated with the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5G non-standalone standard 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under Release 15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Defined under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3GPP Release 13 and Release 14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Also referred to as: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Pre-5G, 4.9G, 4.5G, 4.5G Pro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Supports up to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3 Gbps speed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and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32 carrier aggregation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Supports sharing of licensed and unlicensed spectrum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Incorporates massive MIMO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Uses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256 QAM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(Quadrature Amplitude Modulation)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Compatible with the first version of 5G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Useful for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data-intensive and critical applications 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requiring high data rates and lower latency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171575"/>
            <a:ext cx="12469102" cy="131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8"/>
              </a:lnSpc>
            </a:pPr>
            <a:r>
              <a:rPr lang="en-US" sz="9588" spc="-728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EPC Evolution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97217"/>
            <a:ext cx="14036130" cy="573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EPC —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Evolved Packet Core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An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LTE standard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that combines voice and data through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packet switching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Defined by the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3GPP project under Release 8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Before Release 8:</a:t>
            </a:r>
          </a:p>
          <a:p>
            <a:pPr algn="l">
              <a:lnSpc>
                <a:spcPts val="5759"/>
              </a:lnSpc>
            </a:pPr>
          </a:p>
          <a:p>
            <a:pPr algn="l">
              <a:lnSpc>
                <a:spcPts val="5759"/>
              </a:lnSpc>
            </a:pP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Release 8 paved the way for an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advanced core network based on packet switching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819875" y="5345505"/>
            <a:ext cx="10677927" cy="1001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Voice calls used c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ircuit switching</a:t>
            </a:r>
          </a:p>
          <a:p>
            <a:pPr algn="l" marL="690881" indent="-345440" lvl="1">
              <a:lnSpc>
                <a:spcPts val="3904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</a:t>
            </a:r>
            <a:r>
              <a:rPr lang="en-US" sz="3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ata calls used packet switching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133475"/>
            <a:ext cx="14250332" cy="2050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4"/>
              </a:lnSpc>
            </a:pPr>
            <a:r>
              <a:rPr lang="en-US" sz="7557" spc="-574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Impact of 5G Technology on Cybersecurity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35801" y="3044115"/>
            <a:ext cx="16123499" cy="284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5G is very different from traditional mobile cellular networks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Numerous hardware devices are replaced by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software functions/applications: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Firewalls, Routers, Load-balancers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Traditional cybersecurity approaches may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not work properly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in the 5G environment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107058"/>
            <a:ext cx="16123499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MAJOR CYBERSECURITY CHALLENGES: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5801" y="6772577"/>
            <a:ext cx="16123499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Hardware-based switching →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software-based routing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64501" y="7433612"/>
            <a:ext cx="16123499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3199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&gt;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Creates more routing points where attackers can intrude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5801" y="8094647"/>
            <a:ext cx="16123499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Centralized switching →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distributed routing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64501" y="8755683"/>
            <a:ext cx="16123499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3199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&gt; 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Creates additional security risks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813731"/>
            <a:ext cx="14250332" cy="2050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4"/>
              </a:lnSpc>
            </a:pPr>
            <a:r>
              <a:rPr lang="en-US" sz="7557" spc="-574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Impact of 5G Technology on Cybersecurity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2674224"/>
            <a:ext cx="16123499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MAJOR CYBERSECURITY CHALLENGES: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5801" y="3339742"/>
            <a:ext cx="16123499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Network function virtualization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64501" y="4000778"/>
            <a:ext cx="16123499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3199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&gt;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Software-defined functions and virtualization introduce security threats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5801" y="4661813"/>
            <a:ext cx="16123499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Proprietary operating systems →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standard Internet protocols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64501" y="5322848"/>
            <a:ext cx="16123499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3199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&gt; 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Standard protocols may be more familiar to attackers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35801" y="5974359"/>
            <a:ext cx="16123499" cy="356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Software-based network management creates additional vulnerabilities and access points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Large number of access points and base-station units can increase security risks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More connected </a:t>
            </a: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IoT devices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increase the potential security issues</a:t>
            </a:r>
          </a:p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Dynamic Spectrum Sharing (DSS) </a:t>
            </a:r>
            <a:r>
              <a:rPr lang="en-US" sz="3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through network slicing creates additional security concerns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052930" y="2874720"/>
            <a:ext cx="9895170" cy="595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39"/>
              </a:lnSpc>
            </a:pPr>
            <a:r>
              <a:rPr lang="en-US" sz="27000" spc="-2052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Thank You!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923870" y="5465640"/>
            <a:ext cx="2048459" cy="2117703"/>
          </a:xfrm>
          <a:custGeom>
            <a:avLst/>
            <a:gdLst/>
            <a:ahLst/>
            <a:cxnLst/>
            <a:rect r="r" b="b" t="t" l="l"/>
            <a:pathLst>
              <a:path h="2117703" w="2048459">
                <a:moveTo>
                  <a:pt x="0" y="0"/>
                </a:moveTo>
                <a:lnTo>
                  <a:pt x="2048459" y="0"/>
                </a:lnTo>
                <a:lnTo>
                  <a:pt x="2048459" y="2117703"/>
                </a:lnTo>
                <a:lnTo>
                  <a:pt x="0" y="2117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183285" y="7826204"/>
            <a:ext cx="5691340" cy="70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Zywynne Jedrick Ambunan</a:t>
            </a:r>
          </a:p>
          <a:p>
            <a:pPr algn="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Brent Mamaradlo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DAHVD8hoy_w</dc:identifier>
  <dcterms:modified xsi:type="dcterms:W3CDTF">2011-08-01T06:04:30Z</dcterms:modified>
  <cp:revision>1</cp:revision>
  <dc:title>5G Technology</dc:title>
</cp:coreProperties>
</file>