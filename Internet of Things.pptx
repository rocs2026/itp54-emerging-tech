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Montserrat Semi-Bold" charset="1" panose="00000700000000000000"/>
      <p:regular r:id="rId16"/>
    </p:embeddedFont>
    <p:embeddedFont>
      <p:font typeface="Raleway Italics" charset="1" panose="00000000000000000000"/>
      <p:regular r:id="rId17"/>
    </p:embeddedFont>
    <p:embeddedFont>
      <p:font typeface="Montserrat Heavy" charset="1" panose="00000A00000000000000"/>
      <p:regular r:id="rId18"/>
    </p:embeddedFont>
    <p:embeddedFont>
      <p:font typeface="DM Sans Bold" charset="1" panose="00000000000000000000"/>
      <p:regular r:id="rId19"/>
    </p:embeddedFont>
    <p:embeddedFont>
      <p:font typeface="Mokoto" charset="1" panose="00000000000000000000"/>
      <p:regular r:id="rId20"/>
    </p:embeddedFont>
    <p:embeddedFont>
      <p:font typeface="Raleway Bold Italics"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7.jpeg" Type="http://schemas.openxmlformats.org/officeDocument/2006/relationships/image"/><Relationship Id="rId6" Target="../media/image8.jpeg" Type="http://schemas.openxmlformats.org/officeDocument/2006/relationships/image"/><Relationship Id="rId7" Target="../media/image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1.jpe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2A64">
                <a:alpha val="100000"/>
              </a:srgbClr>
            </a:gs>
            <a:gs pos="100000">
              <a:srgbClr val="414C94">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1756814" y="-403607"/>
            <a:ext cx="6531186" cy="11641778"/>
            <a:chOff x="0" y="0"/>
            <a:chExt cx="1720148" cy="3066147"/>
          </a:xfrm>
        </p:grpSpPr>
        <p:sp>
          <p:nvSpPr>
            <p:cNvPr name="Freeform 3" id="3"/>
            <p:cNvSpPr/>
            <p:nvPr/>
          </p:nvSpPr>
          <p:spPr>
            <a:xfrm flipH="false" flipV="false" rot="0">
              <a:off x="0" y="0"/>
              <a:ext cx="1720148" cy="3066147"/>
            </a:xfrm>
            <a:custGeom>
              <a:avLst/>
              <a:gdLst/>
              <a:ahLst/>
              <a:cxnLst/>
              <a:rect r="r" b="b" t="t" l="l"/>
              <a:pathLst>
                <a:path h="3066147" w="1720148">
                  <a:moveTo>
                    <a:pt x="0" y="0"/>
                  </a:moveTo>
                  <a:lnTo>
                    <a:pt x="1720148" y="0"/>
                  </a:lnTo>
                  <a:lnTo>
                    <a:pt x="1720148" y="3066147"/>
                  </a:lnTo>
                  <a:lnTo>
                    <a:pt x="0" y="3066147"/>
                  </a:lnTo>
                  <a:close/>
                </a:path>
              </a:pathLst>
            </a:custGeom>
            <a:gradFill rotWithShape="true">
              <a:gsLst>
                <a:gs pos="0">
                  <a:srgbClr val="000000">
                    <a:alpha val="0"/>
                  </a:srgbClr>
                </a:gs>
                <a:gs pos="100000">
                  <a:srgbClr val="000000">
                    <a:alpha val="100000"/>
                  </a:srgbClr>
                </a:gs>
              </a:gsLst>
              <a:lin ang="0"/>
            </a:gradFill>
          </p:spPr>
        </p:sp>
        <p:sp>
          <p:nvSpPr>
            <p:cNvPr name="TextBox 4" id="4"/>
            <p:cNvSpPr txBox="true"/>
            <p:nvPr/>
          </p:nvSpPr>
          <p:spPr>
            <a:xfrm>
              <a:off x="0" y="-38100"/>
              <a:ext cx="1720148" cy="3104247"/>
            </a:xfrm>
            <a:prstGeom prst="rect">
              <a:avLst/>
            </a:prstGeom>
          </p:spPr>
          <p:txBody>
            <a:bodyPr anchor="ctr" rtlCol="false" tIns="50800" lIns="50800" bIns="50800" rIns="50800"/>
            <a:lstStyle/>
            <a:p>
              <a:pPr algn="ctr">
                <a:lnSpc>
                  <a:spcPts val="2083"/>
                </a:lnSpc>
              </a:pPr>
            </a:p>
          </p:txBody>
        </p:sp>
      </p:grpSp>
      <p:sp>
        <p:nvSpPr>
          <p:cNvPr name="Freeform 5" id="5"/>
          <p:cNvSpPr/>
          <p:nvPr/>
        </p:nvSpPr>
        <p:spPr>
          <a:xfrm flipH="false" flipV="false" rot="674092">
            <a:off x="-3513169" y="8339629"/>
            <a:ext cx="19149891" cy="6989710"/>
          </a:xfrm>
          <a:custGeom>
            <a:avLst/>
            <a:gdLst/>
            <a:ahLst/>
            <a:cxnLst/>
            <a:rect r="r" b="b" t="t" l="l"/>
            <a:pathLst>
              <a:path h="6989710" w="19149891">
                <a:moveTo>
                  <a:pt x="0" y="0"/>
                </a:moveTo>
                <a:lnTo>
                  <a:pt x="19149891" y="0"/>
                </a:lnTo>
                <a:lnTo>
                  <a:pt x="19149891" y="6989710"/>
                </a:lnTo>
                <a:lnTo>
                  <a:pt x="0" y="6989710"/>
                </a:lnTo>
                <a:lnTo>
                  <a:pt x="0" y="0"/>
                </a:lnTo>
                <a:close/>
              </a:path>
            </a:pathLst>
          </a:custGeom>
          <a:blipFill>
            <a:blip r:embed="rId2">
              <a:alphaModFix amt="80000"/>
            </a:blip>
            <a:stretch>
              <a:fillRect l="0" t="0" r="0" b="0"/>
            </a:stretch>
          </a:blipFill>
        </p:spPr>
      </p:sp>
      <p:sp>
        <p:nvSpPr>
          <p:cNvPr name="Freeform 6" id="6"/>
          <p:cNvSpPr/>
          <p:nvPr/>
        </p:nvSpPr>
        <p:spPr>
          <a:xfrm flipH="true" flipV="true" rot="828919">
            <a:off x="1076036" y="-4819412"/>
            <a:ext cx="19149891" cy="6989710"/>
          </a:xfrm>
          <a:custGeom>
            <a:avLst/>
            <a:gdLst/>
            <a:ahLst/>
            <a:cxnLst/>
            <a:rect r="r" b="b" t="t" l="l"/>
            <a:pathLst>
              <a:path h="6989710" w="19149891">
                <a:moveTo>
                  <a:pt x="19149891" y="6989710"/>
                </a:moveTo>
                <a:lnTo>
                  <a:pt x="0" y="6989710"/>
                </a:lnTo>
                <a:lnTo>
                  <a:pt x="0" y="0"/>
                </a:lnTo>
                <a:lnTo>
                  <a:pt x="19149891" y="0"/>
                </a:lnTo>
                <a:lnTo>
                  <a:pt x="19149891" y="6989710"/>
                </a:lnTo>
                <a:close/>
              </a:path>
            </a:pathLst>
          </a:custGeom>
          <a:blipFill>
            <a:blip r:embed="rId2">
              <a:alphaModFix amt="43000"/>
            </a:blip>
            <a:stretch>
              <a:fillRect l="0" t="0" r="0" b="0"/>
            </a:stretch>
          </a:blipFill>
        </p:spPr>
      </p:sp>
      <p:sp>
        <p:nvSpPr>
          <p:cNvPr name="Freeform 7" id="7"/>
          <p:cNvSpPr/>
          <p:nvPr/>
        </p:nvSpPr>
        <p:spPr>
          <a:xfrm flipH="false" flipV="false" rot="0">
            <a:off x="2076543" y="1776216"/>
            <a:ext cx="658167" cy="595940"/>
          </a:xfrm>
          <a:custGeom>
            <a:avLst/>
            <a:gdLst/>
            <a:ahLst/>
            <a:cxnLst/>
            <a:rect r="r" b="b" t="t" l="l"/>
            <a:pathLst>
              <a:path h="595940" w="658167">
                <a:moveTo>
                  <a:pt x="0" y="0"/>
                </a:moveTo>
                <a:lnTo>
                  <a:pt x="658167" y="0"/>
                </a:lnTo>
                <a:lnTo>
                  <a:pt x="658167" y="595940"/>
                </a:lnTo>
                <a:lnTo>
                  <a:pt x="0" y="595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076543" y="3354279"/>
            <a:ext cx="9506012" cy="2761064"/>
          </a:xfrm>
          <a:prstGeom prst="rect">
            <a:avLst/>
          </a:prstGeom>
        </p:spPr>
        <p:txBody>
          <a:bodyPr anchor="t" rtlCol="false" tIns="0" lIns="0" bIns="0" rIns="0">
            <a:spAutoFit/>
          </a:bodyPr>
          <a:lstStyle/>
          <a:p>
            <a:pPr algn="l">
              <a:lnSpc>
                <a:spcPts val="10509"/>
              </a:lnSpc>
            </a:pPr>
            <a:r>
              <a:rPr lang="en-US" sz="11062" b="true">
                <a:solidFill>
                  <a:srgbClr val="FFFFFF"/>
                </a:solidFill>
                <a:latin typeface="Montserrat Semi-Bold"/>
                <a:ea typeface="Montserrat Semi-Bold"/>
                <a:cs typeface="Montserrat Semi-Bold"/>
                <a:sym typeface="Montserrat Semi-Bold"/>
              </a:rPr>
              <a:t>Internet of Things</a:t>
            </a:r>
          </a:p>
        </p:txBody>
      </p:sp>
      <p:sp>
        <p:nvSpPr>
          <p:cNvPr name="TextBox 9" id="9"/>
          <p:cNvSpPr txBox="true"/>
          <p:nvPr/>
        </p:nvSpPr>
        <p:spPr>
          <a:xfrm rot="0">
            <a:off x="2076543" y="7622986"/>
            <a:ext cx="5482510" cy="483279"/>
          </a:xfrm>
          <a:prstGeom prst="rect">
            <a:avLst/>
          </a:prstGeom>
        </p:spPr>
        <p:txBody>
          <a:bodyPr anchor="t" rtlCol="false" tIns="0" lIns="0" bIns="0" rIns="0">
            <a:spAutoFit/>
          </a:bodyPr>
          <a:lstStyle/>
          <a:p>
            <a:pPr algn="l">
              <a:lnSpc>
                <a:spcPts val="3497"/>
              </a:lnSpc>
            </a:pPr>
            <a:r>
              <a:rPr lang="en-US" sz="3682" i="true">
                <a:solidFill>
                  <a:srgbClr val="FFFFFF"/>
                </a:solidFill>
                <a:latin typeface="Raleway Italics"/>
                <a:ea typeface="Raleway Italics"/>
                <a:cs typeface="Raleway Italics"/>
                <a:sym typeface="Raleway Italics"/>
              </a:rPr>
              <a:t>Transforming the Future</a:t>
            </a:r>
          </a:p>
        </p:txBody>
      </p:sp>
      <p:sp>
        <p:nvSpPr>
          <p:cNvPr name="TextBox 10" id="10"/>
          <p:cNvSpPr txBox="true"/>
          <p:nvPr/>
        </p:nvSpPr>
        <p:spPr>
          <a:xfrm rot="0">
            <a:off x="2076543" y="5951268"/>
            <a:ext cx="9506012" cy="1427564"/>
          </a:xfrm>
          <a:prstGeom prst="rect">
            <a:avLst/>
          </a:prstGeom>
        </p:spPr>
        <p:txBody>
          <a:bodyPr anchor="t" rtlCol="false" tIns="0" lIns="0" bIns="0" rIns="0">
            <a:spAutoFit/>
          </a:bodyPr>
          <a:lstStyle/>
          <a:p>
            <a:pPr algn="l">
              <a:lnSpc>
                <a:spcPts val="10509"/>
              </a:lnSpc>
            </a:pPr>
            <a:r>
              <a:rPr lang="en-US" sz="11062" b="true">
                <a:solidFill>
                  <a:srgbClr val="36E9FD"/>
                </a:solidFill>
                <a:latin typeface="Montserrat Heavy"/>
                <a:ea typeface="Montserrat Heavy"/>
                <a:cs typeface="Montserrat Heavy"/>
                <a:sym typeface="Montserrat Heavy"/>
              </a:rPr>
              <a:t>(IoT)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2A64">
                <a:alpha val="100000"/>
              </a:srgbClr>
            </a:gs>
            <a:gs pos="100000">
              <a:srgbClr val="414C94">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572293">
            <a:off x="-5799371" y="6668368"/>
            <a:ext cx="19149891" cy="6989710"/>
          </a:xfrm>
          <a:custGeom>
            <a:avLst/>
            <a:gdLst/>
            <a:ahLst/>
            <a:cxnLst/>
            <a:rect r="r" b="b" t="t" l="l"/>
            <a:pathLst>
              <a:path h="6989710" w="19149891">
                <a:moveTo>
                  <a:pt x="0" y="0"/>
                </a:moveTo>
                <a:lnTo>
                  <a:pt x="19149891" y="0"/>
                </a:lnTo>
                <a:lnTo>
                  <a:pt x="19149891" y="6989710"/>
                </a:lnTo>
                <a:lnTo>
                  <a:pt x="0" y="6989710"/>
                </a:lnTo>
                <a:lnTo>
                  <a:pt x="0" y="0"/>
                </a:lnTo>
                <a:close/>
              </a:path>
            </a:pathLst>
          </a:custGeom>
          <a:blipFill>
            <a:blip r:embed="rId2">
              <a:alphaModFix amt="80000"/>
            </a:blip>
            <a:stretch>
              <a:fillRect l="0" t="0" r="0" b="0"/>
            </a:stretch>
          </a:blipFill>
        </p:spPr>
      </p:sp>
      <p:sp>
        <p:nvSpPr>
          <p:cNvPr name="Freeform 3" id="3"/>
          <p:cNvSpPr/>
          <p:nvPr/>
        </p:nvSpPr>
        <p:spPr>
          <a:xfrm flipH="false" flipV="false" rot="0">
            <a:off x="2052822" y="3071015"/>
            <a:ext cx="3970782" cy="8229600"/>
          </a:xfrm>
          <a:custGeom>
            <a:avLst/>
            <a:gdLst/>
            <a:ahLst/>
            <a:cxnLst/>
            <a:rect r="r" b="b" t="t" l="l"/>
            <a:pathLst>
              <a:path h="8229600" w="3970782">
                <a:moveTo>
                  <a:pt x="0" y="0"/>
                </a:moveTo>
                <a:lnTo>
                  <a:pt x="3970782" y="0"/>
                </a:lnTo>
                <a:lnTo>
                  <a:pt x="3970782"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3775575" y="2080415"/>
            <a:ext cx="2691369" cy="2691369"/>
          </a:xfrm>
          <a:custGeom>
            <a:avLst/>
            <a:gdLst/>
            <a:ahLst/>
            <a:cxnLst/>
            <a:rect r="r" b="b" t="t" l="l"/>
            <a:pathLst>
              <a:path h="2691369" w="2691369">
                <a:moveTo>
                  <a:pt x="0" y="0"/>
                </a:moveTo>
                <a:lnTo>
                  <a:pt x="2691368" y="0"/>
                </a:lnTo>
                <a:lnTo>
                  <a:pt x="2691368" y="2691368"/>
                </a:lnTo>
                <a:lnTo>
                  <a:pt x="0" y="26913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1572293">
            <a:off x="8920761" y="-3494855"/>
            <a:ext cx="19149891" cy="6989710"/>
          </a:xfrm>
          <a:custGeom>
            <a:avLst/>
            <a:gdLst/>
            <a:ahLst/>
            <a:cxnLst/>
            <a:rect r="r" b="b" t="t" l="l"/>
            <a:pathLst>
              <a:path h="6989710" w="19149891">
                <a:moveTo>
                  <a:pt x="0" y="6989710"/>
                </a:moveTo>
                <a:lnTo>
                  <a:pt x="19149891" y="6989710"/>
                </a:lnTo>
                <a:lnTo>
                  <a:pt x="19149891" y="0"/>
                </a:lnTo>
                <a:lnTo>
                  <a:pt x="0" y="0"/>
                </a:lnTo>
                <a:lnTo>
                  <a:pt x="0" y="6989710"/>
                </a:lnTo>
                <a:close/>
              </a:path>
            </a:pathLst>
          </a:custGeom>
          <a:blipFill>
            <a:blip r:embed="rId2">
              <a:alphaModFix amt="80000"/>
            </a:blip>
            <a:stretch>
              <a:fillRect l="0" t="0" r="0" b="0"/>
            </a:stretch>
          </a:blipFill>
        </p:spPr>
      </p:sp>
      <p:sp>
        <p:nvSpPr>
          <p:cNvPr name="Freeform 6" id="6"/>
          <p:cNvSpPr/>
          <p:nvPr/>
        </p:nvSpPr>
        <p:spPr>
          <a:xfrm flipH="false" flipV="false" rot="0">
            <a:off x="7871589" y="1776216"/>
            <a:ext cx="658167" cy="595940"/>
          </a:xfrm>
          <a:custGeom>
            <a:avLst/>
            <a:gdLst/>
            <a:ahLst/>
            <a:cxnLst/>
            <a:rect r="r" b="b" t="t" l="l"/>
            <a:pathLst>
              <a:path h="595940" w="658167">
                <a:moveTo>
                  <a:pt x="0" y="0"/>
                </a:moveTo>
                <a:lnTo>
                  <a:pt x="658167" y="0"/>
                </a:lnTo>
                <a:lnTo>
                  <a:pt x="658167" y="595940"/>
                </a:lnTo>
                <a:lnTo>
                  <a:pt x="0" y="5959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8842887" y="1950097"/>
            <a:ext cx="2493294" cy="305327"/>
          </a:xfrm>
          <a:prstGeom prst="rect">
            <a:avLst/>
          </a:prstGeom>
        </p:spPr>
        <p:txBody>
          <a:bodyPr anchor="t" rtlCol="false" tIns="0" lIns="0" bIns="0" rIns="0">
            <a:spAutoFit/>
          </a:bodyPr>
          <a:lstStyle/>
          <a:p>
            <a:pPr algn="l">
              <a:lnSpc>
                <a:spcPts val="2267"/>
              </a:lnSpc>
            </a:pPr>
            <a:r>
              <a:rPr lang="en-US" sz="2386" b="true">
                <a:solidFill>
                  <a:srgbClr val="FFFFFF"/>
                </a:solidFill>
                <a:latin typeface="DM Sans Bold"/>
                <a:ea typeface="DM Sans Bold"/>
                <a:cs typeface="DM Sans Bold"/>
                <a:sym typeface="DM Sans Bold"/>
              </a:rPr>
              <a:t>thynk unlimited</a:t>
            </a:r>
          </a:p>
        </p:txBody>
      </p:sp>
      <p:sp>
        <p:nvSpPr>
          <p:cNvPr name="TextBox 8" id="8"/>
          <p:cNvSpPr txBox="true"/>
          <p:nvPr/>
        </p:nvSpPr>
        <p:spPr>
          <a:xfrm rot="0">
            <a:off x="7945523" y="3123240"/>
            <a:ext cx="7366041" cy="1105450"/>
          </a:xfrm>
          <a:prstGeom prst="rect">
            <a:avLst/>
          </a:prstGeom>
        </p:spPr>
        <p:txBody>
          <a:bodyPr anchor="t" rtlCol="false" tIns="0" lIns="0" bIns="0" rIns="0">
            <a:spAutoFit/>
          </a:bodyPr>
          <a:lstStyle/>
          <a:p>
            <a:pPr algn="l">
              <a:lnSpc>
                <a:spcPts val="8143"/>
              </a:lnSpc>
            </a:pPr>
            <a:r>
              <a:rPr lang="en-US" sz="8572" b="true">
                <a:solidFill>
                  <a:srgbClr val="FFFFFF"/>
                </a:solidFill>
                <a:latin typeface="Montserrat Semi-Bold"/>
                <a:ea typeface="Montserrat Semi-Bold"/>
                <a:cs typeface="Montserrat Semi-Bold"/>
                <a:sym typeface="Montserrat Semi-Bold"/>
              </a:rPr>
              <a:t>What is Iot</a:t>
            </a:r>
          </a:p>
        </p:txBody>
      </p:sp>
      <p:sp>
        <p:nvSpPr>
          <p:cNvPr name="TextBox 9" id="9"/>
          <p:cNvSpPr txBox="true"/>
          <p:nvPr/>
        </p:nvSpPr>
        <p:spPr>
          <a:xfrm rot="0">
            <a:off x="7945523" y="4453896"/>
            <a:ext cx="8533572" cy="4089862"/>
          </a:xfrm>
          <a:prstGeom prst="rect">
            <a:avLst/>
          </a:prstGeom>
        </p:spPr>
        <p:txBody>
          <a:bodyPr anchor="t" rtlCol="false" tIns="0" lIns="0" bIns="0" rIns="0">
            <a:spAutoFit/>
          </a:bodyPr>
          <a:lstStyle/>
          <a:p>
            <a:pPr algn="l">
              <a:lnSpc>
                <a:spcPts val="4709"/>
              </a:lnSpc>
            </a:pPr>
            <a:r>
              <a:rPr lang="en-US" sz="2573" i="true" spc="213">
                <a:solidFill>
                  <a:srgbClr val="FFFFFF"/>
                </a:solidFill>
                <a:latin typeface="Raleway Italics"/>
                <a:ea typeface="Raleway Italics"/>
                <a:cs typeface="Raleway Italics"/>
                <a:sym typeface="Raleway Italics"/>
              </a:rPr>
              <a:t>A network of connected devices that link and share data with the cloud and other IoT devices is known as the internet of things, or IoT. IoT devices can be both digital and mechanical machines as well as consumer goods. They are usually embedded with technology, such as sensors and software.</a:t>
            </a:r>
          </a:p>
        </p:txBody>
      </p:sp>
      <p:sp>
        <p:nvSpPr>
          <p:cNvPr name="TextBox 10" id="10"/>
          <p:cNvSpPr txBox="true"/>
          <p:nvPr/>
        </p:nvSpPr>
        <p:spPr>
          <a:xfrm rot="0">
            <a:off x="1300724" y="1599114"/>
            <a:ext cx="1074675" cy="515778"/>
          </a:xfrm>
          <a:prstGeom prst="rect">
            <a:avLst/>
          </a:prstGeom>
        </p:spPr>
        <p:txBody>
          <a:bodyPr anchor="t" rtlCol="false" tIns="0" lIns="0" bIns="0" rIns="0">
            <a:spAutoFit/>
          </a:bodyPr>
          <a:lstStyle/>
          <a:p>
            <a:pPr algn="l">
              <a:lnSpc>
                <a:spcPts val="4057"/>
              </a:lnSpc>
            </a:pPr>
            <a:r>
              <a:rPr lang="en-US" sz="3145">
                <a:solidFill>
                  <a:srgbClr val="FFFFFF"/>
                </a:solidFill>
                <a:latin typeface="Mokoto"/>
                <a:ea typeface="Mokoto"/>
                <a:cs typeface="Mokoto"/>
                <a:sym typeface="Mokoto"/>
              </a:rPr>
              <a:t>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2A64">
                <a:alpha val="100000"/>
              </a:srgbClr>
            </a:gs>
            <a:gs pos="100000">
              <a:srgbClr val="414C94">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572293">
            <a:off x="-5799371" y="6668368"/>
            <a:ext cx="19149891" cy="6989710"/>
          </a:xfrm>
          <a:custGeom>
            <a:avLst/>
            <a:gdLst/>
            <a:ahLst/>
            <a:cxnLst/>
            <a:rect r="r" b="b" t="t" l="l"/>
            <a:pathLst>
              <a:path h="6989710" w="19149891">
                <a:moveTo>
                  <a:pt x="0" y="0"/>
                </a:moveTo>
                <a:lnTo>
                  <a:pt x="19149891" y="0"/>
                </a:lnTo>
                <a:lnTo>
                  <a:pt x="19149891" y="6989710"/>
                </a:lnTo>
                <a:lnTo>
                  <a:pt x="0" y="6989710"/>
                </a:lnTo>
                <a:lnTo>
                  <a:pt x="0" y="0"/>
                </a:lnTo>
                <a:close/>
              </a:path>
            </a:pathLst>
          </a:custGeom>
          <a:blipFill>
            <a:blip r:embed="rId2">
              <a:alphaModFix amt="80000"/>
            </a:blip>
            <a:stretch>
              <a:fillRect l="0" t="0" r="0" b="0"/>
            </a:stretch>
          </a:blipFill>
        </p:spPr>
      </p:sp>
      <p:sp>
        <p:nvSpPr>
          <p:cNvPr name="Freeform 3" id="3"/>
          <p:cNvSpPr/>
          <p:nvPr/>
        </p:nvSpPr>
        <p:spPr>
          <a:xfrm flipH="false" flipV="false" rot="0">
            <a:off x="2052822" y="3071015"/>
            <a:ext cx="3970782" cy="8229600"/>
          </a:xfrm>
          <a:custGeom>
            <a:avLst/>
            <a:gdLst/>
            <a:ahLst/>
            <a:cxnLst/>
            <a:rect r="r" b="b" t="t" l="l"/>
            <a:pathLst>
              <a:path h="8229600" w="3970782">
                <a:moveTo>
                  <a:pt x="0" y="0"/>
                </a:moveTo>
                <a:lnTo>
                  <a:pt x="3970782" y="0"/>
                </a:lnTo>
                <a:lnTo>
                  <a:pt x="3970782"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3775575" y="2080415"/>
            <a:ext cx="2691369" cy="2691369"/>
          </a:xfrm>
          <a:custGeom>
            <a:avLst/>
            <a:gdLst/>
            <a:ahLst/>
            <a:cxnLst/>
            <a:rect r="r" b="b" t="t" l="l"/>
            <a:pathLst>
              <a:path h="2691369" w="2691369">
                <a:moveTo>
                  <a:pt x="0" y="0"/>
                </a:moveTo>
                <a:lnTo>
                  <a:pt x="2691368" y="0"/>
                </a:lnTo>
                <a:lnTo>
                  <a:pt x="2691368" y="2691368"/>
                </a:lnTo>
                <a:lnTo>
                  <a:pt x="0" y="26913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1572293">
            <a:off x="8920761" y="-3494855"/>
            <a:ext cx="19149891" cy="6989710"/>
          </a:xfrm>
          <a:custGeom>
            <a:avLst/>
            <a:gdLst/>
            <a:ahLst/>
            <a:cxnLst/>
            <a:rect r="r" b="b" t="t" l="l"/>
            <a:pathLst>
              <a:path h="6989710" w="19149891">
                <a:moveTo>
                  <a:pt x="0" y="6989710"/>
                </a:moveTo>
                <a:lnTo>
                  <a:pt x="19149891" y="6989710"/>
                </a:lnTo>
                <a:lnTo>
                  <a:pt x="19149891" y="0"/>
                </a:lnTo>
                <a:lnTo>
                  <a:pt x="0" y="0"/>
                </a:lnTo>
                <a:lnTo>
                  <a:pt x="0" y="6989710"/>
                </a:lnTo>
                <a:close/>
              </a:path>
            </a:pathLst>
          </a:custGeom>
          <a:blipFill>
            <a:blip r:embed="rId2">
              <a:alphaModFix amt="80000"/>
            </a:blip>
            <a:stretch>
              <a:fillRect l="0" t="0" r="0" b="0"/>
            </a:stretch>
          </a:blipFill>
        </p:spPr>
      </p:sp>
      <p:sp>
        <p:nvSpPr>
          <p:cNvPr name="Freeform 6" id="6"/>
          <p:cNvSpPr/>
          <p:nvPr/>
        </p:nvSpPr>
        <p:spPr>
          <a:xfrm flipH="false" flipV="false" rot="0">
            <a:off x="6635623" y="1578083"/>
            <a:ext cx="658167" cy="595940"/>
          </a:xfrm>
          <a:custGeom>
            <a:avLst/>
            <a:gdLst/>
            <a:ahLst/>
            <a:cxnLst/>
            <a:rect r="r" b="b" t="t" l="l"/>
            <a:pathLst>
              <a:path h="595940" w="658167">
                <a:moveTo>
                  <a:pt x="0" y="0"/>
                </a:moveTo>
                <a:lnTo>
                  <a:pt x="658166" y="0"/>
                </a:lnTo>
                <a:lnTo>
                  <a:pt x="658166" y="595940"/>
                </a:lnTo>
                <a:lnTo>
                  <a:pt x="0" y="5959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7945523" y="1536536"/>
            <a:ext cx="8344508" cy="2138755"/>
          </a:xfrm>
          <a:prstGeom prst="rect">
            <a:avLst/>
          </a:prstGeom>
        </p:spPr>
        <p:txBody>
          <a:bodyPr anchor="t" rtlCol="false" tIns="0" lIns="0" bIns="0" rIns="0">
            <a:spAutoFit/>
          </a:bodyPr>
          <a:lstStyle/>
          <a:p>
            <a:pPr algn="l">
              <a:lnSpc>
                <a:spcPts val="8143"/>
              </a:lnSpc>
            </a:pPr>
            <a:r>
              <a:rPr lang="en-US" sz="8572" b="true">
                <a:solidFill>
                  <a:srgbClr val="FFFFFF"/>
                </a:solidFill>
                <a:latin typeface="Montserrat Semi-Bold"/>
                <a:ea typeface="Montserrat Semi-Bold"/>
                <a:cs typeface="Montserrat Semi-Bold"/>
                <a:sym typeface="Montserrat Semi-Bold"/>
              </a:rPr>
              <a:t>Importance of Iot</a:t>
            </a:r>
          </a:p>
        </p:txBody>
      </p:sp>
      <p:sp>
        <p:nvSpPr>
          <p:cNvPr name="TextBox 8" id="8"/>
          <p:cNvSpPr txBox="true"/>
          <p:nvPr/>
        </p:nvSpPr>
        <p:spPr>
          <a:xfrm rot="0">
            <a:off x="7945523" y="4453896"/>
            <a:ext cx="8533572" cy="4680412"/>
          </a:xfrm>
          <a:prstGeom prst="rect">
            <a:avLst/>
          </a:prstGeom>
        </p:spPr>
        <p:txBody>
          <a:bodyPr anchor="t" rtlCol="false" tIns="0" lIns="0" bIns="0" rIns="0">
            <a:spAutoFit/>
          </a:bodyPr>
          <a:lstStyle/>
          <a:p>
            <a:pPr algn="l">
              <a:lnSpc>
                <a:spcPts val="4709"/>
              </a:lnSpc>
            </a:pPr>
            <a:r>
              <a:rPr lang="en-US" sz="2573" i="true" spc="213">
                <a:solidFill>
                  <a:srgbClr val="FFFFFF"/>
                </a:solidFill>
                <a:latin typeface="Raleway Italics"/>
                <a:ea typeface="Raleway Italics"/>
                <a:cs typeface="Raleway Italics"/>
                <a:sym typeface="Raleway Italics"/>
              </a:rPr>
              <a:t>IoT encompasses more than just physical device connections to the internet; it also plays a role in human daily activities. such as:</a:t>
            </a:r>
          </a:p>
          <a:p>
            <a:pPr algn="l" marL="555638" indent="-277819" lvl="1">
              <a:lnSpc>
                <a:spcPts val="4709"/>
              </a:lnSpc>
              <a:buFont typeface="Arial"/>
              <a:buChar char="•"/>
            </a:pPr>
            <a:r>
              <a:rPr lang="en-US" sz="2573" i="true" spc="213">
                <a:solidFill>
                  <a:srgbClr val="FFFFFF"/>
                </a:solidFill>
                <a:latin typeface="Raleway Italics"/>
                <a:ea typeface="Raleway Italics"/>
                <a:cs typeface="Raleway Italics"/>
                <a:sym typeface="Raleway Italics"/>
              </a:rPr>
              <a:t>Efficiency</a:t>
            </a:r>
          </a:p>
          <a:p>
            <a:pPr algn="l" marL="555638" indent="-277819" lvl="1">
              <a:lnSpc>
                <a:spcPts val="4709"/>
              </a:lnSpc>
              <a:buFont typeface="Arial"/>
              <a:buChar char="•"/>
            </a:pPr>
            <a:r>
              <a:rPr lang="en-US" sz="2573" i="true" spc="213">
                <a:solidFill>
                  <a:srgbClr val="FFFFFF"/>
                </a:solidFill>
                <a:latin typeface="Raleway Italics"/>
                <a:ea typeface="Raleway Italics"/>
                <a:cs typeface="Raleway Italics"/>
                <a:sym typeface="Raleway Italics"/>
              </a:rPr>
              <a:t>Reduces Costs</a:t>
            </a:r>
          </a:p>
          <a:p>
            <a:pPr algn="l" marL="555638" indent="-277819" lvl="1">
              <a:lnSpc>
                <a:spcPts val="4709"/>
              </a:lnSpc>
              <a:buFont typeface="Arial"/>
              <a:buChar char="•"/>
            </a:pPr>
            <a:r>
              <a:rPr lang="en-US" sz="2573" i="true" spc="213">
                <a:solidFill>
                  <a:srgbClr val="FFFFFF"/>
                </a:solidFill>
                <a:latin typeface="Raleway Italics"/>
                <a:ea typeface="Raleway Italics"/>
                <a:cs typeface="Raleway Italics"/>
                <a:sym typeface="Raleway Italics"/>
              </a:rPr>
              <a:t>Enhances Quality of Life</a:t>
            </a:r>
          </a:p>
          <a:p>
            <a:pPr algn="l" marL="555638" indent="-277819" lvl="1">
              <a:lnSpc>
                <a:spcPts val="4709"/>
              </a:lnSpc>
              <a:buFont typeface="Arial"/>
              <a:buChar char="•"/>
            </a:pPr>
            <a:r>
              <a:rPr lang="en-US" sz="2573" i="true" spc="213">
                <a:solidFill>
                  <a:srgbClr val="FFFFFF"/>
                </a:solidFill>
                <a:latin typeface="Raleway Italics"/>
                <a:ea typeface="Raleway Italics"/>
                <a:cs typeface="Raleway Italics"/>
                <a:sym typeface="Raleway Italics"/>
              </a:rPr>
              <a:t>Improves Safety and Security</a:t>
            </a:r>
          </a:p>
          <a:p>
            <a:pPr algn="l" marL="555638" indent="-277819" lvl="1">
              <a:lnSpc>
                <a:spcPts val="4709"/>
              </a:lnSpc>
              <a:buFont typeface="Arial"/>
              <a:buChar char="•"/>
            </a:pPr>
            <a:r>
              <a:rPr lang="en-US" sz="2573" i="true" spc="213">
                <a:solidFill>
                  <a:srgbClr val="FFFFFF"/>
                </a:solidFill>
                <a:latin typeface="Raleway Italics"/>
                <a:ea typeface="Raleway Italics"/>
                <a:cs typeface="Raleway Italics"/>
                <a:sym typeface="Raleway Italics"/>
              </a:rPr>
              <a:t>Automation</a:t>
            </a:r>
          </a:p>
        </p:txBody>
      </p:sp>
      <p:sp>
        <p:nvSpPr>
          <p:cNvPr name="TextBox 9" id="9"/>
          <p:cNvSpPr txBox="true"/>
          <p:nvPr/>
        </p:nvSpPr>
        <p:spPr>
          <a:xfrm rot="0">
            <a:off x="1300724" y="1599114"/>
            <a:ext cx="1074675" cy="515778"/>
          </a:xfrm>
          <a:prstGeom prst="rect">
            <a:avLst/>
          </a:prstGeom>
        </p:spPr>
        <p:txBody>
          <a:bodyPr anchor="t" rtlCol="false" tIns="0" lIns="0" bIns="0" rIns="0">
            <a:spAutoFit/>
          </a:bodyPr>
          <a:lstStyle/>
          <a:p>
            <a:pPr algn="l">
              <a:lnSpc>
                <a:spcPts val="4057"/>
              </a:lnSpc>
            </a:pPr>
            <a:r>
              <a:rPr lang="en-US" sz="3145">
                <a:solidFill>
                  <a:srgbClr val="FFFFFF"/>
                </a:solidFill>
                <a:latin typeface="Mokoto"/>
                <a:ea typeface="Mokoto"/>
                <a:cs typeface="Mokoto"/>
                <a:sym typeface="Mokoto"/>
              </a:rPr>
              <a:t>02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61B70">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314761">
            <a:off x="5680419" y="6404287"/>
            <a:ext cx="19149891" cy="6989710"/>
          </a:xfrm>
          <a:custGeom>
            <a:avLst/>
            <a:gdLst/>
            <a:ahLst/>
            <a:cxnLst/>
            <a:rect r="r" b="b" t="t" l="l"/>
            <a:pathLst>
              <a:path h="6989710" w="19149891">
                <a:moveTo>
                  <a:pt x="0" y="0"/>
                </a:moveTo>
                <a:lnTo>
                  <a:pt x="19149891" y="0"/>
                </a:lnTo>
                <a:lnTo>
                  <a:pt x="19149891" y="6989711"/>
                </a:lnTo>
                <a:lnTo>
                  <a:pt x="0" y="6989711"/>
                </a:lnTo>
                <a:lnTo>
                  <a:pt x="0" y="0"/>
                </a:lnTo>
                <a:close/>
              </a:path>
            </a:pathLst>
          </a:custGeom>
          <a:blipFill>
            <a:blip r:embed="rId2">
              <a:alphaModFix amt="80000"/>
            </a:blip>
            <a:stretch>
              <a:fillRect l="0" t="0" r="0" b="0"/>
            </a:stretch>
          </a:blipFill>
        </p:spPr>
      </p:sp>
      <p:sp>
        <p:nvSpPr>
          <p:cNvPr name="Freeform 3" id="3"/>
          <p:cNvSpPr/>
          <p:nvPr/>
        </p:nvSpPr>
        <p:spPr>
          <a:xfrm flipH="false" flipV="true" rot="1572293">
            <a:off x="3960635" y="-5525403"/>
            <a:ext cx="19149891" cy="6989710"/>
          </a:xfrm>
          <a:custGeom>
            <a:avLst/>
            <a:gdLst/>
            <a:ahLst/>
            <a:cxnLst/>
            <a:rect r="r" b="b" t="t" l="l"/>
            <a:pathLst>
              <a:path h="6989710" w="19149891">
                <a:moveTo>
                  <a:pt x="0" y="6989711"/>
                </a:moveTo>
                <a:lnTo>
                  <a:pt x="19149891" y="6989711"/>
                </a:lnTo>
                <a:lnTo>
                  <a:pt x="19149891" y="0"/>
                </a:lnTo>
                <a:lnTo>
                  <a:pt x="0" y="0"/>
                </a:lnTo>
                <a:lnTo>
                  <a:pt x="0" y="6989711"/>
                </a:lnTo>
                <a:close/>
              </a:path>
            </a:pathLst>
          </a:custGeom>
          <a:blipFill>
            <a:blip r:embed="rId2">
              <a:alphaModFix amt="80000"/>
            </a:blip>
            <a:stretch>
              <a:fillRect l="0" t="0" r="0" b="0"/>
            </a:stretch>
          </a:blipFill>
        </p:spPr>
      </p:sp>
      <p:sp>
        <p:nvSpPr>
          <p:cNvPr name="Freeform 4" id="4"/>
          <p:cNvSpPr/>
          <p:nvPr/>
        </p:nvSpPr>
        <p:spPr>
          <a:xfrm flipH="false" flipV="false" rot="0">
            <a:off x="3832242" y="1041274"/>
            <a:ext cx="658167" cy="595940"/>
          </a:xfrm>
          <a:custGeom>
            <a:avLst/>
            <a:gdLst/>
            <a:ahLst/>
            <a:cxnLst/>
            <a:rect r="r" b="b" t="t" l="l"/>
            <a:pathLst>
              <a:path h="595940" w="658167">
                <a:moveTo>
                  <a:pt x="0" y="0"/>
                </a:moveTo>
                <a:lnTo>
                  <a:pt x="658166" y="0"/>
                </a:lnTo>
                <a:lnTo>
                  <a:pt x="658166" y="595940"/>
                </a:lnTo>
                <a:lnTo>
                  <a:pt x="0" y="595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a:grpSpLocks noChangeAspect="true"/>
          </p:cNvGrpSpPr>
          <p:nvPr/>
        </p:nvGrpSpPr>
        <p:grpSpPr>
          <a:xfrm rot="0">
            <a:off x="3336709" y="6632298"/>
            <a:ext cx="2797859" cy="2797859"/>
            <a:chOff x="0" y="0"/>
            <a:chExt cx="14840029" cy="14840029"/>
          </a:xfrm>
        </p:grpSpPr>
        <p:sp>
          <p:nvSpPr>
            <p:cNvPr name="Freeform 6" id="6"/>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p:spPr>
        </p:sp>
        <p:sp>
          <p:nvSpPr>
            <p:cNvPr name="Freeform 7" id="7"/>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8" id="8"/>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45391" t="0" r="-45391" b="0"/>
              </a:stretch>
            </a:blipFill>
          </p:spPr>
        </p:sp>
      </p:grpSp>
      <p:grpSp>
        <p:nvGrpSpPr>
          <p:cNvPr name="Group 9" id="9"/>
          <p:cNvGrpSpPr>
            <a:grpSpLocks noChangeAspect="true"/>
          </p:cNvGrpSpPr>
          <p:nvPr/>
        </p:nvGrpSpPr>
        <p:grpSpPr>
          <a:xfrm rot="0">
            <a:off x="7434481" y="6567993"/>
            <a:ext cx="2797859" cy="2797859"/>
            <a:chOff x="0" y="0"/>
            <a:chExt cx="14840029" cy="14840029"/>
          </a:xfrm>
        </p:grpSpPr>
        <p:sp>
          <p:nvSpPr>
            <p:cNvPr name="Freeform 10" id="10"/>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p:spPr>
        </p:sp>
        <p:sp>
          <p:nvSpPr>
            <p:cNvPr name="Freeform 11" id="11"/>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2" id="12"/>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6"/>
              <a:stretch>
                <a:fillRect l="-38599" t="0" r="-38599" b="0"/>
              </a:stretch>
            </a:blipFill>
          </p:spPr>
        </p:sp>
      </p:grpSp>
      <p:grpSp>
        <p:nvGrpSpPr>
          <p:cNvPr name="Group 13" id="13"/>
          <p:cNvGrpSpPr>
            <a:grpSpLocks noChangeAspect="true"/>
          </p:cNvGrpSpPr>
          <p:nvPr/>
        </p:nvGrpSpPr>
        <p:grpSpPr>
          <a:xfrm rot="0">
            <a:off x="11472645" y="6632298"/>
            <a:ext cx="2797859" cy="2797859"/>
            <a:chOff x="0" y="0"/>
            <a:chExt cx="14840029" cy="14840029"/>
          </a:xfrm>
        </p:grpSpPr>
        <p:sp>
          <p:nvSpPr>
            <p:cNvPr name="Freeform 14" id="14"/>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p:spPr>
        </p:sp>
        <p:sp>
          <p:nvSpPr>
            <p:cNvPr name="Freeform 15" id="15"/>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6" id="16"/>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7"/>
              <a:stretch>
                <a:fillRect l="-25212" t="0" r="-25212" b="0"/>
              </a:stretch>
            </a:blipFill>
          </p:spPr>
        </p:sp>
      </p:grpSp>
      <p:sp>
        <p:nvSpPr>
          <p:cNvPr name="TextBox 17" id="17"/>
          <p:cNvSpPr txBox="true"/>
          <p:nvPr/>
        </p:nvSpPr>
        <p:spPr>
          <a:xfrm rot="0">
            <a:off x="4161325" y="888834"/>
            <a:ext cx="9965350" cy="1100845"/>
          </a:xfrm>
          <a:prstGeom prst="rect">
            <a:avLst/>
          </a:prstGeom>
        </p:spPr>
        <p:txBody>
          <a:bodyPr anchor="t" rtlCol="false" tIns="0" lIns="0" bIns="0" rIns="0">
            <a:spAutoFit/>
          </a:bodyPr>
          <a:lstStyle/>
          <a:p>
            <a:pPr algn="ctr">
              <a:lnSpc>
                <a:spcPts val="8143"/>
              </a:lnSpc>
            </a:pPr>
            <a:r>
              <a:rPr lang="en-US" sz="8572" b="true">
                <a:solidFill>
                  <a:srgbClr val="36E9FD"/>
                </a:solidFill>
                <a:latin typeface="Montserrat Semi-Bold"/>
                <a:ea typeface="Montserrat Semi-Bold"/>
                <a:cs typeface="Montserrat Semi-Bold"/>
                <a:sym typeface="Montserrat Semi-Bold"/>
              </a:rPr>
              <a:t>Evolution of IoT</a:t>
            </a:r>
          </a:p>
        </p:txBody>
      </p:sp>
      <p:sp>
        <p:nvSpPr>
          <p:cNvPr name="TextBox 18" id="18"/>
          <p:cNvSpPr txBox="true"/>
          <p:nvPr/>
        </p:nvSpPr>
        <p:spPr>
          <a:xfrm rot="0">
            <a:off x="2580372" y="2371176"/>
            <a:ext cx="12506077" cy="3701019"/>
          </a:xfrm>
          <a:prstGeom prst="rect">
            <a:avLst/>
          </a:prstGeom>
        </p:spPr>
        <p:txBody>
          <a:bodyPr anchor="t" rtlCol="false" tIns="0" lIns="0" bIns="0" rIns="0">
            <a:spAutoFit/>
          </a:bodyPr>
          <a:lstStyle/>
          <a:p>
            <a:pPr algn="ctr">
              <a:lnSpc>
                <a:spcPts val="4246"/>
              </a:lnSpc>
            </a:pPr>
            <a:r>
              <a:rPr lang="en-US" sz="2573" i="true">
                <a:solidFill>
                  <a:srgbClr val="FFFFFF"/>
                </a:solidFill>
                <a:latin typeface="Raleway Italics"/>
                <a:ea typeface="Raleway Italics"/>
                <a:cs typeface="Raleway Italics"/>
                <a:sym typeface="Raleway Italics"/>
              </a:rPr>
              <a:t>The Internet of Things (IoT) evolved from early experimental novelties—such as Carnegie Mellon’s web-connected soda machine in 1982—into a massive global infrastructure that officially surpassed the human population in connected devices by 2009. Coined by Kevin Ashton in 1999 around RFID supply chain tracking, the concept accelerated through the 2010s as smartphone proliferation, cheap sensors, and cloud computing fueled a boom in consumer smart home ecosystems and Industrial IoT (IIoT) factory automation.</a:t>
            </a:r>
          </a:p>
        </p:txBody>
      </p:sp>
      <p:sp>
        <p:nvSpPr>
          <p:cNvPr name="TextBox 19" id="19"/>
          <p:cNvSpPr txBox="true"/>
          <p:nvPr/>
        </p:nvSpPr>
        <p:spPr>
          <a:xfrm rot="0">
            <a:off x="1300724" y="1599114"/>
            <a:ext cx="1154372" cy="515778"/>
          </a:xfrm>
          <a:prstGeom prst="rect">
            <a:avLst/>
          </a:prstGeom>
        </p:spPr>
        <p:txBody>
          <a:bodyPr anchor="t" rtlCol="false" tIns="0" lIns="0" bIns="0" rIns="0">
            <a:spAutoFit/>
          </a:bodyPr>
          <a:lstStyle/>
          <a:p>
            <a:pPr algn="l">
              <a:lnSpc>
                <a:spcPts val="4057"/>
              </a:lnSpc>
            </a:pPr>
            <a:r>
              <a:rPr lang="en-US" sz="3145">
                <a:solidFill>
                  <a:srgbClr val="FFFFFF"/>
                </a:solidFill>
                <a:latin typeface="Mokoto"/>
                <a:ea typeface="Mokoto"/>
                <a:cs typeface="Mokoto"/>
                <a:sym typeface="Mokoto"/>
              </a:rPr>
              <a:t>03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2A64">
                <a:alpha val="100000"/>
              </a:srgbClr>
            </a:gs>
            <a:gs pos="100000">
              <a:srgbClr val="414C94">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314761">
            <a:off x="5680419" y="6404287"/>
            <a:ext cx="19149891" cy="6989710"/>
          </a:xfrm>
          <a:custGeom>
            <a:avLst/>
            <a:gdLst/>
            <a:ahLst/>
            <a:cxnLst/>
            <a:rect r="r" b="b" t="t" l="l"/>
            <a:pathLst>
              <a:path h="6989710" w="19149891">
                <a:moveTo>
                  <a:pt x="0" y="0"/>
                </a:moveTo>
                <a:lnTo>
                  <a:pt x="19149891" y="0"/>
                </a:lnTo>
                <a:lnTo>
                  <a:pt x="19149891" y="6989711"/>
                </a:lnTo>
                <a:lnTo>
                  <a:pt x="0" y="6989711"/>
                </a:lnTo>
                <a:lnTo>
                  <a:pt x="0" y="0"/>
                </a:lnTo>
                <a:close/>
              </a:path>
            </a:pathLst>
          </a:custGeom>
          <a:blipFill>
            <a:blip r:embed="rId2">
              <a:alphaModFix amt="80000"/>
            </a:blip>
            <a:stretch>
              <a:fillRect l="0" t="0" r="0" b="0"/>
            </a:stretch>
          </a:blipFill>
        </p:spPr>
      </p:sp>
      <p:sp>
        <p:nvSpPr>
          <p:cNvPr name="Freeform 3" id="3"/>
          <p:cNvSpPr/>
          <p:nvPr/>
        </p:nvSpPr>
        <p:spPr>
          <a:xfrm flipH="false" flipV="true" rot="1572293">
            <a:off x="3960635" y="-5525403"/>
            <a:ext cx="19149891" cy="6989710"/>
          </a:xfrm>
          <a:custGeom>
            <a:avLst/>
            <a:gdLst/>
            <a:ahLst/>
            <a:cxnLst/>
            <a:rect r="r" b="b" t="t" l="l"/>
            <a:pathLst>
              <a:path h="6989710" w="19149891">
                <a:moveTo>
                  <a:pt x="0" y="6989711"/>
                </a:moveTo>
                <a:lnTo>
                  <a:pt x="19149891" y="6989711"/>
                </a:lnTo>
                <a:lnTo>
                  <a:pt x="19149891" y="0"/>
                </a:lnTo>
                <a:lnTo>
                  <a:pt x="0" y="0"/>
                </a:lnTo>
                <a:lnTo>
                  <a:pt x="0" y="6989711"/>
                </a:lnTo>
                <a:close/>
              </a:path>
            </a:pathLst>
          </a:custGeom>
          <a:blipFill>
            <a:blip r:embed="rId2">
              <a:alphaModFix amt="80000"/>
            </a:blip>
            <a:stretch>
              <a:fillRect l="0" t="0" r="0" b="0"/>
            </a:stretch>
          </a:blipFill>
        </p:spPr>
      </p:sp>
      <p:sp>
        <p:nvSpPr>
          <p:cNvPr name="Freeform 4" id="4"/>
          <p:cNvSpPr/>
          <p:nvPr/>
        </p:nvSpPr>
        <p:spPr>
          <a:xfrm flipH="false" flipV="false" rot="0">
            <a:off x="5465804" y="1339244"/>
            <a:ext cx="658167" cy="595940"/>
          </a:xfrm>
          <a:custGeom>
            <a:avLst/>
            <a:gdLst/>
            <a:ahLst/>
            <a:cxnLst/>
            <a:rect r="r" b="b" t="t" l="l"/>
            <a:pathLst>
              <a:path h="595940" w="658167">
                <a:moveTo>
                  <a:pt x="0" y="0"/>
                </a:moveTo>
                <a:lnTo>
                  <a:pt x="658167" y="0"/>
                </a:lnTo>
                <a:lnTo>
                  <a:pt x="658167" y="595940"/>
                </a:lnTo>
                <a:lnTo>
                  <a:pt x="0" y="595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300724" y="1599114"/>
            <a:ext cx="1154372" cy="515778"/>
          </a:xfrm>
          <a:prstGeom prst="rect">
            <a:avLst/>
          </a:prstGeom>
        </p:spPr>
        <p:txBody>
          <a:bodyPr anchor="t" rtlCol="false" tIns="0" lIns="0" bIns="0" rIns="0">
            <a:spAutoFit/>
          </a:bodyPr>
          <a:lstStyle/>
          <a:p>
            <a:pPr algn="l">
              <a:lnSpc>
                <a:spcPts val="4057"/>
              </a:lnSpc>
            </a:pPr>
            <a:r>
              <a:rPr lang="en-US" sz="3145">
                <a:solidFill>
                  <a:srgbClr val="FFFFFF"/>
                </a:solidFill>
                <a:latin typeface="Mokoto"/>
                <a:ea typeface="Mokoto"/>
                <a:cs typeface="Mokoto"/>
                <a:sym typeface="Mokoto"/>
              </a:rPr>
              <a:t>04</a:t>
            </a:r>
          </a:p>
        </p:txBody>
      </p:sp>
      <p:sp>
        <p:nvSpPr>
          <p:cNvPr name="TextBox 6" id="6"/>
          <p:cNvSpPr txBox="true"/>
          <p:nvPr/>
        </p:nvSpPr>
        <p:spPr>
          <a:xfrm rot="0">
            <a:off x="6123971" y="1194040"/>
            <a:ext cx="6185052" cy="920853"/>
          </a:xfrm>
          <a:prstGeom prst="rect">
            <a:avLst/>
          </a:prstGeom>
        </p:spPr>
        <p:txBody>
          <a:bodyPr anchor="t" rtlCol="false" tIns="0" lIns="0" bIns="0" rIns="0">
            <a:spAutoFit/>
          </a:bodyPr>
          <a:lstStyle/>
          <a:p>
            <a:pPr algn="ctr">
              <a:lnSpc>
                <a:spcPts val="6837"/>
              </a:lnSpc>
            </a:pPr>
            <a:r>
              <a:rPr lang="en-US" sz="7197" b="true">
                <a:solidFill>
                  <a:srgbClr val="FFFFFF"/>
                </a:solidFill>
                <a:latin typeface="Montserrat Semi-Bold"/>
                <a:ea typeface="Montserrat Semi-Bold"/>
                <a:cs typeface="Montserrat Semi-Bold"/>
                <a:sym typeface="Montserrat Semi-Bold"/>
              </a:rPr>
              <a:t>Types of IoT</a:t>
            </a:r>
          </a:p>
        </p:txBody>
      </p:sp>
      <p:sp>
        <p:nvSpPr>
          <p:cNvPr name="TextBox 7" id="7"/>
          <p:cNvSpPr txBox="true"/>
          <p:nvPr/>
        </p:nvSpPr>
        <p:spPr>
          <a:xfrm rot="0">
            <a:off x="2455096" y="3494933"/>
            <a:ext cx="2478048" cy="557928"/>
          </a:xfrm>
          <a:prstGeom prst="rect">
            <a:avLst/>
          </a:prstGeom>
        </p:spPr>
        <p:txBody>
          <a:bodyPr anchor="t" rtlCol="false" tIns="0" lIns="0" bIns="0" rIns="0">
            <a:spAutoFit/>
          </a:bodyPr>
          <a:lstStyle/>
          <a:p>
            <a:pPr algn="ctr">
              <a:lnSpc>
                <a:spcPts val="2158"/>
              </a:lnSpc>
            </a:pPr>
            <a:r>
              <a:rPr lang="en-US" b="true" sz="2272">
                <a:solidFill>
                  <a:srgbClr val="36E9FD"/>
                </a:solidFill>
                <a:latin typeface="Montserrat Semi-Bold"/>
                <a:ea typeface="Montserrat Semi-Bold"/>
                <a:cs typeface="Montserrat Semi-Bold"/>
                <a:sym typeface="Montserrat Semi-Bold"/>
              </a:rPr>
              <a:t>CONSUMER IOT (CIOT)</a:t>
            </a:r>
          </a:p>
        </p:txBody>
      </p:sp>
      <p:sp>
        <p:nvSpPr>
          <p:cNvPr name="TextBox 8" id="8"/>
          <p:cNvSpPr txBox="true"/>
          <p:nvPr/>
        </p:nvSpPr>
        <p:spPr>
          <a:xfrm rot="0">
            <a:off x="1688190" y="4867275"/>
            <a:ext cx="4106698" cy="3857349"/>
          </a:xfrm>
          <a:prstGeom prst="rect">
            <a:avLst/>
          </a:prstGeom>
        </p:spPr>
        <p:txBody>
          <a:bodyPr anchor="t" rtlCol="false" tIns="0" lIns="0" bIns="0" rIns="0">
            <a:spAutoFit/>
          </a:bodyPr>
          <a:lstStyle/>
          <a:p>
            <a:pPr algn="ctr">
              <a:lnSpc>
                <a:spcPts val="3825"/>
              </a:lnSpc>
            </a:pPr>
            <a:r>
              <a:rPr lang="en-US" sz="2185" i="true">
                <a:solidFill>
                  <a:srgbClr val="FFFFFF"/>
                </a:solidFill>
                <a:latin typeface="Raleway Italics"/>
                <a:ea typeface="Raleway Italics"/>
                <a:cs typeface="Raleway Italics"/>
                <a:sym typeface="Raleway Italics"/>
              </a:rPr>
              <a:t>focuses on commonplace home or personal applications. Examples include wearable technology (fitness trackers, smartwatches), home security systems, and smart home appliances (smart thermostats, connected lights).</a:t>
            </a:r>
          </a:p>
        </p:txBody>
      </p:sp>
      <p:sp>
        <p:nvSpPr>
          <p:cNvPr name="TextBox 9" id="9"/>
          <p:cNvSpPr txBox="true"/>
          <p:nvPr/>
        </p:nvSpPr>
        <p:spPr>
          <a:xfrm rot="0">
            <a:off x="7904976" y="3494933"/>
            <a:ext cx="2478048" cy="557928"/>
          </a:xfrm>
          <a:prstGeom prst="rect">
            <a:avLst/>
          </a:prstGeom>
        </p:spPr>
        <p:txBody>
          <a:bodyPr anchor="t" rtlCol="false" tIns="0" lIns="0" bIns="0" rIns="0">
            <a:spAutoFit/>
          </a:bodyPr>
          <a:lstStyle/>
          <a:p>
            <a:pPr algn="ctr">
              <a:lnSpc>
                <a:spcPts val="2158"/>
              </a:lnSpc>
            </a:pPr>
            <a:r>
              <a:rPr lang="en-US" b="true" sz="2272">
                <a:solidFill>
                  <a:srgbClr val="36E9FD"/>
                </a:solidFill>
                <a:latin typeface="Montserrat Semi-Bold"/>
                <a:ea typeface="Montserrat Semi-Bold"/>
                <a:cs typeface="Montserrat Semi-Bold"/>
                <a:sym typeface="Montserrat Semi-Bold"/>
              </a:rPr>
              <a:t>INDUSTRIAL IOT(IIOT)</a:t>
            </a:r>
          </a:p>
        </p:txBody>
      </p:sp>
      <p:sp>
        <p:nvSpPr>
          <p:cNvPr name="TextBox 10" id="10"/>
          <p:cNvSpPr txBox="true"/>
          <p:nvPr/>
        </p:nvSpPr>
        <p:spPr>
          <a:xfrm rot="0">
            <a:off x="7648013" y="4584469"/>
            <a:ext cx="3136967" cy="5314674"/>
          </a:xfrm>
          <a:prstGeom prst="rect">
            <a:avLst/>
          </a:prstGeom>
        </p:spPr>
        <p:txBody>
          <a:bodyPr anchor="t" rtlCol="false" tIns="0" lIns="0" bIns="0" rIns="0">
            <a:spAutoFit/>
          </a:bodyPr>
          <a:lstStyle/>
          <a:p>
            <a:pPr algn="ctr">
              <a:lnSpc>
                <a:spcPts val="3825"/>
              </a:lnSpc>
            </a:pPr>
            <a:r>
              <a:rPr lang="en-US" sz="2185" i="true">
                <a:solidFill>
                  <a:srgbClr val="FFFFFF"/>
                </a:solidFill>
                <a:latin typeface="Raleway Italics"/>
                <a:ea typeface="Raleway Italics"/>
                <a:cs typeface="Raleway Italics"/>
                <a:sym typeface="Raleway Italics"/>
              </a:rPr>
              <a:t>used in manufacturing, energy, and logistics, among other industrial sectors. It links supply chain logistics, heavy machinery, and factory automation systems to track asset health, anticipate equipment failures, and streamline production lines.</a:t>
            </a:r>
          </a:p>
        </p:txBody>
      </p:sp>
      <p:sp>
        <p:nvSpPr>
          <p:cNvPr name="TextBox 11" id="11"/>
          <p:cNvSpPr txBox="true"/>
          <p:nvPr/>
        </p:nvSpPr>
        <p:spPr>
          <a:xfrm rot="0">
            <a:off x="12756350" y="3494933"/>
            <a:ext cx="3684870" cy="291228"/>
          </a:xfrm>
          <a:prstGeom prst="rect">
            <a:avLst/>
          </a:prstGeom>
        </p:spPr>
        <p:txBody>
          <a:bodyPr anchor="t" rtlCol="false" tIns="0" lIns="0" bIns="0" rIns="0">
            <a:spAutoFit/>
          </a:bodyPr>
          <a:lstStyle/>
          <a:p>
            <a:pPr algn="ctr">
              <a:lnSpc>
                <a:spcPts val="2158"/>
              </a:lnSpc>
            </a:pPr>
            <a:r>
              <a:rPr lang="en-US" b="true" sz="2272">
                <a:solidFill>
                  <a:srgbClr val="36E9FD"/>
                </a:solidFill>
                <a:latin typeface="Montserrat Semi-Bold"/>
                <a:ea typeface="Montserrat Semi-Bold"/>
                <a:cs typeface="Montserrat Semi-Bold"/>
                <a:sym typeface="Montserrat Semi-Bold"/>
              </a:rPr>
              <a:t>COMMERCIAL IOT</a:t>
            </a:r>
          </a:p>
        </p:txBody>
      </p:sp>
      <p:sp>
        <p:nvSpPr>
          <p:cNvPr name="TextBox 12" id="12"/>
          <p:cNvSpPr txBox="true"/>
          <p:nvPr/>
        </p:nvSpPr>
        <p:spPr>
          <a:xfrm rot="0">
            <a:off x="12309023" y="4867275"/>
            <a:ext cx="4750416" cy="4626045"/>
          </a:xfrm>
          <a:prstGeom prst="rect">
            <a:avLst/>
          </a:prstGeom>
        </p:spPr>
        <p:txBody>
          <a:bodyPr anchor="t" rtlCol="false" tIns="0" lIns="0" bIns="0" rIns="0">
            <a:spAutoFit/>
          </a:bodyPr>
          <a:lstStyle/>
          <a:p>
            <a:pPr algn="ctr">
              <a:lnSpc>
                <a:spcPts val="3825"/>
              </a:lnSpc>
            </a:pPr>
            <a:r>
              <a:rPr lang="en-US" sz="2185" i="true">
                <a:solidFill>
                  <a:srgbClr val="FFFFFF"/>
                </a:solidFill>
                <a:latin typeface="Raleway Italics"/>
                <a:ea typeface="Raleway Italics"/>
                <a:cs typeface="Raleway Italics"/>
                <a:sym typeface="Raleway Italics"/>
              </a:rPr>
              <a:t>Utilized in enterprise, retail, and public spaces to improve operational efficiency and customer experience. Examples include smart building automation (HVAC and lighting systems), automated checkout systems, digital signage, and asset tracking in warehouses.</a:t>
            </a:r>
          </a:p>
          <a:p>
            <a:pPr algn="ctr" marL="471908" indent="-235954" lvl="1">
              <a:lnSpc>
                <a:spcPts val="2819"/>
              </a:lnSpc>
              <a:buFont typeface="Arial"/>
              <a:buChar char="•"/>
            </a:pPr>
          </a:p>
          <a:p>
            <a:pPr algn="ctr">
              <a:lnSpc>
                <a:spcPts val="281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2A64">
                <a:alpha val="100000"/>
              </a:srgbClr>
            </a:gs>
            <a:gs pos="100000">
              <a:srgbClr val="414C94">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314761">
            <a:off x="5680419" y="6404287"/>
            <a:ext cx="19149891" cy="6989710"/>
          </a:xfrm>
          <a:custGeom>
            <a:avLst/>
            <a:gdLst/>
            <a:ahLst/>
            <a:cxnLst/>
            <a:rect r="r" b="b" t="t" l="l"/>
            <a:pathLst>
              <a:path h="6989710" w="19149891">
                <a:moveTo>
                  <a:pt x="0" y="0"/>
                </a:moveTo>
                <a:lnTo>
                  <a:pt x="19149891" y="0"/>
                </a:lnTo>
                <a:lnTo>
                  <a:pt x="19149891" y="6989711"/>
                </a:lnTo>
                <a:lnTo>
                  <a:pt x="0" y="6989711"/>
                </a:lnTo>
                <a:lnTo>
                  <a:pt x="0" y="0"/>
                </a:lnTo>
                <a:close/>
              </a:path>
            </a:pathLst>
          </a:custGeom>
          <a:blipFill>
            <a:blip r:embed="rId2">
              <a:alphaModFix amt="80000"/>
            </a:blip>
            <a:stretch>
              <a:fillRect l="0" t="0" r="0" b="0"/>
            </a:stretch>
          </a:blipFill>
        </p:spPr>
      </p:sp>
      <p:sp>
        <p:nvSpPr>
          <p:cNvPr name="Freeform 3" id="3"/>
          <p:cNvSpPr/>
          <p:nvPr/>
        </p:nvSpPr>
        <p:spPr>
          <a:xfrm flipH="false" flipV="true" rot="1572293">
            <a:off x="3960635" y="-5525403"/>
            <a:ext cx="19149891" cy="6989710"/>
          </a:xfrm>
          <a:custGeom>
            <a:avLst/>
            <a:gdLst/>
            <a:ahLst/>
            <a:cxnLst/>
            <a:rect r="r" b="b" t="t" l="l"/>
            <a:pathLst>
              <a:path h="6989710" w="19149891">
                <a:moveTo>
                  <a:pt x="0" y="6989711"/>
                </a:moveTo>
                <a:lnTo>
                  <a:pt x="19149891" y="6989711"/>
                </a:lnTo>
                <a:lnTo>
                  <a:pt x="19149891" y="0"/>
                </a:lnTo>
                <a:lnTo>
                  <a:pt x="0" y="0"/>
                </a:lnTo>
                <a:lnTo>
                  <a:pt x="0" y="6989711"/>
                </a:lnTo>
                <a:close/>
              </a:path>
            </a:pathLst>
          </a:custGeom>
          <a:blipFill>
            <a:blip r:embed="rId2">
              <a:alphaModFix amt="80000"/>
            </a:blip>
            <a:stretch>
              <a:fillRect l="0" t="0" r="0" b="0"/>
            </a:stretch>
          </a:blipFill>
        </p:spPr>
      </p:sp>
      <p:sp>
        <p:nvSpPr>
          <p:cNvPr name="Freeform 4" id="4"/>
          <p:cNvSpPr/>
          <p:nvPr/>
        </p:nvSpPr>
        <p:spPr>
          <a:xfrm flipH="false" flipV="false" rot="0">
            <a:off x="5465804" y="1339244"/>
            <a:ext cx="658167" cy="595940"/>
          </a:xfrm>
          <a:custGeom>
            <a:avLst/>
            <a:gdLst/>
            <a:ahLst/>
            <a:cxnLst/>
            <a:rect r="r" b="b" t="t" l="l"/>
            <a:pathLst>
              <a:path h="595940" w="658167">
                <a:moveTo>
                  <a:pt x="0" y="0"/>
                </a:moveTo>
                <a:lnTo>
                  <a:pt x="658167" y="0"/>
                </a:lnTo>
                <a:lnTo>
                  <a:pt x="658167" y="595940"/>
                </a:lnTo>
                <a:lnTo>
                  <a:pt x="0" y="595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300724" y="1599114"/>
            <a:ext cx="1154372" cy="515778"/>
          </a:xfrm>
          <a:prstGeom prst="rect">
            <a:avLst/>
          </a:prstGeom>
        </p:spPr>
        <p:txBody>
          <a:bodyPr anchor="t" rtlCol="false" tIns="0" lIns="0" bIns="0" rIns="0">
            <a:spAutoFit/>
          </a:bodyPr>
          <a:lstStyle/>
          <a:p>
            <a:pPr algn="l">
              <a:lnSpc>
                <a:spcPts val="4057"/>
              </a:lnSpc>
            </a:pPr>
            <a:r>
              <a:rPr lang="en-US" sz="3145">
                <a:solidFill>
                  <a:srgbClr val="FFFFFF"/>
                </a:solidFill>
                <a:latin typeface="Mokoto"/>
                <a:ea typeface="Mokoto"/>
                <a:cs typeface="Mokoto"/>
                <a:sym typeface="Mokoto"/>
              </a:rPr>
              <a:t>04</a:t>
            </a:r>
          </a:p>
        </p:txBody>
      </p:sp>
      <p:sp>
        <p:nvSpPr>
          <p:cNvPr name="TextBox 6" id="6"/>
          <p:cNvSpPr txBox="true"/>
          <p:nvPr/>
        </p:nvSpPr>
        <p:spPr>
          <a:xfrm rot="0">
            <a:off x="6123971" y="1194040"/>
            <a:ext cx="6185052" cy="920853"/>
          </a:xfrm>
          <a:prstGeom prst="rect">
            <a:avLst/>
          </a:prstGeom>
        </p:spPr>
        <p:txBody>
          <a:bodyPr anchor="t" rtlCol="false" tIns="0" lIns="0" bIns="0" rIns="0">
            <a:spAutoFit/>
          </a:bodyPr>
          <a:lstStyle/>
          <a:p>
            <a:pPr algn="ctr">
              <a:lnSpc>
                <a:spcPts val="6837"/>
              </a:lnSpc>
            </a:pPr>
            <a:r>
              <a:rPr lang="en-US" sz="7197" b="true">
                <a:solidFill>
                  <a:srgbClr val="FFFFFF"/>
                </a:solidFill>
                <a:latin typeface="Montserrat Semi-Bold"/>
                <a:ea typeface="Montserrat Semi-Bold"/>
                <a:cs typeface="Montserrat Semi-Bold"/>
                <a:sym typeface="Montserrat Semi-Bold"/>
              </a:rPr>
              <a:t>Types of IoT</a:t>
            </a:r>
          </a:p>
        </p:txBody>
      </p:sp>
      <p:sp>
        <p:nvSpPr>
          <p:cNvPr name="TextBox 7" id="7"/>
          <p:cNvSpPr txBox="true"/>
          <p:nvPr/>
        </p:nvSpPr>
        <p:spPr>
          <a:xfrm rot="0">
            <a:off x="2455096" y="3494933"/>
            <a:ext cx="2478048" cy="1091328"/>
          </a:xfrm>
          <a:prstGeom prst="rect">
            <a:avLst/>
          </a:prstGeom>
        </p:spPr>
        <p:txBody>
          <a:bodyPr anchor="t" rtlCol="false" tIns="0" lIns="0" bIns="0" rIns="0">
            <a:spAutoFit/>
          </a:bodyPr>
          <a:lstStyle/>
          <a:p>
            <a:pPr algn="ctr">
              <a:lnSpc>
                <a:spcPts val="2158"/>
              </a:lnSpc>
            </a:pPr>
            <a:r>
              <a:rPr lang="en-US" b="true" sz="2272">
                <a:solidFill>
                  <a:srgbClr val="36E9FD"/>
                </a:solidFill>
                <a:latin typeface="Montserrat Semi-Bold"/>
                <a:ea typeface="Montserrat Semi-Bold"/>
                <a:cs typeface="Montserrat Semi-Bold"/>
                <a:sym typeface="Montserrat Semi-Bold"/>
              </a:rPr>
              <a:t>INFRASTRUCTURE AND SMART CITIES (PUBLIC IOT)</a:t>
            </a:r>
          </a:p>
        </p:txBody>
      </p:sp>
      <p:sp>
        <p:nvSpPr>
          <p:cNvPr name="TextBox 8" id="8"/>
          <p:cNvSpPr txBox="true"/>
          <p:nvPr/>
        </p:nvSpPr>
        <p:spPr>
          <a:xfrm rot="0">
            <a:off x="1688190" y="4867275"/>
            <a:ext cx="4106698" cy="4343124"/>
          </a:xfrm>
          <a:prstGeom prst="rect">
            <a:avLst/>
          </a:prstGeom>
        </p:spPr>
        <p:txBody>
          <a:bodyPr anchor="t" rtlCol="false" tIns="0" lIns="0" bIns="0" rIns="0">
            <a:spAutoFit/>
          </a:bodyPr>
          <a:lstStyle/>
          <a:p>
            <a:pPr algn="ctr">
              <a:lnSpc>
                <a:spcPts val="3825"/>
              </a:lnSpc>
            </a:pPr>
            <a:r>
              <a:rPr lang="en-US" sz="2185" i="true">
                <a:solidFill>
                  <a:srgbClr val="FFFFFF"/>
                </a:solidFill>
                <a:latin typeface="Raleway Italics"/>
                <a:ea typeface="Raleway Italics"/>
                <a:cs typeface="Raleway Italics"/>
                <a:sym typeface="Raleway Italics"/>
              </a:rPr>
              <a:t>Deployed across municipal environments to manage public resources and infrastructure. Examples include smart grids for energy management, adaptive traffic control systems, smart waste management sensors, and structural health monitoring for bridges and roads.</a:t>
            </a:r>
          </a:p>
        </p:txBody>
      </p:sp>
      <p:sp>
        <p:nvSpPr>
          <p:cNvPr name="TextBox 9" id="9"/>
          <p:cNvSpPr txBox="true"/>
          <p:nvPr/>
        </p:nvSpPr>
        <p:spPr>
          <a:xfrm rot="0">
            <a:off x="7085179" y="3494933"/>
            <a:ext cx="4011862" cy="824628"/>
          </a:xfrm>
          <a:prstGeom prst="rect">
            <a:avLst/>
          </a:prstGeom>
        </p:spPr>
        <p:txBody>
          <a:bodyPr anchor="t" rtlCol="false" tIns="0" lIns="0" bIns="0" rIns="0">
            <a:spAutoFit/>
          </a:bodyPr>
          <a:lstStyle/>
          <a:p>
            <a:pPr algn="ctr">
              <a:lnSpc>
                <a:spcPts val="2158"/>
              </a:lnSpc>
            </a:pPr>
            <a:r>
              <a:rPr lang="en-US" b="true" sz="2272">
                <a:solidFill>
                  <a:srgbClr val="36E9FD"/>
                </a:solidFill>
                <a:latin typeface="Montserrat Semi-Bold"/>
                <a:ea typeface="Montserrat Semi-Bold"/>
                <a:cs typeface="Montserrat Semi-Bold"/>
                <a:sym typeface="Montserrat Semi-Bold"/>
              </a:rPr>
              <a:t>INTERNET OF MEDICAL THINGS (IOMT) / HEALTHCARE IOT</a:t>
            </a:r>
          </a:p>
        </p:txBody>
      </p:sp>
      <p:sp>
        <p:nvSpPr>
          <p:cNvPr name="TextBox 10" id="10"/>
          <p:cNvSpPr txBox="true"/>
          <p:nvPr/>
        </p:nvSpPr>
        <p:spPr>
          <a:xfrm rot="0">
            <a:off x="7648013" y="4867275"/>
            <a:ext cx="3136967" cy="4343124"/>
          </a:xfrm>
          <a:prstGeom prst="rect">
            <a:avLst/>
          </a:prstGeom>
        </p:spPr>
        <p:txBody>
          <a:bodyPr anchor="t" rtlCol="false" tIns="0" lIns="0" bIns="0" rIns="0">
            <a:spAutoFit/>
          </a:bodyPr>
          <a:lstStyle/>
          <a:p>
            <a:pPr algn="ctr">
              <a:lnSpc>
                <a:spcPts val="3825"/>
              </a:lnSpc>
            </a:pPr>
            <a:r>
              <a:rPr lang="en-US" sz="2185" i="true">
                <a:solidFill>
                  <a:srgbClr val="FFFFFF"/>
                </a:solidFill>
                <a:latin typeface="Raleway Italics"/>
                <a:ea typeface="Raleway Italics"/>
                <a:cs typeface="Raleway Italics"/>
                <a:sym typeface="Raleway Italics"/>
              </a:rPr>
              <a:t>Used for medical and health monitoring purposes. Examples include remote patient monitoring devices, smart pills, connected pacemakers, and real-time hospital asset tracking systems.</a:t>
            </a:r>
          </a:p>
        </p:txBody>
      </p:sp>
      <p:sp>
        <p:nvSpPr>
          <p:cNvPr name="TextBox 11" id="11"/>
          <p:cNvSpPr txBox="true"/>
          <p:nvPr/>
        </p:nvSpPr>
        <p:spPr>
          <a:xfrm rot="0">
            <a:off x="12756350" y="3494933"/>
            <a:ext cx="3684870" cy="557928"/>
          </a:xfrm>
          <a:prstGeom prst="rect">
            <a:avLst/>
          </a:prstGeom>
        </p:spPr>
        <p:txBody>
          <a:bodyPr anchor="t" rtlCol="false" tIns="0" lIns="0" bIns="0" rIns="0">
            <a:spAutoFit/>
          </a:bodyPr>
          <a:lstStyle/>
          <a:p>
            <a:pPr algn="ctr">
              <a:lnSpc>
                <a:spcPts val="2158"/>
              </a:lnSpc>
            </a:pPr>
            <a:r>
              <a:rPr lang="en-US" b="true" sz="2272">
                <a:solidFill>
                  <a:srgbClr val="36E9FD"/>
                </a:solidFill>
                <a:latin typeface="Montserrat Semi-Bold"/>
                <a:ea typeface="Montserrat Semi-Bold"/>
                <a:cs typeface="Montserrat Semi-Bold"/>
                <a:sym typeface="Montserrat Semi-Bold"/>
              </a:rPr>
              <a:t>AGRICULTURAL IOT (AGRI-IOT)</a:t>
            </a:r>
          </a:p>
        </p:txBody>
      </p:sp>
      <p:sp>
        <p:nvSpPr>
          <p:cNvPr name="TextBox 12" id="12"/>
          <p:cNvSpPr txBox="true"/>
          <p:nvPr/>
        </p:nvSpPr>
        <p:spPr>
          <a:xfrm rot="0">
            <a:off x="12223577" y="4867275"/>
            <a:ext cx="4750416" cy="3787845"/>
          </a:xfrm>
          <a:prstGeom prst="rect">
            <a:avLst/>
          </a:prstGeom>
        </p:spPr>
        <p:txBody>
          <a:bodyPr anchor="t" rtlCol="false" tIns="0" lIns="0" bIns="0" rIns="0">
            <a:spAutoFit/>
          </a:bodyPr>
          <a:lstStyle/>
          <a:p>
            <a:pPr algn="ctr" marL="471908" indent="-235954" lvl="1">
              <a:lnSpc>
                <a:spcPts val="3825"/>
              </a:lnSpc>
              <a:buFont typeface="Arial"/>
              <a:buChar char="•"/>
            </a:pPr>
            <a:r>
              <a:rPr lang="en-US" sz="2185" i="true">
                <a:solidFill>
                  <a:srgbClr val="FFFFFF"/>
                </a:solidFill>
                <a:latin typeface="Raleway Italics"/>
                <a:ea typeface="Raleway Italics"/>
                <a:cs typeface="Raleway Italics"/>
                <a:sym typeface="Raleway Italics"/>
              </a:rPr>
              <a:t>Deployed in farming environments to automate and optimize agricultural practices. Examples include soil moisture sensors, weather tracking stations, automated irrigation systems, and livestock tracking tags.</a:t>
            </a:r>
          </a:p>
          <a:p>
            <a:pPr algn="ctr">
              <a:lnSpc>
                <a:spcPts val="281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61B70">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582889">
            <a:off x="-4783694" y="7975014"/>
            <a:ext cx="19149891" cy="6989710"/>
          </a:xfrm>
          <a:custGeom>
            <a:avLst/>
            <a:gdLst/>
            <a:ahLst/>
            <a:cxnLst/>
            <a:rect r="r" b="b" t="t" l="l"/>
            <a:pathLst>
              <a:path h="6989710" w="19149891">
                <a:moveTo>
                  <a:pt x="0" y="0"/>
                </a:moveTo>
                <a:lnTo>
                  <a:pt x="19149891" y="0"/>
                </a:lnTo>
                <a:lnTo>
                  <a:pt x="19149891" y="6989710"/>
                </a:lnTo>
                <a:lnTo>
                  <a:pt x="0" y="6989710"/>
                </a:lnTo>
                <a:lnTo>
                  <a:pt x="0" y="0"/>
                </a:lnTo>
                <a:close/>
              </a:path>
            </a:pathLst>
          </a:custGeom>
          <a:blipFill>
            <a:blip r:embed="rId2">
              <a:alphaModFix amt="80000"/>
            </a:blip>
            <a:stretch>
              <a:fillRect l="0" t="0" r="0" b="0"/>
            </a:stretch>
          </a:blipFill>
        </p:spPr>
      </p:sp>
      <p:sp>
        <p:nvSpPr>
          <p:cNvPr name="Freeform 3" id="3"/>
          <p:cNvSpPr/>
          <p:nvPr/>
        </p:nvSpPr>
        <p:spPr>
          <a:xfrm flipH="false" flipV="true" rot="1572293">
            <a:off x="3960635" y="-5525403"/>
            <a:ext cx="19149891" cy="6989710"/>
          </a:xfrm>
          <a:custGeom>
            <a:avLst/>
            <a:gdLst/>
            <a:ahLst/>
            <a:cxnLst/>
            <a:rect r="r" b="b" t="t" l="l"/>
            <a:pathLst>
              <a:path h="6989710" w="19149891">
                <a:moveTo>
                  <a:pt x="0" y="6989711"/>
                </a:moveTo>
                <a:lnTo>
                  <a:pt x="19149891" y="6989711"/>
                </a:lnTo>
                <a:lnTo>
                  <a:pt x="19149891" y="0"/>
                </a:lnTo>
                <a:lnTo>
                  <a:pt x="0" y="0"/>
                </a:lnTo>
                <a:lnTo>
                  <a:pt x="0" y="6989711"/>
                </a:lnTo>
                <a:close/>
              </a:path>
            </a:pathLst>
          </a:custGeom>
          <a:blipFill>
            <a:blip r:embed="rId2">
              <a:alphaModFix amt="80000"/>
            </a:blip>
            <a:stretch>
              <a:fillRect l="0" t="0" r="0" b="0"/>
            </a:stretch>
          </a:blipFill>
        </p:spPr>
      </p:sp>
      <p:sp>
        <p:nvSpPr>
          <p:cNvPr name="Freeform 4" id="4"/>
          <p:cNvSpPr/>
          <p:nvPr/>
        </p:nvSpPr>
        <p:spPr>
          <a:xfrm flipH="false" flipV="false" rot="0">
            <a:off x="7965146" y="1028700"/>
            <a:ext cx="658167" cy="595940"/>
          </a:xfrm>
          <a:custGeom>
            <a:avLst/>
            <a:gdLst/>
            <a:ahLst/>
            <a:cxnLst/>
            <a:rect r="r" b="b" t="t" l="l"/>
            <a:pathLst>
              <a:path h="595940" w="658167">
                <a:moveTo>
                  <a:pt x="0" y="0"/>
                </a:moveTo>
                <a:lnTo>
                  <a:pt x="658167" y="0"/>
                </a:lnTo>
                <a:lnTo>
                  <a:pt x="658167" y="595940"/>
                </a:lnTo>
                <a:lnTo>
                  <a:pt x="0" y="595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00724" y="2947113"/>
            <a:ext cx="5970671" cy="5970671"/>
          </a:xfrm>
          <a:custGeom>
            <a:avLst/>
            <a:gdLst/>
            <a:ahLst/>
            <a:cxnLst/>
            <a:rect r="r" b="b" t="t" l="l"/>
            <a:pathLst>
              <a:path h="5970671" w="5970671">
                <a:moveTo>
                  <a:pt x="0" y="0"/>
                </a:moveTo>
                <a:lnTo>
                  <a:pt x="5970671" y="0"/>
                </a:lnTo>
                <a:lnTo>
                  <a:pt x="5970671" y="5970671"/>
                </a:lnTo>
                <a:lnTo>
                  <a:pt x="0" y="5970671"/>
                </a:lnTo>
                <a:lnTo>
                  <a:pt x="0" y="0"/>
                </a:lnTo>
                <a:close/>
              </a:path>
            </a:pathLst>
          </a:custGeom>
          <a:blipFill>
            <a:blip r:embed="rId5"/>
            <a:stretch>
              <a:fillRect l="0" t="0" r="0" b="0"/>
            </a:stretch>
          </a:blipFill>
        </p:spPr>
      </p:sp>
      <p:sp>
        <p:nvSpPr>
          <p:cNvPr name="TextBox 6" id="6"/>
          <p:cNvSpPr txBox="true"/>
          <p:nvPr/>
        </p:nvSpPr>
        <p:spPr>
          <a:xfrm rot="0">
            <a:off x="1300724" y="1599114"/>
            <a:ext cx="1154372" cy="515778"/>
          </a:xfrm>
          <a:prstGeom prst="rect">
            <a:avLst/>
          </a:prstGeom>
        </p:spPr>
        <p:txBody>
          <a:bodyPr anchor="t" rtlCol="false" tIns="0" lIns="0" bIns="0" rIns="0">
            <a:spAutoFit/>
          </a:bodyPr>
          <a:lstStyle/>
          <a:p>
            <a:pPr algn="l">
              <a:lnSpc>
                <a:spcPts val="4057"/>
              </a:lnSpc>
            </a:pPr>
            <a:r>
              <a:rPr lang="en-US" sz="3145">
                <a:solidFill>
                  <a:srgbClr val="FFFFFF"/>
                </a:solidFill>
                <a:latin typeface="Mokoto"/>
                <a:ea typeface="Mokoto"/>
                <a:cs typeface="Mokoto"/>
                <a:sym typeface="Mokoto"/>
              </a:rPr>
              <a:t>05</a:t>
            </a:r>
          </a:p>
        </p:txBody>
      </p:sp>
      <p:sp>
        <p:nvSpPr>
          <p:cNvPr name="TextBox 7" id="7"/>
          <p:cNvSpPr txBox="true"/>
          <p:nvPr/>
        </p:nvSpPr>
        <p:spPr>
          <a:xfrm rot="0">
            <a:off x="7965146" y="2193487"/>
            <a:ext cx="7510990" cy="1659653"/>
          </a:xfrm>
          <a:prstGeom prst="rect">
            <a:avLst/>
          </a:prstGeom>
        </p:spPr>
        <p:txBody>
          <a:bodyPr anchor="t" rtlCol="false" tIns="0" lIns="0" bIns="0" rIns="0">
            <a:spAutoFit/>
          </a:bodyPr>
          <a:lstStyle/>
          <a:p>
            <a:pPr algn="l">
              <a:lnSpc>
                <a:spcPts val="6338"/>
              </a:lnSpc>
            </a:pPr>
            <a:r>
              <a:rPr lang="en-US" sz="6672" b="true">
                <a:solidFill>
                  <a:srgbClr val="36E9FD"/>
                </a:solidFill>
                <a:latin typeface="Montserrat Semi-Bold"/>
                <a:ea typeface="Montserrat Semi-Bold"/>
                <a:cs typeface="Montserrat Semi-Bold"/>
                <a:sym typeface="Montserrat Semi-Bold"/>
              </a:rPr>
              <a:t>Early Milestones of "IoT"</a:t>
            </a:r>
          </a:p>
        </p:txBody>
      </p:sp>
      <p:sp>
        <p:nvSpPr>
          <p:cNvPr name="TextBox 8" id="8"/>
          <p:cNvSpPr txBox="true"/>
          <p:nvPr/>
        </p:nvSpPr>
        <p:spPr>
          <a:xfrm rot="0">
            <a:off x="7965146" y="4291290"/>
            <a:ext cx="8533572" cy="6095391"/>
          </a:xfrm>
          <a:prstGeom prst="rect">
            <a:avLst/>
          </a:prstGeom>
        </p:spPr>
        <p:txBody>
          <a:bodyPr anchor="t" rtlCol="false" tIns="0" lIns="0" bIns="0" rIns="0">
            <a:spAutoFit/>
          </a:bodyPr>
          <a:lstStyle/>
          <a:p>
            <a:pPr algn="l" marL="555638" indent="-277819" lvl="1">
              <a:lnSpc>
                <a:spcPts val="4066"/>
              </a:lnSpc>
              <a:buFont typeface="Arial"/>
              <a:buChar char="•"/>
            </a:pPr>
            <a:r>
              <a:rPr lang="en-US" sz="2573" i="true">
                <a:solidFill>
                  <a:srgbClr val="FFFFFF"/>
                </a:solidFill>
                <a:latin typeface="Raleway Italics"/>
                <a:ea typeface="Raleway Italics"/>
                <a:cs typeface="Raleway Italics"/>
                <a:sym typeface="Raleway Italics"/>
              </a:rPr>
              <a:t>1982 (The First "Thing"): Computer scientists at Carnegie Mellon University connect a Coca-Cola vending machine to check drink availability and temperature remotely.</a:t>
            </a:r>
          </a:p>
          <a:p>
            <a:pPr algn="l" marL="555638" indent="-277819" lvl="1">
              <a:lnSpc>
                <a:spcPts val="4066"/>
              </a:lnSpc>
              <a:buFont typeface="Arial"/>
              <a:buChar char="•"/>
            </a:pPr>
            <a:r>
              <a:rPr lang="en-US" sz="2573" i="true">
                <a:solidFill>
                  <a:srgbClr val="FFFFFF"/>
                </a:solidFill>
                <a:latin typeface="Raleway Italics"/>
                <a:ea typeface="Raleway Italics"/>
                <a:cs typeface="Raleway Italics"/>
                <a:sym typeface="Raleway Italics"/>
              </a:rPr>
              <a:t>1990–1991: John Romkey creates the first internet toaster; Cambridge researchers deploy the Trojan Room coffee pot camera.</a:t>
            </a:r>
          </a:p>
          <a:p>
            <a:pPr algn="l" marL="555638" indent="-277819" lvl="1">
              <a:lnSpc>
                <a:spcPts val="4066"/>
              </a:lnSpc>
              <a:buFont typeface="Arial"/>
              <a:buChar char="•"/>
            </a:pPr>
            <a:r>
              <a:rPr lang="en-US" sz="2573" i="true">
                <a:solidFill>
                  <a:srgbClr val="FFFFFF"/>
                </a:solidFill>
                <a:latin typeface="Raleway Italics"/>
                <a:ea typeface="Raleway Italics"/>
                <a:cs typeface="Raleway Italics"/>
                <a:sym typeface="Raleway Italics"/>
              </a:rPr>
              <a:t>1999 (The Official Name): Kevin Ashton officially coins the phrase "Internet of Things" during a supply chain presentation at Procter &amp; Gamble regarding RFID tracking.</a:t>
            </a:r>
          </a:p>
          <a:p>
            <a:pPr algn="l">
              <a:lnSpc>
                <a:spcPts val="331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2A64">
                <a:alpha val="100000"/>
              </a:srgbClr>
            </a:gs>
            <a:gs pos="100000">
              <a:srgbClr val="414C94">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314761">
            <a:off x="5680419" y="6404287"/>
            <a:ext cx="19149891" cy="6989710"/>
          </a:xfrm>
          <a:custGeom>
            <a:avLst/>
            <a:gdLst/>
            <a:ahLst/>
            <a:cxnLst/>
            <a:rect r="r" b="b" t="t" l="l"/>
            <a:pathLst>
              <a:path h="6989710" w="19149891">
                <a:moveTo>
                  <a:pt x="0" y="0"/>
                </a:moveTo>
                <a:lnTo>
                  <a:pt x="19149891" y="0"/>
                </a:lnTo>
                <a:lnTo>
                  <a:pt x="19149891" y="6989711"/>
                </a:lnTo>
                <a:lnTo>
                  <a:pt x="0" y="6989711"/>
                </a:lnTo>
                <a:lnTo>
                  <a:pt x="0" y="0"/>
                </a:lnTo>
                <a:close/>
              </a:path>
            </a:pathLst>
          </a:custGeom>
          <a:blipFill>
            <a:blip r:embed="rId2">
              <a:alphaModFix amt="80000"/>
            </a:blip>
            <a:stretch>
              <a:fillRect l="0" t="0" r="0" b="0"/>
            </a:stretch>
          </a:blipFill>
        </p:spPr>
      </p:sp>
      <p:sp>
        <p:nvSpPr>
          <p:cNvPr name="Freeform 3" id="3"/>
          <p:cNvSpPr/>
          <p:nvPr/>
        </p:nvSpPr>
        <p:spPr>
          <a:xfrm flipH="false" flipV="true" rot="1572293">
            <a:off x="3960635" y="-5525403"/>
            <a:ext cx="19149891" cy="6989710"/>
          </a:xfrm>
          <a:custGeom>
            <a:avLst/>
            <a:gdLst/>
            <a:ahLst/>
            <a:cxnLst/>
            <a:rect r="r" b="b" t="t" l="l"/>
            <a:pathLst>
              <a:path h="6989710" w="19149891">
                <a:moveTo>
                  <a:pt x="0" y="6989711"/>
                </a:moveTo>
                <a:lnTo>
                  <a:pt x="19149891" y="6989711"/>
                </a:lnTo>
                <a:lnTo>
                  <a:pt x="19149891" y="0"/>
                </a:lnTo>
                <a:lnTo>
                  <a:pt x="0" y="0"/>
                </a:lnTo>
                <a:lnTo>
                  <a:pt x="0" y="6989711"/>
                </a:lnTo>
                <a:close/>
              </a:path>
            </a:pathLst>
          </a:custGeom>
          <a:blipFill>
            <a:blip r:embed="rId2">
              <a:alphaModFix amt="80000"/>
            </a:blip>
            <a:stretch>
              <a:fillRect l="0" t="0" r="0" b="0"/>
            </a:stretch>
          </a:blipFill>
        </p:spPr>
      </p:sp>
      <p:sp>
        <p:nvSpPr>
          <p:cNvPr name="Freeform 4" id="4"/>
          <p:cNvSpPr/>
          <p:nvPr/>
        </p:nvSpPr>
        <p:spPr>
          <a:xfrm flipH="false" flipV="false" rot="0">
            <a:off x="2081562" y="1041274"/>
            <a:ext cx="658167" cy="595940"/>
          </a:xfrm>
          <a:custGeom>
            <a:avLst/>
            <a:gdLst/>
            <a:ahLst/>
            <a:cxnLst/>
            <a:rect r="r" b="b" t="t" l="l"/>
            <a:pathLst>
              <a:path h="595940" w="658167">
                <a:moveTo>
                  <a:pt x="0" y="0"/>
                </a:moveTo>
                <a:lnTo>
                  <a:pt x="658167" y="0"/>
                </a:lnTo>
                <a:lnTo>
                  <a:pt x="658167" y="595940"/>
                </a:lnTo>
                <a:lnTo>
                  <a:pt x="0" y="595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6104928" y="1599114"/>
            <a:ext cx="1154372" cy="515778"/>
          </a:xfrm>
          <a:prstGeom prst="rect">
            <a:avLst/>
          </a:prstGeom>
        </p:spPr>
        <p:txBody>
          <a:bodyPr anchor="t" rtlCol="false" tIns="0" lIns="0" bIns="0" rIns="0">
            <a:spAutoFit/>
          </a:bodyPr>
          <a:lstStyle/>
          <a:p>
            <a:pPr algn="l">
              <a:lnSpc>
                <a:spcPts val="4057"/>
              </a:lnSpc>
            </a:pPr>
            <a:r>
              <a:rPr lang="en-US" sz="3145">
                <a:solidFill>
                  <a:srgbClr val="FFFFFF"/>
                </a:solidFill>
                <a:latin typeface="Mokoto"/>
                <a:ea typeface="Mokoto"/>
                <a:cs typeface="Mokoto"/>
                <a:sym typeface="Mokoto"/>
              </a:rPr>
              <a:t>06</a:t>
            </a:r>
          </a:p>
        </p:txBody>
      </p:sp>
      <p:sp>
        <p:nvSpPr>
          <p:cNvPr name="TextBox 6" id="6"/>
          <p:cNvSpPr txBox="true"/>
          <p:nvPr/>
        </p:nvSpPr>
        <p:spPr>
          <a:xfrm rot="0">
            <a:off x="2081562" y="2076792"/>
            <a:ext cx="9049382" cy="7785466"/>
          </a:xfrm>
          <a:prstGeom prst="rect">
            <a:avLst/>
          </a:prstGeom>
        </p:spPr>
        <p:txBody>
          <a:bodyPr anchor="t" rtlCol="false" tIns="0" lIns="0" bIns="0" rIns="0">
            <a:spAutoFit/>
          </a:bodyPr>
          <a:lstStyle/>
          <a:p>
            <a:pPr algn="l">
              <a:lnSpc>
                <a:spcPts val="4480"/>
              </a:lnSpc>
            </a:pPr>
            <a:r>
              <a:rPr lang="en-US" sz="3473" i="true" b="true">
                <a:solidFill>
                  <a:srgbClr val="FFFFFF"/>
                </a:solidFill>
                <a:latin typeface="Raleway Bold Italics"/>
                <a:ea typeface="Raleway Bold Italics"/>
                <a:cs typeface="Raleway Bold Italics"/>
                <a:sym typeface="Raleway Bold Italics"/>
              </a:rPr>
              <a:t>Internet of Things platform</a:t>
            </a:r>
          </a:p>
          <a:p>
            <a:pPr algn="l">
              <a:lnSpc>
                <a:spcPts val="4503"/>
              </a:lnSpc>
            </a:pPr>
            <a:r>
              <a:rPr lang="en-US" sz="2573" i="true">
                <a:solidFill>
                  <a:srgbClr val="FFFFFF"/>
                </a:solidFill>
                <a:latin typeface="Raleway Italics"/>
                <a:ea typeface="Raleway Italics"/>
                <a:cs typeface="Raleway Italics"/>
                <a:sym typeface="Raleway Italics"/>
              </a:rPr>
              <a:t>An IoT platform manages device connectivity. It can be a software suite or a cloud service. The purpose of an IoT platform is to manage and monitor hardware, software, processing abilities, and application layers.</a:t>
            </a:r>
          </a:p>
          <a:p>
            <a:pPr algn="l">
              <a:lnSpc>
                <a:spcPts val="3319"/>
              </a:lnSpc>
            </a:pPr>
          </a:p>
          <a:p>
            <a:pPr algn="l">
              <a:lnSpc>
                <a:spcPts val="4476"/>
              </a:lnSpc>
            </a:pPr>
            <a:r>
              <a:rPr lang="en-US" sz="3470" i="true" b="true">
                <a:solidFill>
                  <a:srgbClr val="FFFFFF"/>
                </a:solidFill>
                <a:latin typeface="Raleway Bold Italics"/>
                <a:ea typeface="Raleway Bold Italics"/>
                <a:cs typeface="Raleway Bold Italics"/>
                <a:sym typeface="Raleway Bold Italics"/>
              </a:rPr>
              <a:t>Sensor technologies</a:t>
            </a:r>
          </a:p>
          <a:p>
            <a:pPr algn="l">
              <a:lnSpc>
                <a:spcPts val="4014"/>
              </a:lnSpc>
            </a:pPr>
            <a:r>
              <a:rPr lang="en-US" sz="2573" i="true">
                <a:solidFill>
                  <a:srgbClr val="FFFFFF"/>
                </a:solidFill>
                <a:latin typeface="Raleway Italics"/>
                <a:ea typeface="Raleway Italics"/>
                <a:cs typeface="Raleway Italics"/>
                <a:sym typeface="Raleway Italics"/>
              </a:rPr>
              <a:t>IoT sensors, sometimes called smart sensors, convert real-world variables into data that devices can interpret and share. Many different types of sensors exist. For example, temperature sensors detect heat and convert temperature changes into data. Motion sensors detect movement by monitoring ultrasonic waves and triggering a desired action when those waves are interrupted.</a:t>
            </a:r>
          </a:p>
          <a:p>
            <a:pPr algn="l">
              <a:lnSpc>
                <a:spcPts val="3319"/>
              </a:lnSpc>
            </a:pPr>
          </a:p>
        </p:txBody>
      </p:sp>
      <p:grpSp>
        <p:nvGrpSpPr>
          <p:cNvPr name="Group 7" id="7"/>
          <p:cNvGrpSpPr>
            <a:grpSpLocks noChangeAspect="true"/>
          </p:cNvGrpSpPr>
          <p:nvPr/>
        </p:nvGrpSpPr>
        <p:grpSpPr>
          <a:xfrm rot="0">
            <a:off x="11397663" y="2447052"/>
            <a:ext cx="5985108" cy="5985108"/>
            <a:chOff x="0" y="0"/>
            <a:chExt cx="14840029" cy="14840029"/>
          </a:xfrm>
        </p:grpSpPr>
        <p:sp>
          <p:nvSpPr>
            <p:cNvPr name="Freeform 8" id="8"/>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p:spPr>
        </p:sp>
        <p:sp>
          <p:nvSpPr>
            <p:cNvPr name="Freeform 9" id="9"/>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0" id="10"/>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38313" t="0" r="-38313" b="0"/>
              </a:stretch>
            </a:blipFill>
          </p:spPr>
        </p:sp>
      </p:grpSp>
      <p:sp>
        <p:nvSpPr>
          <p:cNvPr name="Freeform 11" id="11"/>
          <p:cNvSpPr/>
          <p:nvPr/>
        </p:nvSpPr>
        <p:spPr>
          <a:xfrm flipH="false" flipV="false" rot="0">
            <a:off x="15181260" y="6529729"/>
            <a:ext cx="1785236" cy="1785236"/>
          </a:xfrm>
          <a:custGeom>
            <a:avLst/>
            <a:gdLst/>
            <a:ahLst/>
            <a:cxnLst/>
            <a:rect r="r" b="b" t="t" l="l"/>
            <a:pathLst>
              <a:path h="1785236" w="1785236">
                <a:moveTo>
                  <a:pt x="0" y="0"/>
                </a:moveTo>
                <a:lnTo>
                  <a:pt x="1785235" y="0"/>
                </a:lnTo>
                <a:lnTo>
                  <a:pt x="1785235" y="1785235"/>
                </a:lnTo>
                <a:lnTo>
                  <a:pt x="0" y="17852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83721" y="564812"/>
            <a:ext cx="1785236" cy="1785236"/>
          </a:xfrm>
          <a:custGeom>
            <a:avLst/>
            <a:gdLst/>
            <a:ahLst/>
            <a:cxnLst/>
            <a:rect r="r" b="b" t="t" l="l"/>
            <a:pathLst>
              <a:path h="1785236" w="1785236">
                <a:moveTo>
                  <a:pt x="0" y="0"/>
                </a:moveTo>
                <a:lnTo>
                  <a:pt x="1785236" y="0"/>
                </a:lnTo>
                <a:lnTo>
                  <a:pt x="1785236" y="1785236"/>
                </a:lnTo>
                <a:lnTo>
                  <a:pt x="0" y="17852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61B70">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242831">
            <a:off x="-183072" y="9034920"/>
            <a:ext cx="19149891" cy="6989710"/>
          </a:xfrm>
          <a:custGeom>
            <a:avLst/>
            <a:gdLst/>
            <a:ahLst/>
            <a:cxnLst/>
            <a:rect r="r" b="b" t="t" l="l"/>
            <a:pathLst>
              <a:path h="6989710" w="19149891">
                <a:moveTo>
                  <a:pt x="0" y="0"/>
                </a:moveTo>
                <a:lnTo>
                  <a:pt x="19149891" y="0"/>
                </a:lnTo>
                <a:lnTo>
                  <a:pt x="19149891" y="6989711"/>
                </a:lnTo>
                <a:lnTo>
                  <a:pt x="0" y="6989711"/>
                </a:lnTo>
                <a:lnTo>
                  <a:pt x="0" y="0"/>
                </a:lnTo>
                <a:close/>
              </a:path>
            </a:pathLst>
          </a:custGeom>
          <a:blipFill>
            <a:blip r:embed="rId2">
              <a:alphaModFix amt="80000"/>
            </a:blip>
            <a:stretch>
              <a:fillRect l="0" t="0" r="0" b="0"/>
            </a:stretch>
          </a:blipFill>
        </p:spPr>
      </p:sp>
      <p:sp>
        <p:nvSpPr>
          <p:cNvPr name="Freeform 3" id="3"/>
          <p:cNvSpPr/>
          <p:nvPr/>
        </p:nvSpPr>
        <p:spPr>
          <a:xfrm flipH="false" flipV="true" rot="-438710">
            <a:off x="-4529841" y="-5573153"/>
            <a:ext cx="19149891" cy="6989710"/>
          </a:xfrm>
          <a:custGeom>
            <a:avLst/>
            <a:gdLst/>
            <a:ahLst/>
            <a:cxnLst/>
            <a:rect r="r" b="b" t="t" l="l"/>
            <a:pathLst>
              <a:path h="6989710" w="19149891">
                <a:moveTo>
                  <a:pt x="0" y="6989710"/>
                </a:moveTo>
                <a:lnTo>
                  <a:pt x="19149891" y="6989710"/>
                </a:lnTo>
                <a:lnTo>
                  <a:pt x="19149891" y="0"/>
                </a:lnTo>
                <a:lnTo>
                  <a:pt x="0" y="0"/>
                </a:lnTo>
                <a:lnTo>
                  <a:pt x="0" y="6989710"/>
                </a:lnTo>
                <a:close/>
              </a:path>
            </a:pathLst>
          </a:custGeom>
          <a:blipFill>
            <a:blip r:embed="rId2">
              <a:alphaModFix amt="80000"/>
            </a:blip>
            <a:stretch>
              <a:fillRect l="0" t="0" r="0" b="0"/>
            </a:stretch>
          </a:blipFill>
        </p:spPr>
      </p:sp>
      <p:sp>
        <p:nvSpPr>
          <p:cNvPr name="Freeform 4" id="4"/>
          <p:cNvSpPr/>
          <p:nvPr/>
        </p:nvSpPr>
        <p:spPr>
          <a:xfrm flipH="false" flipV="false" rot="0">
            <a:off x="3335497" y="1259763"/>
            <a:ext cx="658167" cy="595940"/>
          </a:xfrm>
          <a:custGeom>
            <a:avLst/>
            <a:gdLst/>
            <a:ahLst/>
            <a:cxnLst/>
            <a:rect r="r" b="b" t="t" l="l"/>
            <a:pathLst>
              <a:path h="595940" w="658167">
                <a:moveTo>
                  <a:pt x="0" y="0"/>
                </a:moveTo>
                <a:lnTo>
                  <a:pt x="658166" y="0"/>
                </a:lnTo>
                <a:lnTo>
                  <a:pt x="658166" y="595940"/>
                </a:lnTo>
                <a:lnTo>
                  <a:pt x="0" y="595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308566" y="2057400"/>
            <a:ext cx="9272016" cy="8229600"/>
          </a:xfrm>
          <a:custGeom>
            <a:avLst/>
            <a:gdLst/>
            <a:ahLst/>
            <a:cxnLst/>
            <a:rect r="r" b="b" t="t" l="l"/>
            <a:pathLst>
              <a:path h="8229600" w="9272016">
                <a:moveTo>
                  <a:pt x="0" y="0"/>
                </a:moveTo>
                <a:lnTo>
                  <a:pt x="9272016" y="0"/>
                </a:lnTo>
                <a:lnTo>
                  <a:pt x="9272016" y="8229600"/>
                </a:lnTo>
                <a:lnTo>
                  <a:pt x="0" y="8229600"/>
                </a:lnTo>
                <a:lnTo>
                  <a:pt x="0" y="0"/>
                </a:lnTo>
                <a:close/>
              </a:path>
            </a:pathLst>
          </a:custGeom>
          <a:blipFill>
            <a:blip r:embed="rId5">
              <a:alphaModFix amt="18999"/>
            </a:blip>
            <a:stretch>
              <a:fillRect l="0" t="0" r="0" b="0"/>
            </a:stretch>
          </a:blipFill>
        </p:spPr>
      </p:sp>
      <p:sp>
        <p:nvSpPr>
          <p:cNvPr name="TextBox 6" id="6"/>
          <p:cNvSpPr txBox="true"/>
          <p:nvPr/>
        </p:nvSpPr>
        <p:spPr>
          <a:xfrm rot="0">
            <a:off x="4161325" y="1108955"/>
            <a:ext cx="9965350" cy="1100845"/>
          </a:xfrm>
          <a:prstGeom prst="rect">
            <a:avLst/>
          </a:prstGeom>
        </p:spPr>
        <p:txBody>
          <a:bodyPr anchor="t" rtlCol="false" tIns="0" lIns="0" bIns="0" rIns="0">
            <a:spAutoFit/>
          </a:bodyPr>
          <a:lstStyle/>
          <a:p>
            <a:pPr algn="ctr">
              <a:lnSpc>
                <a:spcPts val="8143"/>
              </a:lnSpc>
            </a:pPr>
            <a:r>
              <a:rPr lang="en-US" sz="8572" b="true">
                <a:solidFill>
                  <a:srgbClr val="36E9FD"/>
                </a:solidFill>
                <a:latin typeface="Montserrat Semi-Bold"/>
                <a:ea typeface="Montserrat Semi-Bold"/>
                <a:cs typeface="Montserrat Semi-Bold"/>
                <a:sym typeface="Montserrat Semi-Bold"/>
              </a:rPr>
              <a:t>Challenges of IoT</a:t>
            </a:r>
          </a:p>
        </p:txBody>
      </p:sp>
      <p:sp>
        <p:nvSpPr>
          <p:cNvPr name="TextBox 7" id="7"/>
          <p:cNvSpPr txBox="true"/>
          <p:nvPr/>
        </p:nvSpPr>
        <p:spPr>
          <a:xfrm rot="0">
            <a:off x="3335497" y="2679542"/>
            <a:ext cx="11651480" cy="5876156"/>
          </a:xfrm>
          <a:prstGeom prst="rect">
            <a:avLst/>
          </a:prstGeom>
        </p:spPr>
        <p:txBody>
          <a:bodyPr anchor="t" rtlCol="false" tIns="0" lIns="0" bIns="0" rIns="0">
            <a:spAutoFit/>
          </a:bodyPr>
          <a:lstStyle/>
          <a:p>
            <a:pPr algn="ctr" marL="663585" indent="-331792" lvl="1">
              <a:lnSpc>
                <a:spcPts val="5194"/>
              </a:lnSpc>
              <a:buFont typeface="Arial"/>
              <a:buChar char="•"/>
            </a:pPr>
            <a:r>
              <a:rPr lang="en-US" b="true" sz="3073" i="true">
                <a:solidFill>
                  <a:srgbClr val="FFFFFF"/>
                </a:solidFill>
                <a:latin typeface="Raleway Bold Italics"/>
                <a:ea typeface="Raleway Bold Italics"/>
                <a:cs typeface="Raleway Bold Italics"/>
                <a:sym typeface="Raleway Bold Italics"/>
              </a:rPr>
              <a:t>Security &amp; Privacy:</a:t>
            </a:r>
            <a:r>
              <a:rPr lang="en-US" sz="3073" i="true">
                <a:solidFill>
                  <a:srgbClr val="FFFFFF"/>
                </a:solidFill>
                <a:latin typeface="Raleway Italics"/>
                <a:ea typeface="Raleway Italics"/>
                <a:cs typeface="Raleway Italics"/>
                <a:sym typeface="Raleway Italics"/>
              </a:rPr>
              <a:t> Vulnerability to cyberattacks, data breaches, and unencrypted device communications.</a:t>
            </a:r>
          </a:p>
          <a:p>
            <a:pPr algn="ctr" marL="663585" indent="-331792" lvl="1">
              <a:lnSpc>
                <a:spcPts val="5194"/>
              </a:lnSpc>
              <a:buFont typeface="Arial"/>
              <a:buChar char="•"/>
            </a:pPr>
            <a:r>
              <a:rPr lang="en-US" b="true" sz="3073" i="true">
                <a:solidFill>
                  <a:srgbClr val="FFFFFF"/>
                </a:solidFill>
                <a:latin typeface="Raleway Bold Italics"/>
                <a:ea typeface="Raleway Bold Italics"/>
                <a:cs typeface="Raleway Bold Italics"/>
                <a:sym typeface="Raleway Bold Italics"/>
              </a:rPr>
              <a:t>Interoperability:</a:t>
            </a:r>
            <a:r>
              <a:rPr lang="en-US" sz="3073" i="true">
                <a:solidFill>
                  <a:srgbClr val="FFFFFF"/>
                </a:solidFill>
                <a:latin typeface="Raleway Italics"/>
                <a:ea typeface="Raleway Italics"/>
                <a:cs typeface="Raleway Italics"/>
                <a:sym typeface="Raleway Italics"/>
              </a:rPr>
              <a:t> Lack of universal standards across different hardware and software vendors.</a:t>
            </a:r>
          </a:p>
          <a:p>
            <a:pPr algn="ctr" marL="663585" indent="-331792" lvl="1">
              <a:lnSpc>
                <a:spcPts val="5194"/>
              </a:lnSpc>
              <a:buFont typeface="Arial"/>
              <a:buChar char="•"/>
            </a:pPr>
            <a:r>
              <a:rPr lang="en-US" b="true" sz="3073" i="true">
                <a:solidFill>
                  <a:srgbClr val="FFFFFF"/>
                </a:solidFill>
                <a:latin typeface="Raleway Bold Italics"/>
                <a:ea typeface="Raleway Bold Italics"/>
                <a:cs typeface="Raleway Bold Italics"/>
                <a:sym typeface="Raleway Bold Italics"/>
              </a:rPr>
              <a:t>Scalability:</a:t>
            </a:r>
            <a:r>
              <a:rPr lang="en-US" sz="3073" i="true">
                <a:solidFill>
                  <a:srgbClr val="FFFFFF"/>
                </a:solidFill>
                <a:latin typeface="Raleway Italics"/>
                <a:ea typeface="Raleway Italics"/>
                <a:cs typeface="Raleway Italics"/>
                <a:sym typeface="Raleway Italics"/>
              </a:rPr>
              <a:t> Managing network bandwidth and storage for billions of connected devices.</a:t>
            </a:r>
          </a:p>
          <a:p>
            <a:pPr algn="ctr" marL="663585" indent="-331792" lvl="1">
              <a:lnSpc>
                <a:spcPts val="5194"/>
              </a:lnSpc>
              <a:buFont typeface="Arial"/>
              <a:buChar char="•"/>
            </a:pPr>
            <a:r>
              <a:rPr lang="en-US" b="true" sz="3073" i="true">
                <a:solidFill>
                  <a:srgbClr val="FFFFFF"/>
                </a:solidFill>
                <a:latin typeface="Raleway Bold Italics"/>
                <a:ea typeface="Raleway Bold Italics"/>
                <a:cs typeface="Raleway Bold Italics"/>
                <a:sym typeface="Raleway Bold Italics"/>
              </a:rPr>
              <a:t>Future Trend:</a:t>
            </a:r>
            <a:r>
              <a:rPr lang="en-US" sz="3073" i="true">
                <a:solidFill>
                  <a:srgbClr val="FFFFFF"/>
                </a:solidFill>
                <a:latin typeface="Raleway Italics"/>
                <a:ea typeface="Raleway Italics"/>
                <a:cs typeface="Raleway Italics"/>
                <a:sym typeface="Raleway Italics"/>
              </a:rPr>
              <a:t> Integration with Artificial Intelligence (AIoT) for autonomous decision-making at the edge.</a:t>
            </a:r>
          </a:p>
          <a:p>
            <a:pPr algn="ctr">
              <a:lnSpc>
                <a:spcPts val="5194"/>
              </a:lnSpc>
            </a:pPr>
          </a:p>
        </p:txBody>
      </p:sp>
      <p:sp>
        <p:nvSpPr>
          <p:cNvPr name="Freeform 8" id="8"/>
          <p:cNvSpPr/>
          <p:nvPr/>
        </p:nvSpPr>
        <p:spPr>
          <a:xfrm flipH="false" flipV="false" rot="0">
            <a:off x="13054474" y="2209800"/>
            <a:ext cx="9272016" cy="8229600"/>
          </a:xfrm>
          <a:custGeom>
            <a:avLst/>
            <a:gdLst/>
            <a:ahLst/>
            <a:cxnLst/>
            <a:rect r="r" b="b" t="t" l="l"/>
            <a:pathLst>
              <a:path h="8229600" w="9272016">
                <a:moveTo>
                  <a:pt x="0" y="0"/>
                </a:moveTo>
                <a:lnTo>
                  <a:pt x="9272016" y="0"/>
                </a:lnTo>
                <a:lnTo>
                  <a:pt x="9272016" y="8229600"/>
                </a:lnTo>
                <a:lnTo>
                  <a:pt x="0" y="8229600"/>
                </a:lnTo>
                <a:lnTo>
                  <a:pt x="0" y="0"/>
                </a:lnTo>
                <a:close/>
              </a:path>
            </a:pathLst>
          </a:custGeom>
          <a:blipFill>
            <a:blip r:embed="rId5">
              <a:alphaModFix amt="18999"/>
            </a:blip>
            <a:stretch>
              <a:fillRect l="0" t="0" r="0" b="0"/>
            </a:stretch>
          </a:blipFill>
        </p:spPr>
      </p:sp>
      <p:sp>
        <p:nvSpPr>
          <p:cNvPr name="TextBox 9" id="9"/>
          <p:cNvSpPr txBox="true"/>
          <p:nvPr/>
        </p:nvSpPr>
        <p:spPr>
          <a:xfrm rot="0">
            <a:off x="1300724" y="1599114"/>
            <a:ext cx="1154372" cy="515778"/>
          </a:xfrm>
          <a:prstGeom prst="rect">
            <a:avLst/>
          </a:prstGeom>
        </p:spPr>
        <p:txBody>
          <a:bodyPr anchor="t" rtlCol="false" tIns="0" lIns="0" bIns="0" rIns="0">
            <a:spAutoFit/>
          </a:bodyPr>
          <a:lstStyle/>
          <a:p>
            <a:pPr algn="l">
              <a:lnSpc>
                <a:spcPts val="4057"/>
              </a:lnSpc>
            </a:pPr>
            <a:r>
              <a:rPr lang="en-US" sz="3145">
                <a:solidFill>
                  <a:srgbClr val="FFFFFF"/>
                </a:solidFill>
                <a:latin typeface="Mokoto"/>
                <a:ea typeface="Mokoto"/>
                <a:cs typeface="Mokoto"/>
                <a:sym typeface="Mokoto"/>
              </a:rPr>
              <a:t>07</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2A64">
                <a:alpha val="100000"/>
              </a:srgbClr>
            </a:gs>
            <a:gs pos="100000">
              <a:srgbClr val="414C94">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3647679">
            <a:off x="5750070" y="2254213"/>
            <a:ext cx="27455017" cy="10021081"/>
          </a:xfrm>
          <a:custGeom>
            <a:avLst/>
            <a:gdLst/>
            <a:ahLst/>
            <a:cxnLst/>
            <a:rect r="r" b="b" t="t" l="l"/>
            <a:pathLst>
              <a:path h="10021081" w="27455017">
                <a:moveTo>
                  <a:pt x="0" y="0"/>
                </a:moveTo>
                <a:lnTo>
                  <a:pt x="27455017" y="0"/>
                </a:lnTo>
                <a:lnTo>
                  <a:pt x="27455017" y="10021081"/>
                </a:lnTo>
                <a:lnTo>
                  <a:pt x="0" y="10021081"/>
                </a:lnTo>
                <a:lnTo>
                  <a:pt x="0" y="0"/>
                </a:lnTo>
                <a:close/>
              </a:path>
            </a:pathLst>
          </a:custGeom>
          <a:blipFill>
            <a:blip r:embed="rId2">
              <a:alphaModFix amt="80000"/>
            </a:blip>
            <a:stretch>
              <a:fillRect l="0" t="0" r="0" b="0"/>
            </a:stretch>
          </a:blipFill>
        </p:spPr>
      </p:sp>
      <p:sp>
        <p:nvSpPr>
          <p:cNvPr name="Freeform 3" id="3"/>
          <p:cNvSpPr/>
          <p:nvPr/>
        </p:nvSpPr>
        <p:spPr>
          <a:xfrm flipH="false" flipV="true" rot="-1161320">
            <a:off x="-5537192" y="-4329620"/>
            <a:ext cx="19149891" cy="6989710"/>
          </a:xfrm>
          <a:custGeom>
            <a:avLst/>
            <a:gdLst/>
            <a:ahLst/>
            <a:cxnLst/>
            <a:rect r="r" b="b" t="t" l="l"/>
            <a:pathLst>
              <a:path h="6989710" w="19149891">
                <a:moveTo>
                  <a:pt x="0" y="6989710"/>
                </a:moveTo>
                <a:lnTo>
                  <a:pt x="19149891" y="6989710"/>
                </a:lnTo>
                <a:lnTo>
                  <a:pt x="19149891" y="0"/>
                </a:lnTo>
                <a:lnTo>
                  <a:pt x="0" y="0"/>
                </a:lnTo>
                <a:lnTo>
                  <a:pt x="0" y="6989710"/>
                </a:lnTo>
                <a:close/>
              </a:path>
            </a:pathLst>
          </a:custGeom>
          <a:blipFill>
            <a:blip r:embed="rId2">
              <a:alphaModFix amt="80000"/>
            </a:blip>
            <a:stretch>
              <a:fillRect l="0" t="0" r="0" b="0"/>
            </a:stretch>
          </a:blipFill>
        </p:spPr>
      </p:sp>
      <p:sp>
        <p:nvSpPr>
          <p:cNvPr name="Freeform 4" id="4"/>
          <p:cNvSpPr/>
          <p:nvPr/>
        </p:nvSpPr>
        <p:spPr>
          <a:xfrm flipH="false" flipV="false" rot="0">
            <a:off x="2281588" y="1205197"/>
            <a:ext cx="658167" cy="595940"/>
          </a:xfrm>
          <a:custGeom>
            <a:avLst/>
            <a:gdLst/>
            <a:ahLst/>
            <a:cxnLst/>
            <a:rect r="r" b="b" t="t" l="l"/>
            <a:pathLst>
              <a:path h="595940" w="658167">
                <a:moveTo>
                  <a:pt x="0" y="0"/>
                </a:moveTo>
                <a:lnTo>
                  <a:pt x="658166" y="0"/>
                </a:lnTo>
                <a:lnTo>
                  <a:pt x="658166" y="595940"/>
                </a:lnTo>
                <a:lnTo>
                  <a:pt x="0" y="595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808381" y="2753454"/>
            <a:ext cx="16671237" cy="3851307"/>
          </a:xfrm>
          <a:prstGeom prst="rect">
            <a:avLst/>
          </a:prstGeom>
        </p:spPr>
        <p:txBody>
          <a:bodyPr anchor="t" rtlCol="false" tIns="0" lIns="0" bIns="0" rIns="0">
            <a:spAutoFit/>
          </a:bodyPr>
          <a:lstStyle/>
          <a:p>
            <a:pPr algn="ctr">
              <a:lnSpc>
                <a:spcPts val="14795"/>
              </a:lnSpc>
            </a:pPr>
            <a:r>
              <a:rPr lang="en-US" sz="15573" b="true">
                <a:solidFill>
                  <a:srgbClr val="36E9FD"/>
                </a:solidFill>
                <a:latin typeface="Montserrat Heavy"/>
                <a:ea typeface="Montserrat Heavy"/>
                <a:cs typeface="Montserrat Heavy"/>
                <a:sym typeface="Montserrat Heavy"/>
              </a:rPr>
              <a:t>Thank</a:t>
            </a:r>
          </a:p>
          <a:p>
            <a:pPr algn="ctr">
              <a:lnSpc>
                <a:spcPts val="14795"/>
              </a:lnSpc>
            </a:pPr>
            <a:r>
              <a:rPr lang="en-US" sz="15573" b="true">
                <a:solidFill>
                  <a:srgbClr val="36E9FD"/>
                </a:solidFill>
                <a:latin typeface="Montserrat Heavy"/>
                <a:ea typeface="Montserrat Heavy"/>
                <a:cs typeface="Montserrat Heavy"/>
                <a:sym typeface="Montserrat Heavy"/>
              </a:rPr>
              <a:t> You!</a:t>
            </a:r>
          </a:p>
        </p:txBody>
      </p:sp>
      <p:sp>
        <p:nvSpPr>
          <p:cNvPr name="Freeform 6" id="6"/>
          <p:cNvSpPr/>
          <p:nvPr/>
        </p:nvSpPr>
        <p:spPr>
          <a:xfrm flipH="false" flipV="false" rot="-242831">
            <a:off x="-606193" y="7527552"/>
            <a:ext cx="19149891" cy="6989710"/>
          </a:xfrm>
          <a:custGeom>
            <a:avLst/>
            <a:gdLst/>
            <a:ahLst/>
            <a:cxnLst/>
            <a:rect r="r" b="b" t="t" l="l"/>
            <a:pathLst>
              <a:path h="6989710" w="19149891">
                <a:moveTo>
                  <a:pt x="0" y="0"/>
                </a:moveTo>
                <a:lnTo>
                  <a:pt x="19149891" y="0"/>
                </a:lnTo>
                <a:lnTo>
                  <a:pt x="19149891" y="6989710"/>
                </a:lnTo>
                <a:lnTo>
                  <a:pt x="0" y="6989710"/>
                </a:lnTo>
                <a:lnTo>
                  <a:pt x="0" y="0"/>
                </a:lnTo>
                <a:close/>
              </a:path>
            </a:pathLst>
          </a:custGeom>
          <a:blipFill>
            <a:blip r:embed="rId2">
              <a:alphaModFix amt="80000"/>
            </a:blip>
            <a:stretch>
              <a:fillRect l="0" t="0" r="0" b="0"/>
            </a:stretch>
          </a:blipFill>
        </p:spPr>
      </p:sp>
      <p:sp>
        <p:nvSpPr>
          <p:cNvPr name="Freeform 7" id="7"/>
          <p:cNvSpPr/>
          <p:nvPr/>
        </p:nvSpPr>
        <p:spPr>
          <a:xfrm flipH="false" flipV="false" rot="0">
            <a:off x="-2246435" y="7176078"/>
            <a:ext cx="5646215" cy="5646215"/>
          </a:xfrm>
          <a:custGeom>
            <a:avLst/>
            <a:gdLst/>
            <a:ahLst/>
            <a:cxnLst/>
            <a:rect r="r" b="b" t="t" l="l"/>
            <a:pathLst>
              <a:path h="5646215" w="5646215">
                <a:moveTo>
                  <a:pt x="0" y="0"/>
                </a:moveTo>
                <a:lnTo>
                  <a:pt x="5646214" y="0"/>
                </a:lnTo>
                <a:lnTo>
                  <a:pt x="5646214" y="5646214"/>
                </a:lnTo>
                <a:lnTo>
                  <a:pt x="0" y="56462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DAHVSN3fhEQ</dc:identifier>
  <dcterms:modified xsi:type="dcterms:W3CDTF">2011-08-01T06:04:30Z</dcterms:modified>
  <cp:revision>1</cp:revision>
  <dc:title>Internet of Things</dc:title>
</cp:coreProperties>
</file>