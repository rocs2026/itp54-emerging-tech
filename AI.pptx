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slide+xml" PartName="/ppt/slides/slide68.xml"/>
  <Override ContentType="application/vnd.openxmlformats-officedocument.presentationml.slide+xml" PartName="/ppt/slides/slide69.xml"/>
  <Override ContentType="application/vnd.openxmlformats-officedocument.presentationml.slide+xml" PartName="/ppt/slides/slide70.xml"/>
  <Override ContentType="application/vnd.openxmlformats-officedocument.presentationml.slide+xml" PartName="/ppt/slides/slide71.xml"/>
  <Override ContentType="application/vnd.openxmlformats-officedocument.presentationml.slide+xml" PartName="/ppt/slides/slide72.xml"/>
  <Override ContentType="application/vnd.openxmlformats-officedocument.presentationml.slide+xml" PartName="/ppt/slides/slide73.xml"/>
  <Override ContentType="application/vnd.openxmlformats-officedocument.presentationml.slide+xml" PartName="/ppt/slides/slide74.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77.xml"/>
  <Override ContentType="application/vnd.openxmlformats-officedocument.presentationml.slide+xml" PartName="/ppt/slides/slide78.xml"/>
  <Override ContentType="application/vnd.openxmlformats-officedocument.presentationml.slide+xml" PartName="/ppt/slides/slide7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Lst>
  <p:sldSz cx="18288000" cy="10287000"/>
  <p:notesSz cx="6858000" cy="9144000"/>
  <p:embeddedFontLst>
    <p:embeddedFont>
      <p:font typeface="Neue Montreal Bold" charset="1" panose="00000400000000000000"/>
      <p:regular r:id="rId85"/>
    </p:embeddedFont>
    <p:embeddedFont>
      <p:font typeface="Neue Montreal" charset="1" panose="00000400000000000000"/>
      <p:regular r:id="rId86"/>
    </p:embeddedFont>
    <p:embeddedFont>
      <p:font typeface="Neue Montreal Medium" charset="1" panose="00000400000000000000"/>
      <p:regular r:id="rId8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slides/slide60.xml" Type="http://schemas.openxmlformats.org/officeDocument/2006/relationships/slide"/><Relationship Id="rId66" Target="slides/slide61.xml" Type="http://schemas.openxmlformats.org/officeDocument/2006/relationships/slide"/><Relationship Id="rId67" Target="slides/slide62.xml" Type="http://schemas.openxmlformats.org/officeDocument/2006/relationships/slide"/><Relationship Id="rId68" Target="slides/slide63.xml" Type="http://schemas.openxmlformats.org/officeDocument/2006/relationships/slide"/><Relationship Id="rId69" Target="slides/slide64.xml" Type="http://schemas.openxmlformats.org/officeDocument/2006/relationships/slide"/><Relationship Id="rId7" Target="slides/slide2.xml" Type="http://schemas.openxmlformats.org/officeDocument/2006/relationships/slide"/><Relationship Id="rId70" Target="slides/slide65.xml" Type="http://schemas.openxmlformats.org/officeDocument/2006/relationships/slide"/><Relationship Id="rId71" Target="slides/slide66.xml" Type="http://schemas.openxmlformats.org/officeDocument/2006/relationships/slide"/><Relationship Id="rId72" Target="slides/slide67.xml" Type="http://schemas.openxmlformats.org/officeDocument/2006/relationships/slide"/><Relationship Id="rId73" Target="slides/slide68.xml" Type="http://schemas.openxmlformats.org/officeDocument/2006/relationships/slide"/><Relationship Id="rId74" Target="slides/slide69.xml" Type="http://schemas.openxmlformats.org/officeDocument/2006/relationships/slide"/><Relationship Id="rId75" Target="slides/slide70.xml" Type="http://schemas.openxmlformats.org/officeDocument/2006/relationships/slide"/><Relationship Id="rId76" Target="slides/slide71.xml" Type="http://schemas.openxmlformats.org/officeDocument/2006/relationships/slide"/><Relationship Id="rId77" Target="slides/slide72.xml" Type="http://schemas.openxmlformats.org/officeDocument/2006/relationships/slide"/><Relationship Id="rId78" Target="slides/slide73.xml" Type="http://schemas.openxmlformats.org/officeDocument/2006/relationships/slide"/><Relationship Id="rId79" Target="slides/slide74.xml" Type="http://schemas.openxmlformats.org/officeDocument/2006/relationships/slide"/><Relationship Id="rId8" Target="slides/slide3.xml" Type="http://schemas.openxmlformats.org/officeDocument/2006/relationships/slide"/><Relationship Id="rId80" Target="slides/slide75.xml" Type="http://schemas.openxmlformats.org/officeDocument/2006/relationships/slide"/><Relationship Id="rId81" Target="slides/slide76.xml" Type="http://schemas.openxmlformats.org/officeDocument/2006/relationships/slide"/><Relationship Id="rId82" Target="slides/slide77.xml" Type="http://schemas.openxmlformats.org/officeDocument/2006/relationships/slide"/><Relationship Id="rId83" Target="slides/slide78.xml" Type="http://schemas.openxmlformats.org/officeDocument/2006/relationships/slide"/><Relationship Id="rId84" Target="slides/slide79.xml" Type="http://schemas.openxmlformats.org/officeDocument/2006/relationships/slide"/><Relationship Id="rId85" Target="fonts/font85.fntdata" Type="http://schemas.openxmlformats.org/officeDocument/2006/relationships/font"/><Relationship Id="rId86" Target="fonts/font86.fntdata" Type="http://schemas.openxmlformats.org/officeDocument/2006/relationships/font"/><Relationship Id="rId87" Target="fonts/font87.fntdata" Type="http://schemas.openxmlformats.org/officeDocument/2006/relationships/font"/><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6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6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6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6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6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6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6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6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6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6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7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7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7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7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7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7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7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7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7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7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544658">
            <a:off x="3310848" y="-9099481"/>
            <a:ext cx="13448288" cy="13414668"/>
          </a:xfrm>
          <a:custGeom>
            <a:avLst/>
            <a:gdLst/>
            <a:ahLst/>
            <a:cxnLst/>
            <a:rect r="r" b="b" t="t" l="l"/>
            <a:pathLst>
              <a:path h="13414668" w="13448288">
                <a:moveTo>
                  <a:pt x="0" y="0"/>
                </a:moveTo>
                <a:lnTo>
                  <a:pt x="13448289" y="0"/>
                </a:lnTo>
                <a:lnTo>
                  <a:pt x="13448289" y="13414668"/>
                </a:lnTo>
                <a:lnTo>
                  <a:pt x="0" y="13414668"/>
                </a:lnTo>
                <a:lnTo>
                  <a:pt x="0" y="0"/>
                </a:lnTo>
                <a:close/>
              </a:path>
            </a:pathLst>
          </a:custGeom>
          <a:blipFill>
            <a:blip r:embed="rId2"/>
            <a:stretch>
              <a:fillRect l="0" t="0" r="0" b="0"/>
            </a:stretch>
          </a:blipFill>
        </p:spPr>
      </p:sp>
      <p:sp>
        <p:nvSpPr>
          <p:cNvPr name="Freeform 3" id="3"/>
          <p:cNvSpPr/>
          <p:nvPr/>
        </p:nvSpPr>
        <p:spPr>
          <a:xfrm flipH="false" flipV="false" rot="2046621">
            <a:off x="-498788" y="8055066"/>
            <a:ext cx="7762300" cy="7742895"/>
          </a:xfrm>
          <a:custGeom>
            <a:avLst/>
            <a:gdLst/>
            <a:ahLst/>
            <a:cxnLst/>
            <a:rect r="r" b="b" t="t" l="l"/>
            <a:pathLst>
              <a:path h="7742895" w="7762300">
                <a:moveTo>
                  <a:pt x="0" y="0"/>
                </a:moveTo>
                <a:lnTo>
                  <a:pt x="7762301" y="0"/>
                </a:lnTo>
                <a:lnTo>
                  <a:pt x="7762301" y="7742895"/>
                </a:lnTo>
                <a:lnTo>
                  <a:pt x="0" y="7742895"/>
                </a:lnTo>
                <a:lnTo>
                  <a:pt x="0" y="0"/>
                </a:lnTo>
                <a:close/>
              </a:path>
            </a:pathLst>
          </a:custGeom>
          <a:blipFill>
            <a:blip r:embed="rId2"/>
            <a:stretch>
              <a:fillRect l="0" t="0" r="0" b="0"/>
            </a:stretch>
          </a:blipFill>
        </p:spPr>
      </p:sp>
      <p:sp>
        <p:nvSpPr>
          <p:cNvPr name="TextBox 4" id="4"/>
          <p:cNvSpPr txBox="true"/>
          <p:nvPr/>
        </p:nvSpPr>
        <p:spPr>
          <a:xfrm rot="0">
            <a:off x="946958" y="3065902"/>
            <a:ext cx="13092627" cy="3337943"/>
          </a:xfrm>
          <a:prstGeom prst="rect">
            <a:avLst/>
          </a:prstGeom>
        </p:spPr>
        <p:txBody>
          <a:bodyPr anchor="t" rtlCol="false" tIns="0" lIns="0" bIns="0" rIns="0">
            <a:spAutoFit/>
          </a:bodyPr>
          <a:lstStyle/>
          <a:p>
            <a:pPr algn="l">
              <a:lnSpc>
                <a:spcPts val="13318"/>
              </a:lnSpc>
              <a:spcBef>
                <a:spcPct val="0"/>
              </a:spcBef>
            </a:pPr>
            <a:r>
              <a:rPr lang="en-US" sz="9512" b="true">
                <a:solidFill>
                  <a:srgbClr val="000000"/>
                </a:solidFill>
                <a:latin typeface="Neue Montreal Bold"/>
                <a:ea typeface="Neue Montreal Bold"/>
                <a:cs typeface="Neue Montreal Bold"/>
                <a:sym typeface="Neue Montreal Bold"/>
              </a:rPr>
              <a:t>Artifi</a:t>
            </a:r>
            <a:r>
              <a:rPr lang="en-US" b="true" sz="9512">
                <a:solidFill>
                  <a:srgbClr val="000000"/>
                </a:solidFill>
                <a:latin typeface="Neue Montreal Bold"/>
                <a:ea typeface="Neue Montreal Bold"/>
                <a:cs typeface="Neue Montreal Bold"/>
                <a:sym typeface="Neue Montreal Bold"/>
              </a:rPr>
              <a:t>cial Intelligence &amp; Machine Learning</a:t>
            </a:r>
          </a:p>
        </p:txBody>
      </p:sp>
      <p:sp>
        <p:nvSpPr>
          <p:cNvPr name="Freeform 5" id="5"/>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6698626" y="472575"/>
            <a:ext cx="641254" cy="484209"/>
            <a:chOff x="0" y="0"/>
            <a:chExt cx="168890" cy="127528"/>
          </a:xfrm>
        </p:grpSpPr>
        <p:sp>
          <p:nvSpPr>
            <p:cNvPr name="Freeform 7" id="7"/>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8" id="8"/>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9" id="9"/>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10" id="10"/>
          <p:cNvSpPr/>
          <p:nvPr/>
        </p:nvSpPr>
        <p:spPr>
          <a:xfrm>
            <a:off x="946958" y="8269795"/>
            <a:ext cx="14204746" cy="0"/>
          </a:xfrm>
          <a:prstGeom prst="line">
            <a:avLst/>
          </a:prstGeom>
          <a:ln cap="rnd" w="9525">
            <a:solidFill>
              <a:srgbClr val="D9D9D9"/>
            </a:solidFill>
            <a:prstDash val="solid"/>
            <a:headEnd type="none" len="sm" w="sm"/>
            <a:tailEnd type="none" len="sm" w="sm"/>
          </a:ln>
        </p:spPr>
      </p:sp>
      <p:sp>
        <p:nvSpPr>
          <p:cNvPr name="TextBox 11" id="11"/>
          <p:cNvSpPr txBox="true"/>
          <p:nvPr/>
        </p:nvSpPr>
        <p:spPr>
          <a:xfrm rot="0">
            <a:off x="946958" y="6760852"/>
            <a:ext cx="6710214" cy="349249"/>
          </a:xfrm>
          <a:prstGeom prst="rect">
            <a:avLst/>
          </a:prstGeom>
        </p:spPr>
        <p:txBody>
          <a:bodyPr anchor="t" rtlCol="false" tIns="0" lIns="0" bIns="0" rIns="0">
            <a:spAutoFit/>
          </a:bodyPr>
          <a:lstStyle/>
          <a:p>
            <a:pPr algn="l">
              <a:lnSpc>
                <a:spcPts val="2800"/>
              </a:lnSpc>
              <a:spcBef>
                <a:spcPct val="0"/>
              </a:spcBef>
            </a:pPr>
            <a:r>
              <a:rPr lang="en-US" sz="2000" spc="20">
                <a:solidFill>
                  <a:srgbClr val="000000"/>
                </a:solidFill>
                <a:latin typeface="Neue Montreal"/>
                <a:ea typeface="Neue Montreal"/>
                <a:cs typeface="Neue Montreal"/>
                <a:sym typeface="Neue Montreal"/>
              </a:rPr>
              <a:t>F</a:t>
            </a:r>
            <a:r>
              <a:rPr lang="en-US" sz="2000" spc="20">
                <a:solidFill>
                  <a:srgbClr val="000000"/>
                </a:solidFill>
                <a:latin typeface="Neue Montreal"/>
                <a:ea typeface="Neue Montreal"/>
                <a:cs typeface="Neue Montreal"/>
                <a:sym typeface="Neue Montreal"/>
              </a:rPr>
              <a:t>rom AI and ML to Other Futuristic Technologies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31F20"/>
        </a:solidFill>
      </p:bgPr>
    </p:bg>
    <p:spTree>
      <p:nvGrpSpPr>
        <p:cNvPr id="1" name=""/>
        <p:cNvGrpSpPr/>
        <p:nvPr/>
      </p:nvGrpSpPr>
      <p:grpSpPr>
        <a:xfrm>
          <a:off x="0" y="0"/>
          <a:ext cx="0" cy="0"/>
          <a:chOff x="0" y="0"/>
          <a:chExt cx="0" cy="0"/>
        </a:xfrm>
      </p:grpSpPr>
      <p:sp>
        <p:nvSpPr>
          <p:cNvPr name="Freeform 2" id="2"/>
          <p:cNvSpPr/>
          <p:nvPr/>
        </p:nvSpPr>
        <p:spPr>
          <a:xfrm flipH="false" flipV="false" rot="1993726">
            <a:off x="-229798" y="1538819"/>
            <a:ext cx="16564892" cy="16523480"/>
          </a:xfrm>
          <a:custGeom>
            <a:avLst/>
            <a:gdLst/>
            <a:ahLst/>
            <a:cxnLst/>
            <a:rect r="r" b="b" t="t" l="l"/>
            <a:pathLst>
              <a:path h="16523480" w="16564892">
                <a:moveTo>
                  <a:pt x="0" y="0"/>
                </a:moveTo>
                <a:lnTo>
                  <a:pt x="16564892" y="0"/>
                </a:lnTo>
                <a:lnTo>
                  <a:pt x="16564892" y="16523480"/>
                </a:lnTo>
                <a:lnTo>
                  <a:pt x="0" y="16523480"/>
                </a:lnTo>
                <a:lnTo>
                  <a:pt x="0" y="0"/>
                </a:lnTo>
                <a:close/>
              </a:path>
            </a:pathLst>
          </a:custGeom>
          <a:blipFill>
            <a:blip r:embed="rId2"/>
            <a:stretch>
              <a:fillRect l="0" t="0" r="0" b="0"/>
            </a:stretch>
          </a:blipFill>
        </p:spPr>
      </p:sp>
      <p:sp>
        <p:nvSpPr>
          <p:cNvPr name="Freeform 3" id="3"/>
          <p:cNvSpPr/>
          <p:nvPr/>
        </p:nvSpPr>
        <p:spPr>
          <a:xfrm flipH="false" flipV="true" rot="0">
            <a:off x="0" y="5143500"/>
            <a:ext cx="18288000" cy="5592769"/>
          </a:xfrm>
          <a:custGeom>
            <a:avLst/>
            <a:gdLst/>
            <a:ahLst/>
            <a:cxnLst/>
            <a:rect r="r" b="b" t="t" l="l"/>
            <a:pathLst>
              <a:path h="5592769" w="18288000">
                <a:moveTo>
                  <a:pt x="0" y="5592769"/>
                </a:moveTo>
                <a:lnTo>
                  <a:pt x="18288000" y="5592769"/>
                </a:lnTo>
                <a:lnTo>
                  <a:pt x="18288000" y="0"/>
                </a:lnTo>
                <a:lnTo>
                  <a:pt x="0" y="0"/>
                </a:lnTo>
                <a:lnTo>
                  <a:pt x="0" y="5592769"/>
                </a:lnTo>
                <a:close/>
              </a:path>
            </a:pathLst>
          </a:custGeom>
          <a:blipFill>
            <a:blip r:embed="rId3">
              <a:alphaModFix amt="79000"/>
            </a:blip>
            <a:stretch>
              <a:fillRect l="0" t="-56548" r="0" b="-9401"/>
            </a:stretch>
          </a:blipFill>
        </p:spPr>
      </p:sp>
      <p:sp>
        <p:nvSpPr>
          <p:cNvPr name="Freeform 4" id="4"/>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16698626" y="472575"/>
            <a:ext cx="641254" cy="484209"/>
            <a:chOff x="0" y="0"/>
            <a:chExt cx="168890" cy="127528"/>
          </a:xfrm>
        </p:grpSpPr>
        <p:sp>
          <p:nvSpPr>
            <p:cNvPr name="Freeform 6" id="6"/>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7" id="7"/>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8" id="8"/>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2143950" y="1515279"/>
            <a:ext cx="14000101" cy="1159844"/>
          </a:xfrm>
          <a:prstGeom prst="rect">
            <a:avLst/>
          </a:prstGeom>
        </p:spPr>
        <p:txBody>
          <a:bodyPr anchor="t" rtlCol="false" tIns="0" lIns="0" bIns="0" rIns="0">
            <a:spAutoFit/>
          </a:bodyPr>
          <a:lstStyle/>
          <a:p>
            <a:pPr algn="ctr">
              <a:lnSpc>
                <a:spcPts val="8803"/>
              </a:lnSpc>
            </a:pPr>
            <a:r>
              <a:rPr lang="en-US" sz="8384" b="true">
                <a:solidFill>
                  <a:srgbClr val="F5F5F5"/>
                </a:solidFill>
                <a:latin typeface="Neue Montreal Medium"/>
                <a:ea typeface="Neue Montreal Medium"/>
                <a:cs typeface="Neue Montreal Medium"/>
                <a:sym typeface="Neue Montreal Medium"/>
              </a:rPr>
              <a:t>Present</a:t>
            </a:r>
            <a:r>
              <a:rPr lang="en-US" b="true" sz="8384">
                <a:solidFill>
                  <a:srgbClr val="F5F5F5"/>
                </a:solidFill>
                <a:latin typeface="Neue Montreal Medium"/>
                <a:ea typeface="Neue Montreal Medium"/>
                <a:cs typeface="Neue Montreal Medium"/>
                <a:sym typeface="Neue Montreal Medium"/>
              </a:rPr>
              <a:t>ation Contents</a:t>
            </a:r>
          </a:p>
        </p:txBody>
      </p:sp>
      <p:sp>
        <p:nvSpPr>
          <p:cNvPr name="TextBox 10" id="10"/>
          <p:cNvSpPr txBox="true"/>
          <p:nvPr/>
        </p:nvSpPr>
        <p:spPr>
          <a:xfrm rot="0">
            <a:off x="1446884" y="3056122"/>
            <a:ext cx="15812416" cy="4989826"/>
          </a:xfrm>
          <a:prstGeom prst="rect">
            <a:avLst/>
          </a:prstGeom>
        </p:spPr>
        <p:txBody>
          <a:bodyPr anchor="t" rtlCol="false" tIns="0" lIns="0" bIns="0" rIns="0">
            <a:spAutoFit/>
          </a:bodyPr>
          <a:lstStyle/>
          <a:p>
            <a:pPr algn="just">
              <a:lnSpc>
                <a:spcPts val="4414"/>
              </a:lnSpc>
            </a:pPr>
            <a:r>
              <a:rPr lang="en-US" b="true" sz="3153" spc="31">
                <a:solidFill>
                  <a:srgbClr val="F5F5F5"/>
                </a:solidFill>
                <a:latin typeface="Neue Montreal Bold"/>
                <a:ea typeface="Neue Montreal Bold"/>
                <a:cs typeface="Neue Montreal Bold"/>
                <a:sym typeface="Neue Montreal Bold"/>
              </a:rPr>
              <a:t>PART I — Artificial Intelligence: definition, neural networks, approaches, objectives, history, applications, types, and inte</a:t>
            </a:r>
            <a:r>
              <a:rPr lang="en-US" b="true" sz="3153" spc="31">
                <a:solidFill>
                  <a:srgbClr val="F5F5F5"/>
                </a:solidFill>
                <a:latin typeface="Neue Montreal Bold"/>
                <a:ea typeface="Neue Montreal Bold"/>
                <a:cs typeface="Neue Montreal Bold"/>
                <a:sym typeface="Neue Montreal Bold"/>
              </a:rPr>
              <a:t>lligent agents.</a:t>
            </a:r>
          </a:p>
          <a:p>
            <a:pPr algn="just">
              <a:lnSpc>
                <a:spcPts val="4414"/>
              </a:lnSpc>
            </a:pPr>
            <a:r>
              <a:rPr lang="en-US" b="true" sz="3153" spc="31">
                <a:solidFill>
                  <a:srgbClr val="F5F5F5"/>
                </a:solidFill>
                <a:latin typeface="Neue Montreal Bold"/>
                <a:ea typeface="Neue Montreal Bold"/>
                <a:cs typeface="Neue Montreal Bold"/>
                <a:sym typeface="Neue Montreal Bold"/>
              </a:rPr>
              <a:t>PART II — Machine Learning: foundations, types of learning, deep learning, neural networks, techniques, algorithms, NLP, and word embeddings.</a:t>
            </a:r>
          </a:p>
          <a:p>
            <a:pPr algn="just">
              <a:lnSpc>
                <a:spcPts val="4414"/>
              </a:lnSpc>
            </a:pPr>
            <a:r>
              <a:rPr lang="en-US" b="true" sz="3153" spc="31">
                <a:solidFill>
                  <a:srgbClr val="F5F5F5"/>
                </a:solidFill>
                <a:latin typeface="Neue Montreal Bold"/>
                <a:ea typeface="Neue Montreal Bold"/>
                <a:cs typeface="Neue Montreal Bold"/>
                <a:sym typeface="Neue Montreal Bold"/>
              </a:rPr>
              <a:t>DATA FOUNDATION — training data, type of data training, dataset purposes, data collection, cleaning, classification, categorization, annotation, and labeling.</a:t>
            </a:r>
          </a:p>
          <a:p>
            <a:pPr algn="just">
              <a:lnSpc>
                <a:spcPts val="4414"/>
              </a:lnSpc>
            </a:pPr>
            <a:r>
              <a:rPr lang="en-US" b="true" sz="3153" spc="31">
                <a:solidFill>
                  <a:srgbClr val="F5F5F5"/>
                </a:solidFill>
                <a:latin typeface="Neue Montreal Bold"/>
                <a:ea typeface="Neue Montreal Bold"/>
                <a:cs typeface="Neue Montreal Bold"/>
                <a:sym typeface="Neue Montreal Bold"/>
              </a:rPr>
              <a:t>APPLICATIONS &amp; IMPACT — big data, analytics, cybersecurity, digital marketing, business intelligence, automation, automobiles, and e-commerce.</a:t>
            </a:r>
          </a:p>
          <a:p>
            <a:pPr algn="just">
              <a:lnSpc>
                <a:spcPts val="4414"/>
              </a:lnSpc>
            </a:pPr>
            <a:r>
              <a:rPr lang="en-US" b="true" sz="3153" spc="31">
                <a:solidFill>
                  <a:srgbClr val="F5F5F5"/>
                </a:solidFill>
                <a:latin typeface="Neue Montreal Bold"/>
                <a:ea typeface="Neue Montreal Bold"/>
                <a:cs typeface="Neue Montreal Bold"/>
                <a:sym typeface="Neue Montreal Bold"/>
              </a:rPr>
              <a:t>CYBERSECURITY — positive and negative impacts of machine learning.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544658">
            <a:off x="3310848" y="-9099481"/>
            <a:ext cx="13448288" cy="13414668"/>
          </a:xfrm>
          <a:custGeom>
            <a:avLst/>
            <a:gdLst/>
            <a:ahLst/>
            <a:cxnLst/>
            <a:rect r="r" b="b" t="t" l="l"/>
            <a:pathLst>
              <a:path h="13414668" w="13448288">
                <a:moveTo>
                  <a:pt x="0" y="0"/>
                </a:moveTo>
                <a:lnTo>
                  <a:pt x="13448289" y="0"/>
                </a:lnTo>
                <a:lnTo>
                  <a:pt x="13448289" y="13414668"/>
                </a:lnTo>
                <a:lnTo>
                  <a:pt x="0" y="13414668"/>
                </a:lnTo>
                <a:lnTo>
                  <a:pt x="0" y="0"/>
                </a:lnTo>
                <a:close/>
              </a:path>
            </a:pathLst>
          </a:custGeom>
          <a:blipFill>
            <a:blip r:embed="rId2"/>
            <a:stretch>
              <a:fillRect l="0" t="0" r="0" b="0"/>
            </a:stretch>
          </a:blipFill>
        </p:spPr>
      </p:sp>
      <p:sp>
        <p:nvSpPr>
          <p:cNvPr name="Freeform 3" id="3"/>
          <p:cNvSpPr/>
          <p:nvPr/>
        </p:nvSpPr>
        <p:spPr>
          <a:xfrm flipH="false" flipV="false" rot="2046621">
            <a:off x="-498788" y="8055066"/>
            <a:ext cx="7762300" cy="7742895"/>
          </a:xfrm>
          <a:custGeom>
            <a:avLst/>
            <a:gdLst/>
            <a:ahLst/>
            <a:cxnLst/>
            <a:rect r="r" b="b" t="t" l="l"/>
            <a:pathLst>
              <a:path h="7742895" w="7762300">
                <a:moveTo>
                  <a:pt x="0" y="0"/>
                </a:moveTo>
                <a:lnTo>
                  <a:pt x="7762301" y="0"/>
                </a:lnTo>
                <a:lnTo>
                  <a:pt x="7762301" y="7742895"/>
                </a:lnTo>
                <a:lnTo>
                  <a:pt x="0" y="7742895"/>
                </a:lnTo>
                <a:lnTo>
                  <a:pt x="0" y="0"/>
                </a:lnTo>
                <a:close/>
              </a:path>
            </a:pathLst>
          </a:custGeom>
          <a:blipFill>
            <a:blip r:embed="rId2"/>
            <a:stretch>
              <a:fillRect l="0" t="0" r="0" b="0"/>
            </a:stretch>
          </a:blipFill>
        </p:spPr>
      </p:sp>
      <p:sp>
        <p:nvSpPr>
          <p:cNvPr name="TextBox 4" id="4"/>
          <p:cNvSpPr txBox="true"/>
          <p:nvPr/>
        </p:nvSpPr>
        <p:spPr>
          <a:xfrm rot="0">
            <a:off x="946958" y="3065902"/>
            <a:ext cx="13092627" cy="3337943"/>
          </a:xfrm>
          <a:prstGeom prst="rect">
            <a:avLst/>
          </a:prstGeom>
        </p:spPr>
        <p:txBody>
          <a:bodyPr anchor="t" rtlCol="false" tIns="0" lIns="0" bIns="0" rIns="0">
            <a:spAutoFit/>
          </a:bodyPr>
          <a:lstStyle/>
          <a:p>
            <a:pPr algn="l">
              <a:lnSpc>
                <a:spcPts val="13318"/>
              </a:lnSpc>
              <a:spcBef>
                <a:spcPct val="0"/>
              </a:spcBef>
            </a:pPr>
            <a:r>
              <a:rPr lang="en-US" b="true" sz="9512">
                <a:solidFill>
                  <a:srgbClr val="000000"/>
                </a:solidFill>
                <a:latin typeface="Neue Montreal Bold"/>
                <a:ea typeface="Neue Montreal Bold"/>
                <a:cs typeface="Neue Montreal Bold"/>
                <a:sym typeface="Neue Montreal Bold"/>
              </a:rPr>
              <a:t>ARTIFICIAL INTELIGENCE(AI)</a:t>
            </a:r>
          </a:p>
        </p:txBody>
      </p:sp>
      <p:sp>
        <p:nvSpPr>
          <p:cNvPr name="Freeform 5" id="5"/>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6698626" y="472575"/>
            <a:ext cx="641254" cy="484209"/>
            <a:chOff x="0" y="0"/>
            <a:chExt cx="168890" cy="127528"/>
          </a:xfrm>
        </p:grpSpPr>
        <p:sp>
          <p:nvSpPr>
            <p:cNvPr name="Freeform 7" id="7"/>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8" id="8"/>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9" id="9"/>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10" id="10"/>
          <p:cNvSpPr/>
          <p:nvPr/>
        </p:nvSpPr>
        <p:spPr>
          <a:xfrm>
            <a:off x="946958" y="8269795"/>
            <a:ext cx="14204746" cy="0"/>
          </a:xfrm>
          <a:prstGeom prst="line">
            <a:avLst/>
          </a:prstGeom>
          <a:ln cap="rnd" w="9525">
            <a:solidFill>
              <a:srgbClr val="D9D9D9"/>
            </a:solidFill>
            <a:prstDash val="solid"/>
            <a:headEnd type="none" len="sm" w="sm"/>
            <a:tailEnd type="none" len="sm" w="sm"/>
          </a:ln>
        </p:spPr>
      </p:sp>
      <p:sp>
        <p:nvSpPr>
          <p:cNvPr name="TextBox 11" id="11"/>
          <p:cNvSpPr txBox="true"/>
          <p:nvPr/>
        </p:nvSpPr>
        <p:spPr>
          <a:xfrm rot="0">
            <a:off x="946958" y="6760852"/>
            <a:ext cx="8544934" cy="349249"/>
          </a:xfrm>
          <a:prstGeom prst="rect">
            <a:avLst/>
          </a:prstGeom>
        </p:spPr>
        <p:txBody>
          <a:bodyPr anchor="t" rtlCol="false" tIns="0" lIns="0" bIns="0" rIns="0">
            <a:spAutoFit/>
          </a:bodyPr>
          <a:lstStyle/>
          <a:p>
            <a:pPr algn="l">
              <a:lnSpc>
                <a:spcPts val="2800"/>
              </a:lnSpc>
              <a:spcBef>
                <a:spcPct val="0"/>
              </a:spcBef>
            </a:pPr>
            <a:r>
              <a:rPr lang="en-US" sz="2000" spc="20">
                <a:solidFill>
                  <a:srgbClr val="000000"/>
                </a:solidFill>
                <a:latin typeface="Neue Montreal"/>
                <a:ea typeface="Neue Montreal"/>
                <a:cs typeface="Neue Montreal"/>
                <a:sym typeface="Neue Montreal"/>
              </a:rPr>
              <a:t>F</a:t>
            </a:r>
            <a:r>
              <a:rPr lang="en-US" sz="2000" spc="20">
                <a:solidFill>
                  <a:srgbClr val="000000"/>
                </a:solidFill>
                <a:latin typeface="Neue Montreal"/>
                <a:ea typeface="Neue Montreal"/>
                <a:cs typeface="Neue Montreal"/>
                <a:sym typeface="Neue Montreal"/>
              </a:rPr>
              <a:t>oundations, objectives, approaches, history, applications, and intelligent agents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31F20"/>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946958" y="1749084"/>
            <a:ext cx="16482113" cy="2447925"/>
          </a:xfrm>
          <a:prstGeom prst="rect">
            <a:avLst/>
          </a:prstGeom>
        </p:spPr>
        <p:txBody>
          <a:bodyPr anchor="t" rtlCol="false" tIns="0" lIns="0" bIns="0" rIns="0">
            <a:spAutoFit/>
          </a:bodyPr>
          <a:lstStyle/>
          <a:p>
            <a:pPr algn="l">
              <a:lnSpc>
                <a:spcPts val="9450"/>
              </a:lnSpc>
            </a:pPr>
            <a:r>
              <a:rPr lang="en-US" sz="9000" b="true">
                <a:solidFill>
                  <a:srgbClr val="FFFFFF"/>
                </a:solidFill>
                <a:latin typeface="Neue Montreal Medium"/>
                <a:ea typeface="Neue Montreal Medium"/>
                <a:cs typeface="Neue Montreal Medium"/>
                <a:sym typeface="Neue Montreal Medium"/>
              </a:rPr>
              <a:t>What Is Artificial</a:t>
            </a:r>
            <a:r>
              <a:rPr lang="en-US" sz="9000" b="true">
                <a:solidFill>
                  <a:srgbClr val="FFFFFF"/>
                </a:solidFill>
                <a:latin typeface="Neue Montreal Medium"/>
                <a:ea typeface="Neue Montreal Medium"/>
                <a:cs typeface="Neue Montreal Medium"/>
                <a:sym typeface="Neue Montreal Medium"/>
              </a:rPr>
              <a:t> Intelligence?</a:t>
            </a:r>
          </a:p>
          <a:p>
            <a:pPr algn="l">
              <a:lnSpc>
                <a:spcPts val="9450"/>
              </a:lnSpc>
            </a:pPr>
          </a:p>
        </p:txBody>
      </p:sp>
      <p:grpSp>
        <p:nvGrpSpPr>
          <p:cNvPr name="Group 8" id="8"/>
          <p:cNvGrpSpPr/>
          <p:nvPr/>
        </p:nvGrpSpPr>
        <p:grpSpPr>
          <a:xfrm rot="0">
            <a:off x="933450" y="3663609"/>
            <a:ext cx="16325850" cy="5336910"/>
            <a:chOff x="0" y="0"/>
            <a:chExt cx="4299812" cy="1405606"/>
          </a:xfrm>
        </p:grpSpPr>
        <p:sp>
          <p:nvSpPr>
            <p:cNvPr name="Freeform 9" id="9"/>
            <p:cNvSpPr/>
            <p:nvPr/>
          </p:nvSpPr>
          <p:spPr>
            <a:xfrm flipH="false" flipV="false" rot="0">
              <a:off x="0" y="0"/>
              <a:ext cx="4299812" cy="1405606"/>
            </a:xfrm>
            <a:custGeom>
              <a:avLst/>
              <a:gdLst/>
              <a:ahLst/>
              <a:cxnLst/>
              <a:rect r="r" b="b" t="t" l="l"/>
              <a:pathLst>
                <a:path h="1405606" w="4299812">
                  <a:moveTo>
                    <a:pt x="23711" y="0"/>
                  </a:moveTo>
                  <a:lnTo>
                    <a:pt x="4276102" y="0"/>
                  </a:lnTo>
                  <a:cubicBezTo>
                    <a:pt x="4289197" y="0"/>
                    <a:pt x="4299812" y="10616"/>
                    <a:pt x="4299812" y="23711"/>
                  </a:cubicBezTo>
                  <a:lnTo>
                    <a:pt x="4299812" y="1381895"/>
                  </a:lnTo>
                  <a:cubicBezTo>
                    <a:pt x="4299812" y="1394990"/>
                    <a:pt x="4289197" y="1405606"/>
                    <a:pt x="4276102" y="1405606"/>
                  </a:cubicBezTo>
                  <a:lnTo>
                    <a:pt x="23711" y="1405606"/>
                  </a:lnTo>
                  <a:cubicBezTo>
                    <a:pt x="17422" y="1405606"/>
                    <a:pt x="11391" y="1403108"/>
                    <a:pt x="6945" y="1398661"/>
                  </a:cubicBezTo>
                  <a:cubicBezTo>
                    <a:pt x="2498" y="1394215"/>
                    <a:pt x="0" y="1388184"/>
                    <a:pt x="0" y="1381895"/>
                  </a:cubicBezTo>
                  <a:lnTo>
                    <a:pt x="0" y="23711"/>
                  </a:lnTo>
                  <a:cubicBezTo>
                    <a:pt x="0" y="10616"/>
                    <a:pt x="10616" y="0"/>
                    <a:pt x="23711" y="0"/>
                  </a:cubicBezTo>
                  <a:close/>
                </a:path>
              </a:pathLst>
            </a:custGeom>
            <a:solidFill>
              <a:srgbClr val="333333"/>
            </a:solidFill>
          </p:spPr>
        </p:sp>
        <p:sp>
          <p:nvSpPr>
            <p:cNvPr name="TextBox 10" id="10"/>
            <p:cNvSpPr txBox="true"/>
            <p:nvPr/>
          </p:nvSpPr>
          <p:spPr>
            <a:xfrm>
              <a:off x="0" y="-38100"/>
              <a:ext cx="4299812" cy="1443706"/>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416631" y="3824055"/>
            <a:ext cx="15359488" cy="4754343"/>
          </a:xfrm>
          <a:prstGeom prst="rect">
            <a:avLst/>
          </a:prstGeom>
        </p:spPr>
        <p:txBody>
          <a:bodyPr anchor="t" rtlCol="false" tIns="0" lIns="0" bIns="0" rIns="0">
            <a:spAutoFit/>
          </a:bodyPr>
          <a:lstStyle/>
          <a:p>
            <a:pPr algn="just">
              <a:lnSpc>
                <a:spcPts val="6357"/>
              </a:lnSpc>
            </a:pPr>
            <a:r>
              <a:rPr lang="en-US" b="true" sz="3806" spc="38">
                <a:solidFill>
                  <a:srgbClr val="F5F5F5"/>
                </a:solidFill>
                <a:latin typeface="Neue Montreal Bold"/>
                <a:ea typeface="Neue Montreal Bold"/>
                <a:cs typeface="Neue Montreal Bold"/>
                <a:sym typeface="Neue Montreal Bold"/>
              </a:rPr>
              <a:t>Artificial Intelligence (AI) is one of the most powerful and widely used technology domains shaping modern business, social life, government, and global communication. AI gives software applications and machines human-like capabilities the ability to learn from experience, make decisions, and act appropriately based on the conditions of a given environment.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31F20"/>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933450" y="1546740"/>
            <a:ext cx="16325850" cy="7453779"/>
            <a:chOff x="0" y="0"/>
            <a:chExt cx="4299812" cy="1963135"/>
          </a:xfrm>
        </p:grpSpPr>
        <p:sp>
          <p:nvSpPr>
            <p:cNvPr name="Freeform 8" id="8"/>
            <p:cNvSpPr/>
            <p:nvPr/>
          </p:nvSpPr>
          <p:spPr>
            <a:xfrm flipH="false" flipV="false" rot="0">
              <a:off x="0" y="0"/>
              <a:ext cx="4299812" cy="1963135"/>
            </a:xfrm>
            <a:custGeom>
              <a:avLst/>
              <a:gdLst/>
              <a:ahLst/>
              <a:cxnLst/>
              <a:rect r="r" b="b" t="t" l="l"/>
              <a:pathLst>
                <a:path h="1963135" w="4299812">
                  <a:moveTo>
                    <a:pt x="23711" y="0"/>
                  </a:moveTo>
                  <a:lnTo>
                    <a:pt x="4276102" y="0"/>
                  </a:lnTo>
                  <a:cubicBezTo>
                    <a:pt x="4289197" y="0"/>
                    <a:pt x="4299812" y="10616"/>
                    <a:pt x="4299812" y="23711"/>
                  </a:cubicBezTo>
                  <a:lnTo>
                    <a:pt x="4299812" y="1939424"/>
                  </a:lnTo>
                  <a:cubicBezTo>
                    <a:pt x="4299812" y="1952519"/>
                    <a:pt x="4289197" y="1963135"/>
                    <a:pt x="4276102" y="1963135"/>
                  </a:cubicBezTo>
                  <a:lnTo>
                    <a:pt x="23711" y="1963135"/>
                  </a:lnTo>
                  <a:cubicBezTo>
                    <a:pt x="10616" y="1963135"/>
                    <a:pt x="0" y="1952519"/>
                    <a:pt x="0" y="1939424"/>
                  </a:cubicBezTo>
                  <a:lnTo>
                    <a:pt x="0" y="23711"/>
                  </a:lnTo>
                  <a:cubicBezTo>
                    <a:pt x="0" y="10616"/>
                    <a:pt x="10616" y="0"/>
                    <a:pt x="23711" y="0"/>
                  </a:cubicBezTo>
                  <a:close/>
                </a:path>
              </a:pathLst>
            </a:custGeom>
            <a:solidFill>
              <a:srgbClr val="333333"/>
            </a:solidFill>
          </p:spPr>
        </p:sp>
        <p:sp>
          <p:nvSpPr>
            <p:cNvPr name="TextBox 9" id="9"/>
            <p:cNvSpPr txBox="true"/>
            <p:nvPr/>
          </p:nvSpPr>
          <p:spPr>
            <a:xfrm>
              <a:off x="0" y="-38100"/>
              <a:ext cx="4299812" cy="2001235"/>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986160" y="1731701"/>
            <a:ext cx="14315679" cy="6722411"/>
          </a:xfrm>
          <a:prstGeom prst="rect">
            <a:avLst/>
          </a:prstGeom>
        </p:spPr>
        <p:txBody>
          <a:bodyPr anchor="t" rtlCol="false" tIns="0" lIns="0" bIns="0" rIns="0">
            <a:spAutoFit/>
          </a:bodyPr>
          <a:lstStyle/>
          <a:p>
            <a:pPr algn="just">
              <a:lnSpc>
                <a:spcPts val="5925"/>
              </a:lnSpc>
            </a:pPr>
            <a:r>
              <a:rPr lang="en-US" b="true" sz="3548" spc="35">
                <a:solidFill>
                  <a:srgbClr val="F5F5F5"/>
                </a:solidFill>
                <a:latin typeface="Neue Montreal Bold"/>
                <a:ea typeface="Neue Montreal Bold"/>
                <a:cs typeface="Neue Montreal Bold"/>
                <a:sym typeface="Neue Montreal Bold"/>
              </a:rPr>
              <a:t>AI combines mathematics and computer science to build machines capable of cognitive tasks associated with human beings.</a:t>
            </a:r>
          </a:p>
          <a:p>
            <a:pPr algn="just">
              <a:lnSpc>
                <a:spcPts val="5925"/>
              </a:lnSpc>
            </a:pPr>
            <a:r>
              <a:rPr lang="en-US" b="true" sz="3548" spc="35">
                <a:solidFill>
                  <a:srgbClr val="F5F5F5"/>
                </a:solidFill>
                <a:latin typeface="Neue Montreal Bold"/>
                <a:ea typeface="Neue Montreal Bold"/>
                <a:cs typeface="Neue Montreal Bold"/>
                <a:sym typeface="Neue Montreal Bold"/>
              </a:rPr>
              <a:t>Core cognitive functions in the source: learning, problem-solving, reasoning, decision-making, and speaking language.</a:t>
            </a:r>
          </a:p>
          <a:p>
            <a:pPr algn="just">
              <a:lnSpc>
                <a:spcPts val="5925"/>
              </a:lnSpc>
            </a:pPr>
            <a:r>
              <a:rPr lang="en-US" b="true" sz="3548" spc="35">
                <a:solidFill>
                  <a:srgbClr val="F5F5F5"/>
                </a:solidFill>
                <a:latin typeface="Neue Montreal Bold"/>
                <a:ea typeface="Neue Montreal Bold"/>
                <a:cs typeface="Neue Montreal Bold"/>
                <a:sym typeface="Neue Montreal Bold"/>
              </a:rPr>
              <a:t>AI systems operate through programming logic and computational mechanisms; even learning mechanisms are governed by implemented instructions.</a:t>
            </a:r>
          </a:p>
          <a:p>
            <a:pPr algn="just">
              <a:lnSpc>
                <a:spcPts val="5925"/>
              </a:lnSpc>
            </a:pPr>
            <a:r>
              <a:rPr lang="en-US" b="true" sz="3548" spc="35">
                <a:solidFill>
                  <a:srgbClr val="F5F5F5"/>
                </a:solidFill>
                <a:latin typeface="Neue Montreal Bold"/>
                <a:ea typeface="Neue Montreal Bold"/>
                <a:cs typeface="Neue Montreal Bold"/>
                <a:sym typeface="Neue Montreal Bold"/>
              </a:rPr>
              <a:t>AI is the broad field. Machine learning is a major field within AI focused on learning patterns from data.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31F20"/>
        </a:solidFill>
      </p:bgPr>
    </p:bg>
    <p:spTree>
      <p:nvGrpSpPr>
        <p:cNvPr id="1" name=""/>
        <p:cNvGrpSpPr/>
        <p:nvPr/>
      </p:nvGrpSpPr>
      <p:grpSpPr>
        <a:xfrm>
          <a:off x="0" y="0"/>
          <a:ext cx="0" cy="0"/>
          <a:chOff x="0" y="0"/>
          <a:chExt cx="0" cy="0"/>
        </a:xfrm>
      </p:grpSpPr>
      <p:sp>
        <p:nvSpPr>
          <p:cNvPr name="Freeform 2" id="2"/>
          <p:cNvSpPr/>
          <p:nvPr/>
        </p:nvSpPr>
        <p:spPr>
          <a:xfrm flipH="false" flipV="true" rot="0">
            <a:off x="0" y="5143500"/>
            <a:ext cx="18288000" cy="5592769"/>
          </a:xfrm>
          <a:custGeom>
            <a:avLst/>
            <a:gdLst/>
            <a:ahLst/>
            <a:cxnLst/>
            <a:rect r="r" b="b" t="t" l="l"/>
            <a:pathLst>
              <a:path h="5592769" w="18288000">
                <a:moveTo>
                  <a:pt x="0" y="5592769"/>
                </a:moveTo>
                <a:lnTo>
                  <a:pt x="18288000" y="5592769"/>
                </a:lnTo>
                <a:lnTo>
                  <a:pt x="18288000" y="0"/>
                </a:lnTo>
                <a:lnTo>
                  <a:pt x="0" y="0"/>
                </a:lnTo>
                <a:lnTo>
                  <a:pt x="0" y="5592769"/>
                </a:lnTo>
                <a:close/>
              </a:path>
            </a:pathLst>
          </a:custGeom>
          <a:blipFill>
            <a:blip r:embed="rId2">
              <a:alphaModFix amt="79000"/>
            </a:blip>
            <a:stretch>
              <a:fillRect l="0" t="-56548" r="0" b="-9401"/>
            </a:stretch>
          </a:blipFill>
        </p:spPr>
      </p:sp>
      <p:sp>
        <p:nvSpPr>
          <p:cNvPr name="Freeform 3" id="3"/>
          <p:cNvSpPr/>
          <p:nvPr/>
        </p:nvSpPr>
        <p:spPr>
          <a:xfrm flipH="false" flipV="false" rot="1993726">
            <a:off x="-229798" y="1538819"/>
            <a:ext cx="16564892" cy="16523480"/>
          </a:xfrm>
          <a:custGeom>
            <a:avLst/>
            <a:gdLst/>
            <a:ahLst/>
            <a:cxnLst/>
            <a:rect r="r" b="b" t="t" l="l"/>
            <a:pathLst>
              <a:path h="16523480" w="16564892">
                <a:moveTo>
                  <a:pt x="0" y="0"/>
                </a:moveTo>
                <a:lnTo>
                  <a:pt x="16564892" y="0"/>
                </a:lnTo>
                <a:lnTo>
                  <a:pt x="16564892" y="16523480"/>
                </a:lnTo>
                <a:lnTo>
                  <a:pt x="0" y="16523480"/>
                </a:lnTo>
                <a:lnTo>
                  <a:pt x="0" y="0"/>
                </a:lnTo>
                <a:close/>
              </a:path>
            </a:pathLst>
          </a:custGeom>
          <a:blipFill>
            <a:blip r:embed="rId3"/>
            <a:stretch>
              <a:fillRect l="0" t="0" r="0" b="0"/>
            </a:stretch>
          </a:blipFill>
        </p:spPr>
      </p:sp>
      <p:grpSp>
        <p:nvGrpSpPr>
          <p:cNvPr name="Group 4" id="4"/>
          <p:cNvGrpSpPr/>
          <p:nvPr/>
        </p:nvGrpSpPr>
        <p:grpSpPr>
          <a:xfrm rot="0">
            <a:off x="1209556" y="3015890"/>
            <a:ext cx="16123362" cy="6362609"/>
            <a:chOff x="0" y="0"/>
            <a:chExt cx="4246482" cy="1675749"/>
          </a:xfrm>
        </p:grpSpPr>
        <p:sp>
          <p:nvSpPr>
            <p:cNvPr name="Freeform 5" id="5"/>
            <p:cNvSpPr/>
            <p:nvPr/>
          </p:nvSpPr>
          <p:spPr>
            <a:xfrm flipH="false" flipV="false" rot="0">
              <a:off x="0" y="0"/>
              <a:ext cx="4246482" cy="1675749"/>
            </a:xfrm>
            <a:custGeom>
              <a:avLst/>
              <a:gdLst/>
              <a:ahLst/>
              <a:cxnLst/>
              <a:rect r="r" b="b" t="t" l="l"/>
              <a:pathLst>
                <a:path h="1675749" w="4246482">
                  <a:moveTo>
                    <a:pt x="24008" y="0"/>
                  </a:moveTo>
                  <a:lnTo>
                    <a:pt x="4222474" y="0"/>
                  </a:lnTo>
                  <a:cubicBezTo>
                    <a:pt x="4235733" y="0"/>
                    <a:pt x="4246482" y="10749"/>
                    <a:pt x="4246482" y="24008"/>
                  </a:cubicBezTo>
                  <a:lnTo>
                    <a:pt x="4246482" y="1651740"/>
                  </a:lnTo>
                  <a:cubicBezTo>
                    <a:pt x="4246482" y="1665000"/>
                    <a:pt x="4235733" y="1675749"/>
                    <a:pt x="4222474" y="1675749"/>
                  </a:cubicBezTo>
                  <a:lnTo>
                    <a:pt x="24008" y="1675749"/>
                  </a:lnTo>
                  <a:cubicBezTo>
                    <a:pt x="10749" y="1675749"/>
                    <a:pt x="0" y="1665000"/>
                    <a:pt x="0" y="1651740"/>
                  </a:cubicBezTo>
                  <a:lnTo>
                    <a:pt x="0" y="24008"/>
                  </a:lnTo>
                  <a:cubicBezTo>
                    <a:pt x="0" y="10749"/>
                    <a:pt x="10749" y="0"/>
                    <a:pt x="24008" y="0"/>
                  </a:cubicBezTo>
                  <a:close/>
                </a:path>
              </a:pathLst>
            </a:custGeom>
            <a:solidFill>
              <a:srgbClr val="FFFFFF">
                <a:alpha val="74902"/>
              </a:srgbClr>
            </a:solidFill>
          </p:spPr>
        </p:sp>
        <p:sp>
          <p:nvSpPr>
            <p:cNvPr name="TextBox 6" id="6"/>
            <p:cNvSpPr txBox="true"/>
            <p:nvPr/>
          </p:nvSpPr>
          <p:spPr>
            <a:xfrm>
              <a:off x="0" y="-38100"/>
              <a:ext cx="4246482" cy="1713849"/>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16698626" y="472575"/>
            <a:ext cx="641254" cy="484209"/>
            <a:chOff x="0" y="0"/>
            <a:chExt cx="168890" cy="127528"/>
          </a:xfrm>
        </p:grpSpPr>
        <p:sp>
          <p:nvSpPr>
            <p:cNvPr name="Freeform 9" id="9"/>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10" id="10"/>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11" id="11"/>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946958" y="1627609"/>
            <a:ext cx="15920262" cy="1159844"/>
          </a:xfrm>
          <a:prstGeom prst="rect">
            <a:avLst/>
          </a:prstGeom>
        </p:spPr>
        <p:txBody>
          <a:bodyPr anchor="t" rtlCol="false" tIns="0" lIns="0" bIns="0" rIns="0">
            <a:spAutoFit/>
          </a:bodyPr>
          <a:lstStyle/>
          <a:p>
            <a:pPr algn="l">
              <a:lnSpc>
                <a:spcPts val="8803"/>
              </a:lnSpc>
            </a:pPr>
            <a:r>
              <a:rPr lang="en-US" sz="8384" b="true">
                <a:solidFill>
                  <a:srgbClr val="F5F5F5"/>
                </a:solidFill>
                <a:latin typeface="Neue Montreal Medium"/>
                <a:ea typeface="Neue Montreal Medium"/>
                <a:cs typeface="Neue Montreal Medium"/>
                <a:sym typeface="Neue Montreal Medium"/>
              </a:rPr>
              <a:t>Co</a:t>
            </a:r>
            <a:r>
              <a:rPr lang="en-US" sz="8384" b="true">
                <a:solidFill>
                  <a:srgbClr val="F5F5F5"/>
                </a:solidFill>
                <a:latin typeface="Neue Montreal Medium"/>
                <a:ea typeface="Neue Montreal Medium"/>
                <a:cs typeface="Neue Montreal Medium"/>
                <a:sym typeface="Neue Montreal Medium"/>
              </a:rPr>
              <a:t>re Cognitive Functions of AI</a:t>
            </a:r>
          </a:p>
        </p:txBody>
      </p:sp>
      <p:sp>
        <p:nvSpPr>
          <p:cNvPr name="TextBox 13" id="13"/>
          <p:cNvSpPr txBox="true"/>
          <p:nvPr/>
        </p:nvSpPr>
        <p:spPr>
          <a:xfrm rot="0">
            <a:off x="2083453" y="3564582"/>
            <a:ext cx="14375566" cy="4594297"/>
          </a:xfrm>
          <a:prstGeom prst="rect">
            <a:avLst/>
          </a:prstGeom>
        </p:spPr>
        <p:txBody>
          <a:bodyPr anchor="t" rtlCol="false" tIns="0" lIns="0" bIns="0" rIns="0">
            <a:spAutoFit/>
          </a:bodyPr>
          <a:lstStyle/>
          <a:p>
            <a:pPr algn="just">
              <a:lnSpc>
                <a:spcPts val="4546"/>
              </a:lnSpc>
            </a:pPr>
            <a:r>
              <a:rPr lang="en-US" b="true" sz="3247" spc="32">
                <a:solidFill>
                  <a:srgbClr val="000000"/>
                </a:solidFill>
                <a:latin typeface="Neue Montreal Bold"/>
                <a:ea typeface="Neue Montreal Bold"/>
                <a:cs typeface="Neue Montreal Bold"/>
                <a:sym typeface="Neue Montreal Bold"/>
              </a:rPr>
              <a:t>Learning </a:t>
            </a:r>
            <a:r>
              <a:rPr lang="en-US" sz="3247" spc="32">
                <a:solidFill>
                  <a:srgbClr val="000000"/>
                </a:solidFill>
                <a:latin typeface="Neue Montreal"/>
                <a:ea typeface="Neue Montreal"/>
                <a:cs typeface="Neue Montreal"/>
                <a:sym typeface="Neue Montreal"/>
              </a:rPr>
              <a:t>— acquiring useful patterns or improving behavior from information or ex</a:t>
            </a:r>
            <a:r>
              <a:rPr lang="en-US" sz="3247" spc="32">
                <a:solidFill>
                  <a:srgbClr val="000000"/>
                </a:solidFill>
                <a:latin typeface="Neue Montreal"/>
                <a:ea typeface="Neue Montreal"/>
                <a:cs typeface="Neue Montreal"/>
                <a:sym typeface="Neue Montreal"/>
              </a:rPr>
              <a:t>perience.</a:t>
            </a:r>
          </a:p>
          <a:p>
            <a:pPr algn="just">
              <a:lnSpc>
                <a:spcPts val="4546"/>
              </a:lnSpc>
            </a:pPr>
            <a:r>
              <a:rPr lang="en-US" b="true" sz="3247" spc="32">
                <a:solidFill>
                  <a:srgbClr val="000000"/>
                </a:solidFill>
                <a:latin typeface="Neue Montreal Bold"/>
                <a:ea typeface="Neue Montreal Bold"/>
                <a:cs typeface="Neue Montreal Bold"/>
                <a:sym typeface="Neue Montreal Bold"/>
              </a:rPr>
              <a:t>Problem-solving </a:t>
            </a:r>
            <a:r>
              <a:rPr lang="en-US" sz="3247" spc="32">
                <a:solidFill>
                  <a:srgbClr val="000000"/>
                </a:solidFill>
                <a:latin typeface="Neue Montreal"/>
                <a:ea typeface="Neue Montreal"/>
                <a:cs typeface="Neue Montreal"/>
                <a:sym typeface="Neue Montreal"/>
              </a:rPr>
              <a:t>— searching for solutions, applying heuristics, and formulating goals.</a:t>
            </a:r>
          </a:p>
          <a:p>
            <a:pPr algn="just">
              <a:lnSpc>
                <a:spcPts val="4546"/>
              </a:lnSpc>
            </a:pPr>
            <a:r>
              <a:rPr lang="en-US" b="true" sz="3247" spc="32">
                <a:solidFill>
                  <a:srgbClr val="000000"/>
                </a:solidFill>
                <a:latin typeface="Neue Montreal Bold"/>
                <a:ea typeface="Neue Montreal Bold"/>
                <a:cs typeface="Neue Montreal Bold"/>
                <a:sym typeface="Neue Montreal Bold"/>
              </a:rPr>
              <a:t>Reasoning</a:t>
            </a:r>
            <a:r>
              <a:rPr lang="en-US" sz="3247" spc="32">
                <a:solidFill>
                  <a:srgbClr val="000000"/>
                </a:solidFill>
                <a:latin typeface="Neue Montreal"/>
                <a:ea typeface="Neue Montreal"/>
                <a:cs typeface="Neue Montreal"/>
                <a:sym typeface="Neue Montreal"/>
              </a:rPr>
              <a:t> — drawing conclusions, making inferences, and producing predictions.</a:t>
            </a:r>
          </a:p>
          <a:p>
            <a:pPr algn="just">
              <a:lnSpc>
                <a:spcPts val="4546"/>
              </a:lnSpc>
            </a:pPr>
            <a:r>
              <a:rPr lang="en-US" b="true" sz="3247" spc="32">
                <a:solidFill>
                  <a:srgbClr val="000000"/>
                </a:solidFill>
                <a:latin typeface="Neue Montreal Bold"/>
                <a:ea typeface="Neue Montreal Bold"/>
                <a:cs typeface="Neue Montreal Bold"/>
                <a:sym typeface="Neue Montreal Bold"/>
              </a:rPr>
              <a:t>Decision-making </a:t>
            </a:r>
            <a:r>
              <a:rPr lang="en-US" sz="3247" spc="32">
                <a:solidFill>
                  <a:srgbClr val="000000"/>
                </a:solidFill>
                <a:latin typeface="Neue Montreal"/>
                <a:ea typeface="Neue Montreal"/>
                <a:cs typeface="Neue Montreal"/>
                <a:sym typeface="Neue Montreal"/>
              </a:rPr>
              <a:t>— evaluating alternatives and selecting actions.</a:t>
            </a:r>
          </a:p>
          <a:p>
            <a:pPr algn="just">
              <a:lnSpc>
                <a:spcPts val="4546"/>
              </a:lnSpc>
            </a:pPr>
            <a:r>
              <a:rPr lang="en-US" b="true" sz="3247" spc="32">
                <a:solidFill>
                  <a:srgbClr val="000000"/>
                </a:solidFill>
                <a:latin typeface="Neue Montreal Bold"/>
                <a:ea typeface="Neue Montreal Bold"/>
                <a:cs typeface="Neue Montreal Bold"/>
                <a:sym typeface="Neue Montreal Bold"/>
              </a:rPr>
              <a:t>Language </a:t>
            </a:r>
            <a:r>
              <a:rPr lang="en-US" sz="3247" spc="32">
                <a:solidFill>
                  <a:srgbClr val="000000"/>
                </a:solidFill>
                <a:latin typeface="Neue Montreal"/>
                <a:ea typeface="Neue Montreal"/>
                <a:cs typeface="Neue Montreal"/>
                <a:sym typeface="Neue Montreal"/>
              </a:rPr>
              <a:t>— processing speech and text through Natural Language Processing (NLP).</a:t>
            </a:r>
          </a:p>
        </p:txBody>
      </p:sp>
      <p:sp>
        <p:nvSpPr>
          <p:cNvPr name="TextBox 14" id="14"/>
          <p:cNvSpPr txBox="true"/>
          <p:nvPr/>
        </p:nvSpPr>
        <p:spPr>
          <a:xfrm rot="0">
            <a:off x="1547027" y="562273"/>
            <a:ext cx="7087065" cy="349216"/>
          </a:xfrm>
          <a:prstGeom prst="rect">
            <a:avLst/>
          </a:prstGeom>
        </p:spPr>
        <p:txBody>
          <a:bodyPr anchor="t" rtlCol="false" tIns="0" lIns="0" bIns="0" rIns="0">
            <a:spAutoFit/>
          </a:bodyPr>
          <a:lstStyle/>
          <a:p>
            <a:pPr algn="l">
              <a:lnSpc>
                <a:spcPts val="2800"/>
              </a:lnSpc>
              <a:spcBef>
                <a:spcPct val="0"/>
              </a:spcBef>
            </a:pPr>
            <a:r>
              <a:rPr lang="en-US" b="true" sz="2000" spc="20">
                <a:solidFill>
                  <a:srgbClr val="FFFFFF"/>
                </a:solidFill>
                <a:latin typeface="Neue Montreal Bold"/>
                <a:ea typeface="Neue Montreal Bold"/>
                <a:cs typeface="Neue Montreal Bold"/>
                <a:sym typeface="Neue Montreal Bold"/>
              </a:rPr>
              <a:t>Salford &amp; Co.</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993726">
            <a:off x="-4620386" y="1909854"/>
            <a:ext cx="16564892" cy="16523480"/>
          </a:xfrm>
          <a:custGeom>
            <a:avLst/>
            <a:gdLst/>
            <a:ahLst/>
            <a:cxnLst/>
            <a:rect r="r" b="b" t="t" l="l"/>
            <a:pathLst>
              <a:path h="16523480" w="16564892">
                <a:moveTo>
                  <a:pt x="0" y="0"/>
                </a:moveTo>
                <a:lnTo>
                  <a:pt x="16564892" y="0"/>
                </a:lnTo>
                <a:lnTo>
                  <a:pt x="16564892" y="16523480"/>
                </a:lnTo>
                <a:lnTo>
                  <a:pt x="0" y="16523480"/>
                </a:lnTo>
                <a:lnTo>
                  <a:pt x="0" y="0"/>
                </a:lnTo>
                <a:close/>
              </a:path>
            </a:pathLst>
          </a:custGeom>
          <a:blipFill>
            <a:blip r:embed="rId2"/>
            <a:stretch>
              <a:fillRect l="0" t="0" r="0" b="0"/>
            </a:stretch>
          </a:blipFill>
        </p:spPr>
      </p:sp>
      <p:grpSp>
        <p:nvGrpSpPr>
          <p:cNvPr name="Group 3" id="3"/>
          <p:cNvGrpSpPr/>
          <p:nvPr/>
        </p:nvGrpSpPr>
        <p:grpSpPr>
          <a:xfrm rot="0">
            <a:off x="846712" y="3251490"/>
            <a:ext cx="16123362" cy="6362609"/>
            <a:chOff x="0" y="0"/>
            <a:chExt cx="4246482" cy="1675749"/>
          </a:xfrm>
        </p:grpSpPr>
        <p:sp>
          <p:nvSpPr>
            <p:cNvPr name="Freeform 4" id="4"/>
            <p:cNvSpPr/>
            <p:nvPr/>
          </p:nvSpPr>
          <p:spPr>
            <a:xfrm flipH="false" flipV="false" rot="0">
              <a:off x="0" y="0"/>
              <a:ext cx="4246482" cy="1675749"/>
            </a:xfrm>
            <a:custGeom>
              <a:avLst/>
              <a:gdLst/>
              <a:ahLst/>
              <a:cxnLst/>
              <a:rect r="r" b="b" t="t" l="l"/>
              <a:pathLst>
                <a:path h="1675749" w="4246482">
                  <a:moveTo>
                    <a:pt x="24008" y="0"/>
                  </a:moveTo>
                  <a:lnTo>
                    <a:pt x="4222474" y="0"/>
                  </a:lnTo>
                  <a:cubicBezTo>
                    <a:pt x="4235733" y="0"/>
                    <a:pt x="4246482" y="10749"/>
                    <a:pt x="4246482" y="24008"/>
                  </a:cubicBezTo>
                  <a:lnTo>
                    <a:pt x="4246482" y="1651740"/>
                  </a:lnTo>
                  <a:cubicBezTo>
                    <a:pt x="4246482" y="1665000"/>
                    <a:pt x="4235733" y="1675749"/>
                    <a:pt x="4222474" y="1675749"/>
                  </a:cubicBezTo>
                  <a:lnTo>
                    <a:pt x="24008" y="1675749"/>
                  </a:lnTo>
                  <a:cubicBezTo>
                    <a:pt x="10749" y="1675749"/>
                    <a:pt x="0" y="1665000"/>
                    <a:pt x="0" y="1651740"/>
                  </a:cubicBezTo>
                  <a:lnTo>
                    <a:pt x="0" y="24008"/>
                  </a:lnTo>
                  <a:cubicBezTo>
                    <a:pt x="0" y="10749"/>
                    <a:pt x="10749" y="0"/>
                    <a:pt x="24008" y="0"/>
                  </a:cubicBezTo>
                  <a:close/>
                </a:path>
              </a:pathLst>
            </a:custGeom>
            <a:solidFill>
              <a:srgbClr val="D9D9D9">
                <a:alpha val="56863"/>
              </a:srgbClr>
            </a:solidFill>
          </p:spPr>
        </p:sp>
        <p:sp>
          <p:nvSpPr>
            <p:cNvPr name="TextBox 5" id="5"/>
            <p:cNvSpPr txBox="true"/>
            <p:nvPr/>
          </p:nvSpPr>
          <p:spPr>
            <a:xfrm>
              <a:off x="0" y="-38100"/>
              <a:ext cx="4246482" cy="1713849"/>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836106" y="3563903"/>
            <a:ext cx="14144574" cy="5728137"/>
          </a:xfrm>
          <a:prstGeom prst="rect">
            <a:avLst/>
          </a:prstGeom>
        </p:spPr>
        <p:txBody>
          <a:bodyPr anchor="t" rtlCol="false" tIns="0" lIns="0" bIns="0" rIns="0">
            <a:spAutoFit/>
          </a:bodyPr>
          <a:lstStyle/>
          <a:p>
            <a:pPr algn="just">
              <a:lnSpc>
                <a:spcPts val="5050"/>
              </a:lnSpc>
            </a:pPr>
            <a:r>
              <a:rPr lang="en-US" b="true" sz="3607" spc="36">
                <a:solidFill>
                  <a:srgbClr val="000000"/>
                </a:solidFill>
                <a:latin typeface="Neue Montreal Bold"/>
                <a:ea typeface="Neue Montreal Bold"/>
                <a:cs typeface="Neue Montreal Bold"/>
                <a:sym typeface="Neue Montreal Bold"/>
              </a:rPr>
              <a:t>A</a:t>
            </a:r>
            <a:r>
              <a:rPr lang="en-US" b="true" sz="3607" spc="36">
                <a:solidFill>
                  <a:srgbClr val="000000"/>
                </a:solidFill>
                <a:latin typeface="Neue Montreal Bold"/>
                <a:ea typeface="Neue Montreal Bold"/>
                <a:cs typeface="Neue Montreal Bold"/>
                <a:sym typeface="Neue Montreal Bold"/>
              </a:rPr>
              <a:t> neural network is a network of interconnected computational nodes or 'neurons.'</a:t>
            </a:r>
          </a:p>
          <a:p>
            <a:pPr algn="just">
              <a:lnSpc>
                <a:spcPts val="5050"/>
              </a:lnSpc>
            </a:pPr>
            <a:r>
              <a:rPr lang="en-US" b="true" sz="3607" spc="36">
                <a:solidFill>
                  <a:srgbClr val="000000"/>
                </a:solidFill>
                <a:latin typeface="Neue Montreal Bold"/>
                <a:ea typeface="Neue Montreal Bold"/>
                <a:cs typeface="Neue Montreal Bold"/>
                <a:sym typeface="Neue Montreal Bold"/>
              </a:rPr>
              <a:t>It mimics aspects of the human nervous system by receiving, processing, and transmitting signals.</a:t>
            </a:r>
          </a:p>
          <a:p>
            <a:pPr algn="just">
              <a:lnSpc>
                <a:spcPts val="5050"/>
              </a:lnSpc>
            </a:pPr>
            <a:r>
              <a:rPr lang="en-US" b="true" sz="3607" spc="36">
                <a:solidFill>
                  <a:srgbClr val="000000"/>
                </a:solidFill>
                <a:latin typeface="Neue Montreal Bold"/>
                <a:ea typeface="Neue Montreal Bold"/>
                <a:cs typeface="Neue Montreal Bold"/>
                <a:sym typeface="Neue Montreal Bold"/>
              </a:rPr>
              <a:t>Basic structure: Input Layer → Hidden Layer(s) → Output Layer.</a:t>
            </a:r>
          </a:p>
          <a:p>
            <a:pPr algn="just">
              <a:lnSpc>
                <a:spcPts val="5050"/>
              </a:lnSpc>
            </a:pPr>
            <a:r>
              <a:rPr lang="en-US" b="true" sz="3607" spc="36">
                <a:solidFill>
                  <a:srgbClr val="000000"/>
                </a:solidFill>
                <a:latin typeface="Neue Montreal Bold"/>
                <a:ea typeface="Neue Montreal Bold"/>
                <a:cs typeface="Neue Montreal Bold"/>
                <a:sym typeface="Neue Montreal Bold"/>
              </a:rPr>
              <a:t>Nodes use weights and thresholds; hidden layers can vary in number and size.</a:t>
            </a:r>
          </a:p>
          <a:p>
            <a:pPr algn="just">
              <a:lnSpc>
                <a:spcPts val="5050"/>
              </a:lnSpc>
            </a:pPr>
            <a:r>
              <a:rPr lang="en-US" b="true" sz="3607" spc="36">
                <a:solidFill>
                  <a:srgbClr val="000000"/>
                </a:solidFill>
                <a:latin typeface="Neue Montreal Bold"/>
                <a:ea typeface="Neue Montreal Bold"/>
                <a:cs typeface="Neue Montreal Bold"/>
                <a:sym typeface="Neue Montreal Bold"/>
              </a:rPr>
              <a:t>Artificial Neural Networks (ANNs) are central to many machine-learning and deep-learning systems.</a:t>
            </a:r>
          </a:p>
        </p:txBody>
      </p:sp>
      <p:sp>
        <p:nvSpPr>
          <p:cNvPr name="TextBox 7" id="7"/>
          <p:cNvSpPr txBox="true"/>
          <p:nvPr/>
        </p:nvSpPr>
        <p:spPr>
          <a:xfrm rot="0">
            <a:off x="800954" y="1703189"/>
            <a:ext cx="15732271" cy="2684551"/>
          </a:xfrm>
          <a:prstGeom prst="rect">
            <a:avLst/>
          </a:prstGeom>
        </p:spPr>
        <p:txBody>
          <a:bodyPr anchor="t" rtlCol="false" tIns="0" lIns="0" bIns="0" rIns="0">
            <a:spAutoFit/>
          </a:bodyPr>
          <a:lstStyle/>
          <a:p>
            <a:pPr algn="l">
              <a:lnSpc>
                <a:spcPts val="10354"/>
              </a:lnSpc>
            </a:pPr>
            <a:r>
              <a:rPr lang="en-US" sz="9861" b="true">
                <a:solidFill>
                  <a:srgbClr val="000000"/>
                </a:solidFill>
                <a:latin typeface="Neue Montreal Medium"/>
                <a:ea typeface="Neue Montreal Medium"/>
                <a:cs typeface="Neue Montreal Medium"/>
                <a:sym typeface="Neue Montreal Medium"/>
              </a:rPr>
              <a:t>What Is a Neural Network?</a:t>
            </a:r>
          </a:p>
          <a:p>
            <a:pPr algn="l">
              <a:lnSpc>
                <a:spcPts val="10354"/>
              </a:lnSpc>
            </a:pPr>
          </a:p>
        </p:txBody>
      </p:sp>
      <p:sp>
        <p:nvSpPr>
          <p:cNvPr name="Freeform 8" id="8"/>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0">
            <a:off x="16698626" y="472575"/>
            <a:ext cx="641254" cy="484209"/>
            <a:chOff x="0" y="0"/>
            <a:chExt cx="168890" cy="127528"/>
          </a:xfrm>
        </p:grpSpPr>
        <p:sp>
          <p:nvSpPr>
            <p:cNvPr name="Freeform 10" id="10"/>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11" id="11"/>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12" id="12"/>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31F20"/>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783028" y="1445177"/>
            <a:ext cx="15050847" cy="974448"/>
          </a:xfrm>
          <a:prstGeom prst="rect">
            <a:avLst/>
          </a:prstGeom>
        </p:spPr>
        <p:txBody>
          <a:bodyPr anchor="t" rtlCol="false" tIns="0" lIns="0" bIns="0" rIns="0">
            <a:spAutoFit/>
          </a:bodyPr>
          <a:lstStyle/>
          <a:p>
            <a:pPr algn="l">
              <a:lnSpc>
                <a:spcPts val="7386"/>
              </a:lnSpc>
            </a:pPr>
            <a:r>
              <a:rPr lang="en-US" sz="7035" b="true">
                <a:solidFill>
                  <a:srgbClr val="FFFFFF"/>
                </a:solidFill>
                <a:latin typeface="Neue Montreal Medium"/>
                <a:ea typeface="Neue Montreal Medium"/>
                <a:cs typeface="Neue Montreal Medium"/>
                <a:sym typeface="Neue Montreal Medium"/>
              </a:rPr>
              <a:t>Two Major Approache</a:t>
            </a:r>
            <a:r>
              <a:rPr lang="en-US" sz="7035" b="true">
                <a:solidFill>
                  <a:srgbClr val="FFFFFF"/>
                </a:solidFill>
                <a:latin typeface="Neue Montreal Medium"/>
                <a:ea typeface="Neue Montreal Medium"/>
                <a:cs typeface="Neue Montreal Medium"/>
                <a:sym typeface="Neue Montreal Medium"/>
              </a:rPr>
              <a:t>s to AI Research</a:t>
            </a:r>
          </a:p>
        </p:txBody>
      </p:sp>
      <p:grpSp>
        <p:nvGrpSpPr>
          <p:cNvPr name="Group 8" id="8"/>
          <p:cNvGrpSpPr/>
          <p:nvPr/>
        </p:nvGrpSpPr>
        <p:grpSpPr>
          <a:xfrm rot="0">
            <a:off x="808399" y="3980383"/>
            <a:ext cx="7661622" cy="4846578"/>
            <a:chOff x="0" y="0"/>
            <a:chExt cx="2017876" cy="1276465"/>
          </a:xfrm>
        </p:grpSpPr>
        <p:sp>
          <p:nvSpPr>
            <p:cNvPr name="Freeform 9" id="9"/>
            <p:cNvSpPr/>
            <p:nvPr/>
          </p:nvSpPr>
          <p:spPr>
            <a:xfrm flipH="false" flipV="false" rot="0">
              <a:off x="0" y="0"/>
              <a:ext cx="2017876" cy="1276465"/>
            </a:xfrm>
            <a:custGeom>
              <a:avLst/>
              <a:gdLst/>
              <a:ahLst/>
              <a:cxnLst/>
              <a:rect r="r" b="b" t="t" l="l"/>
              <a:pathLst>
                <a:path h="1276465" w="2017876">
                  <a:moveTo>
                    <a:pt x="50524" y="0"/>
                  </a:moveTo>
                  <a:lnTo>
                    <a:pt x="1967352" y="0"/>
                  </a:lnTo>
                  <a:cubicBezTo>
                    <a:pt x="1980752" y="0"/>
                    <a:pt x="1993603" y="5323"/>
                    <a:pt x="2003078" y="14798"/>
                  </a:cubicBezTo>
                  <a:cubicBezTo>
                    <a:pt x="2012553" y="24273"/>
                    <a:pt x="2017876" y="37124"/>
                    <a:pt x="2017876" y="50524"/>
                  </a:cubicBezTo>
                  <a:lnTo>
                    <a:pt x="2017876" y="1225941"/>
                  </a:lnTo>
                  <a:cubicBezTo>
                    <a:pt x="2017876" y="1253845"/>
                    <a:pt x="1995256" y="1276465"/>
                    <a:pt x="1967352" y="1276465"/>
                  </a:cubicBezTo>
                  <a:lnTo>
                    <a:pt x="50524" y="1276465"/>
                  </a:lnTo>
                  <a:cubicBezTo>
                    <a:pt x="37124" y="1276465"/>
                    <a:pt x="24273" y="1271142"/>
                    <a:pt x="14798" y="1261667"/>
                  </a:cubicBezTo>
                  <a:cubicBezTo>
                    <a:pt x="5323" y="1252192"/>
                    <a:pt x="0" y="1239341"/>
                    <a:pt x="0" y="1225941"/>
                  </a:cubicBezTo>
                  <a:lnTo>
                    <a:pt x="0" y="50524"/>
                  </a:lnTo>
                  <a:cubicBezTo>
                    <a:pt x="0" y="37124"/>
                    <a:pt x="5323" y="24273"/>
                    <a:pt x="14798" y="14798"/>
                  </a:cubicBezTo>
                  <a:cubicBezTo>
                    <a:pt x="24273" y="5323"/>
                    <a:pt x="37124" y="0"/>
                    <a:pt x="50524" y="0"/>
                  </a:cubicBezTo>
                  <a:close/>
                </a:path>
              </a:pathLst>
            </a:custGeom>
            <a:solidFill>
              <a:srgbClr val="333333"/>
            </a:solidFill>
          </p:spPr>
        </p:sp>
        <p:sp>
          <p:nvSpPr>
            <p:cNvPr name="TextBox 10" id="10"/>
            <p:cNvSpPr txBox="true"/>
            <p:nvPr/>
          </p:nvSpPr>
          <p:spPr>
            <a:xfrm>
              <a:off x="0" y="-38100"/>
              <a:ext cx="2017876" cy="1314565"/>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138512" y="4264761"/>
            <a:ext cx="7001395" cy="3658052"/>
          </a:xfrm>
          <a:prstGeom prst="rect">
            <a:avLst/>
          </a:prstGeom>
        </p:spPr>
        <p:txBody>
          <a:bodyPr anchor="t" rtlCol="false" tIns="0" lIns="0" bIns="0" rIns="0">
            <a:spAutoFit/>
          </a:bodyPr>
          <a:lstStyle/>
          <a:p>
            <a:pPr algn="just">
              <a:lnSpc>
                <a:spcPts val="4175"/>
              </a:lnSpc>
            </a:pPr>
            <a:r>
              <a:rPr lang="en-US" b="true" sz="2982" spc="29">
                <a:solidFill>
                  <a:srgbClr val="F5F5F5"/>
                </a:solidFill>
                <a:latin typeface="Neue Montreal Medium"/>
                <a:ea typeface="Neue Montreal Medium"/>
                <a:cs typeface="Neue Montreal Medium"/>
                <a:sym typeface="Neue Montreal Medium"/>
              </a:rPr>
              <a:t>Also called Symbolic AI (SAI).</a:t>
            </a:r>
          </a:p>
          <a:p>
            <a:pPr algn="just">
              <a:lnSpc>
                <a:spcPts val="4175"/>
              </a:lnSpc>
            </a:pPr>
            <a:r>
              <a:rPr lang="en-US" b="true" sz="2982" spc="29">
                <a:solidFill>
                  <a:srgbClr val="F5F5F5"/>
                </a:solidFill>
                <a:latin typeface="Neue Montreal Medium"/>
                <a:ea typeface="Neue Montreal Medium"/>
                <a:cs typeface="Neue Montreal Medium"/>
                <a:sym typeface="Neue Montreal Medium"/>
              </a:rPr>
              <a:t>Represents knowledge through symbols.</a:t>
            </a:r>
          </a:p>
          <a:p>
            <a:pPr algn="just">
              <a:lnSpc>
                <a:spcPts val="4175"/>
              </a:lnSpc>
            </a:pPr>
            <a:r>
              <a:rPr lang="en-US" b="true" sz="2982" spc="29">
                <a:solidFill>
                  <a:srgbClr val="F5F5F5"/>
                </a:solidFill>
                <a:latin typeface="Neue Montreal Medium"/>
                <a:ea typeface="Neue Montreal Medium"/>
                <a:cs typeface="Neue Montreal Medium"/>
                <a:sym typeface="Neue Montreal Medium"/>
              </a:rPr>
              <a:t>Uses explicit, rule-based operations and if–then instructions.</a:t>
            </a:r>
          </a:p>
          <a:p>
            <a:pPr algn="just">
              <a:lnSpc>
                <a:spcPts val="4175"/>
              </a:lnSpc>
            </a:pPr>
            <a:r>
              <a:rPr lang="en-US" b="true" sz="2982" spc="29">
                <a:solidFill>
                  <a:srgbClr val="F5F5F5"/>
                </a:solidFill>
                <a:latin typeface="Neue Montreal Medium"/>
                <a:ea typeface="Neue Montreal Medium"/>
                <a:cs typeface="Neue Montreal Medium"/>
                <a:sym typeface="Neue Montreal Medium"/>
              </a:rPr>
              <a:t>Associated with expert systems.</a:t>
            </a:r>
          </a:p>
          <a:p>
            <a:pPr algn="just">
              <a:lnSpc>
                <a:spcPts val="4175"/>
              </a:lnSpc>
            </a:pPr>
            <a:r>
              <a:rPr lang="en-US" b="true" sz="2982" spc="29">
                <a:solidFill>
                  <a:srgbClr val="F5F5F5"/>
                </a:solidFill>
                <a:latin typeface="Neue Montreal Medium"/>
                <a:ea typeface="Neue Montreal Medium"/>
                <a:cs typeface="Neue Montreal Medium"/>
                <a:sym typeface="Neue Montreal Medium"/>
              </a:rPr>
              <a:t>Source highlights robotics, automobiles, telemetry, and aviation.</a:t>
            </a:r>
          </a:p>
        </p:txBody>
      </p:sp>
      <p:grpSp>
        <p:nvGrpSpPr>
          <p:cNvPr name="Group 12" id="12"/>
          <p:cNvGrpSpPr/>
          <p:nvPr/>
        </p:nvGrpSpPr>
        <p:grpSpPr>
          <a:xfrm rot="0">
            <a:off x="9594735" y="3980383"/>
            <a:ext cx="7661622" cy="4846578"/>
            <a:chOff x="0" y="0"/>
            <a:chExt cx="2017876" cy="1276465"/>
          </a:xfrm>
        </p:grpSpPr>
        <p:sp>
          <p:nvSpPr>
            <p:cNvPr name="Freeform 13" id="13"/>
            <p:cNvSpPr/>
            <p:nvPr/>
          </p:nvSpPr>
          <p:spPr>
            <a:xfrm flipH="false" flipV="false" rot="0">
              <a:off x="0" y="0"/>
              <a:ext cx="2017876" cy="1276465"/>
            </a:xfrm>
            <a:custGeom>
              <a:avLst/>
              <a:gdLst/>
              <a:ahLst/>
              <a:cxnLst/>
              <a:rect r="r" b="b" t="t" l="l"/>
              <a:pathLst>
                <a:path h="1276465" w="2017876">
                  <a:moveTo>
                    <a:pt x="50524" y="0"/>
                  </a:moveTo>
                  <a:lnTo>
                    <a:pt x="1967352" y="0"/>
                  </a:lnTo>
                  <a:cubicBezTo>
                    <a:pt x="1980752" y="0"/>
                    <a:pt x="1993603" y="5323"/>
                    <a:pt x="2003078" y="14798"/>
                  </a:cubicBezTo>
                  <a:cubicBezTo>
                    <a:pt x="2012553" y="24273"/>
                    <a:pt x="2017876" y="37124"/>
                    <a:pt x="2017876" y="50524"/>
                  </a:cubicBezTo>
                  <a:lnTo>
                    <a:pt x="2017876" y="1225941"/>
                  </a:lnTo>
                  <a:cubicBezTo>
                    <a:pt x="2017876" y="1253845"/>
                    <a:pt x="1995256" y="1276465"/>
                    <a:pt x="1967352" y="1276465"/>
                  </a:cubicBezTo>
                  <a:lnTo>
                    <a:pt x="50524" y="1276465"/>
                  </a:lnTo>
                  <a:cubicBezTo>
                    <a:pt x="37124" y="1276465"/>
                    <a:pt x="24273" y="1271142"/>
                    <a:pt x="14798" y="1261667"/>
                  </a:cubicBezTo>
                  <a:cubicBezTo>
                    <a:pt x="5323" y="1252192"/>
                    <a:pt x="0" y="1239341"/>
                    <a:pt x="0" y="1225941"/>
                  </a:cubicBezTo>
                  <a:lnTo>
                    <a:pt x="0" y="50524"/>
                  </a:lnTo>
                  <a:cubicBezTo>
                    <a:pt x="0" y="37124"/>
                    <a:pt x="5323" y="24273"/>
                    <a:pt x="14798" y="14798"/>
                  </a:cubicBezTo>
                  <a:cubicBezTo>
                    <a:pt x="24273" y="5323"/>
                    <a:pt x="37124" y="0"/>
                    <a:pt x="50524" y="0"/>
                  </a:cubicBezTo>
                  <a:close/>
                </a:path>
              </a:pathLst>
            </a:custGeom>
            <a:solidFill>
              <a:srgbClr val="333333"/>
            </a:solidFill>
          </p:spPr>
        </p:sp>
        <p:sp>
          <p:nvSpPr>
            <p:cNvPr name="TextBox 14" id="14"/>
            <p:cNvSpPr txBox="true"/>
            <p:nvPr/>
          </p:nvSpPr>
          <p:spPr>
            <a:xfrm>
              <a:off x="0" y="-38100"/>
              <a:ext cx="2017876" cy="1314565"/>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10149274" y="2973805"/>
            <a:ext cx="6549352" cy="788488"/>
          </a:xfrm>
          <a:prstGeom prst="rect">
            <a:avLst/>
          </a:prstGeom>
        </p:spPr>
        <p:txBody>
          <a:bodyPr anchor="t" rtlCol="false" tIns="0" lIns="0" bIns="0" rIns="0">
            <a:spAutoFit/>
          </a:bodyPr>
          <a:lstStyle/>
          <a:p>
            <a:pPr algn="l">
              <a:lnSpc>
                <a:spcPts val="6415"/>
              </a:lnSpc>
            </a:pPr>
            <a:r>
              <a:rPr lang="en-US" b="true" sz="4582" spc="45">
                <a:solidFill>
                  <a:srgbClr val="F5F5F5"/>
                </a:solidFill>
                <a:latin typeface="Neue Montreal Bold"/>
                <a:ea typeface="Neue Montreal Bold"/>
                <a:cs typeface="Neue Montreal Bold"/>
                <a:sym typeface="Neue Montreal Bold"/>
              </a:rPr>
              <a:t>Connectionist Approach</a:t>
            </a:r>
          </a:p>
        </p:txBody>
      </p:sp>
      <p:sp>
        <p:nvSpPr>
          <p:cNvPr name="TextBox 16" id="16"/>
          <p:cNvSpPr txBox="true"/>
          <p:nvPr/>
        </p:nvSpPr>
        <p:spPr>
          <a:xfrm rot="0">
            <a:off x="1943543" y="2973805"/>
            <a:ext cx="5391334" cy="788488"/>
          </a:xfrm>
          <a:prstGeom prst="rect">
            <a:avLst/>
          </a:prstGeom>
        </p:spPr>
        <p:txBody>
          <a:bodyPr anchor="t" rtlCol="false" tIns="0" lIns="0" bIns="0" rIns="0">
            <a:spAutoFit/>
          </a:bodyPr>
          <a:lstStyle/>
          <a:p>
            <a:pPr algn="l">
              <a:lnSpc>
                <a:spcPts val="6415"/>
              </a:lnSpc>
            </a:pPr>
            <a:r>
              <a:rPr lang="en-US" b="true" sz="4582" spc="45">
                <a:solidFill>
                  <a:srgbClr val="F5F5F5"/>
                </a:solidFill>
                <a:latin typeface="Neue Montreal Bold"/>
                <a:ea typeface="Neue Montreal Bold"/>
                <a:cs typeface="Neue Montreal Bold"/>
                <a:sym typeface="Neue Montreal Bold"/>
              </a:rPr>
              <a:t>Symbolic Approach</a:t>
            </a:r>
          </a:p>
        </p:txBody>
      </p:sp>
      <p:sp>
        <p:nvSpPr>
          <p:cNvPr name="TextBox 17" id="17"/>
          <p:cNvSpPr txBox="true"/>
          <p:nvPr/>
        </p:nvSpPr>
        <p:spPr>
          <a:xfrm rot="0">
            <a:off x="9924848" y="4264761"/>
            <a:ext cx="7001395" cy="4181927"/>
          </a:xfrm>
          <a:prstGeom prst="rect">
            <a:avLst/>
          </a:prstGeom>
        </p:spPr>
        <p:txBody>
          <a:bodyPr anchor="t" rtlCol="false" tIns="0" lIns="0" bIns="0" rIns="0">
            <a:spAutoFit/>
          </a:bodyPr>
          <a:lstStyle/>
          <a:p>
            <a:pPr algn="just">
              <a:lnSpc>
                <a:spcPts val="4175"/>
              </a:lnSpc>
            </a:pPr>
            <a:r>
              <a:rPr lang="en-US" b="true" sz="2982" spc="29">
                <a:solidFill>
                  <a:srgbClr val="F5F5F5"/>
                </a:solidFill>
                <a:latin typeface="Neue Montreal Medium"/>
                <a:ea typeface="Neue Montreal Medium"/>
                <a:cs typeface="Neue Montreal Medium"/>
                <a:sym typeface="Neue Montreal Medium"/>
              </a:rPr>
              <a:t>Also called Numeric ANN (NANN).</a:t>
            </a:r>
          </a:p>
          <a:p>
            <a:pPr algn="just">
              <a:lnSpc>
                <a:spcPts val="4175"/>
              </a:lnSpc>
            </a:pPr>
            <a:r>
              <a:rPr lang="en-US" b="true" sz="2982" spc="29">
                <a:solidFill>
                  <a:srgbClr val="F5F5F5"/>
                </a:solidFill>
                <a:latin typeface="Neue Montreal Medium"/>
                <a:ea typeface="Neue Montreal Medium"/>
                <a:cs typeface="Neue Montreal Medium"/>
                <a:sym typeface="Neue Montreal Medium"/>
              </a:rPr>
              <a:t>Intelligence emerges from interconnected processors acting like neurons.</a:t>
            </a:r>
          </a:p>
          <a:p>
            <a:pPr algn="just">
              <a:lnSpc>
                <a:spcPts val="4175"/>
              </a:lnSpc>
            </a:pPr>
            <a:r>
              <a:rPr lang="en-US" b="true" sz="2982" spc="29">
                <a:solidFill>
                  <a:srgbClr val="F5F5F5"/>
                </a:solidFill>
                <a:latin typeface="Neue Montreal Medium"/>
                <a:ea typeface="Neue Montreal Medium"/>
                <a:cs typeface="Neue Montreal Medium"/>
                <a:sym typeface="Neue Montreal Medium"/>
              </a:rPr>
              <a:t>Uses numerical activation and learned relationships.</a:t>
            </a:r>
          </a:p>
          <a:p>
            <a:pPr algn="just">
              <a:lnSpc>
                <a:spcPts val="4175"/>
              </a:lnSpc>
            </a:pPr>
            <a:r>
              <a:rPr lang="en-US" b="true" sz="2982" spc="29">
                <a:solidFill>
                  <a:srgbClr val="F5F5F5"/>
                </a:solidFill>
                <a:latin typeface="Neue Montreal Medium"/>
                <a:ea typeface="Neue Montreal Medium"/>
                <a:cs typeface="Neue Montreal Medium"/>
                <a:sym typeface="Neue Montreal Medium"/>
              </a:rPr>
              <a:t>Learns complex environments through data transformation.</a:t>
            </a:r>
          </a:p>
          <a:p>
            <a:pPr algn="just">
              <a:lnSpc>
                <a:spcPts val="4175"/>
              </a:lnSpc>
            </a:pPr>
            <a:r>
              <a:rPr lang="en-US" b="true" sz="2982" spc="29">
                <a:solidFill>
                  <a:srgbClr val="F5F5F5"/>
                </a:solidFill>
                <a:latin typeface="Neue Montreal Medium"/>
                <a:ea typeface="Neue Montreal Medium"/>
                <a:cs typeface="Neue Montreal Medium"/>
                <a:sym typeface="Neue Montreal Medium"/>
              </a:rPr>
              <a:t>Useful for classification and regression.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31F20"/>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546938" y="1394251"/>
            <a:ext cx="15250019" cy="1148723"/>
          </a:xfrm>
          <a:prstGeom prst="rect">
            <a:avLst/>
          </a:prstGeom>
        </p:spPr>
        <p:txBody>
          <a:bodyPr anchor="t" rtlCol="false" tIns="0" lIns="0" bIns="0" rIns="0">
            <a:spAutoFit/>
          </a:bodyPr>
          <a:lstStyle/>
          <a:p>
            <a:pPr algn="l">
              <a:lnSpc>
                <a:spcPts val="8715"/>
              </a:lnSpc>
            </a:pPr>
            <a:r>
              <a:rPr lang="en-US" sz="8300" b="true">
                <a:solidFill>
                  <a:srgbClr val="FFFFFF"/>
                </a:solidFill>
                <a:latin typeface="Neue Montreal Medium"/>
                <a:ea typeface="Neue Montreal Medium"/>
                <a:cs typeface="Neue Montreal Medium"/>
                <a:sym typeface="Neue Montreal Medium"/>
              </a:rPr>
              <a:t>Objectives</a:t>
            </a:r>
            <a:r>
              <a:rPr lang="en-US" sz="8300" b="true">
                <a:solidFill>
                  <a:srgbClr val="FFFFFF"/>
                </a:solidFill>
                <a:latin typeface="Neue Montreal Medium"/>
                <a:ea typeface="Neue Montreal Medium"/>
                <a:cs typeface="Neue Montreal Medium"/>
                <a:sym typeface="Neue Montreal Medium"/>
              </a:rPr>
              <a:t> of Artificial Intelligence</a:t>
            </a:r>
          </a:p>
        </p:txBody>
      </p:sp>
      <p:sp>
        <p:nvSpPr>
          <p:cNvPr name="TextBox 8" id="8"/>
          <p:cNvSpPr txBox="true"/>
          <p:nvPr/>
        </p:nvSpPr>
        <p:spPr>
          <a:xfrm rot="0">
            <a:off x="1391672" y="2704216"/>
            <a:ext cx="15627582" cy="6554084"/>
          </a:xfrm>
          <a:prstGeom prst="rect">
            <a:avLst/>
          </a:prstGeom>
        </p:spPr>
        <p:txBody>
          <a:bodyPr anchor="t" rtlCol="false" tIns="0" lIns="0" bIns="0" rIns="0">
            <a:spAutoFit/>
          </a:bodyPr>
          <a:lstStyle/>
          <a:p>
            <a:pPr algn="just">
              <a:lnSpc>
                <a:spcPts val="5838"/>
              </a:lnSpc>
            </a:pPr>
            <a:r>
              <a:rPr lang="en-US" b="true" sz="3495" spc="34">
                <a:solidFill>
                  <a:srgbClr val="FFFFFF"/>
                </a:solidFill>
                <a:latin typeface="Neue Montreal Bold"/>
                <a:ea typeface="Neue Montreal Bold"/>
                <a:cs typeface="Neue Montreal Bold"/>
                <a:sym typeface="Neue Montreal Bold"/>
              </a:rPr>
              <a:t>Reasoning </a:t>
            </a:r>
            <a:r>
              <a:rPr lang="en-US" sz="3495" spc="34">
                <a:solidFill>
                  <a:srgbClr val="FFFFFF"/>
                </a:solidFill>
                <a:latin typeface="Neue Montreal"/>
                <a:ea typeface="Neue Montreal"/>
                <a:cs typeface="Neue Montreal"/>
                <a:sym typeface="Neue Montreal"/>
              </a:rPr>
              <a:t>— drawing conclusions and predictions.</a:t>
            </a:r>
          </a:p>
          <a:p>
            <a:pPr algn="just">
              <a:lnSpc>
                <a:spcPts val="5838"/>
              </a:lnSpc>
            </a:pPr>
            <a:r>
              <a:rPr lang="en-US" b="true" sz="3495" spc="34">
                <a:solidFill>
                  <a:srgbClr val="FFFFFF"/>
                </a:solidFill>
                <a:latin typeface="Neue Montreal Bold"/>
                <a:ea typeface="Neue Montreal Bold"/>
                <a:cs typeface="Neue Montreal Bold"/>
                <a:sym typeface="Neue Montreal Bold"/>
              </a:rPr>
              <a:t>Problem Solving</a:t>
            </a:r>
            <a:r>
              <a:rPr lang="en-US" sz="3495" spc="34">
                <a:solidFill>
                  <a:srgbClr val="FFFFFF"/>
                </a:solidFill>
                <a:latin typeface="Neue Montreal"/>
                <a:ea typeface="Neue Montreal"/>
                <a:cs typeface="Neue Montreal"/>
                <a:sym typeface="Neue Montreal"/>
              </a:rPr>
              <a:t> — heuristics and goal formulation.</a:t>
            </a:r>
          </a:p>
          <a:p>
            <a:pPr algn="just">
              <a:lnSpc>
                <a:spcPts val="5838"/>
              </a:lnSpc>
            </a:pPr>
            <a:r>
              <a:rPr lang="en-US" b="true" sz="3495" spc="34">
                <a:solidFill>
                  <a:srgbClr val="FFFFFF"/>
                </a:solidFill>
                <a:latin typeface="Neue Montreal Bold"/>
                <a:ea typeface="Neue Montreal Bold"/>
                <a:cs typeface="Neue Montreal Bold"/>
                <a:sym typeface="Neue Montreal Bold"/>
              </a:rPr>
              <a:t>Natural Language Processing</a:t>
            </a:r>
            <a:r>
              <a:rPr lang="en-US" sz="3495" spc="34">
                <a:solidFill>
                  <a:srgbClr val="FFFFFF"/>
                </a:solidFill>
                <a:latin typeface="Neue Montreal"/>
                <a:ea typeface="Neue Montreal"/>
                <a:cs typeface="Neue Montreal"/>
                <a:sym typeface="Neue Montreal"/>
              </a:rPr>
              <a:t> — understanding speech and text.</a:t>
            </a:r>
          </a:p>
          <a:p>
            <a:pPr algn="just">
              <a:lnSpc>
                <a:spcPts val="5838"/>
              </a:lnSpc>
            </a:pPr>
            <a:r>
              <a:rPr lang="en-US" b="true" sz="3495" spc="34">
                <a:solidFill>
                  <a:srgbClr val="FFFFFF"/>
                </a:solidFill>
                <a:latin typeface="Neue Montreal Bold"/>
                <a:ea typeface="Neue Montreal Bold"/>
                <a:cs typeface="Neue Montreal Bold"/>
                <a:sym typeface="Neue Montreal Bold"/>
              </a:rPr>
              <a:t>Learning </a:t>
            </a:r>
            <a:r>
              <a:rPr lang="en-US" sz="3495" spc="34">
                <a:solidFill>
                  <a:srgbClr val="FFFFFF"/>
                </a:solidFill>
                <a:latin typeface="Neue Montreal"/>
                <a:ea typeface="Neue Montreal"/>
                <a:cs typeface="Neue Montreal"/>
                <a:sym typeface="Neue Montreal"/>
              </a:rPr>
              <a:t>— supervised, unsupervised, and other learning approaches.</a:t>
            </a:r>
          </a:p>
          <a:p>
            <a:pPr algn="just">
              <a:lnSpc>
                <a:spcPts val="5838"/>
              </a:lnSpc>
            </a:pPr>
            <a:r>
              <a:rPr lang="en-US" b="true" sz="3495" spc="34">
                <a:solidFill>
                  <a:srgbClr val="FFFFFF"/>
                </a:solidFill>
                <a:latin typeface="Neue Montreal Bold"/>
                <a:ea typeface="Neue Montreal Bold"/>
                <a:cs typeface="Neue Montreal Bold"/>
                <a:sym typeface="Neue Montreal Bold"/>
              </a:rPr>
              <a:t>Planning</a:t>
            </a:r>
            <a:r>
              <a:rPr lang="en-US" b="true" sz="3495" spc="34">
                <a:solidFill>
                  <a:srgbClr val="FFFFFF"/>
                </a:solidFill>
                <a:latin typeface="Neue Montreal Bold"/>
                <a:ea typeface="Neue Montreal Bold"/>
                <a:cs typeface="Neue Montreal Bold"/>
                <a:sym typeface="Neue Montreal Bold"/>
              </a:rPr>
              <a:t> </a:t>
            </a:r>
            <a:r>
              <a:rPr lang="en-US" sz="3495" spc="34">
                <a:solidFill>
                  <a:srgbClr val="FFFFFF"/>
                </a:solidFill>
                <a:latin typeface="Neue Montreal"/>
                <a:ea typeface="Neue Montreal"/>
                <a:cs typeface="Neue Montreal"/>
                <a:sym typeface="Neue Montreal"/>
              </a:rPr>
              <a:t>— forward and backward state-space planning.</a:t>
            </a:r>
          </a:p>
          <a:p>
            <a:pPr algn="just">
              <a:lnSpc>
                <a:spcPts val="5838"/>
              </a:lnSpc>
            </a:pPr>
            <a:r>
              <a:rPr lang="en-US" b="true" sz="3495" spc="34">
                <a:solidFill>
                  <a:srgbClr val="FFFFFF"/>
                </a:solidFill>
                <a:latin typeface="Neue Montreal Bold"/>
                <a:ea typeface="Neue Montreal Bold"/>
                <a:cs typeface="Neue Montreal Bold"/>
                <a:sym typeface="Neue Montreal Bold"/>
              </a:rPr>
              <a:t>Knowledge Representation</a:t>
            </a:r>
            <a:r>
              <a:rPr lang="en-US" sz="3495" spc="34">
                <a:solidFill>
                  <a:srgbClr val="FFFFFF"/>
                </a:solidFill>
                <a:latin typeface="Neue Montreal"/>
                <a:ea typeface="Neue Montreal"/>
                <a:cs typeface="Neue Montreal"/>
                <a:sym typeface="Neue Montreal"/>
              </a:rPr>
              <a:t> — logic, frames, semantic networks.</a:t>
            </a:r>
          </a:p>
          <a:p>
            <a:pPr algn="just">
              <a:lnSpc>
                <a:spcPts val="5838"/>
              </a:lnSpc>
            </a:pPr>
            <a:r>
              <a:rPr lang="en-US" b="true" sz="3495" spc="34">
                <a:solidFill>
                  <a:srgbClr val="FFFFFF"/>
                </a:solidFill>
                <a:latin typeface="Neue Montreal Bold"/>
                <a:ea typeface="Neue Montreal Bold"/>
                <a:cs typeface="Neue Montreal Bold"/>
                <a:sym typeface="Neue Montreal Bold"/>
              </a:rPr>
              <a:t>Motion &amp; Manipulation </a:t>
            </a:r>
            <a:r>
              <a:rPr lang="en-US" sz="3495" spc="34">
                <a:solidFill>
                  <a:srgbClr val="FFFFFF"/>
                </a:solidFill>
                <a:latin typeface="Neue Montreal"/>
                <a:ea typeface="Neue Montreal"/>
                <a:cs typeface="Neue Montreal"/>
                <a:sym typeface="Neue Montreal"/>
              </a:rPr>
              <a:t>— controlling robotic arms and physical actions.</a:t>
            </a:r>
          </a:p>
          <a:p>
            <a:pPr algn="just">
              <a:lnSpc>
                <a:spcPts val="5838"/>
              </a:lnSpc>
            </a:pPr>
            <a:r>
              <a:rPr lang="en-US" b="true" sz="3495" spc="34">
                <a:solidFill>
                  <a:srgbClr val="FFFFFF"/>
                </a:solidFill>
                <a:latin typeface="Neue Montreal Bold"/>
                <a:ea typeface="Neue Montreal Bold"/>
                <a:cs typeface="Neue Montreal Bold"/>
                <a:sym typeface="Neue Montreal Bold"/>
              </a:rPr>
              <a:t>Social &amp; Business Intelligence</a:t>
            </a:r>
            <a:r>
              <a:rPr lang="en-US" sz="3495" spc="34">
                <a:solidFill>
                  <a:srgbClr val="FFFFFF"/>
                </a:solidFill>
                <a:latin typeface="Neue Montreal"/>
                <a:ea typeface="Neue Montreal"/>
                <a:cs typeface="Neue Montreal"/>
                <a:sym typeface="Neue Montreal"/>
              </a:rPr>
              <a:t> — reading behavior and mining market data.</a:t>
            </a:r>
          </a:p>
          <a:p>
            <a:pPr algn="just">
              <a:lnSpc>
                <a:spcPts val="5838"/>
              </a:lnSpc>
            </a:pPr>
            <a:r>
              <a:rPr lang="en-US" b="true" sz="3495" spc="34">
                <a:solidFill>
                  <a:srgbClr val="FFFFFF"/>
                </a:solidFill>
                <a:latin typeface="Neue Montreal Bold"/>
                <a:ea typeface="Neue Montreal Bold"/>
                <a:cs typeface="Neue Montreal Bold"/>
                <a:sym typeface="Neue Montreal Bold"/>
              </a:rPr>
              <a:t>Machine Perception</a:t>
            </a:r>
            <a:r>
              <a:rPr lang="en-US" sz="3495" spc="34">
                <a:solidFill>
                  <a:srgbClr val="FFFFFF"/>
                </a:solidFill>
                <a:latin typeface="Neue Montreal"/>
                <a:ea typeface="Neue Montreal"/>
                <a:cs typeface="Neue Montreal"/>
                <a:sym typeface="Neue Montreal"/>
              </a:rPr>
              <a:t> — machine vision, hearing, touch, and olfaction.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655928" y="1237074"/>
            <a:ext cx="6730907" cy="1638300"/>
          </a:xfrm>
          <a:prstGeom prst="rect">
            <a:avLst/>
          </a:prstGeom>
        </p:spPr>
        <p:txBody>
          <a:bodyPr anchor="t" rtlCol="false" tIns="0" lIns="0" bIns="0" rIns="0">
            <a:spAutoFit/>
          </a:bodyPr>
          <a:lstStyle/>
          <a:p>
            <a:pPr algn="l">
              <a:lnSpc>
                <a:spcPts val="6300"/>
              </a:lnSpc>
            </a:pPr>
            <a:r>
              <a:rPr lang="en-US" sz="6000" b="true">
                <a:solidFill>
                  <a:srgbClr val="000000"/>
                </a:solidFill>
                <a:latin typeface="Neue Montreal Medium"/>
                <a:ea typeface="Neue Montreal Medium"/>
                <a:cs typeface="Neue Montreal Medium"/>
                <a:sym typeface="Neue Montreal Medium"/>
              </a:rPr>
              <a:t>Histo</a:t>
            </a:r>
            <a:r>
              <a:rPr lang="en-US" sz="6000" b="true">
                <a:solidFill>
                  <a:srgbClr val="000000"/>
                </a:solidFill>
                <a:latin typeface="Neue Montreal Medium"/>
                <a:ea typeface="Neue Montreal Medium"/>
                <a:cs typeface="Neue Montreal Medium"/>
                <a:sym typeface="Neue Montreal Medium"/>
              </a:rPr>
              <a:t>ry of Artificial Intelligence</a:t>
            </a:r>
          </a:p>
        </p:txBody>
      </p:sp>
      <p:sp>
        <p:nvSpPr>
          <p:cNvPr name="TextBox 8" id="8"/>
          <p:cNvSpPr txBox="true"/>
          <p:nvPr/>
        </p:nvSpPr>
        <p:spPr>
          <a:xfrm rot="0">
            <a:off x="1655928" y="3057724"/>
            <a:ext cx="6176541" cy="6556375"/>
          </a:xfrm>
          <a:prstGeom prst="rect">
            <a:avLst/>
          </a:prstGeom>
        </p:spPr>
        <p:txBody>
          <a:bodyPr anchor="t" rtlCol="false" tIns="0" lIns="0" bIns="0" rIns="0">
            <a:spAutoFit/>
          </a:bodyPr>
          <a:lstStyle/>
          <a:p>
            <a:pPr algn="just">
              <a:lnSpc>
                <a:spcPts val="3499"/>
              </a:lnSpc>
            </a:pPr>
            <a:r>
              <a:rPr lang="en-US" b="true" sz="2499" spc="24">
                <a:solidFill>
                  <a:srgbClr val="000000"/>
                </a:solidFill>
                <a:latin typeface="Neue Montreal Bold"/>
                <a:ea typeface="Neue Montreal Bold"/>
                <a:cs typeface="Neue Montreal Bold"/>
                <a:sym typeface="Neue Montreal Bold"/>
              </a:rPr>
              <a:t>1943 — </a:t>
            </a:r>
            <a:r>
              <a:rPr lang="en-US" b="true" sz="2499" spc="24">
                <a:solidFill>
                  <a:srgbClr val="000000"/>
                </a:solidFill>
                <a:latin typeface="Neue Montreal Bold"/>
                <a:ea typeface="Neue Montreal Bold"/>
                <a:cs typeface="Neue Montreal Bold"/>
                <a:sym typeface="Neue Montreal Bold"/>
              </a:rPr>
              <a:t>artificial neuron concept emerges.</a:t>
            </a:r>
          </a:p>
          <a:p>
            <a:pPr algn="just">
              <a:lnSpc>
                <a:spcPts val="3499"/>
              </a:lnSpc>
            </a:pPr>
            <a:r>
              <a:rPr lang="en-US" b="true" sz="2499" spc="24">
                <a:solidFill>
                  <a:srgbClr val="000000"/>
                </a:solidFill>
                <a:latin typeface="Neue Montreal Bold"/>
                <a:ea typeface="Neue Montreal Bold"/>
                <a:cs typeface="Neue Montreal Bold"/>
                <a:sym typeface="Neue Montreal Bold"/>
              </a:rPr>
              <a:t>1950 — Turing Machine developed.</a:t>
            </a:r>
          </a:p>
          <a:p>
            <a:pPr algn="just">
              <a:lnSpc>
                <a:spcPts val="3499"/>
              </a:lnSpc>
            </a:pPr>
            <a:r>
              <a:rPr lang="en-US" b="true" sz="2499" spc="24">
                <a:solidFill>
                  <a:srgbClr val="000000"/>
                </a:solidFill>
                <a:latin typeface="Neue Montreal Bold"/>
                <a:ea typeface="Neue Montreal Bold"/>
                <a:cs typeface="Neue Montreal Bold"/>
                <a:sym typeface="Neue Montreal Bold"/>
              </a:rPr>
              <a:t>1956 — Dartmouth Conference; AI becomes an established field.</a:t>
            </a:r>
          </a:p>
          <a:p>
            <a:pPr algn="just">
              <a:lnSpc>
                <a:spcPts val="3499"/>
              </a:lnSpc>
            </a:pPr>
            <a:r>
              <a:rPr lang="en-US" b="true" sz="2499" spc="24">
                <a:solidFill>
                  <a:srgbClr val="000000"/>
                </a:solidFill>
                <a:latin typeface="Neue Montreal Bold"/>
                <a:ea typeface="Neue Montreal Bold"/>
                <a:cs typeface="Neue Montreal Bold"/>
                <a:sym typeface="Neue Montreal Bold"/>
              </a:rPr>
              <a:t>1966 — ELIZA, an early chatbot.</a:t>
            </a:r>
          </a:p>
          <a:p>
            <a:pPr algn="just">
              <a:lnSpc>
                <a:spcPts val="3499"/>
              </a:lnSpc>
            </a:pPr>
            <a:r>
              <a:rPr lang="en-US" b="true" sz="2499" spc="24">
                <a:solidFill>
                  <a:srgbClr val="000000"/>
                </a:solidFill>
                <a:latin typeface="Neue Montreal Bold"/>
                <a:ea typeface="Neue Montreal Bold"/>
                <a:cs typeface="Neue Montreal Bold"/>
                <a:sym typeface="Neue Montreal Bold"/>
              </a:rPr>
              <a:t>1972 — WABOT-1, an early intelligent robot.</a:t>
            </a:r>
          </a:p>
          <a:p>
            <a:pPr algn="just">
              <a:lnSpc>
                <a:spcPts val="3499"/>
              </a:lnSpc>
            </a:pPr>
            <a:r>
              <a:rPr lang="en-US" b="true" sz="2499" spc="24">
                <a:solidFill>
                  <a:srgbClr val="000000"/>
                </a:solidFill>
                <a:latin typeface="Neue Montreal Bold"/>
                <a:ea typeface="Neue Montreal Bold"/>
                <a:cs typeface="Neue Montreal Bold"/>
                <a:sym typeface="Neue Montreal Bold"/>
              </a:rPr>
              <a:t>1980 — expert systems developed.</a:t>
            </a:r>
          </a:p>
          <a:p>
            <a:pPr algn="just">
              <a:lnSpc>
                <a:spcPts val="3499"/>
              </a:lnSpc>
            </a:pPr>
            <a:r>
              <a:rPr lang="en-US" b="true" sz="2499" spc="24">
                <a:solidFill>
                  <a:srgbClr val="000000"/>
                </a:solidFill>
                <a:latin typeface="Neue Montreal Bold"/>
                <a:ea typeface="Neue Montreal Bold"/>
                <a:cs typeface="Neue Montreal Bold"/>
                <a:sym typeface="Neue Montreal Bold"/>
              </a:rPr>
              <a:t>1997 — IBM Deep Blue defeats the world chess champion.</a:t>
            </a:r>
          </a:p>
          <a:p>
            <a:pPr algn="just">
              <a:lnSpc>
                <a:spcPts val="3499"/>
              </a:lnSpc>
            </a:pPr>
            <a:r>
              <a:rPr lang="en-US" b="true" sz="2499" spc="24">
                <a:solidFill>
                  <a:srgbClr val="000000"/>
                </a:solidFill>
                <a:latin typeface="Neue Montreal Bold"/>
                <a:ea typeface="Neue Montreal Bold"/>
                <a:cs typeface="Neue Montreal Bold"/>
                <a:sym typeface="Neue Montreal Bold"/>
              </a:rPr>
              <a:t>2011 — IBM Watson wins on Jeopardy!</a:t>
            </a:r>
          </a:p>
          <a:p>
            <a:pPr algn="just">
              <a:lnSpc>
                <a:spcPts val="3499"/>
              </a:lnSpc>
            </a:pPr>
            <a:r>
              <a:rPr lang="en-US" b="true" sz="2499" spc="24">
                <a:solidFill>
                  <a:srgbClr val="000000"/>
                </a:solidFill>
                <a:latin typeface="Neue Montreal Bold"/>
                <a:ea typeface="Neue Montreal Bold"/>
                <a:cs typeface="Neue Montreal Bold"/>
                <a:sym typeface="Neue Montreal Bold"/>
              </a:rPr>
              <a:t>2015 — Amazon Echo launches.</a:t>
            </a:r>
          </a:p>
          <a:p>
            <a:pPr algn="just">
              <a:lnSpc>
                <a:spcPts val="3499"/>
              </a:lnSpc>
            </a:pPr>
            <a:r>
              <a:rPr lang="en-US" b="true" sz="2499" spc="24">
                <a:solidFill>
                  <a:srgbClr val="000000"/>
                </a:solidFill>
                <a:latin typeface="Neue Montreal Bold"/>
                <a:ea typeface="Neue Montreal Bold"/>
                <a:cs typeface="Neue Montreal Bold"/>
                <a:sym typeface="Neue Montreal Bold"/>
              </a:rPr>
              <a:t>2020 — Embodied Moxie, a child companion robot.</a:t>
            </a:r>
          </a:p>
          <a:p>
            <a:pPr algn="just">
              <a:lnSpc>
                <a:spcPts val="3499"/>
              </a:lnSpc>
            </a:pPr>
          </a:p>
        </p:txBody>
      </p:sp>
      <p:sp>
        <p:nvSpPr>
          <p:cNvPr name="TextBox 9" id="9"/>
          <p:cNvSpPr txBox="true"/>
          <p:nvPr/>
        </p:nvSpPr>
        <p:spPr>
          <a:xfrm rot="0">
            <a:off x="9144000" y="1237074"/>
            <a:ext cx="6730907" cy="1638300"/>
          </a:xfrm>
          <a:prstGeom prst="rect">
            <a:avLst/>
          </a:prstGeom>
        </p:spPr>
        <p:txBody>
          <a:bodyPr anchor="t" rtlCol="false" tIns="0" lIns="0" bIns="0" rIns="0">
            <a:spAutoFit/>
          </a:bodyPr>
          <a:lstStyle/>
          <a:p>
            <a:pPr algn="l">
              <a:lnSpc>
                <a:spcPts val="6300"/>
              </a:lnSpc>
            </a:pPr>
            <a:r>
              <a:rPr lang="en-US" sz="6000" b="true">
                <a:solidFill>
                  <a:srgbClr val="000000"/>
                </a:solidFill>
                <a:latin typeface="Neue Montreal Medium"/>
                <a:ea typeface="Neue Montreal Medium"/>
                <a:cs typeface="Neue Montreal Medium"/>
                <a:sym typeface="Neue Montreal Medium"/>
              </a:rPr>
              <a:t>Main Areas</a:t>
            </a:r>
            <a:r>
              <a:rPr lang="en-US" sz="6000" b="true">
                <a:solidFill>
                  <a:srgbClr val="000000"/>
                </a:solidFill>
                <a:latin typeface="Neue Montreal Medium"/>
                <a:ea typeface="Neue Montreal Medium"/>
                <a:cs typeface="Neue Montreal Medium"/>
                <a:sym typeface="Neue Montreal Medium"/>
              </a:rPr>
              <a:t> of AI Application</a:t>
            </a:r>
          </a:p>
        </p:txBody>
      </p:sp>
      <p:sp>
        <p:nvSpPr>
          <p:cNvPr name="TextBox 10" id="10"/>
          <p:cNvSpPr txBox="true"/>
          <p:nvPr/>
        </p:nvSpPr>
        <p:spPr>
          <a:xfrm rot="0">
            <a:off x="9144000" y="3155950"/>
            <a:ext cx="6176541" cy="3927475"/>
          </a:xfrm>
          <a:prstGeom prst="rect">
            <a:avLst/>
          </a:prstGeom>
        </p:spPr>
        <p:txBody>
          <a:bodyPr anchor="t" rtlCol="false" tIns="0" lIns="0" bIns="0" rIns="0">
            <a:spAutoFit/>
          </a:bodyPr>
          <a:lstStyle/>
          <a:p>
            <a:pPr algn="just">
              <a:lnSpc>
                <a:spcPts val="3499"/>
              </a:lnSpc>
            </a:pPr>
            <a:r>
              <a:rPr lang="en-US" b="true" sz="2499" spc="24">
                <a:solidFill>
                  <a:srgbClr val="000000"/>
                </a:solidFill>
                <a:latin typeface="Neue Montreal Bold"/>
                <a:ea typeface="Neue Montreal Bold"/>
                <a:cs typeface="Neue Montreal Bold"/>
                <a:sym typeface="Neue Montreal Bold"/>
              </a:rPr>
              <a:t>N</a:t>
            </a:r>
            <a:r>
              <a:rPr lang="en-US" b="true" sz="2499" spc="24">
                <a:solidFill>
                  <a:srgbClr val="000000"/>
                </a:solidFill>
                <a:latin typeface="Neue Montreal Bold"/>
                <a:ea typeface="Neue Montreal Bold"/>
                <a:cs typeface="Neue Montreal Bold"/>
                <a:sym typeface="Neue Montreal Bold"/>
              </a:rPr>
              <a:t>atural Language Processing (NLP)</a:t>
            </a:r>
          </a:p>
          <a:p>
            <a:pPr algn="just">
              <a:lnSpc>
                <a:spcPts val="3499"/>
              </a:lnSpc>
            </a:pPr>
            <a:r>
              <a:rPr lang="en-US" b="true" sz="2499" spc="24">
                <a:solidFill>
                  <a:srgbClr val="000000"/>
                </a:solidFill>
                <a:latin typeface="Neue Montreal Bold"/>
                <a:ea typeface="Neue Montreal Bold"/>
                <a:cs typeface="Neue Montreal Bold"/>
                <a:sym typeface="Neue Montreal Bold"/>
              </a:rPr>
              <a:t>Computer Vision</a:t>
            </a:r>
          </a:p>
          <a:p>
            <a:pPr algn="just">
              <a:lnSpc>
                <a:spcPts val="3499"/>
              </a:lnSpc>
            </a:pPr>
            <a:r>
              <a:rPr lang="en-US" b="true" sz="2499" spc="24">
                <a:solidFill>
                  <a:srgbClr val="000000"/>
                </a:solidFill>
                <a:latin typeface="Neue Montreal Bold"/>
                <a:ea typeface="Neue Montreal Bold"/>
                <a:cs typeface="Neue Montreal Bold"/>
                <a:sym typeface="Neue Montreal Bold"/>
              </a:rPr>
              <a:t>Expert Systems</a:t>
            </a:r>
          </a:p>
          <a:p>
            <a:pPr algn="just">
              <a:lnSpc>
                <a:spcPts val="3499"/>
              </a:lnSpc>
            </a:pPr>
            <a:r>
              <a:rPr lang="en-US" b="true" sz="2499" spc="24">
                <a:solidFill>
                  <a:srgbClr val="000000"/>
                </a:solidFill>
                <a:latin typeface="Neue Montreal Bold"/>
                <a:ea typeface="Neue Montreal Bold"/>
                <a:cs typeface="Neue Montreal Bold"/>
                <a:sym typeface="Neue Montreal Bold"/>
              </a:rPr>
              <a:t>Speech Recognition</a:t>
            </a:r>
          </a:p>
          <a:p>
            <a:pPr algn="just">
              <a:lnSpc>
                <a:spcPts val="3499"/>
              </a:lnSpc>
            </a:pPr>
            <a:r>
              <a:rPr lang="en-US" b="true" sz="2499" spc="24">
                <a:solidFill>
                  <a:srgbClr val="000000"/>
                </a:solidFill>
                <a:latin typeface="Neue Montreal Bold"/>
                <a:ea typeface="Neue Montreal Bold"/>
                <a:cs typeface="Neue Montreal Bold"/>
                <a:sym typeface="Neue Montreal Bold"/>
              </a:rPr>
              <a:t>Robotics</a:t>
            </a:r>
          </a:p>
          <a:p>
            <a:pPr algn="just">
              <a:lnSpc>
                <a:spcPts val="3499"/>
              </a:lnSpc>
            </a:pPr>
            <a:r>
              <a:rPr lang="en-US" b="true" sz="2499" spc="24">
                <a:solidFill>
                  <a:srgbClr val="000000"/>
                </a:solidFill>
                <a:latin typeface="Neue Montreal Bold"/>
                <a:ea typeface="Neue Montreal Bold"/>
                <a:cs typeface="Neue Montreal Bold"/>
                <a:sym typeface="Neue Montreal Bold"/>
              </a:rPr>
              <a:t>Text Recognition / OCR</a:t>
            </a:r>
          </a:p>
          <a:p>
            <a:pPr algn="just">
              <a:lnSpc>
                <a:spcPts val="3499"/>
              </a:lnSpc>
            </a:pPr>
            <a:r>
              <a:rPr lang="en-US" b="true" sz="2499" spc="24">
                <a:solidFill>
                  <a:srgbClr val="000000"/>
                </a:solidFill>
                <a:latin typeface="Neue Montreal Bold"/>
                <a:ea typeface="Neue Montreal Bold"/>
                <a:cs typeface="Neue Montreal Bold"/>
                <a:sym typeface="Neue Montreal Bold"/>
              </a:rPr>
              <a:t>Voice Recognition</a:t>
            </a:r>
          </a:p>
          <a:p>
            <a:pPr algn="just">
              <a:lnSpc>
                <a:spcPts val="3499"/>
              </a:lnSpc>
            </a:pPr>
            <a:r>
              <a:rPr lang="en-US" b="true" sz="2499" spc="24">
                <a:solidFill>
                  <a:srgbClr val="000000"/>
                </a:solidFill>
                <a:latin typeface="Neue Montreal Bold"/>
                <a:ea typeface="Neue Montreal Bold"/>
                <a:cs typeface="Neue Montreal Bold"/>
                <a:sym typeface="Neue Montreal Bold"/>
              </a:rPr>
              <a:t>Chatbots</a:t>
            </a:r>
          </a:p>
          <a:p>
            <a:pPr algn="just">
              <a:lnSpc>
                <a:spcPts val="3499"/>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231F20"/>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28700" y="2060830"/>
            <a:ext cx="13684148" cy="970039"/>
          </a:xfrm>
          <a:prstGeom prst="rect">
            <a:avLst/>
          </a:prstGeom>
        </p:spPr>
        <p:txBody>
          <a:bodyPr anchor="t" rtlCol="false" tIns="0" lIns="0" bIns="0" rIns="0">
            <a:spAutoFit/>
          </a:bodyPr>
          <a:lstStyle/>
          <a:p>
            <a:pPr algn="l">
              <a:lnSpc>
                <a:spcPts val="7339"/>
              </a:lnSpc>
            </a:pPr>
            <a:r>
              <a:rPr lang="en-US" sz="6990" b="true">
                <a:solidFill>
                  <a:srgbClr val="FFFFFF"/>
                </a:solidFill>
                <a:latin typeface="Neue Montreal Medium"/>
                <a:ea typeface="Neue Montreal Medium"/>
                <a:cs typeface="Neue Montreal Medium"/>
                <a:sym typeface="Neue Montreal Medium"/>
              </a:rPr>
              <a:t>Natural Language Processing (NLP)</a:t>
            </a:r>
          </a:p>
        </p:txBody>
      </p:sp>
      <p:sp>
        <p:nvSpPr>
          <p:cNvPr name="TextBox 8" id="8"/>
          <p:cNvSpPr txBox="true"/>
          <p:nvPr/>
        </p:nvSpPr>
        <p:spPr>
          <a:xfrm rot="0">
            <a:off x="1762674" y="3370483"/>
            <a:ext cx="15408613" cy="2990167"/>
          </a:xfrm>
          <a:prstGeom prst="rect">
            <a:avLst/>
          </a:prstGeom>
        </p:spPr>
        <p:txBody>
          <a:bodyPr anchor="t" rtlCol="false" tIns="0" lIns="0" bIns="0" rIns="0">
            <a:spAutoFit/>
          </a:bodyPr>
          <a:lstStyle/>
          <a:p>
            <a:pPr algn="just">
              <a:lnSpc>
                <a:spcPts val="4762"/>
              </a:lnSpc>
            </a:pPr>
            <a:r>
              <a:rPr lang="en-US" b="true" sz="3401" spc="34">
                <a:solidFill>
                  <a:srgbClr val="FFFFFF"/>
                </a:solidFill>
                <a:latin typeface="Neue Montreal Bold"/>
                <a:ea typeface="Neue Montreal Bold"/>
                <a:cs typeface="Neue Montreal Bold"/>
                <a:sym typeface="Neue Montreal Bold"/>
              </a:rPr>
              <a:t>As an application area (distinct from the earlier discussion of NLP as an objective), Natural Language Processing develops the capability in intelligent machines to communicate with humans using natural language, in both speech and written text. NLP systems can also translate text between languages and transcribe speech into text and back again.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231F20"/>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974676" y="1428493"/>
            <a:ext cx="12658395" cy="919838"/>
          </a:xfrm>
          <a:prstGeom prst="rect">
            <a:avLst/>
          </a:prstGeom>
        </p:spPr>
        <p:txBody>
          <a:bodyPr anchor="t" rtlCol="false" tIns="0" lIns="0" bIns="0" rIns="0">
            <a:spAutoFit/>
          </a:bodyPr>
          <a:lstStyle/>
          <a:p>
            <a:pPr algn="l">
              <a:lnSpc>
                <a:spcPts val="6928"/>
              </a:lnSpc>
            </a:pPr>
            <a:r>
              <a:rPr lang="en-US" sz="6598" b="true">
                <a:solidFill>
                  <a:srgbClr val="FFFFFF"/>
                </a:solidFill>
                <a:latin typeface="Neue Montreal Medium"/>
                <a:ea typeface="Neue Montreal Medium"/>
                <a:cs typeface="Neue Montreal Medium"/>
                <a:sym typeface="Neue Montreal Medium"/>
              </a:rPr>
              <a:t>Natural Language Processing (NLP)</a:t>
            </a:r>
          </a:p>
        </p:txBody>
      </p:sp>
      <p:sp>
        <p:nvSpPr>
          <p:cNvPr name="TextBox 8" id="8"/>
          <p:cNvSpPr txBox="true"/>
          <p:nvPr/>
        </p:nvSpPr>
        <p:spPr>
          <a:xfrm rot="0">
            <a:off x="1311898" y="2529005"/>
            <a:ext cx="15221326" cy="6729295"/>
          </a:xfrm>
          <a:prstGeom prst="rect">
            <a:avLst/>
          </a:prstGeom>
        </p:spPr>
        <p:txBody>
          <a:bodyPr anchor="t" rtlCol="false" tIns="0" lIns="0" bIns="0" rIns="0">
            <a:spAutoFit/>
          </a:bodyPr>
          <a:lstStyle/>
          <a:p>
            <a:pPr algn="l">
              <a:lnSpc>
                <a:spcPts val="4468"/>
              </a:lnSpc>
            </a:pPr>
            <a:r>
              <a:rPr lang="en-US" sz="3192" spc="31" b="true">
                <a:solidFill>
                  <a:srgbClr val="FFFFFF"/>
                </a:solidFill>
                <a:latin typeface="Neue Montreal Bold"/>
                <a:ea typeface="Neue Montreal Bold"/>
                <a:cs typeface="Neue Montreal Bold"/>
                <a:sym typeface="Neue Montreal Bold"/>
              </a:rPr>
              <a:t>NLP consists of two major components:</a:t>
            </a:r>
          </a:p>
          <a:p>
            <a:pPr algn="l">
              <a:lnSpc>
                <a:spcPts val="4468"/>
              </a:lnSpc>
            </a:pPr>
            <a:r>
              <a:rPr lang="en-US" sz="3192" spc="31" b="true">
                <a:solidFill>
                  <a:srgbClr val="FFFFFF"/>
                </a:solidFill>
                <a:latin typeface="Neue Montreal Medium"/>
                <a:ea typeface="Neue Montreal Medium"/>
                <a:cs typeface="Neue Montreal Medium"/>
                <a:sym typeface="Neue Montreal Medium"/>
              </a:rPr>
              <a:t>•</a:t>
            </a:r>
            <a:r>
              <a:rPr lang="en-US" sz="3192" spc="31" b="true">
                <a:solidFill>
                  <a:srgbClr val="FFFFFF"/>
                </a:solidFill>
                <a:latin typeface="Neue Montreal Bold"/>
                <a:ea typeface="Neue Montreal Bold"/>
                <a:cs typeface="Neue Montreal Bold"/>
                <a:sym typeface="Neue Montreal Bold"/>
              </a:rPr>
              <a:t> Natural Language Understanding (NLU)</a:t>
            </a:r>
            <a:r>
              <a:rPr lang="en-US" sz="3192" spc="31" b="true">
                <a:solidFill>
                  <a:srgbClr val="FFFFFF"/>
                </a:solidFill>
                <a:latin typeface="Neue Montreal Medium"/>
                <a:ea typeface="Neue Montreal Medium"/>
                <a:cs typeface="Neue Montreal Medium"/>
                <a:sym typeface="Neue Montreal Medium"/>
              </a:rPr>
              <a:t> — the more complex of the two, responsible for interpreting meaning from human language despite ambiguity. NLU must resolve three major types of ambiguity: lexical ambiguity (a single word with multiple meanings), syntax ambiguity (a sentence structure that can be parsed more than one way), and referential ambiguity (unclear reference, such as an unclear pronoun).</a:t>
            </a:r>
          </a:p>
          <a:p>
            <a:pPr algn="l">
              <a:lnSpc>
                <a:spcPts val="4468"/>
              </a:lnSpc>
            </a:pPr>
          </a:p>
          <a:p>
            <a:pPr algn="l">
              <a:lnSpc>
                <a:spcPts val="4468"/>
              </a:lnSpc>
            </a:pPr>
            <a:r>
              <a:rPr lang="en-US" sz="3192" spc="31" b="true">
                <a:solidFill>
                  <a:srgbClr val="FFFFFF"/>
                </a:solidFill>
                <a:latin typeface="Neue Montreal Medium"/>
                <a:ea typeface="Neue Montreal Medium"/>
                <a:cs typeface="Neue Montreal Medium"/>
                <a:sym typeface="Neue Montreal Medium"/>
              </a:rPr>
              <a:t>• </a:t>
            </a:r>
            <a:r>
              <a:rPr lang="en-US" sz="3192" spc="31" b="true">
                <a:solidFill>
                  <a:srgbClr val="FFFFFF"/>
                </a:solidFill>
                <a:latin typeface="Neue Montreal Bold"/>
                <a:ea typeface="Neue Montreal Bold"/>
                <a:cs typeface="Neue Montreal Bold"/>
                <a:sym typeface="Neue Montreal Bold"/>
              </a:rPr>
              <a:t>Natural Language Generation (NLG)</a:t>
            </a:r>
            <a:r>
              <a:rPr lang="en-US" sz="3192" spc="31" b="true">
                <a:solidFill>
                  <a:srgbClr val="FFFFFF"/>
                </a:solidFill>
                <a:latin typeface="Neue Montreal Medium"/>
                <a:ea typeface="Neue Montreal Medium"/>
                <a:cs typeface="Neue Montreal Medium"/>
                <a:sym typeface="Neue Montreal Medium"/>
              </a:rPr>
              <a:t> — responsible for producing meaningful, well-formed sentences as output, through three functions: sentence planning (choosing the right words and grammar), text planning (deciding what content to include), and text realization (converting the planned content into actual, readable sentences).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6096376" y="9340399"/>
            <a:ext cx="873698" cy="273701"/>
          </a:xfrm>
          <a:prstGeom prst="rect">
            <a:avLst/>
          </a:prstGeom>
        </p:spPr>
        <p:txBody>
          <a:bodyPr anchor="t" rtlCol="false" tIns="0" lIns="0" bIns="0" rIns="0">
            <a:spAutoFit/>
          </a:bodyPr>
          <a:lstStyle/>
          <a:p>
            <a:pPr algn="r">
              <a:lnSpc>
                <a:spcPts val="2240"/>
              </a:lnSpc>
              <a:spcBef>
                <a:spcPct val="0"/>
              </a:spcBef>
            </a:pPr>
            <a:r>
              <a:rPr lang="en-US" b="true" sz="1600" spc="16">
                <a:solidFill>
                  <a:srgbClr val="FFFFFF"/>
                </a:solidFill>
                <a:latin typeface="Neue Montreal Bold"/>
                <a:ea typeface="Neue Montreal Bold"/>
                <a:cs typeface="Neue Montreal Bold"/>
                <a:sym typeface="Neue Montreal Bold"/>
              </a:rPr>
              <a:t>Page</a:t>
            </a:r>
          </a:p>
        </p:txBody>
      </p:sp>
      <p:sp>
        <p:nvSpPr>
          <p:cNvPr name="TextBox 8" id="8"/>
          <p:cNvSpPr txBox="true"/>
          <p:nvPr/>
        </p:nvSpPr>
        <p:spPr>
          <a:xfrm rot="0">
            <a:off x="16882414" y="9340399"/>
            <a:ext cx="450503" cy="273701"/>
          </a:xfrm>
          <a:prstGeom prst="rect">
            <a:avLst/>
          </a:prstGeom>
        </p:spPr>
        <p:txBody>
          <a:bodyPr anchor="t" rtlCol="false" tIns="0" lIns="0" bIns="0" rIns="0">
            <a:spAutoFit/>
          </a:bodyPr>
          <a:lstStyle/>
          <a:p>
            <a:pPr algn="r">
              <a:lnSpc>
                <a:spcPts val="2240"/>
              </a:lnSpc>
              <a:spcBef>
                <a:spcPct val="0"/>
              </a:spcBef>
            </a:pPr>
            <a:r>
              <a:rPr lang="en-US" sz="1600" spc="16">
                <a:solidFill>
                  <a:srgbClr val="FFFFFF"/>
                </a:solidFill>
                <a:latin typeface="Neue Montreal"/>
                <a:ea typeface="Neue Montreal"/>
                <a:cs typeface="Neue Montreal"/>
                <a:sym typeface="Neue Montreal"/>
              </a:rPr>
              <a:t>11</a:t>
            </a:r>
          </a:p>
        </p:txBody>
      </p:sp>
      <p:sp>
        <p:nvSpPr>
          <p:cNvPr name="TextBox 9" id="9"/>
          <p:cNvSpPr txBox="true"/>
          <p:nvPr/>
        </p:nvSpPr>
        <p:spPr>
          <a:xfrm rot="0">
            <a:off x="1028700" y="1335876"/>
            <a:ext cx="11036513" cy="1879159"/>
          </a:xfrm>
          <a:prstGeom prst="rect">
            <a:avLst/>
          </a:prstGeom>
        </p:spPr>
        <p:txBody>
          <a:bodyPr anchor="t" rtlCol="false" tIns="0" lIns="0" bIns="0" rIns="0">
            <a:spAutoFit/>
          </a:bodyPr>
          <a:lstStyle/>
          <a:p>
            <a:pPr algn="l">
              <a:lnSpc>
                <a:spcPts val="7255"/>
              </a:lnSpc>
            </a:pPr>
            <a:r>
              <a:rPr lang="en-US" sz="6909" b="true">
                <a:solidFill>
                  <a:srgbClr val="333333"/>
                </a:solidFill>
                <a:latin typeface="Neue Montreal Medium"/>
                <a:ea typeface="Neue Montreal Medium"/>
                <a:cs typeface="Neue Montreal Medium"/>
                <a:sym typeface="Neue Montreal Medium"/>
              </a:rPr>
              <a:t>Computer Vision, Speech</a:t>
            </a:r>
            <a:r>
              <a:rPr lang="en-US" b="true" sz="6909">
                <a:solidFill>
                  <a:srgbClr val="333333"/>
                </a:solidFill>
                <a:latin typeface="Neue Montreal Medium"/>
                <a:ea typeface="Neue Montreal Medium"/>
                <a:cs typeface="Neue Montreal Medium"/>
                <a:sym typeface="Neue Montreal Medium"/>
              </a:rPr>
              <a:t> &amp; Text Recognition</a:t>
            </a:r>
          </a:p>
        </p:txBody>
      </p:sp>
      <p:sp>
        <p:nvSpPr>
          <p:cNvPr name="TextBox 10" id="10"/>
          <p:cNvSpPr txBox="true"/>
          <p:nvPr/>
        </p:nvSpPr>
        <p:spPr>
          <a:xfrm rot="0">
            <a:off x="1499897" y="3432202"/>
            <a:ext cx="15288206" cy="6181898"/>
          </a:xfrm>
          <a:prstGeom prst="rect">
            <a:avLst/>
          </a:prstGeom>
        </p:spPr>
        <p:txBody>
          <a:bodyPr anchor="t" rtlCol="false" tIns="0" lIns="0" bIns="0" rIns="0">
            <a:spAutoFit/>
          </a:bodyPr>
          <a:lstStyle/>
          <a:p>
            <a:pPr algn="just">
              <a:lnSpc>
                <a:spcPts val="4922"/>
              </a:lnSpc>
            </a:pPr>
            <a:r>
              <a:rPr lang="en-US" b="true" sz="3515" spc="35">
                <a:solidFill>
                  <a:srgbClr val="333333"/>
                </a:solidFill>
                <a:latin typeface="Neue Montreal Bold"/>
                <a:ea typeface="Neue Montreal Bold"/>
                <a:cs typeface="Neue Montreal Bold"/>
                <a:sym typeface="Neue Montreal Bold"/>
              </a:rPr>
              <a:t>Co</a:t>
            </a:r>
            <a:r>
              <a:rPr lang="en-US" b="true" sz="3515" spc="35">
                <a:solidFill>
                  <a:srgbClr val="333333"/>
                </a:solidFill>
                <a:latin typeface="Neue Montreal Bold"/>
                <a:ea typeface="Neue Montreal Bold"/>
                <a:cs typeface="Neue Montreal Bold"/>
                <a:sym typeface="Neue Montreal Bold"/>
              </a:rPr>
              <a:t>mputer Vision</a:t>
            </a:r>
            <a:r>
              <a:rPr lang="en-US" sz="3515" spc="35">
                <a:solidFill>
                  <a:srgbClr val="333333"/>
                </a:solidFill>
                <a:latin typeface="Neue Montreal"/>
                <a:ea typeface="Neue Montreal"/>
                <a:cs typeface="Neue Montreal"/>
                <a:sym typeface="Neue Montreal"/>
              </a:rPr>
              <a:t> — processing and interpreting visual information.</a:t>
            </a:r>
          </a:p>
          <a:p>
            <a:pPr algn="just">
              <a:lnSpc>
                <a:spcPts val="4922"/>
              </a:lnSpc>
            </a:pPr>
            <a:r>
              <a:rPr lang="en-US" sz="3515" spc="35">
                <a:solidFill>
                  <a:srgbClr val="333333"/>
                </a:solidFill>
                <a:latin typeface="Neue Montreal"/>
                <a:ea typeface="Neue Montreal"/>
                <a:cs typeface="Neue Montreal"/>
                <a:sym typeface="Neue Montreal"/>
              </a:rPr>
              <a:t>Speech Recognition — converting spoken language into machine-readable information.</a:t>
            </a:r>
          </a:p>
          <a:p>
            <a:pPr algn="just">
              <a:lnSpc>
                <a:spcPts val="4922"/>
              </a:lnSpc>
            </a:pPr>
            <a:r>
              <a:rPr lang="en-US" b="true" sz="3515" spc="35">
                <a:solidFill>
                  <a:srgbClr val="333333"/>
                </a:solidFill>
                <a:latin typeface="Neue Montreal Bold"/>
                <a:ea typeface="Neue Montreal Bold"/>
                <a:cs typeface="Neue Montreal Bold"/>
                <a:sym typeface="Neue Montreal Bold"/>
              </a:rPr>
              <a:t>Voice Recognition</a:t>
            </a:r>
            <a:r>
              <a:rPr lang="en-US" sz="3515" spc="35">
                <a:solidFill>
                  <a:srgbClr val="333333"/>
                </a:solidFill>
                <a:latin typeface="Neue Montreal"/>
                <a:ea typeface="Neue Montreal"/>
                <a:cs typeface="Neue Montreal"/>
                <a:sym typeface="Neue Montreal"/>
              </a:rPr>
              <a:t> — processing vocal input for commands, assistants, authentication, and interaction.</a:t>
            </a:r>
          </a:p>
          <a:p>
            <a:pPr algn="just">
              <a:lnSpc>
                <a:spcPts val="4922"/>
              </a:lnSpc>
            </a:pPr>
            <a:r>
              <a:rPr lang="en-US" b="true" sz="3515" spc="35">
                <a:solidFill>
                  <a:srgbClr val="333333"/>
                </a:solidFill>
                <a:latin typeface="Neue Montreal Bold"/>
                <a:ea typeface="Neue Montreal Bold"/>
                <a:cs typeface="Neue Montreal Bold"/>
                <a:sym typeface="Neue Montreal Bold"/>
              </a:rPr>
              <a:t>Text Recognition / OCR</a:t>
            </a:r>
            <a:r>
              <a:rPr lang="en-US" sz="3515" spc="35">
                <a:solidFill>
                  <a:srgbClr val="333333"/>
                </a:solidFill>
                <a:latin typeface="Neue Montreal"/>
                <a:ea typeface="Neue Montreal"/>
                <a:cs typeface="Neue Montreal"/>
                <a:sym typeface="Neue Montreal"/>
              </a:rPr>
              <a:t> — converting written or scanned visual text into machine-readable text.</a:t>
            </a:r>
          </a:p>
          <a:p>
            <a:pPr algn="just">
              <a:lnSpc>
                <a:spcPts val="4922"/>
              </a:lnSpc>
            </a:pPr>
          </a:p>
          <a:p>
            <a:pPr algn="just">
              <a:lnSpc>
                <a:spcPts val="4922"/>
              </a:lnSpc>
            </a:pPr>
            <a:r>
              <a:rPr lang="en-US" b="true" sz="3515" spc="35">
                <a:solidFill>
                  <a:srgbClr val="333333"/>
                </a:solidFill>
                <a:latin typeface="Neue Montreal Bold"/>
                <a:ea typeface="Neue Montreal Bold"/>
                <a:cs typeface="Neue Montreal Bold"/>
                <a:sym typeface="Neue Montreal Bold"/>
              </a:rPr>
              <a:t>These areas commonly rely on machine learning and deep neural networks.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231F20"/>
        </a:solidFill>
      </p:bgPr>
    </p:bg>
    <p:spTree>
      <p:nvGrpSpPr>
        <p:cNvPr id="1" name=""/>
        <p:cNvGrpSpPr/>
        <p:nvPr/>
      </p:nvGrpSpPr>
      <p:grpSpPr>
        <a:xfrm>
          <a:off x="0" y="0"/>
          <a:ext cx="0" cy="0"/>
          <a:chOff x="0" y="0"/>
          <a:chExt cx="0" cy="0"/>
        </a:xfrm>
      </p:grpSpPr>
      <p:sp>
        <p:nvSpPr>
          <p:cNvPr name="Freeform 2" id="2"/>
          <p:cNvSpPr/>
          <p:nvPr/>
        </p:nvSpPr>
        <p:spPr>
          <a:xfrm flipH="false" flipV="false" rot="0">
            <a:off x="942844" y="564604"/>
            <a:ext cx="392180" cy="392180"/>
          </a:xfrm>
          <a:custGeom>
            <a:avLst/>
            <a:gdLst/>
            <a:ahLst/>
            <a:cxnLst/>
            <a:rect r="r" b="b" t="t" l="l"/>
            <a:pathLst>
              <a:path h="392180" w="392180">
                <a:moveTo>
                  <a:pt x="0" y="0"/>
                </a:moveTo>
                <a:lnTo>
                  <a:pt x="392181" y="0"/>
                </a:lnTo>
                <a:lnTo>
                  <a:pt x="392181"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138935" y="1487676"/>
            <a:ext cx="12729292" cy="1167558"/>
          </a:xfrm>
          <a:prstGeom prst="rect">
            <a:avLst/>
          </a:prstGeom>
        </p:spPr>
        <p:txBody>
          <a:bodyPr anchor="t" rtlCol="false" tIns="0" lIns="0" bIns="0" rIns="0">
            <a:spAutoFit/>
          </a:bodyPr>
          <a:lstStyle/>
          <a:p>
            <a:pPr algn="l">
              <a:lnSpc>
                <a:spcPts val="8831"/>
              </a:lnSpc>
            </a:pPr>
            <a:r>
              <a:rPr lang="en-US" sz="8411" b="true">
                <a:solidFill>
                  <a:srgbClr val="F5F5F5"/>
                </a:solidFill>
                <a:latin typeface="Neue Montreal Medium"/>
                <a:ea typeface="Neue Montreal Medium"/>
                <a:cs typeface="Neue Montreal Medium"/>
                <a:sym typeface="Neue Montreal Medium"/>
              </a:rPr>
              <a:t>Types of</a:t>
            </a:r>
            <a:r>
              <a:rPr lang="en-US" sz="8411" b="true">
                <a:solidFill>
                  <a:srgbClr val="F5F5F5"/>
                </a:solidFill>
                <a:latin typeface="Neue Montreal Medium"/>
                <a:ea typeface="Neue Montreal Medium"/>
                <a:cs typeface="Neue Montreal Medium"/>
                <a:sym typeface="Neue Montreal Medium"/>
              </a:rPr>
              <a:t> AI — By Capability</a:t>
            </a:r>
          </a:p>
        </p:txBody>
      </p:sp>
      <p:grpSp>
        <p:nvGrpSpPr>
          <p:cNvPr name="Group 4" id="4"/>
          <p:cNvGrpSpPr/>
          <p:nvPr/>
        </p:nvGrpSpPr>
        <p:grpSpPr>
          <a:xfrm rot="0">
            <a:off x="16698626" y="472575"/>
            <a:ext cx="641254" cy="484209"/>
            <a:chOff x="0" y="0"/>
            <a:chExt cx="168890" cy="127528"/>
          </a:xfrm>
        </p:grpSpPr>
        <p:sp>
          <p:nvSpPr>
            <p:cNvPr name="Freeform 5" id="5"/>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6" id="6"/>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7" id="7"/>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2250022" y="3170268"/>
            <a:ext cx="13787956" cy="5748995"/>
          </a:xfrm>
          <a:prstGeom prst="rect">
            <a:avLst/>
          </a:prstGeom>
        </p:spPr>
        <p:txBody>
          <a:bodyPr anchor="t" rtlCol="false" tIns="0" lIns="0" bIns="0" rIns="0">
            <a:spAutoFit/>
          </a:bodyPr>
          <a:lstStyle/>
          <a:p>
            <a:pPr algn="just">
              <a:lnSpc>
                <a:spcPts val="5056"/>
              </a:lnSpc>
            </a:pPr>
            <a:r>
              <a:rPr lang="en-US" b="true" sz="3611" spc="36">
                <a:solidFill>
                  <a:srgbClr val="FFFFFF"/>
                </a:solidFill>
                <a:latin typeface="Neue Montreal Bold"/>
                <a:ea typeface="Neue Montreal Bold"/>
                <a:cs typeface="Neue Montreal Bold"/>
                <a:sym typeface="Neue Montreal Bold"/>
              </a:rPr>
              <a:t>Reactive Machines </a:t>
            </a:r>
            <a:r>
              <a:rPr lang="en-US" sz="3611" spc="36">
                <a:solidFill>
                  <a:srgbClr val="FFFFFF"/>
                </a:solidFill>
                <a:latin typeface="Neue Montreal"/>
                <a:ea typeface="Neue Montreal"/>
                <a:cs typeface="Neue Montreal"/>
                <a:sym typeface="Neue Montreal"/>
              </a:rPr>
              <a:t>— respond to stimuli with pre-programmed reactions and have no memory of the past; source example: IBM Deep Blue.</a:t>
            </a:r>
          </a:p>
          <a:p>
            <a:pPr algn="just">
              <a:lnSpc>
                <a:spcPts val="5056"/>
              </a:lnSpc>
            </a:pPr>
            <a:r>
              <a:rPr lang="en-US" b="true" sz="3611" spc="36">
                <a:solidFill>
                  <a:srgbClr val="FFFFFF"/>
                </a:solidFill>
                <a:latin typeface="Neue Montreal Bold"/>
                <a:ea typeface="Neue Montreal Bold"/>
                <a:cs typeface="Neue Montreal Bold"/>
                <a:sym typeface="Neue Montreal Bold"/>
              </a:rPr>
              <a:t>Limited Memory </a:t>
            </a:r>
            <a:r>
              <a:rPr lang="en-US" sz="3611" spc="36">
                <a:solidFill>
                  <a:srgbClr val="FFFFFF"/>
                </a:solidFill>
                <a:latin typeface="Neue Montreal"/>
                <a:ea typeface="Neue Montreal"/>
                <a:cs typeface="Neue Montreal"/>
                <a:sym typeface="Neue Montreal"/>
              </a:rPr>
              <a:t>— can learn from past experience through training datasets; source examples include driverless cars and chatbots.</a:t>
            </a:r>
          </a:p>
          <a:p>
            <a:pPr algn="just">
              <a:lnSpc>
                <a:spcPts val="5056"/>
              </a:lnSpc>
            </a:pPr>
            <a:r>
              <a:rPr lang="en-US" b="true" sz="3611" spc="36">
                <a:solidFill>
                  <a:srgbClr val="FFFFFF"/>
                </a:solidFill>
                <a:latin typeface="Neue Montreal Bold"/>
                <a:ea typeface="Neue Montreal Bold"/>
                <a:cs typeface="Neue Montreal Bold"/>
                <a:sym typeface="Neue Montreal Bold"/>
              </a:rPr>
              <a:t>Theory of Mind </a:t>
            </a:r>
            <a:r>
              <a:rPr lang="en-US" sz="3611" spc="36">
                <a:solidFill>
                  <a:srgbClr val="FFFFFF"/>
                </a:solidFill>
                <a:latin typeface="Neue Montreal"/>
                <a:ea typeface="Neue Montreal"/>
                <a:cs typeface="Neue Montreal"/>
                <a:sym typeface="Neue Montreal"/>
              </a:rPr>
              <a:t>— research-stage concept in which machines would understand emotions, beliefs, and intentions.</a:t>
            </a:r>
          </a:p>
          <a:p>
            <a:pPr algn="just">
              <a:lnSpc>
                <a:spcPts val="5056"/>
              </a:lnSpc>
            </a:pPr>
            <a:r>
              <a:rPr lang="en-US" b="true" sz="3611" spc="36">
                <a:solidFill>
                  <a:srgbClr val="FFFFFF"/>
                </a:solidFill>
                <a:latin typeface="Neue Montreal Bold"/>
                <a:ea typeface="Neue Montreal Bold"/>
                <a:cs typeface="Neue Montreal Bold"/>
                <a:sym typeface="Neue Montreal Bold"/>
              </a:rPr>
              <a:t>Self-Awareness</a:t>
            </a:r>
            <a:r>
              <a:rPr lang="en-US" sz="3611" spc="36">
                <a:solidFill>
                  <a:srgbClr val="FFFFFF"/>
                </a:solidFill>
                <a:latin typeface="Neue Montreal"/>
                <a:ea typeface="Neue Montreal"/>
                <a:cs typeface="Neue Montreal"/>
                <a:sym typeface="Neue Montreal"/>
              </a:rPr>
              <a:t> — conceptual/futuristic machines with awareness of their own internal state.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231F20"/>
        </a:solidFill>
      </p:bgPr>
    </p:bg>
    <p:spTree>
      <p:nvGrpSpPr>
        <p:cNvPr id="1" name=""/>
        <p:cNvGrpSpPr/>
        <p:nvPr/>
      </p:nvGrpSpPr>
      <p:grpSpPr>
        <a:xfrm>
          <a:off x="0" y="0"/>
          <a:ext cx="0" cy="0"/>
          <a:chOff x="0" y="0"/>
          <a:chExt cx="0" cy="0"/>
        </a:xfrm>
      </p:grpSpPr>
      <p:sp>
        <p:nvSpPr>
          <p:cNvPr name="Freeform 2" id="2"/>
          <p:cNvSpPr/>
          <p:nvPr/>
        </p:nvSpPr>
        <p:spPr>
          <a:xfrm flipH="false" flipV="false" rot="0">
            <a:off x="942844" y="564604"/>
            <a:ext cx="392180" cy="392180"/>
          </a:xfrm>
          <a:custGeom>
            <a:avLst/>
            <a:gdLst/>
            <a:ahLst/>
            <a:cxnLst/>
            <a:rect r="r" b="b" t="t" l="l"/>
            <a:pathLst>
              <a:path h="392180" w="392180">
                <a:moveTo>
                  <a:pt x="0" y="0"/>
                </a:moveTo>
                <a:lnTo>
                  <a:pt x="392181" y="0"/>
                </a:lnTo>
                <a:lnTo>
                  <a:pt x="392181"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1665696"/>
            <a:ext cx="12957295" cy="1180993"/>
          </a:xfrm>
          <a:prstGeom prst="rect">
            <a:avLst/>
          </a:prstGeom>
        </p:spPr>
        <p:txBody>
          <a:bodyPr anchor="t" rtlCol="false" tIns="0" lIns="0" bIns="0" rIns="0">
            <a:spAutoFit/>
          </a:bodyPr>
          <a:lstStyle/>
          <a:p>
            <a:pPr algn="l">
              <a:lnSpc>
                <a:spcPts val="8989"/>
              </a:lnSpc>
            </a:pPr>
            <a:r>
              <a:rPr lang="en-US" sz="8561" b="true">
                <a:solidFill>
                  <a:srgbClr val="F5F5F5"/>
                </a:solidFill>
                <a:latin typeface="Neue Montreal Medium"/>
                <a:ea typeface="Neue Montreal Medium"/>
                <a:cs typeface="Neue Montreal Medium"/>
                <a:sym typeface="Neue Montreal Medium"/>
              </a:rPr>
              <a:t>Types of</a:t>
            </a:r>
            <a:r>
              <a:rPr lang="en-US" sz="8561" b="true">
                <a:solidFill>
                  <a:srgbClr val="F5F5F5"/>
                </a:solidFill>
                <a:latin typeface="Neue Montreal Medium"/>
                <a:ea typeface="Neue Montreal Medium"/>
                <a:cs typeface="Neue Montreal Medium"/>
                <a:sym typeface="Neue Montreal Medium"/>
              </a:rPr>
              <a:t> AI — By Scope</a:t>
            </a:r>
          </a:p>
        </p:txBody>
      </p:sp>
      <p:grpSp>
        <p:nvGrpSpPr>
          <p:cNvPr name="Group 4" id="4"/>
          <p:cNvGrpSpPr/>
          <p:nvPr/>
        </p:nvGrpSpPr>
        <p:grpSpPr>
          <a:xfrm rot="0">
            <a:off x="16698626" y="472575"/>
            <a:ext cx="641254" cy="484209"/>
            <a:chOff x="0" y="0"/>
            <a:chExt cx="168890" cy="127528"/>
          </a:xfrm>
        </p:grpSpPr>
        <p:sp>
          <p:nvSpPr>
            <p:cNvPr name="Freeform 5" id="5"/>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6" id="6"/>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7" id="7"/>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1600812" y="3071029"/>
            <a:ext cx="13787956" cy="6425270"/>
          </a:xfrm>
          <a:prstGeom prst="rect">
            <a:avLst/>
          </a:prstGeom>
        </p:spPr>
        <p:txBody>
          <a:bodyPr anchor="t" rtlCol="false" tIns="0" lIns="0" bIns="0" rIns="0">
            <a:spAutoFit/>
          </a:bodyPr>
          <a:lstStyle/>
          <a:p>
            <a:pPr algn="just">
              <a:lnSpc>
                <a:spcPts val="5056"/>
              </a:lnSpc>
            </a:pPr>
            <a:r>
              <a:rPr lang="en-US" b="true" sz="3611" spc="36">
                <a:solidFill>
                  <a:srgbClr val="FFFFFF"/>
                </a:solidFill>
                <a:latin typeface="Neue Montreal Bold"/>
                <a:ea typeface="Neue Montreal Bold"/>
                <a:cs typeface="Neue Montreal Bold"/>
                <a:sym typeface="Neue Montreal Bold"/>
              </a:rPr>
              <a:t>Artificial Narrow Intelligence (ANI) </a:t>
            </a:r>
            <a:r>
              <a:rPr lang="en-US" b="true" sz="3611" spc="36">
                <a:solidFill>
                  <a:srgbClr val="FFFFFF"/>
                </a:solidFill>
                <a:latin typeface="Neue Montreal Medium"/>
                <a:ea typeface="Neue Montreal Medium"/>
                <a:cs typeface="Neue Montreal Medium"/>
                <a:sym typeface="Neue Montreal Medium"/>
              </a:rPr>
              <a:t>— AI designed for specific functions; the source places existing AI in this category.</a:t>
            </a:r>
          </a:p>
          <a:p>
            <a:pPr algn="just">
              <a:lnSpc>
                <a:spcPts val="5056"/>
              </a:lnSpc>
            </a:pPr>
            <a:r>
              <a:rPr lang="en-US" b="true" sz="3611" spc="36">
                <a:solidFill>
                  <a:srgbClr val="FFFFFF"/>
                </a:solidFill>
                <a:latin typeface="Neue Montreal Medium"/>
                <a:ea typeface="Neue Montreal Medium"/>
                <a:cs typeface="Neue Montreal Medium"/>
                <a:sym typeface="Neue Montreal Medium"/>
              </a:rPr>
              <a:t>Artificial General Intelligence (AGI) — hypothetical systems able to perceive, learn, understand, and function across domains like a human.</a:t>
            </a:r>
          </a:p>
          <a:p>
            <a:pPr algn="just">
              <a:lnSpc>
                <a:spcPts val="5056"/>
              </a:lnSpc>
            </a:pPr>
          </a:p>
          <a:p>
            <a:pPr algn="just">
              <a:lnSpc>
                <a:spcPts val="5056"/>
              </a:lnSpc>
            </a:pPr>
            <a:r>
              <a:rPr lang="en-US" b="true" sz="3611" spc="36">
                <a:solidFill>
                  <a:srgbClr val="FFFFFF"/>
                </a:solidFill>
                <a:latin typeface="Neue Montreal Bold"/>
                <a:ea typeface="Neue Montreal Bold"/>
                <a:cs typeface="Neue Montreal Bold"/>
                <a:sym typeface="Neue Montreal Bold"/>
              </a:rPr>
              <a:t>A</a:t>
            </a:r>
            <a:r>
              <a:rPr lang="en-US" b="true" sz="3611" spc="36">
                <a:solidFill>
                  <a:srgbClr val="FFFFFF"/>
                </a:solidFill>
                <a:latin typeface="Neue Montreal Bold"/>
                <a:ea typeface="Neue Montreal Bold"/>
                <a:cs typeface="Neue Montreal Bold"/>
                <a:sym typeface="Neue Montreal Bold"/>
              </a:rPr>
              <a:t>rtificial Super Intelligence (ASI) </a:t>
            </a:r>
            <a:r>
              <a:rPr lang="en-US" b="true" sz="3611" spc="36">
                <a:solidFill>
                  <a:srgbClr val="FFFFFF"/>
                </a:solidFill>
                <a:latin typeface="Neue Montreal Medium"/>
                <a:ea typeface="Neue Montreal Medium"/>
                <a:cs typeface="Neue Montreal Medium"/>
                <a:sym typeface="Neue Montreal Medium"/>
              </a:rPr>
              <a:t>— conceptual state where machines surpass human capability across every domain.</a:t>
            </a:r>
          </a:p>
          <a:p>
            <a:pPr algn="just">
              <a:lnSpc>
                <a:spcPts val="5056"/>
              </a:lnSpc>
            </a:pPr>
            <a:r>
              <a:rPr lang="en-US" b="true" sz="3611" spc="36">
                <a:solidFill>
                  <a:srgbClr val="FFFFFF"/>
                </a:solidFill>
                <a:latin typeface="Neue Montreal Medium"/>
                <a:ea typeface="Neue Montreal Medium"/>
                <a:cs typeface="Neue Montreal Medium"/>
                <a:sym typeface="Neue Montreal Medium"/>
              </a:rPr>
              <a:t>AGI and ASI are presented as future/conceptual rather than achieved technologies.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231F20"/>
        </a:solidFill>
      </p:bgPr>
    </p:bg>
    <p:spTree>
      <p:nvGrpSpPr>
        <p:cNvPr id="1" name=""/>
        <p:cNvGrpSpPr/>
        <p:nvPr/>
      </p:nvGrpSpPr>
      <p:grpSpPr>
        <a:xfrm>
          <a:off x="0" y="0"/>
          <a:ext cx="0" cy="0"/>
          <a:chOff x="0" y="0"/>
          <a:chExt cx="0" cy="0"/>
        </a:xfrm>
      </p:grpSpPr>
      <p:sp>
        <p:nvSpPr>
          <p:cNvPr name="Freeform 2" id="2"/>
          <p:cNvSpPr/>
          <p:nvPr/>
        </p:nvSpPr>
        <p:spPr>
          <a:xfrm flipH="false" flipV="false" rot="0">
            <a:off x="942844" y="564604"/>
            <a:ext cx="392180" cy="392180"/>
          </a:xfrm>
          <a:custGeom>
            <a:avLst/>
            <a:gdLst/>
            <a:ahLst/>
            <a:cxnLst/>
            <a:rect r="r" b="b" t="t" l="l"/>
            <a:pathLst>
              <a:path h="392180" w="392180">
                <a:moveTo>
                  <a:pt x="0" y="0"/>
                </a:moveTo>
                <a:lnTo>
                  <a:pt x="392181" y="0"/>
                </a:lnTo>
                <a:lnTo>
                  <a:pt x="392181"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1646646"/>
            <a:ext cx="13771978" cy="1149509"/>
          </a:xfrm>
          <a:prstGeom prst="rect">
            <a:avLst/>
          </a:prstGeom>
        </p:spPr>
        <p:txBody>
          <a:bodyPr anchor="t" rtlCol="false" tIns="0" lIns="0" bIns="0" rIns="0">
            <a:spAutoFit/>
          </a:bodyPr>
          <a:lstStyle/>
          <a:p>
            <a:pPr algn="l">
              <a:lnSpc>
                <a:spcPts val="8641"/>
              </a:lnSpc>
            </a:pPr>
            <a:r>
              <a:rPr lang="en-US" sz="8230" b="true">
                <a:solidFill>
                  <a:srgbClr val="F5F5F5"/>
                </a:solidFill>
                <a:latin typeface="Neue Montreal Medium"/>
                <a:ea typeface="Neue Montreal Medium"/>
                <a:cs typeface="Neue Montreal Medium"/>
                <a:sym typeface="Neue Montreal Medium"/>
              </a:rPr>
              <a:t>Intelligent Ag</a:t>
            </a:r>
            <a:r>
              <a:rPr lang="en-US" sz="8230" b="true">
                <a:solidFill>
                  <a:srgbClr val="F5F5F5"/>
                </a:solidFill>
                <a:latin typeface="Neue Montreal Medium"/>
                <a:ea typeface="Neue Montreal Medium"/>
                <a:cs typeface="Neue Montreal Medium"/>
                <a:sym typeface="Neue Montreal Medium"/>
              </a:rPr>
              <a:t>ent &amp; Environment</a:t>
            </a:r>
          </a:p>
        </p:txBody>
      </p:sp>
      <p:grpSp>
        <p:nvGrpSpPr>
          <p:cNvPr name="Group 4" id="4"/>
          <p:cNvGrpSpPr/>
          <p:nvPr/>
        </p:nvGrpSpPr>
        <p:grpSpPr>
          <a:xfrm rot="0">
            <a:off x="16698626" y="472575"/>
            <a:ext cx="641254" cy="484209"/>
            <a:chOff x="0" y="0"/>
            <a:chExt cx="168890" cy="127528"/>
          </a:xfrm>
        </p:grpSpPr>
        <p:sp>
          <p:nvSpPr>
            <p:cNvPr name="Freeform 5" id="5"/>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6" id="6"/>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7" id="7"/>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1440679" y="2960677"/>
            <a:ext cx="15529395" cy="6417822"/>
          </a:xfrm>
          <a:prstGeom prst="rect">
            <a:avLst/>
          </a:prstGeom>
        </p:spPr>
        <p:txBody>
          <a:bodyPr anchor="t" rtlCol="false" tIns="0" lIns="0" bIns="0" rIns="0">
            <a:spAutoFit/>
          </a:bodyPr>
          <a:lstStyle/>
          <a:p>
            <a:pPr algn="just">
              <a:lnSpc>
                <a:spcPts val="5676"/>
              </a:lnSpc>
            </a:pPr>
            <a:r>
              <a:rPr lang="en-US" b="true" sz="4054" spc="40">
                <a:solidFill>
                  <a:srgbClr val="FFFFFF"/>
                </a:solidFill>
                <a:latin typeface="Neue Montreal Medium"/>
                <a:ea typeface="Neue Montreal Medium"/>
                <a:cs typeface="Neue Montreal Medium"/>
                <a:sym typeface="Neue Montreal Medium"/>
              </a:rPr>
              <a:t>An intelligent agent perceives its environment and takes actions.</a:t>
            </a:r>
          </a:p>
          <a:p>
            <a:pPr algn="just">
              <a:lnSpc>
                <a:spcPts val="5676"/>
              </a:lnSpc>
            </a:pPr>
          </a:p>
          <a:p>
            <a:pPr algn="just">
              <a:lnSpc>
                <a:spcPts val="5676"/>
              </a:lnSpc>
            </a:pPr>
            <a:r>
              <a:rPr lang="en-US" b="true" sz="4054" spc="40">
                <a:solidFill>
                  <a:srgbClr val="FFFFFF"/>
                </a:solidFill>
                <a:latin typeface="Neue Montreal Bold"/>
                <a:ea typeface="Neue Montreal Bold"/>
                <a:cs typeface="Neue Montreal Bold"/>
                <a:sym typeface="Neue Montreal Bold"/>
              </a:rPr>
              <a:t>Environment → Sensors (perception) → Intelligent Agent → Actuators (action) → Environment.</a:t>
            </a:r>
          </a:p>
          <a:p>
            <a:pPr algn="just">
              <a:lnSpc>
                <a:spcPts val="5676"/>
              </a:lnSpc>
            </a:pPr>
          </a:p>
          <a:p>
            <a:pPr algn="just">
              <a:lnSpc>
                <a:spcPts val="5676"/>
              </a:lnSpc>
            </a:pPr>
            <a:r>
              <a:rPr lang="en-US" b="true" sz="4054" spc="40">
                <a:solidFill>
                  <a:srgbClr val="FFFFFF"/>
                </a:solidFill>
                <a:latin typeface="Neue Montreal Medium"/>
                <a:ea typeface="Neue Montreal Medium"/>
                <a:cs typeface="Neue Montreal Medium"/>
                <a:sym typeface="Neue Montreal Medium"/>
              </a:rPr>
              <a:t>The source identifies five agent types: Simple Reflex, Model-Based Reflex, Goal-Based, Utility-Based, and Learning Agent.</a:t>
            </a:r>
          </a:p>
          <a:p>
            <a:pPr algn="just">
              <a:lnSpc>
                <a:spcPts val="5676"/>
              </a:lnSpc>
            </a:pPr>
            <a:r>
              <a:rPr lang="en-US" b="true" sz="4054" spc="40">
                <a:solidFill>
                  <a:srgbClr val="FFFFFF"/>
                </a:solidFill>
                <a:latin typeface="Neue Montreal Medium"/>
                <a:ea typeface="Neue Montreal Medium"/>
                <a:cs typeface="Neue Montreal Medium"/>
                <a:sym typeface="Neue Montreal Medium"/>
              </a:rPr>
              <a:t>Learning agents are particularly relevant to machine learning because they improve behavior through experience.</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231F20"/>
        </a:solidFill>
      </p:bgPr>
    </p:bg>
    <p:spTree>
      <p:nvGrpSpPr>
        <p:cNvPr id="1" name=""/>
        <p:cNvGrpSpPr/>
        <p:nvPr/>
      </p:nvGrpSpPr>
      <p:grpSpPr>
        <a:xfrm>
          <a:off x="0" y="0"/>
          <a:ext cx="0" cy="0"/>
          <a:chOff x="0" y="0"/>
          <a:chExt cx="0" cy="0"/>
        </a:xfrm>
      </p:grpSpPr>
      <p:sp>
        <p:nvSpPr>
          <p:cNvPr name="Freeform 2" id="2"/>
          <p:cNvSpPr/>
          <p:nvPr/>
        </p:nvSpPr>
        <p:spPr>
          <a:xfrm flipH="false" flipV="false" rot="0">
            <a:off x="942844" y="564604"/>
            <a:ext cx="392180" cy="392180"/>
          </a:xfrm>
          <a:custGeom>
            <a:avLst/>
            <a:gdLst/>
            <a:ahLst/>
            <a:cxnLst/>
            <a:rect r="r" b="b" t="t" l="l"/>
            <a:pathLst>
              <a:path h="392180" w="392180">
                <a:moveTo>
                  <a:pt x="0" y="0"/>
                </a:moveTo>
                <a:lnTo>
                  <a:pt x="392181" y="0"/>
                </a:lnTo>
                <a:lnTo>
                  <a:pt x="392181"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35546" y="1740582"/>
            <a:ext cx="14531541" cy="1167160"/>
          </a:xfrm>
          <a:prstGeom prst="rect">
            <a:avLst/>
          </a:prstGeom>
        </p:spPr>
        <p:txBody>
          <a:bodyPr anchor="t" rtlCol="false" tIns="0" lIns="0" bIns="0" rIns="0">
            <a:spAutoFit/>
          </a:bodyPr>
          <a:lstStyle/>
          <a:p>
            <a:pPr algn="l">
              <a:lnSpc>
                <a:spcPts val="8894"/>
              </a:lnSpc>
            </a:pPr>
            <a:r>
              <a:rPr lang="en-US" sz="8471" b="true">
                <a:solidFill>
                  <a:srgbClr val="F5F5F5"/>
                </a:solidFill>
                <a:latin typeface="Neue Montreal Medium"/>
                <a:ea typeface="Neue Montreal Medium"/>
                <a:cs typeface="Neue Montreal Medium"/>
                <a:sym typeface="Neue Montreal Medium"/>
              </a:rPr>
              <a:t>The Five Intelligent Ag</a:t>
            </a:r>
            <a:r>
              <a:rPr lang="en-US" sz="8471" b="true">
                <a:solidFill>
                  <a:srgbClr val="F5F5F5"/>
                </a:solidFill>
                <a:latin typeface="Neue Montreal Medium"/>
                <a:ea typeface="Neue Montreal Medium"/>
                <a:cs typeface="Neue Montreal Medium"/>
                <a:sym typeface="Neue Montreal Medium"/>
              </a:rPr>
              <a:t>ent Types</a:t>
            </a:r>
          </a:p>
        </p:txBody>
      </p:sp>
      <p:grpSp>
        <p:nvGrpSpPr>
          <p:cNvPr name="Group 4" id="4"/>
          <p:cNvGrpSpPr/>
          <p:nvPr/>
        </p:nvGrpSpPr>
        <p:grpSpPr>
          <a:xfrm rot="0">
            <a:off x="16698626" y="472575"/>
            <a:ext cx="641254" cy="484209"/>
            <a:chOff x="0" y="0"/>
            <a:chExt cx="168890" cy="127528"/>
          </a:xfrm>
        </p:grpSpPr>
        <p:sp>
          <p:nvSpPr>
            <p:cNvPr name="Freeform 5" id="5"/>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6" id="6"/>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7" id="7"/>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1772285" y="3070650"/>
            <a:ext cx="13787956" cy="5213322"/>
          </a:xfrm>
          <a:prstGeom prst="rect">
            <a:avLst/>
          </a:prstGeom>
        </p:spPr>
        <p:txBody>
          <a:bodyPr anchor="t" rtlCol="false" tIns="0" lIns="0" bIns="0" rIns="0">
            <a:spAutoFit/>
          </a:bodyPr>
          <a:lstStyle/>
          <a:p>
            <a:pPr algn="just">
              <a:lnSpc>
                <a:spcPts val="5959"/>
              </a:lnSpc>
            </a:pPr>
            <a:r>
              <a:rPr lang="en-US" b="true" sz="3611" spc="36">
                <a:solidFill>
                  <a:srgbClr val="FFFFFF"/>
                </a:solidFill>
                <a:latin typeface="Neue Montreal Bold"/>
                <a:ea typeface="Neue Montreal Bold"/>
                <a:cs typeface="Neue Montreal Bold"/>
                <a:sym typeface="Neue Montreal Bold"/>
              </a:rPr>
              <a:t>Simple Reflex </a:t>
            </a:r>
            <a:r>
              <a:rPr lang="en-US" b="true" sz="3611" spc="36">
                <a:solidFill>
                  <a:srgbClr val="FFFFFF"/>
                </a:solidFill>
                <a:latin typeface="Neue Montreal Medium"/>
                <a:ea typeface="Neue Montreal Medium"/>
                <a:cs typeface="Neue Montreal Medium"/>
                <a:sym typeface="Neue Montreal Medium"/>
              </a:rPr>
              <a:t>— responds directly to current conditions.</a:t>
            </a:r>
          </a:p>
          <a:p>
            <a:pPr algn="just">
              <a:lnSpc>
                <a:spcPts val="5959"/>
              </a:lnSpc>
            </a:pPr>
            <a:r>
              <a:rPr lang="en-US" b="true" sz="3611" spc="36">
                <a:solidFill>
                  <a:srgbClr val="FFFFFF"/>
                </a:solidFill>
                <a:latin typeface="Neue Montreal Bold"/>
                <a:ea typeface="Neue Montreal Bold"/>
                <a:cs typeface="Neue Montreal Bold"/>
                <a:sym typeface="Neue Montreal Bold"/>
              </a:rPr>
              <a:t>Model-Based Reflex</a:t>
            </a:r>
            <a:r>
              <a:rPr lang="en-US" b="true" sz="3611" spc="36">
                <a:solidFill>
                  <a:srgbClr val="FFFFFF"/>
                </a:solidFill>
                <a:latin typeface="Neue Montreal Medium"/>
                <a:ea typeface="Neue Montreal Medium"/>
                <a:cs typeface="Neue Montreal Medium"/>
                <a:sym typeface="Neue Montreal Medium"/>
              </a:rPr>
              <a:t> — maintains an internal model of the environment.</a:t>
            </a:r>
          </a:p>
          <a:p>
            <a:pPr algn="just">
              <a:lnSpc>
                <a:spcPts val="5959"/>
              </a:lnSpc>
            </a:pPr>
            <a:r>
              <a:rPr lang="en-US" b="true" sz="3611" spc="36">
                <a:solidFill>
                  <a:srgbClr val="FFFFFF"/>
                </a:solidFill>
                <a:latin typeface="Neue Montreal Bold"/>
                <a:ea typeface="Neue Montreal Bold"/>
                <a:cs typeface="Neue Montreal Bold"/>
                <a:sym typeface="Neue Montreal Bold"/>
              </a:rPr>
              <a:t>Goal-Based</a:t>
            </a:r>
            <a:r>
              <a:rPr lang="en-US" b="true" sz="3611" spc="36">
                <a:solidFill>
                  <a:srgbClr val="FFFFFF"/>
                </a:solidFill>
                <a:latin typeface="Neue Montreal Medium"/>
                <a:ea typeface="Neue Montreal Medium"/>
                <a:cs typeface="Neue Montreal Medium"/>
                <a:sym typeface="Neue Montreal Medium"/>
              </a:rPr>
              <a:t> — selects actions according to a desired goal.</a:t>
            </a:r>
          </a:p>
          <a:p>
            <a:pPr algn="just">
              <a:lnSpc>
                <a:spcPts val="5959"/>
              </a:lnSpc>
            </a:pPr>
            <a:r>
              <a:rPr lang="en-US" b="true" sz="3611" spc="36">
                <a:solidFill>
                  <a:srgbClr val="FFFFFF"/>
                </a:solidFill>
                <a:latin typeface="Neue Montreal Bold"/>
                <a:ea typeface="Neue Montreal Bold"/>
                <a:cs typeface="Neue Montreal Bold"/>
                <a:sym typeface="Neue Montreal Bold"/>
              </a:rPr>
              <a:t>Utility-Based</a:t>
            </a:r>
            <a:r>
              <a:rPr lang="en-US" b="true" sz="3611" spc="36">
                <a:solidFill>
                  <a:srgbClr val="FFFFFF"/>
                </a:solidFill>
                <a:latin typeface="Neue Montreal Medium"/>
                <a:ea typeface="Neue Montreal Medium"/>
                <a:cs typeface="Neue Montreal Medium"/>
                <a:sym typeface="Neue Montreal Medium"/>
              </a:rPr>
              <a:t> — compares possible outcomes according to usefulness or utility.</a:t>
            </a:r>
          </a:p>
          <a:p>
            <a:pPr algn="just">
              <a:lnSpc>
                <a:spcPts val="5959"/>
              </a:lnSpc>
            </a:pPr>
            <a:r>
              <a:rPr lang="en-US" b="true" sz="3611" spc="36">
                <a:solidFill>
                  <a:srgbClr val="FFFFFF"/>
                </a:solidFill>
                <a:latin typeface="Neue Montreal Bold"/>
                <a:ea typeface="Neue Montreal Bold"/>
                <a:cs typeface="Neue Montreal Bold"/>
                <a:sym typeface="Neue Montreal Bold"/>
              </a:rPr>
              <a:t>Learning Agent</a:t>
            </a:r>
            <a:r>
              <a:rPr lang="en-US" b="true" sz="3611" spc="36">
                <a:solidFill>
                  <a:srgbClr val="FFFFFF"/>
                </a:solidFill>
                <a:latin typeface="Neue Montreal Medium"/>
                <a:ea typeface="Neue Montreal Medium"/>
                <a:cs typeface="Neue Montreal Medium"/>
                <a:sym typeface="Neue Montreal Medium"/>
              </a:rPr>
              <a:t> — improves behavior through experience.</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544658">
            <a:off x="3310848" y="-9099481"/>
            <a:ext cx="13448288" cy="13414668"/>
          </a:xfrm>
          <a:custGeom>
            <a:avLst/>
            <a:gdLst/>
            <a:ahLst/>
            <a:cxnLst/>
            <a:rect r="r" b="b" t="t" l="l"/>
            <a:pathLst>
              <a:path h="13414668" w="13448288">
                <a:moveTo>
                  <a:pt x="0" y="0"/>
                </a:moveTo>
                <a:lnTo>
                  <a:pt x="13448289" y="0"/>
                </a:lnTo>
                <a:lnTo>
                  <a:pt x="13448289" y="13414668"/>
                </a:lnTo>
                <a:lnTo>
                  <a:pt x="0" y="13414668"/>
                </a:lnTo>
                <a:lnTo>
                  <a:pt x="0" y="0"/>
                </a:lnTo>
                <a:close/>
              </a:path>
            </a:pathLst>
          </a:custGeom>
          <a:blipFill>
            <a:blip r:embed="rId2"/>
            <a:stretch>
              <a:fillRect l="0" t="0" r="0" b="0"/>
            </a:stretch>
          </a:blipFill>
        </p:spPr>
      </p:sp>
      <p:sp>
        <p:nvSpPr>
          <p:cNvPr name="Freeform 3" id="3"/>
          <p:cNvSpPr/>
          <p:nvPr/>
        </p:nvSpPr>
        <p:spPr>
          <a:xfrm flipH="false" flipV="false" rot="2046621">
            <a:off x="-498788" y="8055066"/>
            <a:ext cx="7762300" cy="7742895"/>
          </a:xfrm>
          <a:custGeom>
            <a:avLst/>
            <a:gdLst/>
            <a:ahLst/>
            <a:cxnLst/>
            <a:rect r="r" b="b" t="t" l="l"/>
            <a:pathLst>
              <a:path h="7742895" w="7762300">
                <a:moveTo>
                  <a:pt x="0" y="0"/>
                </a:moveTo>
                <a:lnTo>
                  <a:pt x="7762301" y="0"/>
                </a:lnTo>
                <a:lnTo>
                  <a:pt x="7762301" y="7742895"/>
                </a:lnTo>
                <a:lnTo>
                  <a:pt x="0" y="7742895"/>
                </a:lnTo>
                <a:lnTo>
                  <a:pt x="0" y="0"/>
                </a:lnTo>
                <a:close/>
              </a:path>
            </a:pathLst>
          </a:custGeom>
          <a:blipFill>
            <a:blip r:embed="rId2"/>
            <a:stretch>
              <a:fillRect l="0" t="0" r="0" b="0"/>
            </a:stretch>
          </a:blipFill>
        </p:spPr>
      </p:sp>
      <p:sp>
        <p:nvSpPr>
          <p:cNvPr name="TextBox 4" id="4"/>
          <p:cNvSpPr txBox="true"/>
          <p:nvPr/>
        </p:nvSpPr>
        <p:spPr>
          <a:xfrm rot="0">
            <a:off x="946958" y="3889654"/>
            <a:ext cx="13092627" cy="1643407"/>
          </a:xfrm>
          <a:prstGeom prst="rect">
            <a:avLst/>
          </a:prstGeom>
        </p:spPr>
        <p:txBody>
          <a:bodyPr anchor="t" rtlCol="false" tIns="0" lIns="0" bIns="0" rIns="0">
            <a:spAutoFit/>
          </a:bodyPr>
          <a:lstStyle/>
          <a:p>
            <a:pPr algn="l">
              <a:lnSpc>
                <a:spcPts val="13318"/>
              </a:lnSpc>
              <a:spcBef>
                <a:spcPct val="0"/>
              </a:spcBef>
            </a:pPr>
            <a:r>
              <a:rPr lang="en-US" sz="9512" b="true">
                <a:solidFill>
                  <a:srgbClr val="000000"/>
                </a:solidFill>
                <a:latin typeface="Neue Montreal Bold"/>
                <a:ea typeface="Neue Montreal Bold"/>
                <a:cs typeface="Neue Montreal Bold"/>
                <a:sym typeface="Neue Montreal Bold"/>
              </a:rPr>
              <a:t>M</a:t>
            </a:r>
            <a:r>
              <a:rPr lang="en-US" b="true" sz="9512">
                <a:solidFill>
                  <a:srgbClr val="000000"/>
                </a:solidFill>
                <a:latin typeface="Neue Montreal Bold"/>
                <a:ea typeface="Neue Montreal Bold"/>
                <a:cs typeface="Neue Montreal Bold"/>
                <a:sym typeface="Neue Montreal Bold"/>
              </a:rPr>
              <a:t>ACHINE LEARNING</a:t>
            </a:r>
          </a:p>
        </p:txBody>
      </p:sp>
      <p:sp>
        <p:nvSpPr>
          <p:cNvPr name="Freeform 5" id="5"/>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6698626" y="472575"/>
            <a:ext cx="641254" cy="484209"/>
            <a:chOff x="0" y="0"/>
            <a:chExt cx="168890" cy="127528"/>
          </a:xfrm>
        </p:grpSpPr>
        <p:sp>
          <p:nvSpPr>
            <p:cNvPr name="Freeform 7" id="7"/>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8" id="8"/>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9" id="9"/>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10" id="10"/>
          <p:cNvSpPr/>
          <p:nvPr/>
        </p:nvSpPr>
        <p:spPr>
          <a:xfrm>
            <a:off x="946958" y="8269795"/>
            <a:ext cx="14204746" cy="0"/>
          </a:xfrm>
          <a:prstGeom prst="line">
            <a:avLst/>
          </a:prstGeom>
          <a:ln cap="rnd" w="9525">
            <a:solidFill>
              <a:srgbClr val="D9D9D9"/>
            </a:solidFill>
            <a:prstDash val="solid"/>
            <a:headEnd type="none" len="sm" w="sm"/>
            <a:tailEnd type="none" len="sm" w="sm"/>
          </a:ln>
        </p:spPr>
      </p:sp>
      <p:sp>
        <p:nvSpPr>
          <p:cNvPr name="TextBox 11" id="11"/>
          <p:cNvSpPr txBox="true"/>
          <p:nvPr/>
        </p:nvSpPr>
        <p:spPr>
          <a:xfrm rot="0">
            <a:off x="1028700" y="6700609"/>
            <a:ext cx="8544934" cy="349249"/>
          </a:xfrm>
          <a:prstGeom prst="rect">
            <a:avLst/>
          </a:prstGeom>
        </p:spPr>
        <p:txBody>
          <a:bodyPr anchor="t" rtlCol="false" tIns="0" lIns="0" bIns="0" rIns="0">
            <a:spAutoFit/>
          </a:bodyPr>
          <a:lstStyle/>
          <a:p>
            <a:pPr algn="l">
              <a:lnSpc>
                <a:spcPts val="2800"/>
              </a:lnSpc>
              <a:spcBef>
                <a:spcPct val="0"/>
              </a:spcBef>
            </a:pPr>
            <a:r>
              <a:rPr lang="en-US" sz="2000" spc="20">
                <a:solidFill>
                  <a:srgbClr val="000000"/>
                </a:solidFill>
                <a:latin typeface="Neue Montreal"/>
                <a:ea typeface="Neue Montreal"/>
                <a:cs typeface="Neue Montreal"/>
                <a:sym typeface="Neue Montreal"/>
              </a:rPr>
              <a:t>H</a:t>
            </a:r>
            <a:r>
              <a:rPr lang="en-US" sz="2000" spc="20">
                <a:solidFill>
                  <a:srgbClr val="000000"/>
                </a:solidFill>
                <a:latin typeface="Neue Montreal"/>
                <a:ea typeface="Neue Montreal"/>
                <a:cs typeface="Neue Montreal"/>
                <a:sym typeface="Neue Montreal"/>
              </a:rPr>
              <a:t>ow machines learn patterns from data</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333333"/>
        </a:solidFill>
      </p:bgPr>
    </p:bg>
    <p:spTree>
      <p:nvGrpSpPr>
        <p:cNvPr id="1" name=""/>
        <p:cNvGrpSpPr/>
        <p:nvPr/>
      </p:nvGrpSpPr>
      <p:grpSpPr>
        <a:xfrm>
          <a:off x="0" y="0"/>
          <a:ext cx="0" cy="0"/>
          <a:chOff x="0" y="0"/>
          <a:chExt cx="0" cy="0"/>
        </a:xfrm>
      </p:grpSpPr>
      <p:grpSp>
        <p:nvGrpSpPr>
          <p:cNvPr name="Group 2" id="2"/>
          <p:cNvGrpSpPr/>
          <p:nvPr/>
        </p:nvGrpSpPr>
        <p:grpSpPr>
          <a:xfrm rot="0">
            <a:off x="1235083" y="3037328"/>
            <a:ext cx="15817834" cy="5836746"/>
            <a:chOff x="0" y="0"/>
            <a:chExt cx="4166014" cy="1537250"/>
          </a:xfrm>
        </p:grpSpPr>
        <p:sp>
          <p:nvSpPr>
            <p:cNvPr name="Freeform 3" id="3"/>
            <p:cNvSpPr/>
            <p:nvPr/>
          </p:nvSpPr>
          <p:spPr>
            <a:xfrm flipH="false" flipV="false" rot="0">
              <a:off x="0" y="0"/>
              <a:ext cx="4166014" cy="1537250"/>
            </a:xfrm>
            <a:custGeom>
              <a:avLst/>
              <a:gdLst/>
              <a:ahLst/>
              <a:cxnLst/>
              <a:rect r="r" b="b" t="t" l="l"/>
              <a:pathLst>
                <a:path h="1537250" w="4166014">
                  <a:moveTo>
                    <a:pt x="24472" y="0"/>
                  </a:moveTo>
                  <a:lnTo>
                    <a:pt x="4141542" y="0"/>
                  </a:lnTo>
                  <a:cubicBezTo>
                    <a:pt x="4155057" y="0"/>
                    <a:pt x="4166014" y="10957"/>
                    <a:pt x="4166014" y="24472"/>
                  </a:cubicBezTo>
                  <a:lnTo>
                    <a:pt x="4166014" y="1512778"/>
                  </a:lnTo>
                  <a:cubicBezTo>
                    <a:pt x="4166014" y="1526294"/>
                    <a:pt x="4155057" y="1537250"/>
                    <a:pt x="4141542" y="1537250"/>
                  </a:cubicBezTo>
                  <a:lnTo>
                    <a:pt x="24472" y="1537250"/>
                  </a:lnTo>
                  <a:cubicBezTo>
                    <a:pt x="10957" y="1537250"/>
                    <a:pt x="0" y="1526294"/>
                    <a:pt x="0" y="1512778"/>
                  </a:cubicBezTo>
                  <a:lnTo>
                    <a:pt x="0" y="24472"/>
                  </a:lnTo>
                  <a:cubicBezTo>
                    <a:pt x="0" y="10957"/>
                    <a:pt x="10957" y="0"/>
                    <a:pt x="24472" y="0"/>
                  </a:cubicBezTo>
                  <a:close/>
                </a:path>
              </a:pathLst>
            </a:custGeom>
            <a:solidFill>
              <a:srgbClr val="231F20"/>
            </a:solidFill>
          </p:spPr>
        </p:sp>
        <p:sp>
          <p:nvSpPr>
            <p:cNvPr name="TextBox 4" id="4"/>
            <p:cNvSpPr txBox="true"/>
            <p:nvPr/>
          </p:nvSpPr>
          <p:spPr>
            <a:xfrm>
              <a:off x="0" y="-38100"/>
              <a:ext cx="4166014" cy="157535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6698626" y="472575"/>
            <a:ext cx="641254" cy="484209"/>
            <a:chOff x="0" y="0"/>
            <a:chExt cx="168890" cy="127528"/>
          </a:xfrm>
        </p:grpSpPr>
        <p:sp>
          <p:nvSpPr>
            <p:cNvPr name="Freeform 7" id="7"/>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8" id="8"/>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9" id="9"/>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946958" y="1769676"/>
            <a:ext cx="14343076" cy="1029699"/>
          </a:xfrm>
          <a:prstGeom prst="rect">
            <a:avLst/>
          </a:prstGeom>
        </p:spPr>
        <p:txBody>
          <a:bodyPr anchor="t" rtlCol="false" tIns="0" lIns="0" bIns="0" rIns="0">
            <a:spAutoFit/>
          </a:bodyPr>
          <a:lstStyle/>
          <a:p>
            <a:pPr algn="l">
              <a:lnSpc>
                <a:spcPts val="7816"/>
              </a:lnSpc>
            </a:pPr>
            <a:r>
              <a:rPr lang="en-US" sz="7444" b="true">
                <a:solidFill>
                  <a:srgbClr val="F5F5F5"/>
                </a:solidFill>
                <a:latin typeface="Neue Montreal Medium"/>
                <a:ea typeface="Neue Montreal Medium"/>
                <a:cs typeface="Neue Montreal Medium"/>
                <a:sym typeface="Neue Montreal Medium"/>
              </a:rPr>
              <a:t>Int</a:t>
            </a:r>
            <a:r>
              <a:rPr lang="en-US" b="true" sz="7444">
                <a:solidFill>
                  <a:srgbClr val="F5F5F5"/>
                </a:solidFill>
                <a:latin typeface="Neue Montreal Medium"/>
                <a:ea typeface="Neue Montreal Medium"/>
                <a:cs typeface="Neue Montreal Medium"/>
                <a:sym typeface="Neue Montreal Medium"/>
              </a:rPr>
              <a:t>roduction to Machine Learning</a:t>
            </a:r>
          </a:p>
        </p:txBody>
      </p:sp>
      <p:sp>
        <p:nvSpPr>
          <p:cNvPr name="TextBox 11" id="11"/>
          <p:cNvSpPr txBox="true"/>
          <p:nvPr/>
        </p:nvSpPr>
        <p:spPr>
          <a:xfrm rot="0">
            <a:off x="1921430" y="3532042"/>
            <a:ext cx="14445139" cy="4780644"/>
          </a:xfrm>
          <a:prstGeom prst="rect">
            <a:avLst/>
          </a:prstGeom>
        </p:spPr>
        <p:txBody>
          <a:bodyPr anchor="t" rtlCol="false" tIns="0" lIns="0" bIns="0" rIns="0">
            <a:spAutoFit/>
          </a:bodyPr>
          <a:lstStyle/>
          <a:p>
            <a:pPr algn="just">
              <a:lnSpc>
                <a:spcPts val="4774"/>
              </a:lnSpc>
            </a:pPr>
            <a:r>
              <a:rPr lang="en-US" b="true" sz="3410" spc="34">
                <a:solidFill>
                  <a:srgbClr val="F5F5F5"/>
                </a:solidFill>
                <a:latin typeface="Neue Montreal Bold"/>
                <a:ea typeface="Neue Montreal Bold"/>
                <a:cs typeface="Neue Montreal Bold"/>
                <a:sym typeface="Neue Montreal Bold"/>
              </a:rPr>
              <a:t>Machine Learning (ML) is a significant area of Artificial Intelligence that focuses on teaching machines to learn from data patterns to make decisions or predictions. Unlike traditional programming, which requires explicit instructions for each scenario, ML systems learn from examples provided in data, discovering underlying patterns independently. This ability enables ML applications to perform complex tasks, such as facial recognition in images or forecasting future sales, which are challenging to address with predefined rules alone. </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35083" y="3478310"/>
            <a:ext cx="15817834" cy="5937186"/>
            <a:chOff x="0" y="0"/>
            <a:chExt cx="4166014" cy="1563703"/>
          </a:xfrm>
        </p:grpSpPr>
        <p:sp>
          <p:nvSpPr>
            <p:cNvPr name="Freeform 3" id="3"/>
            <p:cNvSpPr/>
            <p:nvPr/>
          </p:nvSpPr>
          <p:spPr>
            <a:xfrm flipH="false" flipV="false" rot="0">
              <a:off x="0" y="0"/>
              <a:ext cx="4166014" cy="1563703"/>
            </a:xfrm>
            <a:custGeom>
              <a:avLst/>
              <a:gdLst/>
              <a:ahLst/>
              <a:cxnLst/>
              <a:rect r="r" b="b" t="t" l="l"/>
              <a:pathLst>
                <a:path h="1563703" w="4166014">
                  <a:moveTo>
                    <a:pt x="24472" y="0"/>
                  </a:moveTo>
                  <a:lnTo>
                    <a:pt x="4141542" y="0"/>
                  </a:lnTo>
                  <a:cubicBezTo>
                    <a:pt x="4155057" y="0"/>
                    <a:pt x="4166014" y="10957"/>
                    <a:pt x="4166014" y="24472"/>
                  </a:cubicBezTo>
                  <a:lnTo>
                    <a:pt x="4166014" y="1539231"/>
                  </a:lnTo>
                  <a:cubicBezTo>
                    <a:pt x="4166014" y="1552747"/>
                    <a:pt x="4155057" y="1563703"/>
                    <a:pt x="4141542" y="1563703"/>
                  </a:cubicBezTo>
                  <a:lnTo>
                    <a:pt x="24472" y="1563703"/>
                  </a:lnTo>
                  <a:cubicBezTo>
                    <a:pt x="10957" y="1563703"/>
                    <a:pt x="0" y="1552747"/>
                    <a:pt x="0" y="1539231"/>
                  </a:cubicBezTo>
                  <a:lnTo>
                    <a:pt x="0" y="24472"/>
                  </a:lnTo>
                  <a:cubicBezTo>
                    <a:pt x="0" y="10957"/>
                    <a:pt x="10957" y="0"/>
                    <a:pt x="24472" y="0"/>
                  </a:cubicBezTo>
                  <a:close/>
                </a:path>
              </a:pathLst>
            </a:custGeom>
            <a:solidFill>
              <a:srgbClr val="231F20"/>
            </a:solidFill>
          </p:spPr>
        </p:sp>
        <p:sp>
          <p:nvSpPr>
            <p:cNvPr name="TextBox 4" id="4"/>
            <p:cNvSpPr txBox="true"/>
            <p:nvPr/>
          </p:nvSpPr>
          <p:spPr>
            <a:xfrm>
              <a:off x="0" y="-38100"/>
              <a:ext cx="4166014" cy="1601803"/>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6698626" y="472575"/>
            <a:ext cx="641254" cy="484209"/>
            <a:chOff x="0" y="0"/>
            <a:chExt cx="168890" cy="127528"/>
          </a:xfrm>
        </p:grpSpPr>
        <p:sp>
          <p:nvSpPr>
            <p:cNvPr name="Freeform 7" id="7"/>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8" id="8"/>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9" id="9"/>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946958" y="1788726"/>
            <a:ext cx="14754533" cy="1247775"/>
          </a:xfrm>
          <a:prstGeom prst="rect">
            <a:avLst/>
          </a:prstGeom>
        </p:spPr>
        <p:txBody>
          <a:bodyPr anchor="t" rtlCol="false" tIns="0" lIns="0" bIns="0" rIns="0">
            <a:spAutoFit/>
          </a:bodyPr>
          <a:lstStyle/>
          <a:p>
            <a:pPr algn="l">
              <a:lnSpc>
                <a:spcPts val="9450"/>
              </a:lnSpc>
            </a:pPr>
            <a:r>
              <a:rPr lang="en-US" sz="9000" b="true">
                <a:solidFill>
                  <a:srgbClr val="333333"/>
                </a:solidFill>
                <a:latin typeface="Neue Montreal Medium"/>
                <a:ea typeface="Neue Montreal Medium"/>
                <a:cs typeface="Neue Montreal Medium"/>
                <a:sym typeface="Neue Montreal Medium"/>
              </a:rPr>
              <a:t>How Mach</a:t>
            </a:r>
            <a:r>
              <a:rPr lang="en-US" sz="9000" b="true">
                <a:solidFill>
                  <a:srgbClr val="333333"/>
                </a:solidFill>
                <a:latin typeface="Neue Montreal Medium"/>
                <a:ea typeface="Neue Montreal Medium"/>
                <a:cs typeface="Neue Montreal Medium"/>
                <a:sym typeface="Neue Montreal Medium"/>
              </a:rPr>
              <a:t>ine Learning Works</a:t>
            </a:r>
          </a:p>
        </p:txBody>
      </p:sp>
      <p:sp>
        <p:nvSpPr>
          <p:cNvPr name="TextBox 11" id="11"/>
          <p:cNvSpPr txBox="true"/>
          <p:nvPr/>
        </p:nvSpPr>
        <p:spPr>
          <a:xfrm rot="0">
            <a:off x="1807261" y="3943264"/>
            <a:ext cx="14673478" cy="4950129"/>
          </a:xfrm>
          <a:prstGeom prst="rect">
            <a:avLst/>
          </a:prstGeom>
        </p:spPr>
        <p:txBody>
          <a:bodyPr anchor="t" rtlCol="false" tIns="0" lIns="0" bIns="0" rIns="0">
            <a:spAutoFit/>
          </a:bodyPr>
          <a:lstStyle/>
          <a:p>
            <a:pPr algn="just">
              <a:lnSpc>
                <a:spcPts val="4358"/>
              </a:lnSpc>
            </a:pPr>
            <a:r>
              <a:rPr lang="en-US" b="true" sz="3113" spc="31">
                <a:solidFill>
                  <a:srgbClr val="F5F5F5"/>
                </a:solidFill>
                <a:latin typeface="Neue Montreal Bold"/>
                <a:ea typeface="Neue Montreal Bold"/>
                <a:cs typeface="Neue Montreal Bold"/>
                <a:sym typeface="Neue Montreal Bold"/>
              </a:rPr>
              <a:t>1. Define the problem and desired output.</a:t>
            </a:r>
          </a:p>
          <a:p>
            <a:pPr algn="just">
              <a:lnSpc>
                <a:spcPts val="4358"/>
              </a:lnSpc>
            </a:pPr>
            <a:r>
              <a:rPr lang="en-US" b="true" sz="3113" spc="31">
                <a:solidFill>
                  <a:srgbClr val="F5F5F5"/>
                </a:solidFill>
                <a:latin typeface="Neue Montreal Bold"/>
                <a:ea typeface="Neue Montreal Bold"/>
                <a:cs typeface="Neue Montreal Bold"/>
                <a:sym typeface="Neue Montreal Bold"/>
              </a:rPr>
              <a:t>2. Collect relevant data.</a:t>
            </a:r>
          </a:p>
          <a:p>
            <a:pPr algn="just">
              <a:lnSpc>
                <a:spcPts val="4358"/>
              </a:lnSpc>
            </a:pPr>
            <a:r>
              <a:rPr lang="en-US" b="true" sz="3113" spc="31">
                <a:solidFill>
                  <a:srgbClr val="F5F5F5"/>
                </a:solidFill>
                <a:latin typeface="Neue Montreal Bold"/>
                <a:ea typeface="Neue Montreal Bold"/>
                <a:cs typeface="Neue Montreal Bold"/>
                <a:sym typeface="Neue Montreal Bold"/>
              </a:rPr>
              <a:t>3.</a:t>
            </a:r>
            <a:r>
              <a:rPr lang="en-US" b="true" sz="3113" spc="31">
                <a:solidFill>
                  <a:srgbClr val="F5F5F5"/>
                </a:solidFill>
                <a:latin typeface="Neue Montreal Bold"/>
                <a:ea typeface="Neue Montreal Bold"/>
                <a:cs typeface="Neue Montreal Bold"/>
                <a:sym typeface="Neue Montreal Bold"/>
              </a:rPr>
              <a:t> Clean and prepare the data.</a:t>
            </a:r>
          </a:p>
          <a:p>
            <a:pPr algn="just">
              <a:lnSpc>
                <a:spcPts val="4358"/>
              </a:lnSpc>
            </a:pPr>
            <a:r>
              <a:rPr lang="en-US" b="true" sz="3113" spc="31">
                <a:solidFill>
                  <a:srgbClr val="F5F5F5"/>
                </a:solidFill>
                <a:latin typeface="Neue Montreal Bold"/>
                <a:ea typeface="Neue Montreal Bold"/>
                <a:cs typeface="Neue Montreal Bold"/>
                <a:sym typeface="Neue Montreal Bold"/>
              </a:rPr>
              <a:t>4. Classify, categorize, annotate, and label data when required.</a:t>
            </a:r>
          </a:p>
          <a:p>
            <a:pPr algn="just">
              <a:lnSpc>
                <a:spcPts val="4358"/>
              </a:lnSpc>
            </a:pPr>
            <a:r>
              <a:rPr lang="en-US" b="true" sz="3113" spc="31">
                <a:solidFill>
                  <a:srgbClr val="F5F5F5"/>
                </a:solidFill>
                <a:latin typeface="Neue Montreal Bold"/>
                <a:ea typeface="Neue Montreal Bold"/>
                <a:cs typeface="Neue Montreal Bold"/>
                <a:sym typeface="Neue Montreal Bold"/>
              </a:rPr>
              <a:t>5. Train the model.</a:t>
            </a:r>
          </a:p>
          <a:p>
            <a:pPr algn="just">
              <a:lnSpc>
                <a:spcPts val="4358"/>
              </a:lnSpc>
            </a:pPr>
            <a:r>
              <a:rPr lang="en-US" b="true" sz="3113" spc="31">
                <a:solidFill>
                  <a:srgbClr val="F5F5F5"/>
                </a:solidFill>
                <a:latin typeface="Neue Montreal Bold"/>
                <a:ea typeface="Neue Montreal Bold"/>
                <a:cs typeface="Neue Montreal Bold"/>
                <a:sym typeface="Neue Montreal Bold"/>
              </a:rPr>
              <a:t>6. Validate development choices and performance.</a:t>
            </a:r>
          </a:p>
          <a:p>
            <a:pPr algn="just">
              <a:lnSpc>
                <a:spcPts val="4358"/>
              </a:lnSpc>
            </a:pPr>
            <a:r>
              <a:rPr lang="en-US" b="true" sz="3113" spc="31">
                <a:solidFill>
                  <a:srgbClr val="F5F5F5"/>
                </a:solidFill>
                <a:latin typeface="Neue Montreal Bold"/>
                <a:ea typeface="Neue Montreal Bold"/>
                <a:cs typeface="Neue Montreal Bold"/>
                <a:sym typeface="Neue Montreal Bold"/>
              </a:rPr>
              <a:t>7.</a:t>
            </a:r>
            <a:r>
              <a:rPr lang="en-US" b="true" sz="3113" spc="31">
                <a:solidFill>
                  <a:srgbClr val="F5F5F5"/>
                </a:solidFill>
                <a:latin typeface="Neue Montreal Bold"/>
                <a:ea typeface="Neue Montreal Bold"/>
                <a:cs typeface="Neue Montreal Bold"/>
                <a:sym typeface="Neue Montreal Bold"/>
              </a:rPr>
              <a:t> Test using held-out data.</a:t>
            </a:r>
          </a:p>
          <a:p>
            <a:pPr algn="just">
              <a:lnSpc>
                <a:spcPts val="4358"/>
              </a:lnSpc>
            </a:pPr>
            <a:r>
              <a:rPr lang="en-US" b="true" sz="3113" spc="31">
                <a:solidFill>
                  <a:srgbClr val="F5F5F5"/>
                </a:solidFill>
                <a:latin typeface="Neue Montreal Bold"/>
                <a:ea typeface="Neue Montreal Bold"/>
                <a:cs typeface="Neue Montreal Bold"/>
                <a:sym typeface="Neue Montreal Bold"/>
              </a:rPr>
              <a:t>8. Deploy and monitor the model.</a:t>
            </a:r>
          </a:p>
          <a:p>
            <a:pPr algn="just">
              <a:lnSpc>
                <a:spcPts val="4358"/>
              </a:lnSpc>
            </a:pPr>
            <a:r>
              <a:rPr lang="en-US" b="true" sz="3113" spc="31">
                <a:solidFill>
                  <a:srgbClr val="F5F5F5"/>
                </a:solidFill>
                <a:latin typeface="Neue Montreal Bold"/>
                <a:ea typeface="Neue Montreal Bold"/>
                <a:cs typeface="Neue Montreal Bold"/>
                <a:sym typeface="Neue Montreal Bold"/>
              </a:rPr>
              <a:t>9. Maintain or retrain as data and patterns change.</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grpSp>
        <p:nvGrpSpPr>
          <p:cNvPr name="Group 2" id="2"/>
          <p:cNvGrpSpPr/>
          <p:nvPr/>
        </p:nvGrpSpPr>
        <p:grpSpPr>
          <a:xfrm rot="0">
            <a:off x="1235083" y="3478310"/>
            <a:ext cx="15817834" cy="5031716"/>
            <a:chOff x="0" y="0"/>
            <a:chExt cx="4166014" cy="1325226"/>
          </a:xfrm>
        </p:grpSpPr>
        <p:sp>
          <p:nvSpPr>
            <p:cNvPr name="Freeform 3" id="3"/>
            <p:cNvSpPr/>
            <p:nvPr/>
          </p:nvSpPr>
          <p:spPr>
            <a:xfrm flipH="false" flipV="false" rot="0">
              <a:off x="0" y="0"/>
              <a:ext cx="4166014" cy="1325226"/>
            </a:xfrm>
            <a:custGeom>
              <a:avLst/>
              <a:gdLst/>
              <a:ahLst/>
              <a:cxnLst/>
              <a:rect r="r" b="b" t="t" l="l"/>
              <a:pathLst>
                <a:path h="1325226" w="4166014">
                  <a:moveTo>
                    <a:pt x="24472" y="0"/>
                  </a:moveTo>
                  <a:lnTo>
                    <a:pt x="4141542" y="0"/>
                  </a:lnTo>
                  <a:cubicBezTo>
                    <a:pt x="4155057" y="0"/>
                    <a:pt x="4166014" y="10957"/>
                    <a:pt x="4166014" y="24472"/>
                  </a:cubicBezTo>
                  <a:lnTo>
                    <a:pt x="4166014" y="1300753"/>
                  </a:lnTo>
                  <a:cubicBezTo>
                    <a:pt x="4166014" y="1314269"/>
                    <a:pt x="4155057" y="1325226"/>
                    <a:pt x="4141542" y="1325226"/>
                  </a:cubicBezTo>
                  <a:lnTo>
                    <a:pt x="24472" y="1325226"/>
                  </a:lnTo>
                  <a:cubicBezTo>
                    <a:pt x="10957" y="1325226"/>
                    <a:pt x="0" y="1314269"/>
                    <a:pt x="0" y="1300753"/>
                  </a:cubicBezTo>
                  <a:lnTo>
                    <a:pt x="0" y="24472"/>
                  </a:lnTo>
                  <a:cubicBezTo>
                    <a:pt x="0" y="10957"/>
                    <a:pt x="10957" y="0"/>
                    <a:pt x="24472" y="0"/>
                  </a:cubicBezTo>
                  <a:close/>
                </a:path>
              </a:pathLst>
            </a:custGeom>
            <a:solidFill>
              <a:srgbClr val="F5F5F5"/>
            </a:solidFill>
          </p:spPr>
        </p:sp>
        <p:sp>
          <p:nvSpPr>
            <p:cNvPr name="TextBox 4" id="4"/>
            <p:cNvSpPr txBox="true"/>
            <p:nvPr/>
          </p:nvSpPr>
          <p:spPr>
            <a:xfrm>
              <a:off x="0" y="-38100"/>
              <a:ext cx="4166014" cy="1363326"/>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6698626" y="472575"/>
            <a:ext cx="641254" cy="484209"/>
            <a:chOff x="0" y="0"/>
            <a:chExt cx="168890" cy="127528"/>
          </a:xfrm>
        </p:grpSpPr>
        <p:sp>
          <p:nvSpPr>
            <p:cNvPr name="Freeform 7" id="7"/>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8" id="8"/>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9" id="9"/>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946958" y="1788726"/>
            <a:ext cx="16020580" cy="1247775"/>
          </a:xfrm>
          <a:prstGeom prst="rect">
            <a:avLst/>
          </a:prstGeom>
        </p:spPr>
        <p:txBody>
          <a:bodyPr anchor="t" rtlCol="false" tIns="0" lIns="0" bIns="0" rIns="0">
            <a:spAutoFit/>
          </a:bodyPr>
          <a:lstStyle/>
          <a:p>
            <a:pPr algn="l">
              <a:lnSpc>
                <a:spcPts val="9450"/>
              </a:lnSpc>
            </a:pPr>
            <a:r>
              <a:rPr lang="en-US" sz="9000" b="true">
                <a:solidFill>
                  <a:srgbClr val="333333"/>
                </a:solidFill>
                <a:latin typeface="Neue Montreal Medium"/>
                <a:ea typeface="Neue Montreal Medium"/>
                <a:cs typeface="Neue Montreal Medium"/>
                <a:sym typeface="Neue Montreal Medium"/>
              </a:rPr>
              <a:t>Types</a:t>
            </a:r>
            <a:r>
              <a:rPr lang="en-US" b="true" sz="9000">
                <a:solidFill>
                  <a:srgbClr val="333333"/>
                </a:solidFill>
                <a:latin typeface="Neue Montreal Medium"/>
                <a:ea typeface="Neue Montreal Medium"/>
                <a:cs typeface="Neue Montreal Medium"/>
                <a:sym typeface="Neue Montreal Medium"/>
              </a:rPr>
              <a:t> of Machine Learning</a:t>
            </a:r>
          </a:p>
        </p:txBody>
      </p:sp>
      <p:sp>
        <p:nvSpPr>
          <p:cNvPr name="TextBox 11" id="11"/>
          <p:cNvSpPr txBox="true"/>
          <p:nvPr/>
        </p:nvSpPr>
        <p:spPr>
          <a:xfrm rot="0">
            <a:off x="1781482" y="3832511"/>
            <a:ext cx="14351531" cy="4256639"/>
          </a:xfrm>
          <a:prstGeom prst="rect">
            <a:avLst/>
          </a:prstGeom>
        </p:spPr>
        <p:txBody>
          <a:bodyPr anchor="t" rtlCol="false" tIns="0" lIns="0" bIns="0" rIns="0">
            <a:spAutoFit/>
          </a:bodyPr>
          <a:lstStyle/>
          <a:p>
            <a:pPr algn="just">
              <a:lnSpc>
                <a:spcPts val="4257"/>
              </a:lnSpc>
            </a:pPr>
            <a:r>
              <a:rPr lang="en-US" b="true" sz="3040" spc="30">
                <a:solidFill>
                  <a:srgbClr val="333333"/>
                </a:solidFill>
                <a:latin typeface="Neue Montreal Bold"/>
                <a:ea typeface="Neue Montreal Bold"/>
                <a:cs typeface="Neue Montreal Bold"/>
                <a:sym typeface="Neue Montreal Bold"/>
              </a:rPr>
              <a:t>Su</a:t>
            </a:r>
            <a:r>
              <a:rPr lang="en-US" b="true" sz="3040" spc="30">
                <a:solidFill>
                  <a:srgbClr val="333333"/>
                </a:solidFill>
                <a:latin typeface="Neue Montreal Bold"/>
                <a:ea typeface="Neue Montreal Bold"/>
                <a:cs typeface="Neue Montreal Bold"/>
                <a:sym typeface="Neue Montreal Bold"/>
              </a:rPr>
              <a:t>pervised Learning </a:t>
            </a:r>
            <a:r>
              <a:rPr lang="en-US" sz="3040" spc="30">
                <a:solidFill>
                  <a:srgbClr val="333333"/>
                </a:solidFill>
                <a:latin typeface="Neue Montreal"/>
                <a:ea typeface="Neue Montreal"/>
                <a:cs typeface="Neue Montreal"/>
                <a:sym typeface="Neue Montreal"/>
              </a:rPr>
              <a:t>— trains on labeled/annotated data for classification and prediction.</a:t>
            </a:r>
          </a:p>
          <a:p>
            <a:pPr algn="just">
              <a:lnSpc>
                <a:spcPts val="4257"/>
              </a:lnSpc>
            </a:pPr>
            <a:r>
              <a:rPr lang="en-US" b="true" sz="3040" spc="30">
                <a:solidFill>
                  <a:srgbClr val="333333"/>
                </a:solidFill>
                <a:latin typeface="Neue Montreal Bold"/>
                <a:ea typeface="Neue Montreal Bold"/>
                <a:cs typeface="Neue Montreal Bold"/>
                <a:sym typeface="Neue Montreal Bold"/>
              </a:rPr>
              <a:t>Unsupervised Learning </a:t>
            </a:r>
            <a:r>
              <a:rPr lang="en-US" sz="3040" spc="30">
                <a:solidFill>
                  <a:srgbClr val="333333"/>
                </a:solidFill>
                <a:latin typeface="Neue Montreal"/>
                <a:ea typeface="Neue Montreal"/>
                <a:cs typeface="Neue Montreal"/>
                <a:sym typeface="Neue Montreal"/>
              </a:rPr>
              <a:t>— finds patterns in unlabeled data through clustering, association, and dimensionality reduction.</a:t>
            </a:r>
          </a:p>
          <a:p>
            <a:pPr algn="just">
              <a:lnSpc>
                <a:spcPts val="4257"/>
              </a:lnSpc>
            </a:pPr>
            <a:r>
              <a:rPr lang="en-US" b="true" sz="3040" spc="30">
                <a:solidFill>
                  <a:srgbClr val="333333"/>
                </a:solidFill>
                <a:latin typeface="Neue Montreal Bold"/>
                <a:ea typeface="Neue Montreal Bold"/>
                <a:cs typeface="Neue Montreal Bold"/>
                <a:sym typeface="Neue Montreal Bold"/>
              </a:rPr>
              <a:t>S</a:t>
            </a:r>
            <a:r>
              <a:rPr lang="en-US" b="true" sz="3040" spc="30">
                <a:solidFill>
                  <a:srgbClr val="333333"/>
                </a:solidFill>
                <a:latin typeface="Neue Montreal Bold"/>
                <a:ea typeface="Neue Montreal Bold"/>
                <a:cs typeface="Neue Montreal Bold"/>
                <a:sym typeface="Neue Montreal Bold"/>
              </a:rPr>
              <a:t>emi-Supervised Learning</a:t>
            </a:r>
            <a:r>
              <a:rPr lang="en-US" sz="3040" spc="30">
                <a:solidFill>
                  <a:srgbClr val="333333"/>
                </a:solidFill>
                <a:latin typeface="Neue Montreal"/>
                <a:ea typeface="Neue Montreal"/>
                <a:cs typeface="Neue Montreal"/>
                <a:sym typeface="Neue Montreal"/>
              </a:rPr>
              <a:t> — combines a small labeled dataset with a larger unlabeled dataset.</a:t>
            </a:r>
          </a:p>
          <a:p>
            <a:pPr algn="just">
              <a:lnSpc>
                <a:spcPts val="4257"/>
              </a:lnSpc>
            </a:pPr>
            <a:r>
              <a:rPr lang="en-US" b="true" sz="3040" spc="30">
                <a:solidFill>
                  <a:srgbClr val="333333"/>
                </a:solidFill>
                <a:latin typeface="Neue Montreal Bold"/>
                <a:ea typeface="Neue Montreal Bold"/>
                <a:cs typeface="Neue Montreal Bold"/>
                <a:sym typeface="Neue Montreal Bold"/>
              </a:rPr>
              <a:t>Reinf</a:t>
            </a:r>
            <a:r>
              <a:rPr lang="en-US" b="true" sz="3040" spc="30">
                <a:solidFill>
                  <a:srgbClr val="333333"/>
                </a:solidFill>
                <a:latin typeface="Neue Montreal Bold"/>
                <a:ea typeface="Neue Montreal Bold"/>
                <a:cs typeface="Neue Montreal Bold"/>
                <a:sym typeface="Neue Montreal Bold"/>
              </a:rPr>
              <a:t>orcement Learning</a:t>
            </a:r>
            <a:r>
              <a:rPr lang="en-US" sz="3040" spc="30">
                <a:solidFill>
                  <a:srgbClr val="333333"/>
                </a:solidFill>
                <a:latin typeface="Neue Montreal"/>
                <a:ea typeface="Neue Montreal"/>
                <a:cs typeface="Neue Montreal"/>
                <a:sym typeface="Neue Montreal"/>
              </a:rPr>
              <a:t> — learns from reward and penalty feedback through interaction with an environment.</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231F20"/>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617148" y="1462101"/>
            <a:ext cx="14753238" cy="1247775"/>
          </a:xfrm>
          <a:prstGeom prst="rect">
            <a:avLst/>
          </a:prstGeom>
        </p:spPr>
        <p:txBody>
          <a:bodyPr anchor="t" rtlCol="false" tIns="0" lIns="0" bIns="0" rIns="0">
            <a:spAutoFit/>
          </a:bodyPr>
          <a:lstStyle/>
          <a:p>
            <a:pPr algn="l">
              <a:lnSpc>
                <a:spcPts val="9450"/>
              </a:lnSpc>
            </a:pPr>
            <a:r>
              <a:rPr lang="en-US" sz="9000" b="true">
                <a:solidFill>
                  <a:srgbClr val="F5F5F5"/>
                </a:solidFill>
                <a:latin typeface="Neue Montreal Medium"/>
                <a:ea typeface="Neue Montreal Medium"/>
                <a:cs typeface="Neue Montreal Medium"/>
                <a:sym typeface="Neue Montreal Medium"/>
              </a:rPr>
              <a:t>Supe</a:t>
            </a:r>
            <a:r>
              <a:rPr lang="en-US" b="true" sz="9000">
                <a:solidFill>
                  <a:srgbClr val="F5F5F5"/>
                </a:solidFill>
                <a:latin typeface="Neue Montreal Medium"/>
                <a:ea typeface="Neue Montreal Medium"/>
                <a:cs typeface="Neue Montreal Medium"/>
                <a:sym typeface="Neue Montreal Medium"/>
              </a:rPr>
              <a:t>rvised Machine Learning</a:t>
            </a:r>
          </a:p>
        </p:txBody>
      </p:sp>
      <p:sp>
        <p:nvSpPr>
          <p:cNvPr name="TextBox 8" id="8"/>
          <p:cNvSpPr txBox="true"/>
          <p:nvPr/>
        </p:nvSpPr>
        <p:spPr>
          <a:xfrm rot="0">
            <a:off x="1781018" y="3004958"/>
            <a:ext cx="14725964" cy="5323439"/>
          </a:xfrm>
          <a:prstGeom prst="rect">
            <a:avLst/>
          </a:prstGeom>
        </p:spPr>
        <p:txBody>
          <a:bodyPr anchor="t" rtlCol="false" tIns="0" lIns="0" bIns="0" rIns="0">
            <a:spAutoFit/>
          </a:bodyPr>
          <a:lstStyle/>
          <a:p>
            <a:pPr algn="just">
              <a:lnSpc>
                <a:spcPts val="4257"/>
              </a:lnSpc>
            </a:pPr>
            <a:r>
              <a:rPr lang="en-US" b="true" sz="3040" spc="30">
                <a:solidFill>
                  <a:srgbClr val="F5F5F5"/>
                </a:solidFill>
                <a:latin typeface="Neue Montreal Bold"/>
                <a:ea typeface="Neue Montreal Bold"/>
                <a:cs typeface="Neue Montreal Bold"/>
                <a:sym typeface="Neue Montreal Bold"/>
              </a:rPr>
              <a:t>In</a:t>
            </a:r>
            <a:r>
              <a:rPr lang="en-US" b="true" sz="3040" spc="30">
                <a:solidFill>
                  <a:srgbClr val="F5F5F5"/>
                </a:solidFill>
                <a:latin typeface="Neue Montreal Bold"/>
                <a:ea typeface="Neue Montreal Bold"/>
                <a:cs typeface="Neue Montreal Bold"/>
                <a:sym typeface="Neue Montreal Bold"/>
              </a:rPr>
              <a:t> supervised learning, the training dataset is labeled or annotated meaning each example includes both an input and its correct, known output  so the algorithm can learn to map inputs to outputs and use that mapping to classify new data or predict new values.</a:t>
            </a:r>
          </a:p>
          <a:p>
            <a:pPr algn="just">
              <a:lnSpc>
                <a:spcPts val="4257"/>
              </a:lnSpc>
            </a:pPr>
          </a:p>
          <a:p>
            <a:pPr algn="just">
              <a:lnSpc>
                <a:spcPts val="4257"/>
              </a:lnSpc>
            </a:pPr>
            <a:r>
              <a:rPr lang="en-US" b="true" sz="3040" spc="30">
                <a:solidFill>
                  <a:srgbClr val="F5F5F5"/>
                </a:solidFill>
                <a:latin typeface="Neue Montreal Bold"/>
                <a:ea typeface="Neue Montreal Bold"/>
                <a:cs typeface="Neue Montreal Bold"/>
                <a:sym typeface="Neue Montreal Bold"/>
              </a:rPr>
              <a:t>Classification identifies which category (or class) a given input belongs to, while prediction estimates a numeric or categorical output as accurately as possible. Building a supervised learning dataset requires substantial manual human effort to tag and annotate the raw data  whether that data is text, images, video, audio, or sensor readings.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231F20"/>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685728" y="1849059"/>
            <a:ext cx="14433198" cy="1247775"/>
          </a:xfrm>
          <a:prstGeom prst="rect">
            <a:avLst/>
          </a:prstGeom>
        </p:spPr>
        <p:txBody>
          <a:bodyPr anchor="t" rtlCol="false" tIns="0" lIns="0" bIns="0" rIns="0">
            <a:spAutoFit/>
          </a:bodyPr>
          <a:lstStyle/>
          <a:p>
            <a:pPr algn="l">
              <a:lnSpc>
                <a:spcPts val="9450"/>
              </a:lnSpc>
            </a:pPr>
            <a:r>
              <a:rPr lang="en-US" sz="9000" b="true">
                <a:solidFill>
                  <a:srgbClr val="F5F5F5"/>
                </a:solidFill>
                <a:latin typeface="Neue Montreal Medium"/>
                <a:ea typeface="Neue Montreal Medium"/>
                <a:cs typeface="Neue Montreal Medium"/>
                <a:sym typeface="Neue Montreal Medium"/>
              </a:rPr>
              <a:t>Supe</a:t>
            </a:r>
            <a:r>
              <a:rPr lang="en-US" b="true" sz="9000">
                <a:solidFill>
                  <a:srgbClr val="F5F5F5"/>
                </a:solidFill>
                <a:latin typeface="Neue Montreal Medium"/>
                <a:ea typeface="Neue Montreal Medium"/>
                <a:cs typeface="Neue Montreal Medium"/>
                <a:sym typeface="Neue Montreal Medium"/>
              </a:rPr>
              <a:t>rvised Machine Learning</a:t>
            </a:r>
          </a:p>
        </p:txBody>
      </p:sp>
      <p:sp>
        <p:nvSpPr>
          <p:cNvPr name="TextBox 8" id="8"/>
          <p:cNvSpPr txBox="true"/>
          <p:nvPr/>
        </p:nvSpPr>
        <p:spPr>
          <a:xfrm rot="0">
            <a:off x="1226121" y="3789085"/>
            <a:ext cx="15504219" cy="4124341"/>
          </a:xfrm>
          <a:prstGeom prst="rect">
            <a:avLst/>
          </a:prstGeom>
        </p:spPr>
        <p:txBody>
          <a:bodyPr anchor="t" rtlCol="false" tIns="0" lIns="0" bIns="0" rIns="0">
            <a:spAutoFit/>
          </a:bodyPr>
          <a:lstStyle/>
          <a:p>
            <a:pPr algn="just">
              <a:lnSpc>
                <a:spcPts val="4724"/>
              </a:lnSpc>
            </a:pPr>
            <a:r>
              <a:rPr lang="en-US" sz="3374" spc="33">
                <a:solidFill>
                  <a:srgbClr val="F5F5F5"/>
                </a:solidFill>
                <a:latin typeface="Neue Montreal"/>
                <a:ea typeface="Neue Montreal"/>
                <a:cs typeface="Neue Montreal"/>
                <a:sym typeface="Neue Montreal"/>
              </a:rPr>
              <a:t>S</a:t>
            </a:r>
            <a:r>
              <a:rPr lang="en-US" sz="3374" spc="33">
                <a:solidFill>
                  <a:srgbClr val="F5F5F5"/>
                </a:solidFill>
                <a:latin typeface="Neue Montreal"/>
                <a:ea typeface="Neue Montreal"/>
                <a:cs typeface="Neue Montreal"/>
                <a:sym typeface="Neue Montreal"/>
              </a:rPr>
              <a:t>upervised learning is generally used to solve two broad categories of problems, each associated with its own common algorithms:</a:t>
            </a:r>
          </a:p>
          <a:p>
            <a:pPr algn="just">
              <a:lnSpc>
                <a:spcPts val="4724"/>
              </a:lnSpc>
            </a:pPr>
          </a:p>
          <a:p>
            <a:pPr algn="just">
              <a:lnSpc>
                <a:spcPts val="4724"/>
              </a:lnSpc>
            </a:pPr>
            <a:r>
              <a:rPr lang="en-US" sz="3374" spc="33">
                <a:solidFill>
                  <a:srgbClr val="F5F5F5"/>
                </a:solidFill>
                <a:latin typeface="Neue Montreal"/>
                <a:ea typeface="Neue Montreal"/>
                <a:cs typeface="Neue Montreal"/>
                <a:sym typeface="Neue Montreal"/>
              </a:rPr>
              <a:t>• </a:t>
            </a:r>
            <a:r>
              <a:rPr lang="en-US" b="true" sz="3374" spc="33">
                <a:solidFill>
                  <a:srgbClr val="F5F5F5"/>
                </a:solidFill>
                <a:latin typeface="Neue Montreal Bold"/>
                <a:ea typeface="Neue Montreal Bold"/>
                <a:cs typeface="Neue Montreal Bold"/>
                <a:sym typeface="Neue Montreal Bold"/>
              </a:rPr>
              <a:t>Classification problems</a:t>
            </a:r>
            <a:r>
              <a:rPr lang="en-US" sz="3374" spc="33">
                <a:solidFill>
                  <a:srgbClr val="F5F5F5"/>
                </a:solidFill>
                <a:latin typeface="Neue Montreal"/>
                <a:ea typeface="Neue Montreal"/>
                <a:cs typeface="Neue Montreal"/>
                <a:sym typeface="Neue Montreal"/>
              </a:rPr>
              <a:t> — solved using algorithms such as the linear classifier, decision tree, support vector machines (SVM), random forest, and k-nearest neighbor</a:t>
            </a:r>
          </a:p>
          <a:p>
            <a:pPr algn="just">
              <a:lnSpc>
                <a:spcPts val="4724"/>
              </a:lnSpc>
            </a:pPr>
            <a:r>
              <a:rPr lang="en-US" sz="3374" spc="33">
                <a:solidFill>
                  <a:srgbClr val="F5F5F5"/>
                </a:solidFill>
                <a:latin typeface="Neue Montreal"/>
                <a:ea typeface="Neue Montreal"/>
                <a:cs typeface="Neue Montreal"/>
                <a:sym typeface="Neue Montreal"/>
              </a:rPr>
              <a:t>• </a:t>
            </a:r>
            <a:r>
              <a:rPr lang="en-US" b="true" sz="3374" spc="33">
                <a:solidFill>
                  <a:srgbClr val="F5F5F5"/>
                </a:solidFill>
                <a:latin typeface="Neue Montreal Bold"/>
                <a:ea typeface="Neue Montreal Bold"/>
                <a:cs typeface="Neue Montreal Bold"/>
                <a:sym typeface="Neue Montreal Bold"/>
              </a:rPr>
              <a:t>Regression problems</a:t>
            </a:r>
            <a:r>
              <a:rPr lang="en-US" sz="3374" spc="33">
                <a:solidFill>
                  <a:srgbClr val="F5F5F5"/>
                </a:solidFill>
                <a:latin typeface="Neue Montreal"/>
                <a:ea typeface="Neue Montreal"/>
                <a:cs typeface="Neue Montreal"/>
                <a:sym typeface="Neue Montreal"/>
              </a:rPr>
              <a:t> — solved using algorithms such as linear regression, polynomial regression, logistic regression, lasso regression, and ridge regression</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231F20"/>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768570" y="1719738"/>
            <a:ext cx="14876254" cy="1189811"/>
          </a:xfrm>
          <a:prstGeom prst="rect">
            <a:avLst/>
          </a:prstGeom>
        </p:spPr>
        <p:txBody>
          <a:bodyPr anchor="t" rtlCol="false" tIns="0" lIns="0" bIns="0" rIns="0">
            <a:spAutoFit/>
          </a:bodyPr>
          <a:lstStyle/>
          <a:p>
            <a:pPr algn="l">
              <a:lnSpc>
                <a:spcPts val="8985"/>
              </a:lnSpc>
            </a:pPr>
            <a:r>
              <a:rPr lang="en-US" b="true" sz="8557">
                <a:solidFill>
                  <a:srgbClr val="F5F5F5"/>
                </a:solidFill>
                <a:latin typeface="Neue Montreal Medium"/>
                <a:ea typeface="Neue Montreal Medium"/>
                <a:cs typeface="Neue Montreal Medium"/>
                <a:sym typeface="Neue Montreal Medium"/>
              </a:rPr>
              <a:t>Unsupervised Machine Learning</a:t>
            </a:r>
          </a:p>
        </p:txBody>
      </p:sp>
      <p:sp>
        <p:nvSpPr>
          <p:cNvPr name="TextBox 8" id="8"/>
          <p:cNvSpPr txBox="true"/>
          <p:nvPr/>
        </p:nvSpPr>
        <p:spPr>
          <a:xfrm rot="0">
            <a:off x="1217613" y="3471524"/>
            <a:ext cx="15852773" cy="4213057"/>
          </a:xfrm>
          <a:prstGeom prst="rect">
            <a:avLst/>
          </a:prstGeom>
        </p:spPr>
        <p:txBody>
          <a:bodyPr anchor="t" rtlCol="false" tIns="0" lIns="0" bIns="0" rIns="0">
            <a:spAutoFit/>
          </a:bodyPr>
          <a:lstStyle/>
          <a:p>
            <a:pPr algn="just">
              <a:lnSpc>
                <a:spcPts val="5609"/>
              </a:lnSpc>
            </a:pPr>
            <a:r>
              <a:rPr lang="en-US" b="true" sz="4006" spc="40">
                <a:solidFill>
                  <a:srgbClr val="F5F5F5"/>
                </a:solidFill>
                <a:latin typeface="Neue Montreal Bold"/>
                <a:ea typeface="Neue Montreal Bold"/>
                <a:cs typeface="Neue Montreal Bold"/>
                <a:sym typeface="Neue Montreal Bold"/>
              </a:rPr>
              <a:t>Unsupervised</a:t>
            </a:r>
            <a:r>
              <a:rPr lang="en-US" b="true" sz="4006" spc="40">
                <a:solidFill>
                  <a:srgbClr val="F5F5F5"/>
                </a:solidFill>
                <a:latin typeface="Neue Montreal Bold"/>
                <a:ea typeface="Neue Montreal Bold"/>
                <a:cs typeface="Neue Montreal Bold"/>
                <a:sym typeface="Neue Montreal Bold"/>
              </a:rPr>
              <a:t> learning uses unlabeled that is, untagged  datasets, allowing the algorithm to discover features and patterns within the data entirely on its own, without human-provided labels guiding the process. Unsupervised learning systems typically perform three core functions: clustering analysis, association establishment, and dimensionality reduction.</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231F20"/>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631410" y="1438786"/>
            <a:ext cx="14967694" cy="1189811"/>
          </a:xfrm>
          <a:prstGeom prst="rect">
            <a:avLst/>
          </a:prstGeom>
        </p:spPr>
        <p:txBody>
          <a:bodyPr anchor="t" rtlCol="false" tIns="0" lIns="0" bIns="0" rIns="0">
            <a:spAutoFit/>
          </a:bodyPr>
          <a:lstStyle/>
          <a:p>
            <a:pPr algn="l">
              <a:lnSpc>
                <a:spcPts val="8985"/>
              </a:lnSpc>
            </a:pPr>
            <a:r>
              <a:rPr lang="en-US" b="true" sz="8557">
                <a:solidFill>
                  <a:srgbClr val="F5F5F5"/>
                </a:solidFill>
                <a:latin typeface="Neue Montreal Medium"/>
                <a:ea typeface="Neue Montreal Medium"/>
                <a:cs typeface="Neue Montreal Medium"/>
                <a:sym typeface="Neue Montreal Medium"/>
              </a:rPr>
              <a:t>Unsupervised Machine Learning</a:t>
            </a:r>
          </a:p>
        </p:txBody>
      </p:sp>
      <p:sp>
        <p:nvSpPr>
          <p:cNvPr name="TextBox 8" id="8"/>
          <p:cNvSpPr txBox="true"/>
          <p:nvPr/>
        </p:nvSpPr>
        <p:spPr>
          <a:xfrm rot="0">
            <a:off x="1562594" y="2684499"/>
            <a:ext cx="15162813" cy="6694000"/>
          </a:xfrm>
          <a:prstGeom prst="rect">
            <a:avLst/>
          </a:prstGeom>
        </p:spPr>
        <p:txBody>
          <a:bodyPr anchor="t" rtlCol="false" tIns="0" lIns="0" bIns="0" rIns="0">
            <a:spAutoFit/>
          </a:bodyPr>
          <a:lstStyle/>
          <a:p>
            <a:pPr algn="just">
              <a:lnSpc>
                <a:spcPts val="4839"/>
              </a:lnSpc>
            </a:pPr>
            <a:r>
              <a:rPr lang="en-US" sz="3456" spc="34">
                <a:solidFill>
                  <a:srgbClr val="F5F5F5"/>
                </a:solidFill>
                <a:latin typeface="Neue Montreal"/>
                <a:ea typeface="Neue Montreal"/>
                <a:cs typeface="Neue Montreal"/>
                <a:sym typeface="Neue Montreal"/>
              </a:rPr>
              <a:t>Clust</a:t>
            </a:r>
            <a:r>
              <a:rPr lang="en-US" sz="3456" spc="34">
                <a:solidFill>
                  <a:srgbClr val="F5F5F5"/>
                </a:solidFill>
                <a:latin typeface="Neue Montreal"/>
                <a:ea typeface="Neue Montreal"/>
                <a:cs typeface="Neue Montreal"/>
                <a:sym typeface="Neue Montreal"/>
              </a:rPr>
              <a:t>ering groups similar items or data points together based on shared characteristics. Several types of clustering are commonly used:</a:t>
            </a:r>
          </a:p>
          <a:p>
            <a:pPr algn="just">
              <a:lnSpc>
                <a:spcPts val="4839"/>
              </a:lnSpc>
            </a:pPr>
          </a:p>
          <a:p>
            <a:pPr algn="just">
              <a:lnSpc>
                <a:spcPts val="4839"/>
              </a:lnSpc>
            </a:pPr>
            <a:r>
              <a:rPr lang="en-US" sz="3456" spc="34">
                <a:solidFill>
                  <a:srgbClr val="F5F5F5"/>
                </a:solidFill>
                <a:latin typeface="Neue Montreal"/>
                <a:ea typeface="Neue Montreal"/>
                <a:cs typeface="Neue Montreal"/>
                <a:sym typeface="Neue Montreal"/>
              </a:rPr>
              <a:t>• </a:t>
            </a:r>
            <a:r>
              <a:rPr lang="en-US" b="true" sz="3456" spc="34">
                <a:solidFill>
                  <a:srgbClr val="F5F5F5"/>
                </a:solidFill>
                <a:latin typeface="Neue Montreal Bold"/>
                <a:ea typeface="Neue Montreal Bold"/>
                <a:cs typeface="Neue Montreal Bold"/>
                <a:sym typeface="Neue Montreal Bold"/>
              </a:rPr>
              <a:t>Overlapping/exclusive clustering</a:t>
            </a:r>
            <a:r>
              <a:rPr lang="en-US" sz="3456" spc="34">
                <a:solidFill>
                  <a:srgbClr val="F5F5F5"/>
                </a:solidFill>
                <a:latin typeface="Neue Montreal"/>
                <a:ea typeface="Neue Montreal"/>
                <a:cs typeface="Neue Montreal"/>
                <a:sym typeface="Neue Montreal"/>
              </a:rPr>
              <a:t> — such as Fuzzy K-means (where a data point can belong to multiple clusters) or Hard K-means (where each data point belongs to exactly one cluster)</a:t>
            </a:r>
          </a:p>
          <a:p>
            <a:pPr algn="just">
              <a:lnSpc>
                <a:spcPts val="4839"/>
              </a:lnSpc>
            </a:pPr>
            <a:r>
              <a:rPr lang="en-US" sz="3456" spc="34">
                <a:solidFill>
                  <a:srgbClr val="F5F5F5"/>
                </a:solidFill>
                <a:latin typeface="Neue Montreal"/>
                <a:ea typeface="Neue Montreal"/>
                <a:cs typeface="Neue Montreal"/>
                <a:sym typeface="Neue Montreal"/>
              </a:rPr>
              <a:t>• </a:t>
            </a:r>
            <a:r>
              <a:rPr lang="en-US" b="true" sz="3456" spc="34">
                <a:solidFill>
                  <a:srgbClr val="F5F5F5"/>
                </a:solidFill>
                <a:latin typeface="Neue Montreal Bold"/>
                <a:ea typeface="Neue Montreal Bold"/>
                <a:cs typeface="Neue Montreal Bold"/>
                <a:sym typeface="Neue Montreal Bold"/>
              </a:rPr>
              <a:t>Hierarchical clustering</a:t>
            </a:r>
            <a:r>
              <a:rPr lang="en-US" sz="3456" spc="34">
                <a:solidFill>
                  <a:srgbClr val="F5F5F5"/>
                </a:solidFill>
                <a:latin typeface="Neue Montreal"/>
                <a:ea typeface="Neue Montreal"/>
                <a:cs typeface="Neue Montreal"/>
                <a:sym typeface="Neue Montreal"/>
              </a:rPr>
              <a:t> — building a hierarchy of clusters using Euclidean distance, either bottom-up (agglomerative) or top-down (divisive)</a:t>
            </a:r>
          </a:p>
          <a:p>
            <a:pPr algn="just">
              <a:lnSpc>
                <a:spcPts val="4839"/>
              </a:lnSpc>
            </a:pPr>
            <a:r>
              <a:rPr lang="en-US" sz="3456" spc="34">
                <a:solidFill>
                  <a:srgbClr val="F5F5F5"/>
                </a:solidFill>
                <a:latin typeface="Neue Montreal"/>
                <a:ea typeface="Neue Montreal"/>
                <a:cs typeface="Neue Montreal"/>
                <a:sym typeface="Neue Montreal"/>
              </a:rPr>
              <a:t>• </a:t>
            </a:r>
            <a:r>
              <a:rPr lang="en-US" b="true" sz="3456" spc="34">
                <a:solidFill>
                  <a:srgbClr val="F5F5F5"/>
                </a:solidFill>
                <a:latin typeface="Neue Montreal Bold"/>
                <a:ea typeface="Neue Montreal Bold"/>
                <a:cs typeface="Neue Montreal Bold"/>
                <a:sym typeface="Neue Montreal Bold"/>
              </a:rPr>
              <a:t>Probabilistic clustering</a:t>
            </a:r>
            <a:r>
              <a:rPr lang="en-US" sz="3456" spc="34">
                <a:solidFill>
                  <a:srgbClr val="F5F5F5"/>
                </a:solidFill>
                <a:latin typeface="Neue Montreal"/>
                <a:ea typeface="Neue Montreal"/>
                <a:cs typeface="Neue Montreal"/>
                <a:sym typeface="Neue Montreal"/>
              </a:rPr>
              <a:t> — such as the Gaussian Mixture Model, which assigns each point a probability of belonging to each cluster rather than a single hard assignment.</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946958" y="1881732"/>
            <a:ext cx="15030383" cy="879432"/>
          </a:xfrm>
          <a:prstGeom prst="rect">
            <a:avLst/>
          </a:prstGeom>
        </p:spPr>
        <p:txBody>
          <a:bodyPr anchor="t" rtlCol="false" tIns="0" lIns="0" bIns="0" rIns="0">
            <a:spAutoFit/>
          </a:bodyPr>
          <a:lstStyle/>
          <a:p>
            <a:pPr algn="l">
              <a:lnSpc>
                <a:spcPts val="6649"/>
              </a:lnSpc>
            </a:pPr>
            <a:r>
              <a:rPr lang="en-US" sz="6333" b="true">
                <a:solidFill>
                  <a:srgbClr val="333333"/>
                </a:solidFill>
                <a:latin typeface="Neue Montreal Medium"/>
                <a:ea typeface="Neue Montreal Medium"/>
                <a:cs typeface="Neue Montreal Medium"/>
                <a:sym typeface="Neue Montreal Medium"/>
              </a:rPr>
              <a:t>Semi-Super</a:t>
            </a:r>
            <a:r>
              <a:rPr lang="en-US" sz="6333" b="true">
                <a:solidFill>
                  <a:srgbClr val="333333"/>
                </a:solidFill>
                <a:latin typeface="Neue Montreal Medium"/>
                <a:ea typeface="Neue Montreal Medium"/>
                <a:cs typeface="Neue Montreal Medium"/>
                <a:sym typeface="Neue Montreal Medium"/>
              </a:rPr>
              <a:t>vised &amp; Re</a:t>
            </a:r>
            <a:r>
              <a:rPr lang="en-US" b="true" sz="6333">
                <a:solidFill>
                  <a:srgbClr val="333333"/>
                </a:solidFill>
                <a:latin typeface="Neue Montreal Medium"/>
                <a:ea typeface="Neue Montreal Medium"/>
                <a:cs typeface="Neue Montreal Medium"/>
                <a:sym typeface="Neue Montreal Medium"/>
              </a:rPr>
              <a:t>inforcement Learning</a:t>
            </a:r>
          </a:p>
        </p:txBody>
      </p:sp>
      <p:sp>
        <p:nvSpPr>
          <p:cNvPr name="TextBox 8" id="8"/>
          <p:cNvSpPr txBox="true"/>
          <p:nvPr/>
        </p:nvSpPr>
        <p:spPr>
          <a:xfrm rot="0">
            <a:off x="1143048" y="3161237"/>
            <a:ext cx="15109436" cy="5129583"/>
          </a:xfrm>
          <a:prstGeom prst="rect">
            <a:avLst/>
          </a:prstGeom>
        </p:spPr>
        <p:txBody>
          <a:bodyPr anchor="t" rtlCol="false" tIns="0" lIns="0" bIns="0" rIns="0">
            <a:spAutoFit/>
          </a:bodyPr>
          <a:lstStyle/>
          <a:p>
            <a:pPr algn="just">
              <a:lnSpc>
                <a:spcPts val="3392"/>
              </a:lnSpc>
            </a:pPr>
            <a:r>
              <a:rPr lang="en-US" b="true" sz="2422" spc="24">
                <a:solidFill>
                  <a:srgbClr val="333333"/>
                </a:solidFill>
                <a:latin typeface="Neue Montreal Bold"/>
                <a:ea typeface="Neue Montreal Bold"/>
                <a:cs typeface="Neue Montreal Bold"/>
                <a:sym typeface="Neue Montreal Bold"/>
              </a:rPr>
              <a:t>Semi-supervised learning</a:t>
            </a:r>
            <a:r>
              <a:rPr lang="en-US" b="true" sz="2422" spc="24">
                <a:solidFill>
                  <a:srgbClr val="333333"/>
                </a:solidFill>
                <a:latin typeface="Neue Montreal Bold"/>
                <a:ea typeface="Neue Montreal Bold"/>
                <a:cs typeface="Neue Montreal Bold"/>
                <a:sym typeface="Neue Montreal Bold"/>
              </a:rPr>
              <a:t> is a hybrid method that blends supervised and unsupervised learning techniques. It begins with a small set of labeled data to train an initial model, which subsequently analyzes a larger set of unlabeled or “pseudo-labeled” data. The outcomes from both stages are combined to produce a final result under specific assumptions. This approach addresses challenges in the data labeling process; fully supervised learning is costly and time-intensive due to the need for extensive manual labeling, while unsupervised learning lacks precision in targeting specific outcomes. Key assumptions underpinning semi-supervised learning include the continuity assumption (data points that are close are likely to have the same label), the cluster assumption (data generally forms discrete clusters), and the manifold assumption (high-dimensional data often resides on lower-dimensional structures). Applications of semi-supervised learning span various fields, including protein sequence classification, text document categorization, speech analysis, recognition, and large-scale classification of online content, where manual labeling of every instance is impractical. </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722068" y="1630272"/>
            <a:ext cx="15164605" cy="891699"/>
          </a:xfrm>
          <a:prstGeom prst="rect">
            <a:avLst/>
          </a:prstGeom>
        </p:spPr>
        <p:txBody>
          <a:bodyPr anchor="t" rtlCol="false" tIns="0" lIns="0" bIns="0" rIns="0">
            <a:spAutoFit/>
          </a:bodyPr>
          <a:lstStyle/>
          <a:p>
            <a:pPr algn="l">
              <a:lnSpc>
                <a:spcPts val="6734"/>
              </a:lnSpc>
            </a:pPr>
            <a:r>
              <a:rPr lang="en-US" sz="6413" b="true">
                <a:solidFill>
                  <a:srgbClr val="333333"/>
                </a:solidFill>
                <a:latin typeface="Neue Montreal Medium"/>
                <a:ea typeface="Neue Montreal Medium"/>
                <a:cs typeface="Neue Montreal Medium"/>
                <a:sym typeface="Neue Montreal Medium"/>
              </a:rPr>
              <a:t>Semi-Super</a:t>
            </a:r>
            <a:r>
              <a:rPr lang="en-US" sz="6413" b="true">
                <a:solidFill>
                  <a:srgbClr val="333333"/>
                </a:solidFill>
                <a:latin typeface="Neue Montreal Medium"/>
                <a:ea typeface="Neue Montreal Medium"/>
                <a:cs typeface="Neue Montreal Medium"/>
                <a:sym typeface="Neue Montreal Medium"/>
              </a:rPr>
              <a:t>vised &amp; Re</a:t>
            </a:r>
            <a:r>
              <a:rPr lang="en-US" b="true" sz="6413">
                <a:solidFill>
                  <a:srgbClr val="333333"/>
                </a:solidFill>
                <a:latin typeface="Neue Montreal Medium"/>
                <a:ea typeface="Neue Montreal Medium"/>
                <a:cs typeface="Neue Montreal Medium"/>
                <a:sym typeface="Neue Montreal Medium"/>
              </a:rPr>
              <a:t>inforcement Learning</a:t>
            </a:r>
          </a:p>
        </p:txBody>
      </p:sp>
      <p:sp>
        <p:nvSpPr>
          <p:cNvPr name="TextBox 8" id="8"/>
          <p:cNvSpPr txBox="true"/>
          <p:nvPr/>
        </p:nvSpPr>
        <p:spPr>
          <a:xfrm rot="0">
            <a:off x="1156258" y="2749757"/>
            <a:ext cx="15326083" cy="5067926"/>
          </a:xfrm>
          <a:prstGeom prst="rect">
            <a:avLst/>
          </a:prstGeom>
        </p:spPr>
        <p:txBody>
          <a:bodyPr anchor="t" rtlCol="false" tIns="0" lIns="0" bIns="0" rIns="0">
            <a:spAutoFit/>
          </a:bodyPr>
          <a:lstStyle/>
          <a:p>
            <a:pPr algn="just">
              <a:lnSpc>
                <a:spcPts val="3115"/>
              </a:lnSpc>
            </a:pPr>
            <a:r>
              <a:rPr lang="en-US" b="true" sz="2225" spc="22">
                <a:solidFill>
                  <a:srgbClr val="333333"/>
                </a:solidFill>
                <a:latin typeface="Neue Montreal Bold"/>
                <a:ea typeface="Neue Montreal Bold"/>
                <a:cs typeface="Neue Montreal Bold"/>
                <a:sym typeface="Neue Montreal Bold"/>
              </a:rPr>
              <a:t>In reinforcement learning,</a:t>
            </a:r>
            <a:r>
              <a:rPr lang="en-US" b="true" sz="2225" spc="22">
                <a:solidFill>
                  <a:srgbClr val="333333"/>
                </a:solidFill>
                <a:latin typeface="Neue Montreal Bold"/>
                <a:ea typeface="Neue Montreal Bold"/>
                <a:cs typeface="Neue Montreal Bold"/>
                <a:sym typeface="Neue Montreal Bold"/>
              </a:rPr>
              <a:t> an AI agent learns through direct feedback generated by its own actions within an environment: taking a positive, desirable step earns the agent a reward, while taking a wrong or undesirable step earns a penalty  a process often described informally as “hit-and-try” learning.</a:t>
            </a:r>
          </a:p>
          <a:p>
            <a:pPr algn="just">
              <a:lnSpc>
                <a:spcPts val="3115"/>
              </a:lnSpc>
            </a:pPr>
          </a:p>
          <a:p>
            <a:pPr algn="just">
              <a:lnSpc>
                <a:spcPts val="3115"/>
              </a:lnSpc>
            </a:pPr>
            <a:r>
              <a:rPr lang="en-US" b="true" sz="2225" spc="22">
                <a:solidFill>
                  <a:srgbClr val="333333"/>
                </a:solidFill>
                <a:latin typeface="Neue Montreal Bold"/>
                <a:ea typeface="Neue Montreal Bold"/>
                <a:cs typeface="Neue Montreal Bold"/>
                <a:sym typeface="Neue Montreal Bold"/>
              </a:rPr>
              <a:t>Unlike supervised learning, reinforcement learning does not rely on labeled training data. Instead, the agent learns through direct self-experience within a stochastic (partly random) environment, and its decision-making process is inherently sequential each decision the agent makes depends, at least in part, on the outcomes of its previous decisions.</a:t>
            </a:r>
          </a:p>
          <a:p>
            <a:pPr algn="just">
              <a:lnSpc>
                <a:spcPts val="3115"/>
              </a:lnSpc>
            </a:pPr>
            <a:r>
              <a:rPr lang="en-US" b="true" sz="2225" spc="22">
                <a:solidFill>
                  <a:srgbClr val="333333"/>
                </a:solidFill>
                <a:latin typeface="Neue Montreal Bold"/>
                <a:ea typeface="Neue Montreal Bold"/>
                <a:cs typeface="Neue Montreal Bold"/>
                <a:sym typeface="Neue Montreal Bold"/>
              </a:rPr>
              <a:t>The basic reinforcement learning workflow proceeds as follows: the agent takes an action within the environment; the environment provides feedback in the form of a reward or penalty; the agent updates its internal state based on that feedback; and the cycle repeats. The value of a given outcome is typically calculated using the Bellman Equation, a foundational formula in reinforcement learning that expresses the value of a state in terms of immediate reward plus the discounted value of future states.</a:t>
            </a:r>
          </a:p>
        </p:txBody>
      </p:sp>
      <p:sp>
        <p:nvSpPr>
          <p:cNvPr name="TextBox 9" id="9"/>
          <p:cNvSpPr txBox="true"/>
          <p:nvPr/>
        </p:nvSpPr>
        <p:spPr>
          <a:xfrm rot="0">
            <a:off x="1143048" y="8036758"/>
            <a:ext cx="14307017" cy="1364873"/>
          </a:xfrm>
          <a:prstGeom prst="rect">
            <a:avLst/>
          </a:prstGeom>
        </p:spPr>
        <p:txBody>
          <a:bodyPr anchor="t" rtlCol="false" tIns="0" lIns="0" bIns="0" rIns="0">
            <a:spAutoFit/>
          </a:bodyPr>
          <a:lstStyle/>
          <a:p>
            <a:pPr algn="l">
              <a:lnSpc>
                <a:spcPts val="3638"/>
              </a:lnSpc>
            </a:pPr>
            <a:r>
              <a:rPr lang="en-US" sz="2598" spc="25" b="true">
                <a:solidFill>
                  <a:srgbClr val="333333"/>
                </a:solidFill>
                <a:latin typeface="Neue Montreal Bold"/>
                <a:ea typeface="Neue Montreal Bold"/>
                <a:cs typeface="Neue Montreal Bold"/>
                <a:sym typeface="Neue Montreal Bold"/>
              </a:rPr>
              <a:t>There ar</a:t>
            </a:r>
            <a:r>
              <a:rPr lang="en-US" b="true" sz="2598" spc="25">
                <a:solidFill>
                  <a:srgbClr val="333333"/>
                </a:solidFill>
                <a:latin typeface="Neue Montreal Bold"/>
                <a:ea typeface="Neue Montreal Bold"/>
                <a:cs typeface="Neue Montreal Bold"/>
                <a:sym typeface="Neue Montreal Bold"/>
              </a:rPr>
              <a:t>e two broad types of reinforcement used to shape agent behavior:</a:t>
            </a:r>
          </a:p>
          <a:p>
            <a:pPr algn="l">
              <a:lnSpc>
                <a:spcPts val="3638"/>
              </a:lnSpc>
            </a:pPr>
            <a:r>
              <a:rPr lang="en-US" b="true" sz="2598" spc="25">
                <a:solidFill>
                  <a:srgbClr val="333333"/>
                </a:solidFill>
                <a:latin typeface="Neue Montreal Bold"/>
                <a:ea typeface="Neue Montreal Bold"/>
                <a:cs typeface="Neue Montreal Bold"/>
                <a:sym typeface="Neue Montreal Bold"/>
              </a:rPr>
              <a:t>• Positive reinforcement — encourages a particular behavior to recur, by rewarding it</a:t>
            </a:r>
          </a:p>
          <a:p>
            <a:pPr algn="l">
              <a:lnSpc>
                <a:spcPts val="3638"/>
              </a:lnSpc>
            </a:pPr>
            <a:r>
              <a:rPr lang="en-US" b="true" sz="2598" spc="25">
                <a:solidFill>
                  <a:srgbClr val="333333"/>
                </a:solidFill>
                <a:latin typeface="Neue Montreal Bold"/>
                <a:ea typeface="Neue Montreal Bold"/>
                <a:cs typeface="Neue Montreal Bold"/>
                <a:sym typeface="Neue Montreal Bold"/>
              </a:rPr>
              <a:t>• Negative reinforcement — discourages a particular behavior from recurring, by penalizing it</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768570" y="1473037"/>
            <a:ext cx="9571167" cy="1189811"/>
          </a:xfrm>
          <a:prstGeom prst="rect">
            <a:avLst/>
          </a:prstGeom>
        </p:spPr>
        <p:txBody>
          <a:bodyPr anchor="t" rtlCol="false" tIns="0" lIns="0" bIns="0" rIns="0">
            <a:spAutoFit/>
          </a:bodyPr>
          <a:lstStyle/>
          <a:p>
            <a:pPr algn="l">
              <a:lnSpc>
                <a:spcPts val="8985"/>
              </a:lnSpc>
            </a:pPr>
            <a:r>
              <a:rPr lang="en-US" b="true" sz="8557">
                <a:solidFill>
                  <a:srgbClr val="333333"/>
                </a:solidFill>
                <a:latin typeface="Neue Montreal Medium"/>
                <a:ea typeface="Neue Montreal Medium"/>
                <a:cs typeface="Neue Montreal Medium"/>
                <a:sym typeface="Neue Montreal Medium"/>
              </a:rPr>
              <a:t>Deep Learning</a:t>
            </a:r>
          </a:p>
        </p:txBody>
      </p:sp>
      <p:sp>
        <p:nvSpPr>
          <p:cNvPr name="TextBox 8" id="8"/>
          <p:cNvSpPr txBox="true"/>
          <p:nvPr/>
        </p:nvSpPr>
        <p:spPr>
          <a:xfrm rot="0">
            <a:off x="1522952" y="2958766"/>
            <a:ext cx="15674685" cy="5852951"/>
          </a:xfrm>
          <a:prstGeom prst="rect">
            <a:avLst/>
          </a:prstGeom>
        </p:spPr>
        <p:txBody>
          <a:bodyPr anchor="t" rtlCol="false" tIns="0" lIns="0" bIns="0" rIns="0">
            <a:spAutoFit/>
          </a:bodyPr>
          <a:lstStyle/>
          <a:p>
            <a:pPr algn="l">
              <a:lnSpc>
                <a:spcPts val="5230"/>
              </a:lnSpc>
            </a:pPr>
            <a:r>
              <a:rPr lang="en-US" b="true" sz="3736" spc="37">
                <a:solidFill>
                  <a:srgbClr val="333333"/>
                </a:solidFill>
                <a:latin typeface="Neue Montreal Bold"/>
                <a:ea typeface="Neue Montreal Bold"/>
                <a:cs typeface="Neue Montreal Bold"/>
                <a:sym typeface="Neue Montreal Bold"/>
              </a:rPr>
              <a:t>Deep</a:t>
            </a:r>
            <a:r>
              <a:rPr lang="en-US" b="true" sz="3736" spc="37">
                <a:solidFill>
                  <a:srgbClr val="333333"/>
                </a:solidFill>
                <a:latin typeface="Neue Montreal Bold"/>
                <a:ea typeface="Neue Montreal Bold"/>
                <a:cs typeface="Neue Montreal Bold"/>
                <a:sym typeface="Neue Montreal Bold"/>
              </a:rPr>
              <a:t> Learning (DL) is a specialized type of machine learning powered by neural networks that is capable of learning without needing extensively manually tagged data. Rather than relying on a fixed set of algorithms as traditional machine learning does deep learning structures its computations into layers, forming an artificial neural network capable of learning and making decisions largely on its own. In effect, a deep learning system develops its own internal algorithm for solving the task it is given, rather than following a hand-crafted algorithm designed entirely by a human engineer.</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610895" y="1396661"/>
            <a:ext cx="13207764" cy="968126"/>
          </a:xfrm>
          <a:prstGeom prst="rect">
            <a:avLst/>
          </a:prstGeom>
        </p:spPr>
        <p:txBody>
          <a:bodyPr anchor="t" rtlCol="false" tIns="0" lIns="0" bIns="0" rIns="0">
            <a:spAutoFit/>
          </a:bodyPr>
          <a:lstStyle/>
          <a:p>
            <a:pPr algn="l">
              <a:lnSpc>
                <a:spcPts val="7392"/>
              </a:lnSpc>
            </a:pPr>
            <a:r>
              <a:rPr lang="en-US" sz="7040" b="true">
                <a:solidFill>
                  <a:srgbClr val="333333"/>
                </a:solidFill>
                <a:latin typeface="Neue Montreal Medium"/>
                <a:ea typeface="Neue Montreal Medium"/>
                <a:cs typeface="Neue Montreal Medium"/>
                <a:sym typeface="Neue Montreal Medium"/>
              </a:rPr>
              <a:t>Artificial</a:t>
            </a:r>
            <a:r>
              <a:rPr lang="en-US" b="true" sz="7040">
                <a:solidFill>
                  <a:srgbClr val="333333"/>
                </a:solidFill>
                <a:latin typeface="Neue Montreal Medium"/>
                <a:ea typeface="Neue Montreal Medium"/>
                <a:cs typeface="Neue Montreal Medium"/>
                <a:sym typeface="Neue Montreal Medium"/>
              </a:rPr>
              <a:t> Neural Network Structure</a:t>
            </a:r>
          </a:p>
        </p:txBody>
      </p:sp>
      <p:sp>
        <p:nvSpPr>
          <p:cNvPr name="TextBox 8" id="8"/>
          <p:cNvSpPr txBox="true"/>
          <p:nvPr/>
        </p:nvSpPr>
        <p:spPr>
          <a:xfrm rot="0">
            <a:off x="1067675" y="2767258"/>
            <a:ext cx="16272205" cy="6491042"/>
          </a:xfrm>
          <a:prstGeom prst="rect">
            <a:avLst/>
          </a:prstGeom>
        </p:spPr>
        <p:txBody>
          <a:bodyPr anchor="t" rtlCol="false" tIns="0" lIns="0" bIns="0" rIns="0">
            <a:spAutoFit/>
          </a:bodyPr>
          <a:lstStyle/>
          <a:p>
            <a:pPr algn="l">
              <a:lnSpc>
                <a:spcPts val="4481"/>
              </a:lnSpc>
            </a:pPr>
            <a:r>
              <a:rPr lang="en-US" sz="3201" spc="32" b="true">
                <a:solidFill>
                  <a:srgbClr val="333333"/>
                </a:solidFill>
                <a:latin typeface="Neue Montreal Bold"/>
                <a:ea typeface="Neue Montreal Bold"/>
                <a:cs typeface="Neue Montreal Bold"/>
                <a:sym typeface="Neue Montreal Bold"/>
              </a:rPr>
              <a:t>An</a:t>
            </a:r>
            <a:r>
              <a:rPr lang="en-US" b="true" sz="3201" spc="32">
                <a:solidFill>
                  <a:srgbClr val="333333"/>
                </a:solidFill>
                <a:latin typeface="Neue Montreal Bold"/>
                <a:ea typeface="Neue Montreal Bold"/>
                <a:cs typeface="Neue Montreal Bold"/>
                <a:sym typeface="Neue Montreal Bold"/>
              </a:rPr>
              <a:t> Artificial Neural Network (ANN) is a multi-layered computational structure that processes data to build a deep understanding of a problem with minimal human intervention. Every ANN has at least three layer types input, output, and one or more hidden layers each composed of nodes (“neurons”).</a:t>
            </a:r>
          </a:p>
          <a:p>
            <a:pPr algn="l">
              <a:lnSpc>
                <a:spcPts val="4481"/>
              </a:lnSpc>
            </a:pPr>
          </a:p>
          <a:p>
            <a:pPr algn="l">
              <a:lnSpc>
                <a:spcPts val="4481"/>
              </a:lnSpc>
            </a:pPr>
            <a:r>
              <a:rPr lang="en-US" b="true" sz="3201" spc="32">
                <a:solidFill>
                  <a:srgbClr val="333333"/>
                </a:solidFill>
                <a:latin typeface="Neue Montreal Bold"/>
                <a:ea typeface="Neue Montreal Bold"/>
                <a:cs typeface="Neue Montreal Bold"/>
                <a:sym typeface="Neue Montreal Bold"/>
              </a:rPr>
              <a:t>Each node in the network carries both a threshold value and a weight. A signal only passes forward to the next layer once the combined input to a given node crosses that node's threshold; the weight associated with each connection determines how strongly one node's output influences the next node's input. During training, these weights are gradually adjusted typically through a process called backpropagation so that the network's overall output becomes more accurate over successive rounds of training.</a:t>
            </a:r>
          </a:p>
          <a:p>
            <a:pPr algn="l">
              <a:lnSpc>
                <a:spcPts val="2399"/>
              </a:lnSpc>
            </a:pP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665701" y="1591963"/>
            <a:ext cx="13461937" cy="930264"/>
          </a:xfrm>
          <a:prstGeom prst="rect">
            <a:avLst/>
          </a:prstGeom>
        </p:spPr>
        <p:txBody>
          <a:bodyPr anchor="t" rtlCol="false" tIns="0" lIns="0" bIns="0" rIns="0">
            <a:spAutoFit/>
          </a:bodyPr>
          <a:lstStyle/>
          <a:p>
            <a:pPr algn="l">
              <a:lnSpc>
                <a:spcPts val="7065"/>
              </a:lnSpc>
            </a:pPr>
            <a:r>
              <a:rPr lang="en-US" sz="6729" b="true">
                <a:solidFill>
                  <a:srgbClr val="333333"/>
                </a:solidFill>
                <a:latin typeface="Neue Montreal Medium"/>
                <a:ea typeface="Neue Montreal Medium"/>
                <a:cs typeface="Neue Montreal Medium"/>
                <a:sym typeface="Neue Montreal Medium"/>
              </a:rPr>
              <a:t>Major Machin</a:t>
            </a:r>
            <a:r>
              <a:rPr lang="en-US" b="true" sz="6729">
                <a:solidFill>
                  <a:srgbClr val="333333"/>
                </a:solidFill>
                <a:latin typeface="Neue Montreal Medium"/>
                <a:ea typeface="Neue Montreal Medium"/>
                <a:cs typeface="Neue Montreal Medium"/>
                <a:sym typeface="Neue Montreal Medium"/>
              </a:rPr>
              <a:t>e Learning Techniques</a:t>
            </a:r>
          </a:p>
        </p:txBody>
      </p:sp>
      <p:sp>
        <p:nvSpPr>
          <p:cNvPr name="TextBox 8" id="8"/>
          <p:cNvSpPr txBox="true"/>
          <p:nvPr/>
        </p:nvSpPr>
        <p:spPr>
          <a:xfrm rot="0">
            <a:off x="1544878" y="2995481"/>
            <a:ext cx="14331527" cy="6262819"/>
          </a:xfrm>
          <a:prstGeom prst="rect">
            <a:avLst/>
          </a:prstGeom>
        </p:spPr>
        <p:txBody>
          <a:bodyPr anchor="t" rtlCol="false" tIns="0" lIns="0" bIns="0" rIns="0">
            <a:spAutoFit/>
          </a:bodyPr>
          <a:lstStyle/>
          <a:p>
            <a:pPr algn="just">
              <a:lnSpc>
                <a:spcPts val="4980"/>
              </a:lnSpc>
            </a:pPr>
            <a:r>
              <a:rPr lang="en-US" b="true" sz="3557" spc="35">
                <a:solidFill>
                  <a:srgbClr val="333333"/>
                </a:solidFill>
                <a:latin typeface="Neue Montreal Bold"/>
                <a:ea typeface="Neue Montreal Bold"/>
                <a:cs typeface="Neue Montreal Bold"/>
                <a:sym typeface="Neue Montreal Bold"/>
              </a:rPr>
              <a:t>R</a:t>
            </a:r>
            <a:r>
              <a:rPr lang="en-US" b="true" sz="3557" spc="35">
                <a:solidFill>
                  <a:srgbClr val="333333"/>
                </a:solidFill>
                <a:latin typeface="Neue Montreal Bold"/>
                <a:ea typeface="Neue Montreal Bold"/>
                <a:cs typeface="Neue Montreal Bold"/>
                <a:sym typeface="Neue Montreal Bold"/>
              </a:rPr>
              <a:t>egression </a:t>
            </a:r>
            <a:r>
              <a:rPr lang="en-US" sz="3557" spc="35">
                <a:solidFill>
                  <a:srgbClr val="333333"/>
                </a:solidFill>
                <a:latin typeface="Neue Montreal"/>
                <a:ea typeface="Neue Montreal"/>
                <a:cs typeface="Neue Montreal"/>
                <a:sym typeface="Neue Montreal"/>
              </a:rPr>
              <a:t>— predicts continuous numerical outputs.</a:t>
            </a:r>
          </a:p>
          <a:p>
            <a:pPr algn="just">
              <a:lnSpc>
                <a:spcPts val="4980"/>
              </a:lnSpc>
            </a:pPr>
            <a:r>
              <a:rPr lang="en-US" b="true" sz="3557" spc="35">
                <a:solidFill>
                  <a:srgbClr val="333333"/>
                </a:solidFill>
                <a:latin typeface="Neue Montreal Bold"/>
                <a:ea typeface="Neue Montreal Bold"/>
                <a:cs typeface="Neue Montreal Bold"/>
                <a:sym typeface="Neue Montreal Bold"/>
              </a:rPr>
              <a:t>Decision Trees</a:t>
            </a:r>
            <a:r>
              <a:rPr lang="en-US" sz="3557" spc="35">
                <a:solidFill>
                  <a:srgbClr val="333333"/>
                </a:solidFill>
                <a:latin typeface="Neue Montreal"/>
                <a:ea typeface="Neue Montreal"/>
                <a:cs typeface="Neue Montreal"/>
                <a:sym typeface="Neue Montreal"/>
              </a:rPr>
              <a:t> — classify or predict using branching logic.</a:t>
            </a:r>
          </a:p>
          <a:p>
            <a:pPr algn="just">
              <a:lnSpc>
                <a:spcPts val="4980"/>
              </a:lnSpc>
            </a:pPr>
            <a:r>
              <a:rPr lang="en-US" b="true" sz="3557" spc="35">
                <a:solidFill>
                  <a:srgbClr val="333333"/>
                </a:solidFill>
                <a:latin typeface="Neue Montreal Bold"/>
                <a:ea typeface="Neue Montreal Bold"/>
                <a:cs typeface="Neue Montreal Bold"/>
                <a:sym typeface="Neue Montreal Bold"/>
              </a:rPr>
              <a:t>Clus</a:t>
            </a:r>
            <a:r>
              <a:rPr lang="en-US" b="true" sz="3557" spc="35">
                <a:solidFill>
                  <a:srgbClr val="333333"/>
                </a:solidFill>
                <a:latin typeface="Neue Montreal Bold"/>
                <a:ea typeface="Neue Montreal Bold"/>
                <a:cs typeface="Neue Montreal Bold"/>
                <a:sym typeface="Neue Montreal Bold"/>
              </a:rPr>
              <a:t>tering </a:t>
            </a:r>
            <a:r>
              <a:rPr lang="en-US" sz="3557" spc="35">
                <a:solidFill>
                  <a:srgbClr val="333333"/>
                </a:solidFill>
                <a:latin typeface="Neue Montreal"/>
                <a:ea typeface="Neue Montreal"/>
                <a:cs typeface="Neue Montreal"/>
                <a:sym typeface="Neue Montreal"/>
              </a:rPr>
              <a:t>— groups data by similarity.</a:t>
            </a:r>
          </a:p>
          <a:p>
            <a:pPr algn="just">
              <a:lnSpc>
                <a:spcPts val="4980"/>
              </a:lnSpc>
            </a:pPr>
            <a:r>
              <a:rPr lang="en-US" b="true" sz="3557" spc="35">
                <a:solidFill>
                  <a:srgbClr val="333333"/>
                </a:solidFill>
                <a:latin typeface="Neue Montreal Bold"/>
                <a:ea typeface="Neue Montreal Bold"/>
                <a:cs typeface="Neue Montreal Bold"/>
                <a:sym typeface="Neue Montreal Bold"/>
              </a:rPr>
              <a:t>Classification </a:t>
            </a:r>
            <a:r>
              <a:rPr lang="en-US" sz="3557" spc="35">
                <a:solidFill>
                  <a:srgbClr val="333333"/>
                </a:solidFill>
                <a:latin typeface="Neue Montreal"/>
                <a:ea typeface="Neue Montreal"/>
                <a:cs typeface="Neue Montreal"/>
                <a:sym typeface="Neue Montreal"/>
              </a:rPr>
              <a:t>— assigns data to defined classes.</a:t>
            </a:r>
          </a:p>
          <a:p>
            <a:pPr algn="just">
              <a:lnSpc>
                <a:spcPts val="4980"/>
              </a:lnSpc>
            </a:pPr>
            <a:r>
              <a:rPr lang="en-US" b="true" sz="3557" spc="35">
                <a:solidFill>
                  <a:srgbClr val="333333"/>
                </a:solidFill>
                <a:latin typeface="Neue Montreal Bold"/>
                <a:ea typeface="Neue Montreal Bold"/>
                <a:cs typeface="Neue Montreal Bold"/>
                <a:sym typeface="Neue Montreal Bold"/>
              </a:rPr>
              <a:t>Anomaly Detection</a:t>
            </a:r>
            <a:r>
              <a:rPr lang="en-US" sz="3557" spc="35">
                <a:solidFill>
                  <a:srgbClr val="333333"/>
                </a:solidFill>
                <a:latin typeface="Neue Montreal"/>
                <a:ea typeface="Neue Montreal"/>
                <a:cs typeface="Neue Montreal"/>
                <a:sym typeface="Neue Montreal"/>
              </a:rPr>
              <a:t> — flags unusual or outlying data points.</a:t>
            </a:r>
          </a:p>
          <a:p>
            <a:pPr algn="just">
              <a:lnSpc>
                <a:spcPts val="4980"/>
              </a:lnSpc>
            </a:pPr>
            <a:r>
              <a:rPr lang="en-US" b="true" sz="3557" spc="35">
                <a:solidFill>
                  <a:srgbClr val="333333"/>
                </a:solidFill>
                <a:latin typeface="Neue Montreal Bold"/>
                <a:ea typeface="Neue Montreal Bold"/>
                <a:cs typeface="Neue Montreal Bold"/>
                <a:sym typeface="Neue Montreal Bold"/>
              </a:rPr>
              <a:t>Neural Networks</a:t>
            </a:r>
            <a:r>
              <a:rPr lang="en-US" sz="3557" spc="35">
                <a:solidFill>
                  <a:srgbClr val="333333"/>
                </a:solidFill>
                <a:latin typeface="Neue Montreal"/>
                <a:ea typeface="Neue Montreal"/>
                <a:cs typeface="Neue Montreal"/>
                <a:sym typeface="Neue Montreal"/>
              </a:rPr>
              <a:t> — layered, brain-inspired learning.</a:t>
            </a:r>
          </a:p>
          <a:p>
            <a:pPr algn="just">
              <a:lnSpc>
                <a:spcPts val="4980"/>
              </a:lnSpc>
            </a:pPr>
            <a:r>
              <a:rPr lang="en-US" b="true" sz="3557" spc="35">
                <a:solidFill>
                  <a:srgbClr val="333333"/>
                </a:solidFill>
                <a:latin typeface="Neue Montreal Bold"/>
                <a:ea typeface="Neue Montreal Bold"/>
                <a:cs typeface="Neue Montreal Bold"/>
                <a:sym typeface="Neue Montreal Bold"/>
              </a:rPr>
              <a:t>Dimensionality Reduction</a:t>
            </a:r>
            <a:r>
              <a:rPr lang="en-US" sz="3557" spc="35">
                <a:solidFill>
                  <a:srgbClr val="333333"/>
                </a:solidFill>
                <a:latin typeface="Neue Montreal"/>
                <a:ea typeface="Neue Montreal"/>
                <a:cs typeface="Neue Montreal"/>
                <a:sym typeface="Neue Montreal"/>
              </a:rPr>
              <a:t> — simplifies redundant features.</a:t>
            </a:r>
          </a:p>
          <a:p>
            <a:pPr algn="just">
              <a:lnSpc>
                <a:spcPts val="4980"/>
              </a:lnSpc>
            </a:pPr>
            <a:r>
              <a:rPr lang="en-US" b="true" sz="3557" spc="35">
                <a:solidFill>
                  <a:srgbClr val="333333"/>
                </a:solidFill>
                <a:latin typeface="Neue Montreal Bold"/>
                <a:ea typeface="Neue Montreal Bold"/>
                <a:cs typeface="Neue Montreal Bold"/>
                <a:sym typeface="Neue Montreal Bold"/>
              </a:rPr>
              <a:t>Ensemble Methods</a:t>
            </a:r>
            <a:r>
              <a:rPr lang="en-US" sz="3557" spc="35">
                <a:solidFill>
                  <a:srgbClr val="333333"/>
                </a:solidFill>
                <a:latin typeface="Neue Montreal"/>
                <a:ea typeface="Neue Montreal"/>
                <a:cs typeface="Neue Montreal"/>
                <a:sym typeface="Neue Montreal"/>
              </a:rPr>
              <a:t> — combines multiple algorithms/models.</a:t>
            </a:r>
          </a:p>
          <a:p>
            <a:pPr algn="just">
              <a:lnSpc>
                <a:spcPts val="4980"/>
              </a:lnSpc>
            </a:pPr>
            <a:r>
              <a:rPr lang="en-US" b="true" sz="3557" spc="35">
                <a:solidFill>
                  <a:srgbClr val="333333"/>
                </a:solidFill>
                <a:latin typeface="Neue Montreal Bold"/>
                <a:ea typeface="Neue Montreal Bold"/>
                <a:cs typeface="Neue Montreal Bold"/>
                <a:sym typeface="Neue Montreal Bold"/>
              </a:rPr>
              <a:t>Transfer Learning</a:t>
            </a:r>
            <a:r>
              <a:rPr lang="en-US" sz="3557" spc="35">
                <a:solidFill>
                  <a:srgbClr val="333333"/>
                </a:solidFill>
                <a:latin typeface="Neue Montreal"/>
                <a:ea typeface="Neue Montreal"/>
                <a:cs typeface="Neue Montreal"/>
                <a:sym typeface="Neue Montreal"/>
              </a:rPr>
              <a:t> — reuses knowledge from prior models.</a:t>
            </a:r>
          </a:p>
          <a:p>
            <a:pPr algn="just">
              <a:lnSpc>
                <a:spcPts val="4980"/>
              </a:lnSpc>
            </a:pPr>
            <a:r>
              <a:rPr lang="en-US" b="true" sz="3557" spc="35">
                <a:solidFill>
                  <a:srgbClr val="333333"/>
                </a:solidFill>
                <a:latin typeface="Neue Montreal Bold"/>
                <a:ea typeface="Neue Montreal Bold"/>
                <a:cs typeface="Neue Montreal Bold"/>
                <a:sym typeface="Neue Montreal Bold"/>
              </a:rPr>
              <a:t>NLP &amp; Word Embedding</a:t>
            </a:r>
            <a:r>
              <a:rPr lang="en-US" sz="3557" spc="35">
                <a:solidFill>
                  <a:srgbClr val="333333"/>
                </a:solidFill>
                <a:latin typeface="Neue Montreal"/>
                <a:ea typeface="Neue Montreal"/>
                <a:cs typeface="Neue Montreal"/>
                <a:sym typeface="Neue Montreal"/>
              </a:rPr>
              <a:t> — represent and process human language.</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650558" y="1851607"/>
            <a:ext cx="14307631" cy="994687"/>
          </a:xfrm>
          <a:prstGeom prst="rect">
            <a:avLst/>
          </a:prstGeom>
        </p:spPr>
        <p:txBody>
          <a:bodyPr anchor="t" rtlCol="false" tIns="0" lIns="0" bIns="0" rIns="0">
            <a:spAutoFit/>
          </a:bodyPr>
          <a:lstStyle/>
          <a:p>
            <a:pPr algn="l">
              <a:lnSpc>
                <a:spcPts val="7509"/>
              </a:lnSpc>
            </a:pPr>
            <a:r>
              <a:rPr lang="en-US" sz="7151" b="true">
                <a:solidFill>
                  <a:srgbClr val="333333"/>
                </a:solidFill>
                <a:latin typeface="Neue Montreal Medium"/>
                <a:ea typeface="Neue Montreal Medium"/>
                <a:cs typeface="Neue Montreal Medium"/>
                <a:sym typeface="Neue Montreal Medium"/>
              </a:rPr>
              <a:t>Regression</a:t>
            </a:r>
            <a:r>
              <a:rPr lang="en-US" b="true" sz="7151">
                <a:solidFill>
                  <a:srgbClr val="333333"/>
                </a:solidFill>
                <a:latin typeface="Neue Montreal Medium"/>
                <a:ea typeface="Neue Montreal Medium"/>
                <a:cs typeface="Neue Montreal Medium"/>
                <a:sym typeface="Neue Montreal Medium"/>
              </a:rPr>
              <a:t> Algorithms</a:t>
            </a:r>
          </a:p>
        </p:txBody>
      </p:sp>
      <p:sp>
        <p:nvSpPr>
          <p:cNvPr name="TextBox 8" id="8"/>
          <p:cNvSpPr txBox="true"/>
          <p:nvPr/>
        </p:nvSpPr>
        <p:spPr>
          <a:xfrm rot="0">
            <a:off x="1339138" y="3236053"/>
            <a:ext cx="14331527" cy="3748219"/>
          </a:xfrm>
          <a:prstGeom prst="rect">
            <a:avLst/>
          </a:prstGeom>
        </p:spPr>
        <p:txBody>
          <a:bodyPr anchor="t" rtlCol="false" tIns="0" lIns="0" bIns="0" rIns="0">
            <a:spAutoFit/>
          </a:bodyPr>
          <a:lstStyle/>
          <a:p>
            <a:pPr algn="just">
              <a:lnSpc>
                <a:spcPts val="4980"/>
              </a:lnSpc>
            </a:pPr>
            <a:r>
              <a:rPr lang="en-US" b="true" sz="3557" spc="35">
                <a:solidFill>
                  <a:srgbClr val="333333"/>
                </a:solidFill>
                <a:latin typeface="Neue Montreal Bold"/>
                <a:ea typeface="Neue Montreal Bold"/>
                <a:cs typeface="Neue Montreal Bold"/>
                <a:sym typeface="Neue Montreal Bold"/>
              </a:rPr>
              <a:t>R</a:t>
            </a:r>
            <a:r>
              <a:rPr lang="en-US" b="true" sz="3557" spc="35">
                <a:solidFill>
                  <a:srgbClr val="333333"/>
                </a:solidFill>
                <a:latin typeface="Neue Montreal Bold"/>
                <a:ea typeface="Neue Montreal Bold"/>
                <a:cs typeface="Neue Montreal Bold"/>
                <a:sym typeface="Neue Montreal Bold"/>
              </a:rPr>
              <a:t>egression algorithms estimate or predict a dependent (target) variable based on its relation</a:t>
            </a:r>
            <a:r>
              <a:rPr lang="en-US" b="true" sz="3557" spc="35">
                <a:solidFill>
                  <a:srgbClr val="333333"/>
                </a:solidFill>
                <a:latin typeface="Neue Montreal Bold"/>
                <a:ea typeface="Neue Montreal Bold"/>
                <a:cs typeface="Neue Montreal Bold"/>
                <a:sym typeface="Neue Montreal Bold"/>
              </a:rPr>
              <a:t>sh</a:t>
            </a:r>
            <a:r>
              <a:rPr lang="en-US" b="true" sz="3557" spc="35">
                <a:solidFill>
                  <a:srgbClr val="333333"/>
                </a:solidFill>
                <a:latin typeface="Neue Montreal Bold"/>
                <a:ea typeface="Neue Montreal Bold"/>
                <a:cs typeface="Neue Montreal Bold"/>
                <a:sym typeface="Neue Montreal Bold"/>
              </a:rPr>
              <a:t>ip with one or more independent variables, generally using supervised learning. Common real-world uses of regression algorithms include forecasting market trends, projecting stock market movement, and predicting prices, salaries, and costs.</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290638" y="1277749"/>
            <a:ext cx="5437951" cy="994687"/>
          </a:xfrm>
          <a:prstGeom prst="rect">
            <a:avLst/>
          </a:prstGeom>
        </p:spPr>
        <p:txBody>
          <a:bodyPr anchor="t" rtlCol="false" tIns="0" lIns="0" bIns="0" rIns="0">
            <a:spAutoFit/>
          </a:bodyPr>
          <a:lstStyle/>
          <a:p>
            <a:pPr algn="l">
              <a:lnSpc>
                <a:spcPts val="7509"/>
              </a:lnSpc>
            </a:pPr>
            <a:r>
              <a:rPr lang="en-US" sz="7151" b="true">
                <a:solidFill>
                  <a:srgbClr val="333333"/>
                </a:solidFill>
                <a:latin typeface="Neue Montreal Medium"/>
                <a:ea typeface="Neue Montreal Medium"/>
                <a:cs typeface="Neue Montreal Medium"/>
                <a:sym typeface="Neue Montreal Medium"/>
              </a:rPr>
              <a:t>Decision</a:t>
            </a:r>
            <a:r>
              <a:rPr lang="en-US" b="true" sz="7151">
                <a:solidFill>
                  <a:srgbClr val="333333"/>
                </a:solidFill>
                <a:latin typeface="Neue Montreal Medium"/>
                <a:ea typeface="Neue Montreal Medium"/>
                <a:cs typeface="Neue Montreal Medium"/>
                <a:sym typeface="Neue Montreal Medium"/>
              </a:rPr>
              <a:t> Tree</a:t>
            </a:r>
          </a:p>
        </p:txBody>
      </p:sp>
      <p:sp>
        <p:nvSpPr>
          <p:cNvPr name="TextBox 8" id="8"/>
          <p:cNvSpPr txBox="true"/>
          <p:nvPr/>
        </p:nvSpPr>
        <p:spPr>
          <a:xfrm rot="0">
            <a:off x="1331974" y="2573352"/>
            <a:ext cx="14331527" cy="6262819"/>
          </a:xfrm>
          <a:prstGeom prst="rect">
            <a:avLst/>
          </a:prstGeom>
        </p:spPr>
        <p:txBody>
          <a:bodyPr anchor="t" rtlCol="false" tIns="0" lIns="0" bIns="0" rIns="0">
            <a:spAutoFit/>
          </a:bodyPr>
          <a:lstStyle/>
          <a:p>
            <a:pPr algn="l">
              <a:lnSpc>
                <a:spcPts val="4980"/>
              </a:lnSpc>
            </a:pPr>
            <a:r>
              <a:rPr lang="en-US" sz="3557" spc="35">
                <a:solidFill>
                  <a:srgbClr val="333333"/>
                </a:solidFill>
                <a:latin typeface="Neue Montreal"/>
                <a:ea typeface="Neue Montreal"/>
                <a:cs typeface="Neue Montreal"/>
                <a:sym typeface="Neue Montreal"/>
              </a:rPr>
              <a:t>A d</a:t>
            </a:r>
            <a:r>
              <a:rPr lang="en-US" sz="3557" spc="35">
                <a:solidFill>
                  <a:srgbClr val="333333"/>
                </a:solidFill>
                <a:latin typeface="Neue Montreal"/>
                <a:ea typeface="Neue Montreal"/>
                <a:cs typeface="Neue Montreal"/>
                <a:sym typeface="Neue Montreal"/>
              </a:rPr>
              <a:t>ecision tree is a step-by-step logical tree structure, starting at the root (stem) of the tree and passing through a series of branches down to a final leaf node, which represents the resulting class or predicted value.</a:t>
            </a:r>
          </a:p>
          <a:p>
            <a:pPr algn="l">
              <a:lnSpc>
                <a:spcPts val="4980"/>
              </a:lnSpc>
            </a:pPr>
          </a:p>
          <a:p>
            <a:pPr algn="l">
              <a:lnSpc>
                <a:spcPts val="4980"/>
              </a:lnSpc>
            </a:pPr>
            <a:r>
              <a:rPr lang="en-US" sz="3557" spc="35">
                <a:solidFill>
                  <a:srgbClr val="333333"/>
                </a:solidFill>
                <a:latin typeface="Neue Montreal"/>
                <a:ea typeface="Neue Montreal"/>
                <a:cs typeface="Neue Montreal"/>
                <a:sym typeface="Neue Montreal"/>
              </a:rPr>
              <a:t>• </a:t>
            </a:r>
            <a:r>
              <a:rPr lang="en-US" b="true" sz="3557" spc="35">
                <a:solidFill>
                  <a:srgbClr val="333333"/>
                </a:solidFill>
                <a:latin typeface="Neue Montreal Bold"/>
                <a:ea typeface="Neue Montreal Bold"/>
                <a:cs typeface="Neue Montreal Bold"/>
                <a:sym typeface="Neue Montreal Bold"/>
              </a:rPr>
              <a:t>Advantages</a:t>
            </a:r>
            <a:r>
              <a:rPr lang="en-US" sz="3557" spc="35">
                <a:solidFill>
                  <a:srgbClr val="333333"/>
                </a:solidFill>
                <a:latin typeface="Neue Montreal"/>
                <a:ea typeface="Neue Montreal"/>
                <a:cs typeface="Neue Montreal"/>
                <a:sym typeface="Neue Montreal"/>
              </a:rPr>
              <a:t>: easy and intuitive to interpret, even for a non-technical audience; works for both classification and regression problems; handles both linear and non</a:t>
            </a:r>
            <a:r>
              <a:rPr lang="en-US" sz="3557" spc="35">
                <a:solidFill>
                  <a:srgbClr val="333333"/>
                </a:solidFill>
                <a:latin typeface="Neue Montreal"/>
                <a:ea typeface="Neue Montreal"/>
                <a:cs typeface="Neue Montreal"/>
                <a:sym typeface="Neue Montreal"/>
              </a:rPr>
              <a:t>-line</a:t>
            </a:r>
            <a:r>
              <a:rPr lang="en-US" sz="3557" spc="35">
                <a:solidFill>
                  <a:srgbClr val="333333"/>
                </a:solidFill>
                <a:latin typeface="Neue Montreal"/>
                <a:ea typeface="Neue Montreal"/>
                <a:cs typeface="Neue Montreal"/>
                <a:sym typeface="Neue Montreal"/>
              </a:rPr>
              <a:t>ar data equally well; fast and relatively simple to build.</a:t>
            </a:r>
          </a:p>
          <a:p>
            <a:pPr algn="l">
              <a:lnSpc>
                <a:spcPts val="4980"/>
              </a:lnSpc>
            </a:pPr>
            <a:r>
              <a:rPr lang="en-US" sz="3557" spc="35">
                <a:solidFill>
                  <a:srgbClr val="333333"/>
                </a:solidFill>
                <a:latin typeface="Neue Montreal"/>
                <a:ea typeface="Neue Montreal"/>
                <a:cs typeface="Neue Montreal"/>
                <a:sym typeface="Neue Montreal"/>
              </a:rPr>
              <a:t>• </a:t>
            </a:r>
            <a:r>
              <a:rPr lang="en-US" b="true" sz="3557" spc="35">
                <a:solidFill>
                  <a:srgbClr val="333333"/>
                </a:solidFill>
                <a:latin typeface="Neue Montreal Bold"/>
                <a:ea typeface="Neue Montreal Bold"/>
                <a:cs typeface="Neue Montreal Bold"/>
                <a:sym typeface="Neue Montreal Bold"/>
              </a:rPr>
              <a:t>Limitations</a:t>
            </a:r>
            <a:r>
              <a:rPr lang="en-US" sz="3557" spc="35">
                <a:solidFill>
                  <a:srgbClr val="333333"/>
                </a:solidFill>
                <a:latin typeface="Neue Montreal"/>
                <a:ea typeface="Neue Montreal"/>
                <a:cs typeface="Neue Montreal"/>
                <a:sym typeface="Neue Montreal"/>
              </a:rPr>
              <a:t>: can easily “overfit” to the training data (memorizing noise rather than learning a general pattern) if not carefully controlled; a single decision tree is often less accurate than an ensemble of trees.</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107758" y="1323469"/>
            <a:ext cx="14307631" cy="994687"/>
          </a:xfrm>
          <a:prstGeom prst="rect">
            <a:avLst/>
          </a:prstGeom>
        </p:spPr>
        <p:txBody>
          <a:bodyPr anchor="t" rtlCol="false" tIns="0" lIns="0" bIns="0" rIns="0">
            <a:spAutoFit/>
          </a:bodyPr>
          <a:lstStyle/>
          <a:p>
            <a:pPr algn="l">
              <a:lnSpc>
                <a:spcPts val="7509"/>
              </a:lnSpc>
            </a:pPr>
            <a:r>
              <a:rPr lang="en-US" sz="7151" b="true">
                <a:solidFill>
                  <a:srgbClr val="333333"/>
                </a:solidFill>
                <a:latin typeface="Neue Montreal Medium"/>
                <a:ea typeface="Neue Montreal Medium"/>
                <a:cs typeface="Neue Montreal Medium"/>
                <a:sym typeface="Neue Montreal Medium"/>
              </a:rPr>
              <a:t>Clustering</a:t>
            </a:r>
            <a:r>
              <a:rPr lang="en-US" b="true" sz="7151">
                <a:solidFill>
                  <a:srgbClr val="333333"/>
                </a:solidFill>
                <a:latin typeface="Neue Montreal Medium"/>
                <a:ea typeface="Neue Montreal Medium"/>
                <a:cs typeface="Neue Montreal Medium"/>
                <a:sym typeface="Neue Montreal Medium"/>
              </a:rPr>
              <a:t> Algorithms</a:t>
            </a:r>
          </a:p>
        </p:txBody>
      </p:sp>
      <p:sp>
        <p:nvSpPr>
          <p:cNvPr name="TextBox 8" id="8"/>
          <p:cNvSpPr txBox="true"/>
          <p:nvPr/>
        </p:nvSpPr>
        <p:spPr>
          <a:xfrm rot="0">
            <a:off x="1764849" y="2756232"/>
            <a:ext cx="14331527" cy="5005519"/>
          </a:xfrm>
          <a:prstGeom prst="rect">
            <a:avLst/>
          </a:prstGeom>
        </p:spPr>
        <p:txBody>
          <a:bodyPr anchor="t" rtlCol="false" tIns="0" lIns="0" bIns="0" rIns="0">
            <a:spAutoFit/>
          </a:bodyPr>
          <a:lstStyle/>
          <a:p>
            <a:pPr algn="just">
              <a:lnSpc>
                <a:spcPts val="4980"/>
              </a:lnSpc>
            </a:pPr>
            <a:r>
              <a:rPr lang="en-US" b="true" sz="3557" spc="35">
                <a:solidFill>
                  <a:srgbClr val="333333"/>
                </a:solidFill>
                <a:latin typeface="Neue Montreal Bold"/>
                <a:ea typeface="Neue Montreal Bold"/>
                <a:cs typeface="Neue Montreal Bold"/>
                <a:sym typeface="Neue Montreal Bold"/>
              </a:rPr>
              <a:t>Clu</a:t>
            </a:r>
            <a:r>
              <a:rPr lang="en-US" b="true" sz="3557" spc="35">
                <a:solidFill>
                  <a:srgbClr val="333333"/>
                </a:solidFill>
                <a:latin typeface="Neue Montreal Bold"/>
                <a:ea typeface="Neue Montreal Bold"/>
                <a:cs typeface="Neue Montreal Bold"/>
                <a:sym typeface="Neue Montreal Bold"/>
              </a:rPr>
              <a:t>stering algorithms group data points into natural clusters based on similarity in their characteristics — such as color, behavior, size, or interests — using an unsupervised technique also known as cluster analysis. Common tasks solved with clustering include statist</a:t>
            </a:r>
            <a:r>
              <a:rPr lang="en-US" b="true" sz="3557" spc="35">
                <a:solidFill>
                  <a:srgbClr val="333333"/>
                </a:solidFill>
                <a:latin typeface="Neue Montreal Bold"/>
                <a:ea typeface="Neue Montreal Bold"/>
                <a:cs typeface="Neue Montreal Bold"/>
                <a:sym typeface="Neue Montreal Bold"/>
              </a:rPr>
              <a:t>ic</a:t>
            </a:r>
            <a:r>
              <a:rPr lang="en-US" b="true" sz="3557" spc="35">
                <a:solidFill>
                  <a:srgbClr val="333333"/>
                </a:solidFill>
                <a:latin typeface="Neue Montreal Bold"/>
                <a:ea typeface="Neue Montreal Bold"/>
                <a:cs typeface="Neue Montreal Bold"/>
                <a:sym typeface="Neue Montreal Bold"/>
              </a:rPr>
              <a:t>al data analysis, image segmentation, market segmentation, social network analysis, and anomaly detection. Common overall methods include partitioning-based, density-based, distribution-model-based, hierarchical, and fuzzy clustering.</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786938" y="1897327"/>
            <a:ext cx="14307631" cy="994687"/>
          </a:xfrm>
          <a:prstGeom prst="rect">
            <a:avLst/>
          </a:prstGeom>
        </p:spPr>
        <p:txBody>
          <a:bodyPr anchor="t" rtlCol="false" tIns="0" lIns="0" bIns="0" rIns="0">
            <a:spAutoFit/>
          </a:bodyPr>
          <a:lstStyle/>
          <a:p>
            <a:pPr algn="l">
              <a:lnSpc>
                <a:spcPts val="7509"/>
              </a:lnSpc>
            </a:pPr>
            <a:r>
              <a:rPr lang="en-US" sz="7151" b="true">
                <a:solidFill>
                  <a:srgbClr val="333333"/>
                </a:solidFill>
                <a:latin typeface="Neue Montreal Medium"/>
                <a:ea typeface="Neue Montreal Medium"/>
                <a:cs typeface="Neue Montreal Medium"/>
                <a:sym typeface="Neue Montreal Medium"/>
              </a:rPr>
              <a:t>Classification</a:t>
            </a:r>
            <a:r>
              <a:rPr lang="en-US" b="true" sz="7151">
                <a:solidFill>
                  <a:srgbClr val="333333"/>
                </a:solidFill>
                <a:latin typeface="Neue Montreal Medium"/>
                <a:ea typeface="Neue Montreal Medium"/>
                <a:cs typeface="Neue Montreal Medium"/>
                <a:sym typeface="Neue Montreal Medium"/>
              </a:rPr>
              <a:t> Algorithms</a:t>
            </a:r>
          </a:p>
        </p:txBody>
      </p:sp>
      <p:sp>
        <p:nvSpPr>
          <p:cNvPr name="TextBox 8" id="8"/>
          <p:cNvSpPr txBox="true"/>
          <p:nvPr/>
        </p:nvSpPr>
        <p:spPr>
          <a:xfrm rot="0">
            <a:off x="1764849" y="3550378"/>
            <a:ext cx="14331527" cy="3119569"/>
          </a:xfrm>
          <a:prstGeom prst="rect">
            <a:avLst/>
          </a:prstGeom>
        </p:spPr>
        <p:txBody>
          <a:bodyPr anchor="t" rtlCol="false" tIns="0" lIns="0" bIns="0" rIns="0">
            <a:spAutoFit/>
          </a:bodyPr>
          <a:lstStyle/>
          <a:p>
            <a:pPr algn="just">
              <a:lnSpc>
                <a:spcPts val="4980"/>
              </a:lnSpc>
            </a:pPr>
            <a:r>
              <a:rPr lang="en-US" b="true" sz="3557" spc="35">
                <a:solidFill>
                  <a:srgbClr val="333333"/>
                </a:solidFill>
                <a:latin typeface="Neue Montreal Bold"/>
                <a:ea typeface="Neue Montreal Bold"/>
                <a:cs typeface="Neue Montreal Bold"/>
                <a:sym typeface="Neue Montreal Bold"/>
              </a:rPr>
              <a:t>Cla</a:t>
            </a:r>
            <a:r>
              <a:rPr lang="en-US" b="true" sz="3557" spc="35">
                <a:solidFill>
                  <a:srgbClr val="333333"/>
                </a:solidFill>
                <a:latin typeface="Neue Montreal Bold"/>
                <a:ea typeface="Neue Montreal Bold"/>
                <a:cs typeface="Neue Montreal Bold"/>
                <a:sym typeface="Neue Montreal Bold"/>
              </a:rPr>
              <a:t>ssification algorithms categorize a dependent variable into a set of distinct classes, and then predict the correct class for any new, given input. Classification is typ</a:t>
            </a:r>
            <a:r>
              <a:rPr lang="en-US" b="true" sz="3557" spc="35">
                <a:solidFill>
                  <a:srgbClr val="333333"/>
                </a:solidFill>
                <a:latin typeface="Neue Montreal Bold"/>
                <a:ea typeface="Neue Montreal Bold"/>
                <a:cs typeface="Neue Montreal Bold"/>
                <a:sym typeface="Neue Montreal Bold"/>
              </a:rPr>
              <a:t>ic</a:t>
            </a:r>
            <a:r>
              <a:rPr lang="en-US" b="true" sz="3557" spc="35">
                <a:solidFill>
                  <a:srgbClr val="333333"/>
                </a:solidFill>
                <a:latin typeface="Neue Montreal Bold"/>
                <a:ea typeface="Neue Montreal Bold"/>
                <a:cs typeface="Neue Montreal Bold"/>
                <a:sym typeface="Neue Montreal Bold"/>
              </a:rPr>
              <a:t>ally performed using supervised learning, since the algorithm is trained on data where the correct class label is already known.</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719138" y="1440127"/>
            <a:ext cx="14307631" cy="994687"/>
          </a:xfrm>
          <a:prstGeom prst="rect">
            <a:avLst/>
          </a:prstGeom>
        </p:spPr>
        <p:txBody>
          <a:bodyPr anchor="t" rtlCol="false" tIns="0" lIns="0" bIns="0" rIns="0">
            <a:spAutoFit/>
          </a:bodyPr>
          <a:lstStyle/>
          <a:p>
            <a:pPr algn="l">
              <a:lnSpc>
                <a:spcPts val="7509"/>
              </a:lnSpc>
            </a:pPr>
            <a:r>
              <a:rPr lang="en-US" b="true" sz="7151">
                <a:solidFill>
                  <a:srgbClr val="333333"/>
                </a:solidFill>
                <a:latin typeface="Neue Montreal Medium"/>
                <a:ea typeface="Neue Montreal Medium"/>
                <a:cs typeface="Neue Montreal Medium"/>
                <a:sym typeface="Neue Montreal Medium"/>
              </a:rPr>
              <a:t>NLP &amp; Word Embeddings</a:t>
            </a:r>
          </a:p>
        </p:txBody>
      </p:sp>
      <p:sp>
        <p:nvSpPr>
          <p:cNvPr name="TextBox 8" id="8"/>
          <p:cNvSpPr txBox="true"/>
          <p:nvPr/>
        </p:nvSpPr>
        <p:spPr>
          <a:xfrm rot="0">
            <a:off x="1697734" y="2756232"/>
            <a:ext cx="14331527" cy="6891469"/>
          </a:xfrm>
          <a:prstGeom prst="rect">
            <a:avLst/>
          </a:prstGeom>
        </p:spPr>
        <p:txBody>
          <a:bodyPr anchor="t" rtlCol="false" tIns="0" lIns="0" bIns="0" rIns="0">
            <a:spAutoFit/>
          </a:bodyPr>
          <a:lstStyle/>
          <a:p>
            <a:pPr algn="just">
              <a:lnSpc>
                <a:spcPts val="4980"/>
              </a:lnSpc>
            </a:pPr>
            <a:r>
              <a:rPr lang="en-US" b="true" sz="3557" spc="35">
                <a:solidFill>
                  <a:srgbClr val="333333"/>
                </a:solidFill>
                <a:latin typeface="Neue Montreal Bold"/>
                <a:ea typeface="Neue Montreal Bold"/>
                <a:cs typeface="Neue Montreal Bold"/>
                <a:sym typeface="Neue Montreal Bold"/>
              </a:rPr>
              <a:t>Natural Language Proce</a:t>
            </a:r>
            <a:r>
              <a:rPr lang="en-US" b="true" sz="3557" spc="35">
                <a:solidFill>
                  <a:srgbClr val="333333"/>
                </a:solidFill>
                <a:latin typeface="Neue Montreal Bold"/>
                <a:ea typeface="Neue Montreal Bold"/>
                <a:cs typeface="Neue Montreal Bold"/>
                <a:sym typeface="Neue Montreal Bold"/>
              </a:rPr>
              <a:t>ssing enables ML systems to process and represent human language.</a:t>
            </a:r>
          </a:p>
          <a:p>
            <a:pPr algn="just">
              <a:lnSpc>
                <a:spcPts val="4980"/>
              </a:lnSpc>
            </a:pPr>
          </a:p>
          <a:p>
            <a:pPr algn="just">
              <a:lnSpc>
                <a:spcPts val="4980"/>
              </a:lnSpc>
            </a:pPr>
            <a:r>
              <a:rPr lang="en-US" b="true" sz="3557" spc="35">
                <a:solidFill>
                  <a:srgbClr val="333333"/>
                </a:solidFill>
                <a:latin typeface="Neue Montreal Bold"/>
                <a:ea typeface="Neue Montreal Bold"/>
                <a:cs typeface="Neue Montreal Bold"/>
                <a:sym typeface="Neue Montreal Bold"/>
              </a:rPr>
              <a:t>Word embeddings represent words as numerical vectors.</a:t>
            </a:r>
          </a:p>
          <a:p>
            <a:pPr algn="just">
              <a:lnSpc>
                <a:spcPts val="4980"/>
              </a:lnSpc>
            </a:pPr>
            <a:r>
              <a:rPr lang="en-US" b="true" sz="3557" spc="35">
                <a:solidFill>
                  <a:srgbClr val="333333"/>
                </a:solidFill>
                <a:latin typeface="Neue Montreal Bold"/>
                <a:ea typeface="Neue Montreal Bold"/>
                <a:cs typeface="Neue Montreal Bold"/>
                <a:sym typeface="Neue Montreal Bold"/>
              </a:rPr>
              <a:t>Words used in similar contexts </a:t>
            </a:r>
            <a:r>
              <a:rPr lang="en-US" b="true" sz="3557" spc="35">
                <a:solidFill>
                  <a:srgbClr val="333333"/>
                </a:solidFill>
                <a:latin typeface="Neue Montreal Bold"/>
                <a:ea typeface="Neue Montreal Bold"/>
                <a:cs typeface="Neue Montreal Bold"/>
                <a:sym typeface="Neue Montreal Bold"/>
              </a:rPr>
              <a:t>c</a:t>
            </a:r>
            <a:r>
              <a:rPr lang="en-US" b="true" sz="3557" spc="35">
                <a:solidFill>
                  <a:srgbClr val="333333"/>
                </a:solidFill>
                <a:latin typeface="Neue Montreal Bold"/>
                <a:ea typeface="Neue Montreal Bold"/>
                <a:cs typeface="Neue Montreal Bold"/>
                <a:sym typeface="Neue Montreal Bold"/>
              </a:rPr>
              <a:t>an have related numerical representations.</a:t>
            </a:r>
          </a:p>
          <a:p>
            <a:pPr algn="just">
              <a:lnSpc>
                <a:spcPts val="4980"/>
              </a:lnSpc>
            </a:pPr>
          </a:p>
          <a:p>
            <a:pPr algn="just">
              <a:lnSpc>
                <a:spcPts val="4980"/>
              </a:lnSpc>
            </a:pPr>
            <a:r>
              <a:rPr lang="en-US" b="true" sz="3557" spc="35">
                <a:solidFill>
                  <a:srgbClr val="333333"/>
                </a:solidFill>
                <a:latin typeface="Neue Montreal Bold"/>
                <a:ea typeface="Neue Montreal Bold"/>
                <a:cs typeface="Neue Montreal Bold"/>
                <a:sym typeface="Neue Montreal Bold"/>
              </a:rPr>
              <a:t>Source examples: Word2Vec and GloVe.</a:t>
            </a:r>
          </a:p>
          <a:p>
            <a:pPr algn="just">
              <a:lnSpc>
                <a:spcPts val="4980"/>
              </a:lnSpc>
            </a:pPr>
          </a:p>
          <a:p>
            <a:pPr algn="just">
              <a:lnSpc>
                <a:spcPts val="4980"/>
              </a:lnSpc>
            </a:pPr>
            <a:r>
              <a:rPr lang="en-US" b="true" sz="3557" spc="35">
                <a:solidFill>
                  <a:srgbClr val="333333"/>
                </a:solidFill>
                <a:latin typeface="Neue Montreal Bold"/>
                <a:ea typeface="Neue Montreal Bold"/>
                <a:cs typeface="Neue Montreal Bold"/>
                <a:sym typeface="Neue Montreal Bold"/>
              </a:rPr>
              <a:t>Embeddings support downstream language tasks such as classification and similarity analysis.</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544658">
            <a:off x="3310848" y="-9099481"/>
            <a:ext cx="13448288" cy="13414668"/>
          </a:xfrm>
          <a:custGeom>
            <a:avLst/>
            <a:gdLst/>
            <a:ahLst/>
            <a:cxnLst/>
            <a:rect r="r" b="b" t="t" l="l"/>
            <a:pathLst>
              <a:path h="13414668" w="13448288">
                <a:moveTo>
                  <a:pt x="0" y="0"/>
                </a:moveTo>
                <a:lnTo>
                  <a:pt x="13448289" y="0"/>
                </a:lnTo>
                <a:lnTo>
                  <a:pt x="13448289" y="13414668"/>
                </a:lnTo>
                <a:lnTo>
                  <a:pt x="0" y="13414668"/>
                </a:lnTo>
                <a:lnTo>
                  <a:pt x="0" y="0"/>
                </a:lnTo>
                <a:close/>
              </a:path>
            </a:pathLst>
          </a:custGeom>
          <a:blipFill>
            <a:blip r:embed="rId2"/>
            <a:stretch>
              <a:fillRect l="0" t="0" r="0" b="0"/>
            </a:stretch>
          </a:blipFill>
        </p:spPr>
      </p:sp>
      <p:sp>
        <p:nvSpPr>
          <p:cNvPr name="Freeform 3" id="3"/>
          <p:cNvSpPr/>
          <p:nvPr/>
        </p:nvSpPr>
        <p:spPr>
          <a:xfrm flipH="false" flipV="false" rot="2046621">
            <a:off x="-498788" y="8055066"/>
            <a:ext cx="7762300" cy="7742895"/>
          </a:xfrm>
          <a:custGeom>
            <a:avLst/>
            <a:gdLst/>
            <a:ahLst/>
            <a:cxnLst/>
            <a:rect r="r" b="b" t="t" l="l"/>
            <a:pathLst>
              <a:path h="7742895" w="7762300">
                <a:moveTo>
                  <a:pt x="0" y="0"/>
                </a:moveTo>
                <a:lnTo>
                  <a:pt x="7762301" y="0"/>
                </a:lnTo>
                <a:lnTo>
                  <a:pt x="7762301" y="7742895"/>
                </a:lnTo>
                <a:lnTo>
                  <a:pt x="0" y="7742895"/>
                </a:lnTo>
                <a:lnTo>
                  <a:pt x="0" y="0"/>
                </a:lnTo>
                <a:close/>
              </a:path>
            </a:pathLst>
          </a:custGeom>
          <a:blipFill>
            <a:blip r:embed="rId2"/>
            <a:stretch>
              <a:fillRect l="0" t="0" r="0" b="0"/>
            </a:stretch>
          </a:blipFill>
        </p:spPr>
      </p:sp>
      <p:sp>
        <p:nvSpPr>
          <p:cNvPr name="TextBox 4" id="4"/>
          <p:cNvSpPr txBox="true"/>
          <p:nvPr/>
        </p:nvSpPr>
        <p:spPr>
          <a:xfrm rot="0">
            <a:off x="946958" y="3691249"/>
            <a:ext cx="13092627" cy="1643407"/>
          </a:xfrm>
          <a:prstGeom prst="rect">
            <a:avLst/>
          </a:prstGeom>
        </p:spPr>
        <p:txBody>
          <a:bodyPr anchor="t" rtlCol="false" tIns="0" lIns="0" bIns="0" rIns="0">
            <a:spAutoFit/>
          </a:bodyPr>
          <a:lstStyle/>
          <a:p>
            <a:pPr algn="l">
              <a:lnSpc>
                <a:spcPts val="13318"/>
              </a:lnSpc>
              <a:spcBef>
                <a:spcPct val="0"/>
              </a:spcBef>
            </a:pPr>
            <a:r>
              <a:rPr lang="en-US" b="true" sz="9512">
                <a:solidFill>
                  <a:srgbClr val="000000"/>
                </a:solidFill>
                <a:latin typeface="Neue Montreal Bold"/>
                <a:ea typeface="Neue Montreal Bold"/>
                <a:cs typeface="Neue Montreal Bold"/>
                <a:sym typeface="Neue Montreal Bold"/>
              </a:rPr>
              <a:t>AI TRAINING DATA</a:t>
            </a:r>
          </a:p>
        </p:txBody>
      </p:sp>
      <p:sp>
        <p:nvSpPr>
          <p:cNvPr name="Freeform 5" id="5"/>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6698626" y="472575"/>
            <a:ext cx="641254" cy="484209"/>
            <a:chOff x="0" y="0"/>
            <a:chExt cx="168890" cy="127528"/>
          </a:xfrm>
        </p:grpSpPr>
        <p:sp>
          <p:nvSpPr>
            <p:cNvPr name="Freeform 7" id="7"/>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8" id="8"/>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9" id="9"/>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10" id="10"/>
          <p:cNvSpPr/>
          <p:nvPr/>
        </p:nvSpPr>
        <p:spPr>
          <a:xfrm>
            <a:off x="946958" y="8269795"/>
            <a:ext cx="14204746" cy="0"/>
          </a:xfrm>
          <a:prstGeom prst="line">
            <a:avLst/>
          </a:prstGeom>
          <a:ln cap="rnd" w="9525">
            <a:solidFill>
              <a:srgbClr val="D9D9D9"/>
            </a:solidFill>
            <a:prstDash val="solid"/>
            <a:headEnd type="none" len="sm" w="sm"/>
            <a:tailEnd type="none" len="sm" w="sm"/>
          </a:ln>
        </p:spPr>
      </p:sp>
      <p:sp>
        <p:nvSpPr>
          <p:cNvPr name="TextBox 11" id="11"/>
          <p:cNvSpPr txBox="true"/>
          <p:nvPr/>
        </p:nvSpPr>
        <p:spPr>
          <a:xfrm rot="0">
            <a:off x="946958" y="7187307"/>
            <a:ext cx="8775527" cy="824865"/>
          </a:xfrm>
          <a:prstGeom prst="rect">
            <a:avLst/>
          </a:prstGeom>
        </p:spPr>
        <p:txBody>
          <a:bodyPr anchor="t" rtlCol="false" tIns="0" lIns="0" bIns="0" rIns="0">
            <a:spAutoFit/>
          </a:bodyPr>
          <a:lstStyle/>
          <a:p>
            <a:pPr algn="l">
              <a:lnSpc>
                <a:spcPts val="3359"/>
              </a:lnSpc>
            </a:pPr>
            <a:r>
              <a:rPr lang="en-US" sz="2400" spc="24">
                <a:solidFill>
                  <a:srgbClr val="000000"/>
                </a:solidFill>
                <a:latin typeface="Neue Montreal"/>
                <a:ea typeface="Neue Montreal"/>
                <a:cs typeface="Neue Montreal"/>
                <a:sym typeface="Neue Montreal"/>
              </a:rPr>
              <a:t>Th</a:t>
            </a:r>
            <a:r>
              <a:rPr lang="en-US" sz="2400" spc="24">
                <a:solidFill>
                  <a:srgbClr val="000000"/>
                </a:solidFill>
                <a:latin typeface="Neue Montreal"/>
                <a:ea typeface="Neue Montreal"/>
                <a:cs typeface="Neue Montreal"/>
                <a:sym typeface="Neue Montreal"/>
              </a:rPr>
              <a:t>e foundation of machine learning systems</a:t>
            </a:r>
          </a:p>
          <a:p>
            <a:pPr algn="l">
              <a:lnSpc>
                <a:spcPts val="3359"/>
              </a:lnSpc>
              <a:spcBef>
                <a:spcPct val="0"/>
              </a:spcBef>
            </a:pP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231F20"/>
        </a:solidFill>
      </p:bgPr>
    </p:bg>
    <p:spTree>
      <p:nvGrpSpPr>
        <p:cNvPr id="1" name=""/>
        <p:cNvGrpSpPr/>
        <p:nvPr/>
      </p:nvGrpSpPr>
      <p:grpSpPr>
        <a:xfrm>
          <a:off x="0" y="0"/>
          <a:ext cx="0" cy="0"/>
          <a:chOff x="0" y="0"/>
          <a:chExt cx="0" cy="0"/>
        </a:xfrm>
      </p:grpSpPr>
      <p:sp>
        <p:nvSpPr>
          <p:cNvPr name="Freeform 2" id="2"/>
          <p:cNvSpPr/>
          <p:nvPr/>
        </p:nvSpPr>
        <p:spPr>
          <a:xfrm flipH="false" flipV="false" rot="1993726">
            <a:off x="-229798" y="1538819"/>
            <a:ext cx="16564892" cy="16523480"/>
          </a:xfrm>
          <a:custGeom>
            <a:avLst/>
            <a:gdLst/>
            <a:ahLst/>
            <a:cxnLst/>
            <a:rect r="r" b="b" t="t" l="l"/>
            <a:pathLst>
              <a:path h="16523480" w="16564892">
                <a:moveTo>
                  <a:pt x="0" y="0"/>
                </a:moveTo>
                <a:lnTo>
                  <a:pt x="16564892" y="0"/>
                </a:lnTo>
                <a:lnTo>
                  <a:pt x="16564892" y="16523480"/>
                </a:lnTo>
                <a:lnTo>
                  <a:pt x="0" y="16523480"/>
                </a:lnTo>
                <a:lnTo>
                  <a:pt x="0" y="0"/>
                </a:lnTo>
                <a:close/>
              </a:path>
            </a:pathLst>
          </a:custGeom>
          <a:blipFill>
            <a:blip r:embed="rId2"/>
            <a:stretch>
              <a:fillRect l="0" t="0" r="0" b="0"/>
            </a:stretch>
          </a:blipFill>
        </p:spPr>
      </p:sp>
      <p:sp>
        <p:nvSpPr>
          <p:cNvPr name="Freeform 3" id="3"/>
          <p:cNvSpPr/>
          <p:nvPr/>
        </p:nvSpPr>
        <p:spPr>
          <a:xfrm flipH="false" flipV="true" rot="0">
            <a:off x="0" y="5143500"/>
            <a:ext cx="18288000" cy="5592769"/>
          </a:xfrm>
          <a:custGeom>
            <a:avLst/>
            <a:gdLst/>
            <a:ahLst/>
            <a:cxnLst/>
            <a:rect r="r" b="b" t="t" l="l"/>
            <a:pathLst>
              <a:path h="5592769" w="18288000">
                <a:moveTo>
                  <a:pt x="0" y="5592769"/>
                </a:moveTo>
                <a:lnTo>
                  <a:pt x="18288000" y="5592769"/>
                </a:lnTo>
                <a:lnTo>
                  <a:pt x="18288000" y="0"/>
                </a:lnTo>
                <a:lnTo>
                  <a:pt x="0" y="0"/>
                </a:lnTo>
                <a:lnTo>
                  <a:pt x="0" y="5592769"/>
                </a:lnTo>
                <a:close/>
              </a:path>
            </a:pathLst>
          </a:custGeom>
          <a:blipFill>
            <a:blip r:embed="rId3">
              <a:alphaModFix amt="79000"/>
            </a:blip>
            <a:stretch>
              <a:fillRect l="0" t="-56548" r="0" b="-9401"/>
            </a:stretch>
          </a:blipFill>
        </p:spPr>
      </p:sp>
      <p:sp>
        <p:nvSpPr>
          <p:cNvPr name="Freeform 4" id="4"/>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16698626" y="472575"/>
            <a:ext cx="641254" cy="484209"/>
            <a:chOff x="0" y="0"/>
            <a:chExt cx="168890" cy="127528"/>
          </a:xfrm>
        </p:grpSpPr>
        <p:sp>
          <p:nvSpPr>
            <p:cNvPr name="Freeform 6" id="6"/>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7" id="7"/>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8" id="8"/>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946958" y="1627609"/>
            <a:ext cx="14000101" cy="1159844"/>
          </a:xfrm>
          <a:prstGeom prst="rect">
            <a:avLst/>
          </a:prstGeom>
        </p:spPr>
        <p:txBody>
          <a:bodyPr anchor="t" rtlCol="false" tIns="0" lIns="0" bIns="0" rIns="0">
            <a:spAutoFit/>
          </a:bodyPr>
          <a:lstStyle/>
          <a:p>
            <a:pPr algn="l">
              <a:lnSpc>
                <a:spcPts val="8803"/>
              </a:lnSpc>
            </a:pPr>
            <a:r>
              <a:rPr lang="en-US" sz="8384" b="true">
                <a:solidFill>
                  <a:srgbClr val="F5F5F5"/>
                </a:solidFill>
                <a:latin typeface="Neue Montreal Medium"/>
                <a:ea typeface="Neue Montreal Medium"/>
                <a:cs typeface="Neue Montreal Medium"/>
                <a:sym typeface="Neue Montreal Medium"/>
              </a:rPr>
              <a:t>W</a:t>
            </a:r>
            <a:r>
              <a:rPr lang="en-US" sz="8384" b="true">
                <a:solidFill>
                  <a:srgbClr val="F5F5F5"/>
                </a:solidFill>
                <a:latin typeface="Neue Montreal Medium"/>
                <a:ea typeface="Neue Montreal Medium"/>
                <a:cs typeface="Neue Montreal Medium"/>
                <a:sym typeface="Neue Montreal Medium"/>
              </a:rPr>
              <a:t>hat Is AI Training Data?</a:t>
            </a:r>
          </a:p>
        </p:txBody>
      </p:sp>
      <p:sp>
        <p:nvSpPr>
          <p:cNvPr name="TextBox 10" id="10"/>
          <p:cNvSpPr txBox="true"/>
          <p:nvPr/>
        </p:nvSpPr>
        <p:spPr>
          <a:xfrm rot="0">
            <a:off x="1339138" y="3397052"/>
            <a:ext cx="15812919" cy="3739663"/>
          </a:xfrm>
          <a:prstGeom prst="rect">
            <a:avLst/>
          </a:prstGeom>
        </p:spPr>
        <p:txBody>
          <a:bodyPr anchor="t" rtlCol="false" tIns="0" lIns="0" bIns="0" rIns="0">
            <a:spAutoFit/>
          </a:bodyPr>
          <a:lstStyle/>
          <a:p>
            <a:pPr algn="just">
              <a:lnSpc>
                <a:spcPts val="4980"/>
              </a:lnSpc>
            </a:pPr>
            <a:r>
              <a:rPr lang="en-US" b="true" sz="3557" spc="35">
                <a:solidFill>
                  <a:srgbClr val="F5F5F5"/>
                </a:solidFill>
                <a:latin typeface="Neue Montreal Bold"/>
                <a:ea typeface="Neue Montreal Bold"/>
                <a:cs typeface="Neue Montreal Bold"/>
                <a:sym typeface="Neue Montreal Bold"/>
              </a:rPr>
              <a:t>Training data refers to any text, audio, video, image, or sensory data — such as thrust, temperature, light, touch, or sme</a:t>
            </a:r>
            <a:r>
              <a:rPr lang="en-US" b="true" sz="3557" spc="35">
                <a:solidFill>
                  <a:srgbClr val="F5F5F5"/>
                </a:solidFill>
                <a:latin typeface="Neue Montreal Bold"/>
                <a:ea typeface="Neue Montreal Bold"/>
                <a:cs typeface="Neue Montreal Bold"/>
                <a:sym typeface="Neue Montreal Bold"/>
              </a:rPr>
              <a:t>ll readings — used to train an AI model so it can learn, understand, and make future decisions. Training data can be fed into a machine in two different ways: as labeled/annotated input (used specifically in supervised learning) or as unlabeled raw data (used specifically in unsupervised learning).</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231F20"/>
        </a:solidFill>
      </p:bgPr>
    </p:bg>
    <p:spTree>
      <p:nvGrpSpPr>
        <p:cNvPr id="1" name=""/>
        <p:cNvGrpSpPr/>
        <p:nvPr/>
      </p:nvGrpSpPr>
      <p:grpSpPr>
        <a:xfrm>
          <a:off x="0" y="0"/>
          <a:ext cx="0" cy="0"/>
          <a:chOff x="0" y="0"/>
          <a:chExt cx="0" cy="0"/>
        </a:xfrm>
      </p:grpSpPr>
      <p:sp>
        <p:nvSpPr>
          <p:cNvPr name="Freeform 2" id="2"/>
          <p:cNvSpPr/>
          <p:nvPr/>
        </p:nvSpPr>
        <p:spPr>
          <a:xfrm flipH="false" flipV="false" rot="1993726">
            <a:off x="-229798" y="1538819"/>
            <a:ext cx="16564892" cy="16523480"/>
          </a:xfrm>
          <a:custGeom>
            <a:avLst/>
            <a:gdLst/>
            <a:ahLst/>
            <a:cxnLst/>
            <a:rect r="r" b="b" t="t" l="l"/>
            <a:pathLst>
              <a:path h="16523480" w="16564892">
                <a:moveTo>
                  <a:pt x="0" y="0"/>
                </a:moveTo>
                <a:lnTo>
                  <a:pt x="16564892" y="0"/>
                </a:lnTo>
                <a:lnTo>
                  <a:pt x="16564892" y="16523480"/>
                </a:lnTo>
                <a:lnTo>
                  <a:pt x="0" y="16523480"/>
                </a:lnTo>
                <a:lnTo>
                  <a:pt x="0" y="0"/>
                </a:lnTo>
                <a:close/>
              </a:path>
            </a:pathLst>
          </a:custGeom>
          <a:blipFill>
            <a:blip r:embed="rId2"/>
            <a:stretch>
              <a:fillRect l="0" t="0" r="0" b="0"/>
            </a:stretch>
          </a:blipFill>
        </p:spPr>
      </p:sp>
      <p:sp>
        <p:nvSpPr>
          <p:cNvPr name="Freeform 3" id="3"/>
          <p:cNvSpPr/>
          <p:nvPr/>
        </p:nvSpPr>
        <p:spPr>
          <a:xfrm flipH="false" flipV="true" rot="0">
            <a:off x="0" y="5143500"/>
            <a:ext cx="18288000" cy="5592769"/>
          </a:xfrm>
          <a:custGeom>
            <a:avLst/>
            <a:gdLst/>
            <a:ahLst/>
            <a:cxnLst/>
            <a:rect r="r" b="b" t="t" l="l"/>
            <a:pathLst>
              <a:path h="5592769" w="18288000">
                <a:moveTo>
                  <a:pt x="0" y="5592769"/>
                </a:moveTo>
                <a:lnTo>
                  <a:pt x="18288000" y="5592769"/>
                </a:lnTo>
                <a:lnTo>
                  <a:pt x="18288000" y="0"/>
                </a:lnTo>
                <a:lnTo>
                  <a:pt x="0" y="0"/>
                </a:lnTo>
                <a:lnTo>
                  <a:pt x="0" y="5592769"/>
                </a:lnTo>
                <a:close/>
              </a:path>
            </a:pathLst>
          </a:custGeom>
          <a:blipFill>
            <a:blip r:embed="rId3">
              <a:alphaModFix amt="79000"/>
            </a:blip>
            <a:stretch>
              <a:fillRect l="0" t="-56548" r="0" b="-9401"/>
            </a:stretch>
          </a:blipFill>
        </p:spPr>
      </p:sp>
      <p:sp>
        <p:nvSpPr>
          <p:cNvPr name="Freeform 4" id="4"/>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16698626" y="472575"/>
            <a:ext cx="641254" cy="484209"/>
            <a:chOff x="0" y="0"/>
            <a:chExt cx="168890" cy="127528"/>
          </a:xfrm>
        </p:grpSpPr>
        <p:sp>
          <p:nvSpPr>
            <p:cNvPr name="Freeform 6" id="6"/>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7" id="7"/>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8" id="8"/>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946958" y="1627609"/>
            <a:ext cx="14000101" cy="1159844"/>
          </a:xfrm>
          <a:prstGeom prst="rect">
            <a:avLst/>
          </a:prstGeom>
        </p:spPr>
        <p:txBody>
          <a:bodyPr anchor="t" rtlCol="false" tIns="0" lIns="0" bIns="0" rIns="0">
            <a:spAutoFit/>
          </a:bodyPr>
          <a:lstStyle/>
          <a:p>
            <a:pPr algn="l">
              <a:lnSpc>
                <a:spcPts val="8803"/>
              </a:lnSpc>
            </a:pPr>
            <a:r>
              <a:rPr lang="en-US" sz="8384" b="true">
                <a:solidFill>
                  <a:srgbClr val="F5F5F5"/>
                </a:solidFill>
                <a:latin typeface="Neue Montreal Medium"/>
                <a:ea typeface="Neue Montreal Medium"/>
                <a:cs typeface="Neue Montreal Medium"/>
                <a:sym typeface="Neue Montreal Medium"/>
              </a:rPr>
              <a:t>W</a:t>
            </a:r>
            <a:r>
              <a:rPr lang="en-US" sz="8384" b="true">
                <a:solidFill>
                  <a:srgbClr val="F5F5F5"/>
                </a:solidFill>
                <a:latin typeface="Neue Montreal Medium"/>
                <a:ea typeface="Neue Montreal Medium"/>
                <a:cs typeface="Neue Montreal Medium"/>
                <a:sym typeface="Neue Montreal Medium"/>
              </a:rPr>
              <a:t>hat Is AI Training Data?</a:t>
            </a:r>
          </a:p>
        </p:txBody>
      </p:sp>
      <p:sp>
        <p:nvSpPr>
          <p:cNvPr name="TextBox 10" id="10"/>
          <p:cNvSpPr txBox="true"/>
          <p:nvPr/>
        </p:nvSpPr>
        <p:spPr>
          <a:xfrm rot="0">
            <a:off x="1339138" y="3397052"/>
            <a:ext cx="15812919" cy="5634161"/>
          </a:xfrm>
          <a:prstGeom prst="rect">
            <a:avLst/>
          </a:prstGeom>
        </p:spPr>
        <p:txBody>
          <a:bodyPr anchor="t" rtlCol="false" tIns="0" lIns="0" bIns="0" rIns="0">
            <a:spAutoFit/>
          </a:bodyPr>
          <a:lstStyle/>
          <a:p>
            <a:pPr algn="just">
              <a:lnSpc>
                <a:spcPts val="4980"/>
              </a:lnSpc>
            </a:pPr>
            <a:r>
              <a:rPr lang="en-US" sz="3557" spc="35">
                <a:solidFill>
                  <a:srgbClr val="F5F5F5"/>
                </a:solidFill>
                <a:latin typeface="Neue Montreal"/>
                <a:ea typeface="Neue Montreal"/>
                <a:cs typeface="Neue Montreal"/>
                <a:sym typeface="Neue Montreal"/>
              </a:rPr>
              <a:t>Training datasets are also organized according to their purpose within the overall model-building process, falling into three categories:</a:t>
            </a:r>
          </a:p>
          <a:p>
            <a:pPr algn="just">
              <a:lnSpc>
                <a:spcPts val="4980"/>
              </a:lnSpc>
            </a:pPr>
          </a:p>
          <a:p>
            <a:pPr algn="just">
              <a:lnSpc>
                <a:spcPts val="4980"/>
              </a:lnSpc>
            </a:pPr>
            <a:r>
              <a:rPr lang="en-US" sz="3557" spc="35">
                <a:solidFill>
                  <a:srgbClr val="F5F5F5"/>
                </a:solidFill>
                <a:latin typeface="Neue Montreal"/>
                <a:ea typeface="Neue Montreal"/>
                <a:cs typeface="Neue Montreal"/>
                <a:sym typeface="Neue Montreal"/>
              </a:rPr>
              <a:t>• </a:t>
            </a:r>
            <a:r>
              <a:rPr lang="en-US" b="true" sz="3557" spc="35">
                <a:solidFill>
                  <a:srgbClr val="F5F5F5"/>
                </a:solidFill>
                <a:latin typeface="Neue Montreal Bold"/>
                <a:ea typeface="Neue Montreal Bold"/>
                <a:cs typeface="Neue Montreal Bold"/>
                <a:sym typeface="Neue Montreal Bold"/>
              </a:rPr>
              <a:t>Lea</a:t>
            </a:r>
            <a:r>
              <a:rPr lang="en-US" b="true" sz="3557" spc="35">
                <a:solidFill>
                  <a:srgbClr val="F5F5F5"/>
                </a:solidFill>
                <a:latin typeface="Neue Montreal Bold"/>
                <a:ea typeface="Neue Montreal Bold"/>
                <a:cs typeface="Neue Montreal Bold"/>
                <a:sym typeface="Neue Montreal Bold"/>
              </a:rPr>
              <a:t>rning datasets </a:t>
            </a:r>
            <a:r>
              <a:rPr lang="en-US" sz="3557" spc="35">
                <a:solidFill>
                  <a:srgbClr val="F5F5F5"/>
                </a:solidFill>
                <a:latin typeface="Neue Montreal"/>
                <a:ea typeface="Neue Montreal"/>
                <a:cs typeface="Neue Montreal"/>
                <a:sym typeface="Neue Montreal"/>
              </a:rPr>
              <a:t>— used for the initial round of training a machine on a task</a:t>
            </a:r>
          </a:p>
          <a:p>
            <a:pPr algn="just">
              <a:lnSpc>
                <a:spcPts val="4980"/>
              </a:lnSpc>
            </a:pPr>
            <a:r>
              <a:rPr lang="en-US" sz="3557" spc="35">
                <a:solidFill>
                  <a:srgbClr val="F5F5F5"/>
                </a:solidFill>
                <a:latin typeface="Neue Montreal"/>
                <a:ea typeface="Neue Montreal"/>
                <a:cs typeface="Neue Montreal"/>
                <a:sym typeface="Neue Montreal"/>
              </a:rPr>
              <a:t>• </a:t>
            </a:r>
            <a:r>
              <a:rPr lang="en-US" b="true" sz="3557" spc="35">
                <a:solidFill>
                  <a:srgbClr val="F5F5F5"/>
                </a:solidFill>
                <a:latin typeface="Neue Montreal Bold"/>
                <a:ea typeface="Neue Montreal Bold"/>
                <a:cs typeface="Neue Montreal Bold"/>
                <a:sym typeface="Neue Montreal Bold"/>
              </a:rPr>
              <a:t>Validation datasets</a:t>
            </a:r>
            <a:r>
              <a:rPr lang="en-US" sz="3557" spc="35">
                <a:solidFill>
                  <a:srgbClr val="F5F5F5"/>
                </a:solidFill>
                <a:latin typeface="Neue Montreal"/>
                <a:ea typeface="Neue Montreal"/>
                <a:cs typeface="Neue Montreal"/>
                <a:sym typeface="Neue Montreal"/>
              </a:rPr>
              <a:t> — used to check and validate the level of learning the model has achieved so far, often used to tune model settings before final testing</a:t>
            </a:r>
          </a:p>
          <a:p>
            <a:pPr algn="just">
              <a:lnSpc>
                <a:spcPts val="4980"/>
              </a:lnSpc>
            </a:pPr>
            <a:r>
              <a:rPr lang="en-US" sz="3557" spc="35">
                <a:solidFill>
                  <a:srgbClr val="F5F5F5"/>
                </a:solidFill>
                <a:latin typeface="Neue Montreal"/>
                <a:ea typeface="Neue Montreal"/>
                <a:cs typeface="Neue Montreal"/>
                <a:sym typeface="Neue Montreal"/>
              </a:rPr>
              <a:t>• </a:t>
            </a:r>
            <a:r>
              <a:rPr lang="en-US" b="true" sz="3557" spc="35">
                <a:solidFill>
                  <a:srgbClr val="F5F5F5"/>
                </a:solidFill>
                <a:latin typeface="Neue Montreal Bold"/>
                <a:ea typeface="Neue Montreal Bold"/>
                <a:cs typeface="Neue Montreal Bold"/>
                <a:sym typeface="Neue Montreal Bold"/>
              </a:rPr>
              <a:t>Testing datasets </a:t>
            </a:r>
            <a:r>
              <a:rPr lang="en-US" sz="3557" spc="35">
                <a:solidFill>
                  <a:srgbClr val="F5F5F5"/>
                </a:solidFill>
                <a:latin typeface="Neue Montreal"/>
                <a:ea typeface="Neue Montreal"/>
                <a:cs typeface="Neue Montreal"/>
                <a:sym typeface="Neue Montreal"/>
              </a:rPr>
              <a:t>— used at the end of the process to confirm whether the model's training has successfully met the project's desired goals</a:t>
            </a:r>
          </a:p>
          <a:p>
            <a:pPr algn="just">
              <a:lnSpc>
                <a:spcPts val="4980"/>
              </a:lnSpc>
            </a:pPr>
          </a:p>
        </p:txBody>
      </p:sp>
      <p:sp>
        <p:nvSpPr>
          <p:cNvPr name="TextBox 11" id="11"/>
          <p:cNvSpPr txBox="true"/>
          <p:nvPr/>
        </p:nvSpPr>
        <p:spPr>
          <a:xfrm rot="0">
            <a:off x="1547027" y="562273"/>
            <a:ext cx="7087065" cy="349216"/>
          </a:xfrm>
          <a:prstGeom prst="rect">
            <a:avLst/>
          </a:prstGeom>
        </p:spPr>
        <p:txBody>
          <a:bodyPr anchor="t" rtlCol="false" tIns="0" lIns="0" bIns="0" rIns="0">
            <a:spAutoFit/>
          </a:bodyPr>
          <a:lstStyle/>
          <a:p>
            <a:pPr algn="l">
              <a:lnSpc>
                <a:spcPts val="2800"/>
              </a:lnSpc>
              <a:spcBef>
                <a:spcPct val="0"/>
              </a:spcBef>
            </a:pPr>
            <a:r>
              <a:rPr lang="en-US" b="true" sz="2000" spc="20">
                <a:solidFill>
                  <a:srgbClr val="FFFFFF"/>
                </a:solidFill>
                <a:latin typeface="Neue Montreal Bold"/>
                <a:ea typeface="Neue Montreal Bold"/>
                <a:cs typeface="Neue Montreal Bold"/>
                <a:sym typeface="Neue Montreal Bold"/>
              </a:rPr>
              <a:t>Salford &amp; Co.</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946958" y="1408267"/>
            <a:ext cx="14307631" cy="994687"/>
          </a:xfrm>
          <a:prstGeom prst="rect">
            <a:avLst/>
          </a:prstGeom>
        </p:spPr>
        <p:txBody>
          <a:bodyPr anchor="t" rtlCol="false" tIns="0" lIns="0" bIns="0" rIns="0">
            <a:spAutoFit/>
          </a:bodyPr>
          <a:lstStyle/>
          <a:p>
            <a:pPr algn="l">
              <a:lnSpc>
                <a:spcPts val="7509"/>
              </a:lnSpc>
            </a:pPr>
            <a:r>
              <a:rPr lang="en-US" sz="7151" b="true">
                <a:solidFill>
                  <a:srgbClr val="333333"/>
                </a:solidFill>
                <a:latin typeface="Neue Montreal Medium"/>
                <a:ea typeface="Neue Montreal Medium"/>
                <a:cs typeface="Neue Montreal Medium"/>
                <a:sym typeface="Neue Montreal Medium"/>
              </a:rPr>
              <a:t>Types of Training Da</a:t>
            </a:r>
            <a:r>
              <a:rPr lang="en-US" b="true" sz="7151">
                <a:solidFill>
                  <a:srgbClr val="333333"/>
                </a:solidFill>
                <a:latin typeface="Neue Montreal Medium"/>
                <a:ea typeface="Neue Montreal Medium"/>
                <a:cs typeface="Neue Montreal Medium"/>
                <a:sym typeface="Neue Montreal Medium"/>
              </a:rPr>
              <a:t>ta</a:t>
            </a:r>
          </a:p>
        </p:txBody>
      </p:sp>
      <p:sp>
        <p:nvSpPr>
          <p:cNvPr name="TextBox 8" id="8"/>
          <p:cNvSpPr txBox="true"/>
          <p:nvPr/>
        </p:nvSpPr>
        <p:spPr>
          <a:xfrm rot="0">
            <a:off x="2164009" y="2717482"/>
            <a:ext cx="13959981" cy="6540818"/>
          </a:xfrm>
          <a:prstGeom prst="rect">
            <a:avLst/>
          </a:prstGeom>
        </p:spPr>
        <p:txBody>
          <a:bodyPr anchor="t" rtlCol="false" tIns="0" lIns="0" bIns="0" rIns="0">
            <a:spAutoFit/>
          </a:bodyPr>
          <a:lstStyle/>
          <a:p>
            <a:pPr algn="l">
              <a:lnSpc>
                <a:spcPts val="3717"/>
              </a:lnSpc>
            </a:pPr>
            <a:r>
              <a:rPr lang="en-US" sz="2655" spc="26">
                <a:solidFill>
                  <a:srgbClr val="333333"/>
                </a:solidFill>
                <a:latin typeface="Neue Montreal"/>
                <a:ea typeface="Neue Montreal"/>
                <a:cs typeface="Neue Montreal"/>
                <a:sym typeface="Neue Montreal"/>
              </a:rPr>
              <a:t>Machine</a:t>
            </a:r>
            <a:r>
              <a:rPr lang="en-US" sz="2655" spc="26">
                <a:solidFill>
                  <a:srgbClr val="333333"/>
                </a:solidFill>
                <a:latin typeface="Neue Montreal"/>
                <a:ea typeface="Neue Montreal"/>
                <a:cs typeface="Neue Montreal"/>
                <a:sym typeface="Neue Montreal"/>
              </a:rPr>
              <a:t> learning models can be trained on several distinct types of data, each requiring different collection, cleaning, and annotation approaches.</a:t>
            </a:r>
          </a:p>
          <a:p>
            <a:pPr algn="l">
              <a:lnSpc>
                <a:spcPts val="3717"/>
              </a:lnSpc>
            </a:pPr>
          </a:p>
          <a:p>
            <a:pPr algn="l">
              <a:lnSpc>
                <a:spcPts val="3717"/>
              </a:lnSpc>
            </a:pPr>
            <a:r>
              <a:rPr lang="en-US" b="true" sz="2655" spc="26">
                <a:solidFill>
                  <a:srgbClr val="333333"/>
                </a:solidFill>
                <a:latin typeface="Neue Montreal Bold"/>
                <a:ea typeface="Neue Montreal Bold"/>
                <a:cs typeface="Neue Montreal Bold"/>
                <a:sym typeface="Neue Montreal Bold"/>
              </a:rPr>
              <a:t>Text Training Data</a:t>
            </a:r>
          </a:p>
          <a:p>
            <a:pPr algn="l">
              <a:lnSpc>
                <a:spcPts val="3717"/>
              </a:lnSpc>
            </a:pPr>
            <a:r>
              <a:rPr lang="en-US" sz="2655" spc="26">
                <a:solidFill>
                  <a:srgbClr val="333333"/>
                </a:solidFill>
                <a:latin typeface="Neue Montreal"/>
                <a:ea typeface="Neue Montreal"/>
                <a:cs typeface="Neue Montreal"/>
                <a:sym typeface="Neue Montreal"/>
              </a:rPr>
              <a:t>Text is one of the largest and most effective sources of information available for training AI systems, though it is often highly unstructured and comes in many different languages, styles, and formats digital, printed, or scanned. Building a usable text training dataset requires classifying grammar, meaning, sentiment, and other relevant parameters within the raw text.</a:t>
            </a:r>
          </a:p>
          <a:p>
            <a:pPr algn="l">
              <a:lnSpc>
                <a:spcPts val="3717"/>
              </a:lnSpc>
            </a:pPr>
          </a:p>
          <a:p>
            <a:pPr algn="l">
              <a:lnSpc>
                <a:spcPts val="3717"/>
              </a:lnSpc>
            </a:pPr>
            <a:r>
              <a:rPr lang="en-US" b="true" sz="2655" spc="26">
                <a:solidFill>
                  <a:srgbClr val="333333"/>
                </a:solidFill>
                <a:latin typeface="Neue Montreal Bold"/>
                <a:ea typeface="Neue Montreal Bold"/>
                <a:cs typeface="Neue Montreal Bold"/>
                <a:sym typeface="Neue Montreal Bold"/>
              </a:rPr>
              <a:t>Audio Training Data</a:t>
            </a:r>
          </a:p>
          <a:p>
            <a:pPr algn="l">
              <a:lnSpc>
                <a:spcPts val="3717"/>
              </a:lnSpc>
            </a:pPr>
            <a:r>
              <a:rPr lang="en-US" sz="2655" spc="26">
                <a:solidFill>
                  <a:srgbClr val="333333"/>
                </a:solidFill>
                <a:latin typeface="Neue Montreal"/>
                <a:ea typeface="Neue Montreal"/>
                <a:cs typeface="Neue Montreal"/>
                <a:sym typeface="Neue Montreal"/>
              </a:rPr>
              <a:t>Audio training data includes voice recordings, music, and other real-world sounds, provided in a variety of file formats. This type of data underlies every speech-recognition, voice-recognition, and audio-classification model discussed elsewhere in this document.</a:t>
            </a:r>
          </a:p>
          <a:p>
            <a:pPr algn="l">
              <a:lnSpc>
                <a:spcPts val="3717"/>
              </a:lnSpc>
            </a:pP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722850" y="1408267"/>
            <a:ext cx="14307631" cy="994687"/>
          </a:xfrm>
          <a:prstGeom prst="rect">
            <a:avLst/>
          </a:prstGeom>
        </p:spPr>
        <p:txBody>
          <a:bodyPr anchor="t" rtlCol="false" tIns="0" lIns="0" bIns="0" rIns="0">
            <a:spAutoFit/>
          </a:bodyPr>
          <a:lstStyle/>
          <a:p>
            <a:pPr algn="l">
              <a:lnSpc>
                <a:spcPts val="7509"/>
              </a:lnSpc>
            </a:pPr>
            <a:r>
              <a:rPr lang="en-US" sz="7151" b="true">
                <a:solidFill>
                  <a:srgbClr val="333333"/>
                </a:solidFill>
                <a:latin typeface="Neue Montreal Medium"/>
                <a:ea typeface="Neue Montreal Medium"/>
                <a:cs typeface="Neue Montreal Medium"/>
                <a:sym typeface="Neue Montreal Medium"/>
              </a:rPr>
              <a:t>Types of Training Da</a:t>
            </a:r>
            <a:r>
              <a:rPr lang="en-US" b="true" sz="7151">
                <a:solidFill>
                  <a:srgbClr val="333333"/>
                </a:solidFill>
                <a:latin typeface="Neue Montreal Medium"/>
                <a:ea typeface="Neue Montreal Medium"/>
                <a:cs typeface="Neue Montreal Medium"/>
                <a:sym typeface="Neue Montreal Medium"/>
              </a:rPr>
              <a:t>ta</a:t>
            </a:r>
          </a:p>
        </p:txBody>
      </p:sp>
      <p:sp>
        <p:nvSpPr>
          <p:cNvPr name="TextBox 8" id="8"/>
          <p:cNvSpPr txBox="true"/>
          <p:nvPr/>
        </p:nvSpPr>
        <p:spPr>
          <a:xfrm rot="0">
            <a:off x="1281512" y="2698229"/>
            <a:ext cx="15737741" cy="6419717"/>
          </a:xfrm>
          <a:prstGeom prst="rect">
            <a:avLst/>
          </a:prstGeom>
        </p:spPr>
        <p:txBody>
          <a:bodyPr anchor="t" rtlCol="false" tIns="0" lIns="0" bIns="0" rIns="0">
            <a:spAutoFit/>
          </a:bodyPr>
          <a:lstStyle/>
          <a:p>
            <a:pPr algn="l">
              <a:lnSpc>
                <a:spcPts val="3402"/>
              </a:lnSpc>
            </a:pPr>
            <a:r>
              <a:rPr lang="en-US" sz="2430" spc="24" b="true">
                <a:solidFill>
                  <a:srgbClr val="333333"/>
                </a:solidFill>
                <a:latin typeface="Neue Montreal Bold"/>
                <a:ea typeface="Neue Montreal Bold"/>
                <a:cs typeface="Neue Montreal Bold"/>
                <a:sym typeface="Neue Montreal Bold"/>
              </a:rPr>
              <a:t>Video</a:t>
            </a:r>
            <a:r>
              <a:rPr lang="en-US" b="true" sz="2430" spc="24">
                <a:solidFill>
                  <a:srgbClr val="333333"/>
                </a:solidFill>
                <a:latin typeface="Neue Montreal Bold"/>
                <a:ea typeface="Neue Montreal Bold"/>
                <a:cs typeface="Neue Montreal Bold"/>
                <a:sym typeface="Neue Montreal Bold"/>
              </a:rPr>
              <a:t> Training Data</a:t>
            </a:r>
          </a:p>
          <a:p>
            <a:pPr algn="l">
              <a:lnSpc>
                <a:spcPts val="3402"/>
              </a:lnSpc>
            </a:pPr>
            <a:r>
              <a:rPr lang="en-US" sz="2430" spc="24">
                <a:solidFill>
                  <a:srgbClr val="333333"/>
                </a:solidFill>
                <a:latin typeface="Neue Montreal"/>
                <a:ea typeface="Neue Montreal"/>
                <a:cs typeface="Neue Montreal"/>
                <a:sym typeface="Neue Montreal"/>
              </a:rPr>
              <a:t>Video has become an increasingly crucial data type in modern AI and ML projects, driven by the growth of modern video technology and high-speed internet connectivity. Driverless cars, for example, are trained extensively on video and image data to support accurate scenario analysis and split-second decision-making on the road.</a:t>
            </a:r>
          </a:p>
          <a:p>
            <a:pPr algn="l">
              <a:lnSpc>
                <a:spcPts val="3402"/>
              </a:lnSpc>
            </a:pPr>
          </a:p>
          <a:p>
            <a:pPr algn="l">
              <a:lnSpc>
                <a:spcPts val="3402"/>
              </a:lnSpc>
            </a:pPr>
            <a:r>
              <a:rPr lang="en-US" b="true" sz="2430" spc="24">
                <a:solidFill>
                  <a:srgbClr val="333333"/>
                </a:solidFill>
                <a:latin typeface="Neue Montreal Bold"/>
                <a:ea typeface="Neue Montreal Bold"/>
                <a:cs typeface="Neue Montreal Bold"/>
                <a:sym typeface="Neue Montreal Bold"/>
              </a:rPr>
              <a:t>Image Training Data</a:t>
            </a:r>
          </a:p>
          <a:p>
            <a:pPr algn="l">
              <a:lnSpc>
                <a:spcPts val="3402"/>
              </a:lnSpc>
            </a:pPr>
            <a:r>
              <a:rPr lang="en-US" sz="2430" spc="24">
                <a:solidFill>
                  <a:srgbClr val="333333"/>
                </a:solidFill>
                <a:latin typeface="Neue Montreal"/>
                <a:ea typeface="Neue Montreal"/>
                <a:cs typeface="Neue Montreal"/>
                <a:sym typeface="Neue Montreal"/>
              </a:rPr>
              <a:t>Incorporating labeled image details into a supervised machine learning project is referred to as image training data; unsupervised machine learning can likewise use unlabeled images for certain deep learning applications. A wide range of image formats and content types are used across different AI applications, from medical scans to product photos.</a:t>
            </a:r>
          </a:p>
          <a:p>
            <a:pPr algn="l">
              <a:lnSpc>
                <a:spcPts val="3402"/>
              </a:lnSpc>
            </a:pPr>
          </a:p>
          <a:p>
            <a:pPr algn="l">
              <a:lnSpc>
                <a:spcPts val="3402"/>
              </a:lnSpc>
            </a:pPr>
            <a:r>
              <a:rPr lang="en-US" b="true" sz="2430" spc="24">
                <a:solidFill>
                  <a:srgbClr val="333333"/>
                </a:solidFill>
                <a:latin typeface="Neue Montreal Bold"/>
                <a:ea typeface="Neue Montreal Bold"/>
                <a:cs typeface="Neue Montreal Bold"/>
                <a:sym typeface="Neue Montreal Bold"/>
              </a:rPr>
              <a:t>Sens</a:t>
            </a:r>
            <a:r>
              <a:rPr lang="en-US" b="true" sz="2430" spc="24">
                <a:solidFill>
                  <a:srgbClr val="333333"/>
                </a:solidFill>
                <a:latin typeface="Neue Montreal Bold"/>
                <a:ea typeface="Neue Montreal Bold"/>
                <a:cs typeface="Neue Montreal Bold"/>
                <a:sym typeface="Neue Montreal Bold"/>
              </a:rPr>
              <a:t>ory Training Data</a:t>
            </a:r>
          </a:p>
          <a:p>
            <a:pPr algn="l">
              <a:lnSpc>
                <a:spcPts val="3402"/>
              </a:lnSpc>
            </a:pPr>
            <a:r>
              <a:rPr lang="en-US" sz="2430" spc="24">
                <a:solidFill>
                  <a:srgbClr val="333333"/>
                </a:solidFill>
                <a:latin typeface="Neue Montreal"/>
                <a:ea typeface="Neue Montreal"/>
                <a:cs typeface="Neue Montreal"/>
                <a:sym typeface="Neue Montreal"/>
              </a:rPr>
              <a:t>Sens</a:t>
            </a:r>
            <a:r>
              <a:rPr lang="en-US" sz="2430" spc="24">
                <a:solidFill>
                  <a:srgbClr val="333333"/>
                </a:solidFill>
                <a:latin typeface="Neue Montreal"/>
                <a:ea typeface="Neue Montreal"/>
                <a:cs typeface="Neue Montreal"/>
                <a:sym typeface="Neue Montreal"/>
              </a:rPr>
              <a:t>ory training data comes from a variety of physical sensors, provided in different units, files, and formats including measurements such as thrust, push, feel, light, smell, smoke, and moisture, among many others. This type of data is especially important for robotics and industrial AI applications that must respond to the physical environment in real time.</a:t>
            </a:r>
          </a:p>
          <a:p>
            <a:pPr algn="l">
              <a:lnSpc>
                <a:spcPts val="3402"/>
              </a:lnSpc>
            </a:pP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768570" y="2116927"/>
            <a:ext cx="14307631" cy="994687"/>
          </a:xfrm>
          <a:prstGeom prst="rect">
            <a:avLst/>
          </a:prstGeom>
        </p:spPr>
        <p:txBody>
          <a:bodyPr anchor="t" rtlCol="false" tIns="0" lIns="0" bIns="0" rIns="0">
            <a:spAutoFit/>
          </a:bodyPr>
          <a:lstStyle/>
          <a:p>
            <a:pPr algn="l">
              <a:lnSpc>
                <a:spcPts val="7509"/>
              </a:lnSpc>
            </a:pPr>
            <a:r>
              <a:rPr lang="en-US" sz="7151" b="true">
                <a:solidFill>
                  <a:srgbClr val="333333"/>
                </a:solidFill>
                <a:latin typeface="Neue Montreal Medium"/>
                <a:ea typeface="Neue Montreal Medium"/>
                <a:cs typeface="Neue Montreal Medium"/>
                <a:sym typeface="Neue Montreal Medium"/>
              </a:rPr>
              <a:t>Datas</a:t>
            </a:r>
            <a:r>
              <a:rPr lang="en-US" b="true" sz="7151">
                <a:solidFill>
                  <a:srgbClr val="333333"/>
                </a:solidFill>
                <a:latin typeface="Neue Montreal Medium"/>
                <a:ea typeface="Neue Montreal Medium"/>
                <a:cs typeface="Neue Montreal Medium"/>
                <a:sym typeface="Neue Montreal Medium"/>
              </a:rPr>
              <a:t>et Purposes</a:t>
            </a:r>
          </a:p>
        </p:txBody>
      </p:sp>
      <p:sp>
        <p:nvSpPr>
          <p:cNvPr name="TextBox 8" id="8"/>
          <p:cNvSpPr txBox="true"/>
          <p:nvPr/>
        </p:nvSpPr>
        <p:spPr>
          <a:xfrm rot="0">
            <a:off x="1764849" y="3480328"/>
            <a:ext cx="14331527" cy="5634169"/>
          </a:xfrm>
          <a:prstGeom prst="rect">
            <a:avLst/>
          </a:prstGeom>
        </p:spPr>
        <p:txBody>
          <a:bodyPr anchor="t" rtlCol="false" tIns="0" lIns="0" bIns="0" rIns="0">
            <a:spAutoFit/>
          </a:bodyPr>
          <a:lstStyle/>
          <a:p>
            <a:pPr algn="l">
              <a:lnSpc>
                <a:spcPts val="4980"/>
              </a:lnSpc>
            </a:pPr>
            <a:r>
              <a:rPr lang="en-US" sz="3557" spc="35" b="true">
                <a:solidFill>
                  <a:srgbClr val="333333"/>
                </a:solidFill>
                <a:latin typeface="Neue Montreal Bold"/>
                <a:ea typeface="Neue Montreal Bold"/>
                <a:cs typeface="Neue Montreal Bold"/>
                <a:sym typeface="Neue Montreal Bold"/>
              </a:rPr>
              <a:t>L</a:t>
            </a:r>
            <a:r>
              <a:rPr lang="en-US" b="true" sz="3557" spc="35">
                <a:solidFill>
                  <a:srgbClr val="333333"/>
                </a:solidFill>
                <a:latin typeface="Neue Montreal Bold"/>
                <a:ea typeface="Neue Montreal Bold"/>
                <a:cs typeface="Neue Montreal Bold"/>
                <a:sym typeface="Neue Montreal Bold"/>
              </a:rPr>
              <a:t>earning / Training Dataset</a:t>
            </a:r>
            <a:r>
              <a:rPr lang="en-US" sz="3557" spc="35">
                <a:solidFill>
                  <a:srgbClr val="333333"/>
                </a:solidFill>
                <a:latin typeface="Neue Montreal"/>
                <a:ea typeface="Neue Montreal"/>
                <a:cs typeface="Neue Montreal"/>
                <a:sym typeface="Neue Montreal"/>
              </a:rPr>
              <a:t> — used for initial training on how to apply ML techniques.</a:t>
            </a:r>
          </a:p>
          <a:p>
            <a:pPr algn="l">
              <a:lnSpc>
                <a:spcPts val="4980"/>
              </a:lnSpc>
            </a:pPr>
            <a:r>
              <a:rPr lang="en-US" b="true" sz="3557" spc="35">
                <a:solidFill>
                  <a:srgbClr val="333333"/>
                </a:solidFill>
                <a:latin typeface="Neue Montreal Bold"/>
                <a:ea typeface="Neue Montreal Bold"/>
                <a:cs typeface="Neue Montreal Bold"/>
                <a:sym typeface="Neue Montreal Bold"/>
              </a:rPr>
              <a:t>Validation Dataset</a:t>
            </a:r>
            <a:r>
              <a:rPr lang="en-US" sz="3557" spc="35">
                <a:solidFill>
                  <a:srgbClr val="333333"/>
                </a:solidFill>
                <a:latin typeface="Neue Montreal"/>
                <a:ea typeface="Neue Montreal"/>
                <a:cs typeface="Neue Montreal"/>
                <a:sym typeface="Neue Montreal"/>
              </a:rPr>
              <a:t> — checks whether training is meeting project objectives and supports development decisions.</a:t>
            </a:r>
          </a:p>
          <a:p>
            <a:pPr algn="l">
              <a:lnSpc>
                <a:spcPts val="4980"/>
              </a:lnSpc>
            </a:pPr>
            <a:r>
              <a:rPr lang="en-US" b="true" sz="3557" spc="35">
                <a:solidFill>
                  <a:srgbClr val="333333"/>
                </a:solidFill>
                <a:latin typeface="Neue Montreal Bold"/>
                <a:ea typeface="Neue Montreal Bold"/>
                <a:cs typeface="Neue Montreal Bold"/>
                <a:sym typeface="Neue Montreal Bold"/>
              </a:rPr>
              <a:t>T</a:t>
            </a:r>
            <a:r>
              <a:rPr lang="en-US" b="true" sz="3557" spc="35">
                <a:solidFill>
                  <a:srgbClr val="333333"/>
                </a:solidFill>
                <a:latin typeface="Neue Montreal Bold"/>
                <a:ea typeface="Neue Montreal Bold"/>
                <a:cs typeface="Neue Montreal Bold"/>
                <a:sym typeface="Neue Montreal Bold"/>
              </a:rPr>
              <a:t>esting Datase</a:t>
            </a:r>
            <a:r>
              <a:rPr lang="en-US" sz="3557" spc="35">
                <a:solidFill>
                  <a:srgbClr val="333333"/>
                </a:solidFill>
                <a:latin typeface="Neue Montreal"/>
                <a:ea typeface="Neue Montreal"/>
                <a:cs typeface="Neue Montreal"/>
                <a:sym typeface="Neue Montreal"/>
              </a:rPr>
              <a:t>t — checks whether the trained system achieved its desired goals.</a:t>
            </a:r>
          </a:p>
          <a:p>
            <a:pPr algn="l">
              <a:lnSpc>
                <a:spcPts val="4980"/>
              </a:lnSpc>
            </a:pPr>
          </a:p>
          <a:p>
            <a:pPr algn="l">
              <a:lnSpc>
                <a:spcPts val="4980"/>
              </a:lnSpc>
            </a:pPr>
            <a:r>
              <a:rPr lang="en-US" sz="3557" spc="35">
                <a:solidFill>
                  <a:srgbClr val="333333"/>
                </a:solidFill>
                <a:latin typeface="Neue Montreal"/>
                <a:ea typeface="Neue Montreal"/>
                <a:cs typeface="Neue Montreal"/>
                <a:sym typeface="Neue Montreal"/>
              </a:rPr>
              <a:t>Keeping</a:t>
            </a:r>
            <a:r>
              <a:rPr lang="en-US" sz="3557" spc="35">
                <a:solidFill>
                  <a:srgbClr val="333333"/>
                </a:solidFill>
                <a:latin typeface="Neue Montreal"/>
                <a:ea typeface="Neue Montreal"/>
                <a:cs typeface="Neue Montreal"/>
                <a:sym typeface="Neue Montreal"/>
              </a:rPr>
              <a:t> these purposes conceptually separate helps evaluate whether a model generalizes beyond its training examples.</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768570" y="2116927"/>
            <a:ext cx="14307631" cy="994687"/>
          </a:xfrm>
          <a:prstGeom prst="rect">
            <a:avLst/>
          </a:prstGeom>
        </p:spPr>
        <p:txBody>
          <a:bodyPr anchor="t" rtlCol="false" tIns="0" lIns="0" bIns="0" rIns="0">
            <a:spAutoFit/>
          </a:bodyPr>
          <a:lstStyle/>
          <a:p>
            <a:pPr algn="l">
              <a:lnSpc>
                <a:spcPts val="7509"/>
              </a:lnSpc>
            </a:pPr>
            <a:r>
              <a:rPr lang="en-US" sz="7151" b="true">
                <a:solidFill>
                  <a:srgbClr val="333333"/>
                </a:solidFill>
                <a:latin typeface="Neue Montreal Medium"/>
                <a:ea typeface="Neue Montreal Medium"/>
                <a:cs typeface="Neue Montreal Medium"/>
                <a:sym typeface="Neue Montreal Medium"/>
              </a:rPr>
              <a:t>Building Training Datas</a:t>
            </a:r>
            <a:r>
              <a:rPr lang="en-US" b="true" sz="7151">
                <a:solidFill>
                  <a:srgbClr val="333333"/>
                </a:solidFill>
                <a:latin typeface="Neue Montreal Medium"/>
                <a:ea typeface="Neue Montreal Medium"/>
                <a:cs typeface="Neue Montreal Medium"/>
                <a:sym typeface="Neue Montreal Medium"/>
              </a:rPr>
              <a:t>ets</a:t>
            </a:r>
          </a:p>
        </p:txBody>
      </p:sp>
      <p:sp>
        <p:nvSpPr>
          <p:cNvPr name="TextBox 8" id="8"/>
          <p:cNvSpPr txBox="true"/>
          <p:nvPr/>
        </p:nvSpPr>
        <p:spPr>
          <a:xfrm rot="0">
            <a:off x="1984514" y="3689878"/>
            <a:ext cx="14318972" cy="3531701"/>
          </a:xfrm>
          <a:prstGeom prst="rect">
            <a:avLst/>
          </a:prstGeom>
        </p:spPr>
        <p:txBody>
          <a:bodyPr anchor="t" rtlCol="false" tIns="0" lIns="0" bIns="0" rIns="0">
            <a:spAutoFit/>
          </a:bodyPr>
          <a:lstStyle/>
          <a:p>
            <a:pPr algn="l">
              <a:lnSpc>
                <a:spcPts val="5621"/>
              </a:lnSpc>
            </a:pPr>
            <a:r>
              <a:rPr lang="en-US" sz="4015" spc="40">
                <a:solidFill>
                  <a:srgbClr val="333333"/>
                </a:solidFill>
                <a:latin typeface="Neue Montreal"/>
                <a:ea typeface="Neue Montreal"/>
                <a:cs typeface="Neue Montreal"/>
                <a:sym typeface="Neue Montreal"/>
              </a:rPr>
              <a:t>1.</a:t>
            </a:r>
            <a:r>
              <a:rPr lang="en-US" sz="4015" spc="40">
                <a:solidFill>
                  <a:srgbClr val="333333"/>
                </a:solidFill>
                <a:latin typeface="Neue Montreal"/>
                <a:ea typeface="Neue Montreal"/>
                <a:cs typeface="Neue Montreal"/>
                <a:sym typeface="Neue Montreal"/>
              </a:rPr>
              <a:t> </a:t>
            </a:r>
            <a:r>
              <a:rPr lang="en-US" b="true" sz="4015" spc="40">
                <a:solidFill>
                  <a:srgbClr val="333333"/>
                </a:solidFill>
                <a:latin typeface="Neue Montreal Bold"/>
                <a:ea typeface="Neue Montreal Bold"/>
                <a:cs typeface="Neue Montreal Bold"/>
                <a:sym typeface="Neue Montreal Bold"/>
              </a:rPr>
              <a:t>Data Collection</a:t>
            </a:r>
            <a:r>
              <a:rPr lang="en-US" sz="4015" spc="40">
                <a:solidFill>
                  <a:srgbClr val="333333"/>
                </a:solidFill>
                <a:latin typeface="Neue Montreal"/>
                <a:ea typeface="Neue Montreal"/>
                <a:cs typeface="Neue Montreal"/>
                <a:sym typeface="Neue Montreal"/>
              </a:rPr>
              <a:t> — gather raw text, image, audio, and video data.</a:t>
            </a:r>
          </a:p>
          <a:p>
            <a:pPr algn="l">
              <a:lnSpc>
                <a:spcPts val="5621"/>
              </a:lnSpc>
            </a:pPr>
            <a:r>
              <a:rPr lang="en-US" sz="4015" spc="40">
                <a:solidFill>
                  <a:srgbClr val="333333"/>
                </a:solidFill>
                <a:latin typeface="Neue Montreal"/>
                <a:ea typeface="Neue Montreal"/>
                <a:cs typeface="Neue Montreal"/>
                <a:sym typeface="Neue Montreal"/>
              </a:rPr>
              <a:t>2.</a:t>
            </a:r>
            <a:r>
              <a:rPr lang="en-US" sz="4015" spc="40">
                <a:solidFill>
                  <a:srgbClr val="333333"/>
                </a:solidFill>
                <a:latin typeface="Neue Montreal"/>
                <a:ea typeface="Neue Montreal"/>
                <a:cs typeface="Neue Montreal"/>
                <a:sym typeface="Neue Montreal"/>
              </a:rPr>
              <a:t> </a:t>
            </a:r>
            <a:r>
              <a:rPr lang="en-US" b="true" sz="4015" spc="40">
                <a:solidFill>
                  <a:srgbClr val="333333"/>
                </a:solidFill>
                <a:latin typeface="Neue Montreal Bold"/>
                <a:ea typeface="Neue Montreal Bold"/>
                <a:cs typeface="Neue Montreal Bold"/>
                <a:sym typeface="Neue Montreal Bold"/>
              </a:rPr>
              <a:t>Data Cleaning</a:t>
            </a:r>
            <a:r>
              <a:rPr lang="en-US" sz="4015" spc="40">
                <a:solidFill>
                  <a:srgbClr val="333333"/>
                </a:solidFill>
                <a:latin typeface="Neue Montreal"/>
                <a:ea typeface="Neue Montreal"/>
                <a:cs typeface="Neue Montreal"/>
                <a:sym typeface="Neue Montreal"/>
              </a:rPr>
              <a:t> — remove errors, duplicates, and noise.</a:t>
            </a:r>
          </a:p>
          <a:p>
            <a:pPr algn="l">
              <a:lnSpc>
                <a:spcPts val="5621"/>
              </a:lnSpc>
            </a:pPr>
            <a:r>
              <a:rPr lang="en-US" sz="4015" spc="40">
                <a:solidFill>
                  <a:srgbClr val="333333"/>
                </a:solidFill>
                <a:latin typeface="Neue Montreal"/>
                <a:ea typeface="Neue Montreal"/>
                <a:cs typeface="Neue Montreal"/>
                <a:sym typeface="Neue Montreal"/>
              </a:rPr>
              <a:t>3.</a:t>
            </a:r>
            <a:r>
              <a:rPr lang="en-US" sz="4015" spc="40">
                <a:solidFill>
                  <a:srgbClr val="333333"/>
                </a:solidFill>
                <a:latin typeface="Neue Montreal"/>
                <a:ea typeface="Neue Montreal"/>
                <a:cs typeface="Neue Montreal"/>
                <a:sym typeface="Neue Montreal"/>
              </a:rPr>
              <a:t> </a:t>
            </a:r>
            <a:r>
              <a:rPr lang="en-US" b="true" sz="4015" spc="40">
                <a:solidFill>
                  <a:srgbClr val="333333"/>
                </a:solidFill>
                <a:latin typeface="Neue Montreal Bold"/>
                <a:ea typeface="Neue Montreal Bold"/>
                <a:cs typeface="Neue Montreal Bold"/>
                <a:sym typeface="Neue Montreal Bold"/>
              </a:rPr>
              <a:t>Data Classification</a:t>
            </a:r>
            <a:r>
              <a:rPr lang="en-US" sz="4015" spc="40">
                <a:solidFill>
                  <a:srgbClr val="333333"/>
                </a:solidFill>
                <a:latin typeface="Neue Montreal"/>
                <a:ea typeface="Neue Montreal"/>
                <a:cs typeface="Neue Montreal"/>
                <a:sym typeface="Neue Montreal"/>
              </a:rPr>
              <a:t> — sort data into defined categories.</a:t>
            </a:r>
          </a:p>
          <a:p>
            <a:pPr algn="l">
              <a:lnSpc>
                <a:spcPts val="5621"/>
              </a:lnSpc>
            </a:pPr>
            <a:r>
              <a:rPr lang="en-US" sz="4015" spc="40">
                <a:solidFill>
                  <a:srgbClr val="333333"/>
                </a:solidFill>
                <a:latin typeface="Neue Montreal"/>
                <a:ea typeface="Neue Montreal"/>
                <a:cs typeface="Neue Montreal"/>
                <a:sym typeface="Neue Montreal"/>
              </a:rPr>
              <a:t>4. </a:t>
            </a:r>
            <a:r>
              <a:rPr lang="en-US" b="true" sz="4015" spc="40">
                <a:solidFill>
                  <a:srgbClr val="333333"/>
                </a:solidFill>
                <a:latin typeface="Neue Montreal Bold"/>
                <a:ea typeface="Neue Montreal Bold"/>
                <a:cs typeface="Neue Montreal Bold"/>
                <a:sym typeface="Neue Montreal Bold"/>
              </a:rPr>
              <a:t>Data Categorization</a:t>
            </a:r>
            <a:r>
              <a:rPr lang="en-US" sz="4015" spc="40">
                <a:solidFill>
                  <a:srgbClr val="333333"/>
                </a:solidFill>
                <a:latin typeface="Neue Montreal"/>
                <a:ea typeface="Neue Montreal"/>
                <a:cs typeface="Neue Montreal"/>
                <a:sym typeface="Neue Montreal"/>
              </a:rPr>
              <a:t> — group data by shared characteristics.</a:t>
            </a:r>
          </a:p>
          <a:p>
            <a:pPr algn="l">
              <a:lnSpc>
                <a:spcPts val="5621"/>
              </a:lnSpc>
            </a:pPr>
            <a:r>
              <a:rPr lang="en-US" sz="4015" spc="40">
                <a:solidFill>
                  <a:srgbClr val="333333"/>
                </a:solidFill>
                <a:latin typeface="Neue Montreal"/>
                <a:ea typeface="Neue Montreal"/>
                <a:cs typeface="Neue Montreal"/>
                <a:sym typeface="Neue Montreal"/>
              </a:rPr>
              <a:t>5. </a:t>
            </a:r>
            <a:r>
              <a:rPr lang="en-US" b="true" sz="4015" spc="40">
                <a:solidFill>
                  <a:srgbClr val="333333"/>
                </a:solidFill>
                <a:latin typeface="Neue Montreal Bold"/>
                <a:ea typeface="Neue Montreal Bold"/>
                <a:cs typeface="Neue Montreal Bold"/>
                <a:sym typeface="Neue Montreal Bold"/>
              </a:rPr>
              <a:t>Annotation &amp; Labeling </a:t>
            </a:r>
            <a:r>
              <a:rPr lang="en-US" sz="4015" spc="40">
                <a:solidFill>
                  <a:srgbClr val="333333"/>
                </a:solidFill>
                <a:latin typeface="Neue Montreal"/>
                <a:ea typeface="Neue Montreal"/>
                <a:cs typeface="Neue Montreal"/>
                <a:sym typeface="Neue Montreal"/>
              </a:rPr>
              <a:t>— tag data for supervised learning.</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779537" y="2124456"/>
            <a:ext cx="16728925" cy="6149734"/>
          </a:xfrm>
          <a:prstGeom prst="rect">
            <a:avLst/>
          </a:prstGeom>
        </p:spPr>
        <p:txBody>
          <a:bodyPr anchor="t" rtlCol="false" tIns="0" lIns="0" bIns="0" rIns="0">
            <a:spAutoFit/>
          </a:bodyPr>
          <a:lstStyle/>
          <a:p>
            <a:pPr algn="just">
              <a:lnSpc>
                <a:spcPts val="3486"/>
              </a:lnSpc>
            </a:pPr>
            <a:r>
              <a:rPr lang="en-US" sz="3320" b="true">
                <a:solidFill>
                  <a:srgbClr val="333333"/>
                </a:solidFill>
                <a:latin typeface="Neue Montreal Bold"/>
                <a:ea typeface="Neue Montreal Bold"/>
                <a:cs typeface="Neue Montreal Bold"/>
                <a:sym typeface="Neue Montreal Bold"/>
              </a:rPr>
              <a:t>Data Collection</a:t>
            </a:r>
          </a:p>
          <a:p>
            <a:pPr algn="just">
              <a:lnSpc>
                <a:spcPts val="3486"/>
              </a:lnSpc>
            </a:pPr>
            <a:r>
              <a:rPr lang="en-US" sz="3320">
                <a:solidFill>
                  <a:srgbClr val="333333"/>
                </a:solidFill>
                <a:latin typeface="Neue Montreal"/>
                <a:ea typeface="Neue Montreal"/>
                <a:cs typeface="Neue Montreal"/>
                <a:sym typeface="Neue Montreal"/>
              </a:rPr>
              <a:t>Data collection is the very first process in building a training dataset</a:t>
            </a:r>
            <a:r>
              <a:rPr lang="en-US" sz="3320">
                <a:solidFill>
                  <a:srgbClr val="333333"/>
                </a:solidFill>
                <a:latin typeface="Neue Montreal"/>
                <a:ea typeface="Neue Montreal"/>
                <a:cs typeface="Neue Montreal"/>
                <a:sym typeface="Neue Montreal"/>
              </a:rPr>
              <a:t>. It refers to gathering the data needed for a given machine learning project from a wide range of sources — such as existing online content, newly created real-world video, data provided by business partners, and access to local or internal databases. A few particularly important considerations during data collec</a:t>
            </a:r>
            <a:r>
              <a:rPr lang="en-US" sz="3320">
                <a:solidFill>
                  <a:srgbClr val="333333"/>
                </a:solidFill>
                <a:latin typeface="Neue Montreal"/>
                <a:ea typeface="Neue Montreal"/>
                <a:cs typeface="Neue Montreal"/>
                <a:sym typeface="Neue Montreal"/>
              </a:rPr>
              <a:t>tion are the overall quality of the data, its relevance to the task at hand, and a healthy balance across the different data types being gathered.</a:t>
            </a:r>
          </a:p>
          <a:p>
            <a:pPr algn="just">
              <a:lnSpc>
                <a:spcPts val="3486"/>
              </a:lnSpc>
            </a:pPr>
          </a:p>
          <a:p>
            <a:pPr algn="just">
              <a:lnSpc>
                <a:spcPts val="3486"/>
              </a:lnSpc>
            </a:pPr>
            <a:r>
              <a:rPr lang="en-US" b="true" sz="3320">
                <a:solidFill>
                  <a:srgbClr val="333333"/>
                </a:solidFill>
                <a:latin typeface="Neue Montreal Bold"/>
                <a:ea typeface="Neue Montreal Bold"/>
                <a:cs typeface="Neue Montreal Bold"/>
                <a:sym typeface="Neue Montreal Bold"/>
              </a:rPr>
              <a:t>Data Cleaning</a:t>
            </a:r>
          </a:p>
          <a:p>
            <a:pPr algn="just">
              <a:lnSpc>
                <a:spcPts val="3486"/>
              </a:lnSpc>
            </a:pPr>
            <a:r>
              <a:rPr lang="en-US" sz="3320">
                <a:solidFill>
                  <a:srgbClr val="333333"/>
                </a:solidFill>
                <a:latin typeface="Neue Montreal"/>
                <a:ea typeface="Neue Montreal"/>
                <a:cs typeface="Neue Montreal"/>
                <a:sym typeface="Neue Montreal"/>
              </a:rPr>
              <a:t>Data cleaning is the second step in forming a specialized dataset for machine learning or deep learning training. Raw, unstructured data collected from varied sources very often contains a large amount of noise, irrelevant items, duplicated entries, missing or absent data of required types, biased data, and other impurities. Data cleaning is the entire process of making this collected data highly usable and reliable, in service of the desired training objectives.</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143048" y="1884675"/>
            <a:ext cx="16216434" cy="6424253"/>
          </a:xfrm>
          <a:prstGeom prst="rect">
            <a:avLst/>
          </a:prstGeom>
        </p:spPr>
        <p:txBody>
          <a:bodyPr anchor="t" rtlCol="false" tIns="0" lIns="0" bIns="0" rIns="0">
            <a:spAutoFit/>
          </a:bodyPr>
          <a:lstStyle/>
          <a:p>
            <a:pPr algn="just">
              <a:lnSpc>
                <a:spcPts val="3957"/>
              </a:lnSpc>
            </a:pPr>
            <a:r>
              <a:rPr lang="en-US" b="true" sz="2826" spc="28">
                <a:solidFill>
                  <a:srgbClr val="333333"/>
                </a:solidFill>
                <a:latin typeface="Neue Montreal Bold"/>
                <a:ea typeface="Neue Montreal Bold"/>
                <a:cs typeface="Neue Montreal Bold"/>
                <a:sym typeface="Neue Montreal Bold"/>
              </a:rPr>
              <a:t>Data Classification</a:t>
            </a:r>
          </a:p>
          <a:p>
            <a:pPr algn="just">
              <a:lnSpc>
                <a:spcPts val="3957"/>
              </a:lnSpc>
            </a:pPr>
            <a:r>
              <a:rPr lang="en-US" sz="2826" spc="28">
                <a:solidFill>
                  <a:srgbClr val="333333"/>
                </a:solidFill>
                <a:latin typeface="Neue Montreal"/>
                <a:ea typeface="Neue Montreal"/>
                <a:cs typeface="Neue Montreal"/>
                <a:sym typeface="Neue Montreal"/>
              </a:rPr>
              <a:t>Data classification is a process used in building a training dataset in which each given piece of data is sorted into one of several defined categories</a:t>
            </a:r>
            <a:r>
              <a:rPr lang="en-US" sz="2826" spc="28">
                <a:solidFill>
                  <a:srgbClr val="333333"/>
                </a:solidFill>
                <a:latin typeface="Neue Montreal"/>
                <a:ea typeface="Neue Montreal"/>
                <a:cs typeface="Neue Montreal"/>
                <a:sym typeface="Neue Montreal"/>
              </a:rPr>
              <a:t>.</a:t>
            </a:r>
            <a:r>
              <a:rPr lang="en-US" sz="2826" spc="28">
                <a:solidFill>
                  <a:srgbClr val="333333"/>
                </a:solidFill>
                <a:latin typeface="Neue Montreal"/>
                <a:ea typeface="Neue Montreal"/>
                <a:cs typeface="Neue Montreal"/>
                <a:sym typeface="Neue Montreal"/>
              </a:rPr>
              <a:t> This step can be accomplished through different classification models or algorithms, such as binary classification (two possible categories), or multi-class and multi-label classification (three or more possible categories, potentially assigned simultaneously).</a:t>
            </a:r>
          </a:p>
          <a:p>
            <a:pPr algn="just">
              <a:lnSpc>
                <a:spcPts val="3957"/>
              </a:lnSpc>
            </a:pPr>
          </a:p>
          <a:p>
            <a:pPr algn="just">
              <a:lnSpc>
                <a:spcPts val="3957"/>
              </a:lnSpc>
            </a:pPr>
            <a:r>
              <a:rPr lang="en-US" b="true" sz="2826" spc="28">
                <a:solidFill>
                  <a:srgbClr val="333333"/>
                </a:solidFill>
                <a:latin typeface="Neue Montreal Bold"/>
                <a:ea typeface="Neue Montreal Bold"/>
                <a:cs typeface="Neue Montreal Bold"/>
                <a:sym typeface="Neue Montreal Bold"/>
              </a:rPr>
              <a:t>Data Categorization</a:t>
            </a:r>
          </a:p>
          <a:p>
            <a:pPr algn="just">
              <a:lnSpc>
                <a:spcPts val="3957"/>
              </a:lnSpc>
            </a:pPr>
            <a:r>
              <a:rPr lang="en-US" sz="2826" spc="28">
                <a:solidFill>
                  <a:srgbClr val="333333"/>
                </a:solidFill>
                <a:latin typeface="Neue Montreal"/>
                <a:ea typeface="Neue Montreal"/>
                <a:cs typeface="Neue Montreal"/>
                <a:sym typeface="Neue Montreal"/>
              </a:rPr>
              <a:t>Data categorization</a:t>
            </a:r>
            <a:r>
              <a:rPr lang="en-US" sz="2826" spc="28">
                <a:solidFill>
                  <a:srgbClr val="333333"/>
                </a:solidFill>
                <a:latin typeface="Neue Montreal"/>
                <a:ea typeface="Neue Montreal"/>
                <a:cs typeface="Neue Montreal"/>
                <a:sym typeface="Neue Montreal"/>
              </a:rPr>
              <a:t> is a process used specifically to build training datasets for supervised learning, in which data is organized in terms of broader groups, types, levels, or other larger attributes — allowing a machine to properly understand and consume the input training data for machine learning and deep learning purposes. Content categorization, text categorization, and item classification are all important, commonly used examples of this process.</a:t>
            </a:r>
          </a:p>
          <a:p>
            <a:pPr algn="just">
              <a:lnSpc>
                <a:spcPts val="3957"/>
              </a:lnSpc>
            </a:pP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28700" y="2252182"/>
            <a:ext cx="16228899" cy="3785348"/>
          </a:xfrm>
          <a:prstGeom prst="rect">
            <a:avLst/>
          </a:prstGeom>
        </p:spPr>
        <p:txBody>
          <a:bodyPr anchor="t" rtlCol="false" tIns="0" lIns="0" bIns="0" rIns="0">
            <a:spAutoFit/>
          </a:bodyPr>
          <a:lstStyle/>
          <a:p>
            <a:pPr algn="just">
              <a:lnSpc>
                <a:spcPts val="3366"/>
              </a:lnSpc>
            </a:pPr>
            <a:r>
              <a:rPr lang="en-US" sz="3205" b="true">
                <a:solidFill>
                  <a:srgbClr val="333333"/>
                </a:solidFill>
                <a:latin typeface="Neue Montreal Bold"/>
                <a:ea typeface="Neue Montreal Bold"/>
                <a:cs typeface="Neue Montreal Bold"/>
                <a:sym typeface="Neue Montreal Bold"/>
              </a:rPr>
              <a:t>Data Annot</a:t>
            </a:r>
            <a:r>
              <a:rPr lang="en-US" sz="3205" b="true">
                <a:solidFill>
                  <a:srgbClr val="333333"/>
                </a:solidFill>
                <a:latin typeface="Neue Montreal Bold"/>
                <a:ea typeface="Neue Montreal Bold"/>
                <a:cs typeface="Neue Montreal Bold"/>
                <a:sym typeface="Neue Montreal Bold"/>
              </a:rPr>
              <a:t>ation and Labeling</a:t>
            </a:r>
          </a:p>
          <a:p>
            <a:pPr algn="just">
              <a:lnSpc>
                <a:spcPts val="3366"/>
              </a:lnSpc>
            </a:pPr>
            <a:r>
              <a:rPr lang="en-US" sz="3205">
                <a:solidFill>
                  <a:srgbClr val="333333"/>
                </a:solidFill>
                <a:latin typeface="Neue Montreal"/>
                <a:ea typeface="Neue Montreal"/>
                <a:cs typeface="Neue Montreal"/>
                <a:sym typeface="Neue Montreal"/>
              </a:rPr>
              <a:t>Data annotati</a:t>
            </a:r>
            <a:r>
              <a:rPr lang="en-US" sz="3205">
                <a:solidFill>
                  <a:srgbClr val="333333"/>
                </a:solidFill>
                <a:latin typeface="Neue Montreal"/>
                <a:ea typeface="Neue Montreal"/>
                <a:cs typeface="Neue Montreal"/>
                <a:sym typeface="Neue Montreal"/>
              </a:rPr>
              <a:t>on and data labeling are technically two separate concepts, though they are extensively used interchangeably in practice because the line between them is quite thin. Data annota</a:t>
            </a:r>
            <a:r>
              <a:rPr lang="en-US" sz="3205">
                <a:solidFill>
                  <a:srgbClr val="333333"/>
                </a:solidFill>
                <a:latin typeface="Neue Montreal"/>
                <a:ea typeface="Neue Montreal"/>
                <a:cs typeface="Neue Montreal"/>
                <a:sym typeface="Neue Montreal"/>
              </a:rPr>
              <a:t>tion refers specifically to the techniques used for labeling data especially images and video  in order to create a properly tagged dataset for machine learning training. Data labeling, by contrast, is the broader concept of tagging any kind of data with a set of relevant attributes describing that item. Put simply, data annotation can be understood as a specific part of the broader concept of data labeling.</a:t>
            </a:r>
          </a:p>
          <a:p>
            <a:pPr algn="just">
              <a:lnSpc>
                <a:spcPts val="3366"/>
              </a:lnSpc>
            </a:pP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946958" y="1802175"/>
            <a:ext cx="9084090" cy="994687"/>
          </a:xfrm>
          <a:prstGeom prst="rect">
            <a:avLst/>
          </a:prstGeom>
        </p:spPr>
        <p:txBody>
          <a:bodyPr anchor="t" rtlCol="false" tIns="0" lIns="0" bIns="0" rIns="0">
            <a:spAutoFit/>
          </a:bodyPr>
          <a:lstStyle/>
          <a:p>
            <a:pPr algn="l">
              <a:lnSpc>
                <a:spcPts val="7509"/>
              </a:lnSpc>
            </a:pPr>
            <a:r>
              <a:rPr lang="en-US" sz="7151" b="true">
                <a:solidFill>
                  <a:srgbClr val="333333"/>
                </a:solidFill>
                <a:latin typeface="Neue Montreal Medium"/>
                <a:ea typeface="Neue Montreal Medium"/>
                <a:cs typeface="Neue Montreal Medium"/>
                <a:sym typeface="Neue Montreal Medium"/>
              </a:rPr>
              <a:t>Image Data Annota</a:t>
            </a:r>
            <a:r>
              <a:rPr lang="en-US" b="true" sz="7151">
                <a:solidFill>
                  <a:srgbClr val="333333"/>
                </a:solidFill>
                <a:latin typeface="Neue Montreal Medium"/>
                <a:ea typeface="Neue Montreal Medium"/>
                <a:cs typeface="Neue Montreal Medium"/>
                <a:sym typeface="Neue Montreal Medium"/>
              </a:rPr>
              <a:t>tion</a:t>
            </a:r>
          </a:p>
        </p:txBody>
      </p:sp>
      <p:sp>
        <p:nvSpPr>
          <p:cNvPr name="TextBox 8" id="8"/>
          <p:cNvSpPr txBox="true"/>
          <p:nvPr/>
        </p:nvSpPr>
        <p:spPr>
          <a:xfrm rot="0">
            <a:off x="1759812" y="3127903"/>
            <a:ext cx="14768376" cy="5412428"/>
          </a:xfrm>
          <a:prstGeom prst="rect">
            <a:avLst/>
          </a:prstGeom>
        </p:spPr>
        <p:txBody>
          <a:bodyPr anchor="t" rtlCol="false" tIns="0" lIns="0" bIns="0" rIns="0">
            <a:spAutoFit/>
          </a:bodyPr>
          <a:lstStyle/>
          <a:p>
            <a:pPr algn="just">
              <a:lnSpc>
                <a:spcPts val="5380"/>
              </a:lnSpc>
            </a:pPr>
            <a:r>
              <a:rPr lang="en-US" b="true" sz="3843" spc="38">
                <a:solidFill>
                  <a:srgbClr val="333333"/>
                </a:solidFill>
                <a:latin typeface="Neue Montreal Bold"/>
                <a:ea typeface="Neue Montreal Bold"/>
                <a:cs typeface="Neue Montreal Bold"/>
                <a:sym typeface="Neue Montreal Bold"/>
              </a:rPr>
              <a:t>Bounding</a:t>
            </a:r>
            <a:r>
              <a:rPr lang="en-US" b="true" sz="3843" spc="38">
                <a:solidFill>
                  <a:srgbClr val="333333"/>
                </a:solidFill>
                <a:latin typeface="Neue Montreal Bold"/>
                <a:ea typeface="Neue Montreal Bold"/>
                <a:cs typeface="Neue Montreal Bold"/>
                <a:sym typeface="Neue Montreal Bold"/>
              </a:rPr>
              <a:t> Box Annotation</a:t>
            </a:r>
            <a:r>
              <a:rPr lang="en-US" sz="3843" spc="38">
                <a:solidFill>
                  <a:srgbClr val="333333"/>
                </a:solidFill>
                <a:latin typeface="Neue Montreal"/>
                <a:ea typeface="Neue Montreal"/>
                <a:cs typeface="Neue Montreal"/>
                <a:sym typeface="Neue Montreal"/>
              </a:rPr>
              <a:t> — rectangular regions around objects.</a:t>
            </a:r>
          </a:p>
          <a:p>
            <a:pPr algn="just">
              <a:lnSpc>
                <a:spcPts val="5380"/>
              </a:lnSpc>
            </a:pPr>
            <a:r>
              <a:rPr lang="en-US" b="true" sz="3843" spc="38">
                <a:solidFill>
                  <a:srgbClr val="333333"/>
                </a:solidFill>
                <a:latin typeface="Neue Montreal Bold"/>
                <a:ea typeface="Neue Montreal Bold"/>
                <a:cs typeface="Neue Montreal Bold"/>
                <a:sym typeface="Neue Montreal Bold"/>
              </a:rPr>
              <a:t>3</a:t>
            </a:r>
            <a:r>
              <a:rPr lang="en-US" b="true" sz="3843" spc="38">
                <a:solidFill>
                  <a:srgbClr val="333333"/>
                </a:solidFill>
                <a:latin typeface="Neue Montreal Bold"/>
                <a:ea typeface="Neue Montreal Bold"/>
                <a:cs typeface="Neue Montreal Bold"/>
                <a:sym typeface="Neue Montreal Bold"/>
              </a:rPr>
              <a:t>D Cuboids Annotation</a:t>
            </a:r>
            <a:r>
              <a:rPr lang="en-US" sz="3843" spc="38">
                <a:solidFill>
                  <a:srgbClr val="333333"/>
                </a:solidFill>
                <a:latin typeface="Neue Montreal"/>
                <a:ea typeface="Neue Montreal"/>
                <a:cs typeface="Neue Montreal"/>
                <a:sym typeface="Neue Montreal"/>
              </a:rPr>
              <a:t> — three-dimensional object boundaries.</a:t>
            </a:r>
          </a:p>
          <a:p>
            <a:pPr algn="just">
              <a:lnSpc>
                <a:spcPts val="5380"/>
              </a:lnSpc>
            </a:pPr>
            <a:r>
              <a:rPr lang="en-US" b="true" sz="3843" spc="38">
                <a:solidFill>
                  <a:srgbClr val="333333"/>
                </a:solidFill>
                <a:latin typeface="Neue Montreal Bold"/>
                <a:ea typeface="Neue Montreal Bold"/>
                <a:cs typeface="Neue Montreal Bold"/>
                <a:sym typeface="Neue Montreal Bold"/>
              </a:rPr>
              <a:t>Polygon Annotation </a:t>
            </a:r>
            <a:r>
              <a:rPr lang="en-US" sz="3843" spc="38">
                <a:solidFill>
                  <a:srgbClr val="333333"/>
                </a:solidFill>
                <a:latin typeface="Neue Montreal"/>
                <a:ea typeface="Neue Montreal"/>
                <a:cs typeface="Neue Montreal"/>
                <a:sym typeface="Neue Montreal"/>
              </a:rPr>
              <a:t>— outlines objects using polygon shapes.</a:t>
            </a:r>
          </a:p>
          <a:p>
            <a:pPr algn="just">
              <a:lnSpc>
                <a:spcPts val="5380"/>
              </a:lnSpc>
            </a:pPr>
            <a:r>
              <a:rPr lang="en-US" b="true" sz="3843" spc="38">
                <a:solidFill>
                  <a:srgbClr val="333333"/>
                </a:solidFill>
                <a:latin typeface="Neue Montreal Bold"/>
                <a:ea typeface="Neue Montreal Bold"/>
                <a:cs typeface="Neue Montreal Bold"/>
                <a:sym typeface="Neue Montreal Bold"/>
              </a:rPr>
              <a:t>Sem</a:t>
            </a:r>
            <a:r>
              <a:rPr lang="en-US" b="true" sz="3843" spc="38">
                <a:solidFill>
                  <a:srgbClr val="333333"/>
                </a:solidFill>
                <a:latin typeface="Neue Montreal Bold"/>
                <a:ea typeface="Neue Montreal Bold"/>
                <a:cs typeface="Neue Montreal Bold"/>
                <a:sym typeface="Neue Montreal Bold"/>
              </a:rPr>
              <a:t>antic Segmentation </a:t>
            </a:r>
            <a:r>
              <a:rPr lang="en-US" sz="3843" spc="38">
                <a:solidFill>
                  <a:srgbClr val="333333"/>
                </a:solidFill>
                <a:latin typeface="Neue Montreal"/>
                <a:ea typeface="Neue Montreal"/>
                <a:cs typeface="Neue Montreal"/>
                <a:sym typeface="Neue Montreal"/>
              </a:rPr>
              <a:t>— assigns meaningful categories</a:t>
            </a:r>
            <a:r>
              <a:rPr lang="en-US" sz="3843" spc="38">
                <a:solidFill>
                  <a:srgbClr val="333333"/>
                </a:solidFill>
                <a:latin typeface="Neue Montreal"/>
                <a:ea typeface="Neue Montreal"/>
                <a:cs typeface="Neue Montreal"/>
                <a:sym typeface="Neue Montreal"/>
              </a:rPr>
              <a:t> at the pixel/region</a:t>
            </a:r>
            <a:r>
              <a:rPr lang="en-US" sz="3843" spc="38">
                <a:solidFill>
                  <a:srgbClr val="333333"/>
                </a:solidFill>
                <a:latin typeface="Neue Montreal"/>
                <a:ea typeface="Neue Montreal"/>
                <a:cs typeface="Neue Montreal"/>
                <a:sym typeface="Neue Montreal"/>
              </a:rPr>
              <a:t> level.</a:t>
            </a:r>
          </a:p>
          <a:p>
            <a:pPr algn="just">
              <a:lnSpc>
                <a:spcPts val="5380"/>
              </a:lnSpc>
            </a:pPr>
          </a:p>
          <a:p>
            <a:pPr algn="just">
              <a:lnSpc>
                <a:spcPts val="5380"/>
              </a:lnSpc>
            </a:pPr>
            <a:r>
              <a:rPr lang="en-US" sz="3843" spc="38">
                <a:solidFill>
                  <a:srgbClr val="333333"/>
                </a:solidFill>
                <a:latin typeface="Neue Montreal"/>
                <a:ea typeface="Neue Montreal"/>
                <a:cs typeface="Neue Montreal"/>
                <a:sym typeface="Neue Montreal"/>
              </a:rPr>
              <a:t>These annotations provide structured information that computer-vision models can learn from.</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630170" y="1350103"/>
            <a:ext cx="15027660" cy="7520119"/>
          </a:xfrm>
          <a:prstGeom prst="rect">
            <a:avLst/>
          </a:prstGeom>
        </p:spPr>
        <p:txBody>
          <a:bodyPr anchor="t" rtlCol="false" tIns="0" lIns="0" bIns="0" rIns="0">
            <a:spAutoFit/>
          </a:bodyPr>
          <a:lstStyle/>
          <a:p>
            <a:pPr algn="just">
              <a:lnSpc>
                <a:spcPts val="4980"/>
              </a:lnSpc>
            </a:pPr>
            <a:r>
              <a:rPr lang="en-US" b="true" sz="3557" spc="35">
                <a:solidFill>
                  <a:srgbClr val="333333"/>
                </a:solidFill>
                <a:latin typeface="Neue Montreal Bold"/>
                <a:ea typeface="Neue Montreal Bold"/>
                <a:cs typeface="Neue Montreal Bold"/>
                <a:sym typeface="Neue Montreal Bold"/>
              </a:rPr>
              <a:t>Image Data Annotation</a:t>
            </a:r>
          </a:p>
          <a:p>
            <a:pPr algn="just">
              <a:lnSpc>
                <a:spcPts val="4980"/>
              </a:lnSpc>
            </a:pPr>
            <a:r>
              <a:rPr lang="en-US" sz="3557" spc="35">
                <a:solidFill>
                  <a:srgbClr val="333333"/>
                </a:solidFill>
                <a:latin typeface="Neue Montreal"/>
                <a:ea typeface="Neue Montreal"/>
                <a:cs typeface="Neue Montreal"/>
                <a:sym typeface="Neue Montreal"/>
              </a:rPr>
              <a:t>Image</a:t>
            </a:r>
            <a:r>
              <a:rPr lang="en-US" sz="3557" spc="35">
                <a:solidFill>
                  <a:srgbClr val="333333"/>
                </a:solidFill>
                <a:latin typeface="Neue Montreal"/>
                <a:ea typeface="Neue Montreal"/>
                <a:cs typeface="Neue Montreal"/>
                <a:sym typeface="Neue Montreal"/>
              </a:rPr>
              <a:t> data annotation is the process of identifying, labeling, and categorizing an image and the individual items within it. This process is accomplished using numerous specialized tools, techniques, and accompanying text content, and is further divided into several distinct techniques, described below.</a:t>
            </a:r>
          </a:p>
          <a:p>
            <a:pPr algn="just">
              <a:lnSpc>
                <a:spcPts val="4980"/>
              </a:lnSpc>
            </a:pPr>
          </a:p>
          <a:p>
            <a:pPr algn="just">
              <a:lnSpc>
                <a:spcPts val="4980"/>
              </a:lnSpc>
            </a:pPr>
            <a:r>
              <a:rPr lang="en-US" b="true" sz="3557" spc="35">
                <a:solidFill>
                  <a:srgbClr val="333333"/>
                </a:solidFill>
                <a:latin typeface="Neue Montreal Bold"/>
                <a:ea typeface="Neue Montreal Bold"/>
                <a:cs typeface="Neue Montreal Bold"/>
                <a:sym typeface="Neue Montreal Bold"/>
              </a:rPr>
              <a:t>B</a:t>
            </a:r>
            <a:r>
              <a:rPr lang="en-US" b="true" sz="3557" spc="35">
                <a:solidFill>
                  <a:srgbClr val="333333"/>
                </a:solidFill>
                <a:latin typeface="Neue Montreal Bold"/>
                <a:ea typeface="Neue Montreal Bold"/>
                <a:cs typeface="Neue Montreal Bold"/>
                <a:sym typeface="Neue Montreal Bold"/>
              </a:rPr>
              <a:t>ounding Box Annotation</a:t>
            </a:r>
          </a:p>
          <a:p>
            <a:pPr algn="just">
              <a:lnSpc>
                <a:spcPts val="4980"/>
              </a:lnSpc>
            </a:pPr>
            <a:r>
              <a:rPr lang="en-US" sz="3557" spc="35">
                <a:solidFill>
                  <a:srgbClr val="333333"/>
                </a:solidFill>
                <a:latin typeface="Neue Montreal"/>
                <a:ea typeface="Neue Montreal"/>
                <a:cs typeface="Neue Montreal"/>
                <a:sym typeface="Neue Montreal"/>
              </a:rPr>
              <a:t>In bounding box annotation, an annotation tool is used to draw a two-dimensional box (a bounding box) around the entire body of</a:t>
            </a:r>
            <a:r>
              <a:rPr lang="en-US" sz="3557" spc="35">
                <a:solidFill>
                  <a:srgbClr val="333333"/>
                </a:solidFill>
                <a:latin typeface="Neue Montreal"/>
                <a:ea typeface="Neue Montreal"/>
                <a:cs typeface="Neue Montreal"/>
                <a:sym typeface="Neue Montreal"/>
              </a:rPr>
              <a:t> an item within an image, marking its boundary</a:t>
            </a:r>
            <a:r>
              <a:rPr lang="en-US" sz="3557" spc="35">
                <a:solidFill>
                  <a:srgbClr val="333333"/>
                </a:solidFill>
                <a:latin typeface="Neue Montreal"/>
                <a:ea typeface="Neue Montreal"/>
                <a:cs typeface="Neue Montreal"/>
                <a:sym typeface="Neue Montreal"/>
              </a:rPr>
              <a:t>. This is one of the most fundamental annotation techniques and is extensively used across both image and video annotation projects.</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18344" y="1583762"/>
            <a:ext cx="16251311" cy="7328559"/>
          </a:xfrm>
          <a:prstGeom prst="rect">
            <a:avLst/>
          </a:prstGeom>
        </p:spPr>
        <p:txBody>
          <a:bodyPr anchor="t" rtlCol="false" tIns="0" lIns="0" bIns="0" rIns="0">
            <a:spAutoFit/>
          </a:bodyPr>
          <a:lstStyle/>
          <a:p>
            <a:pPr algn="l">
              <a:lnSpc>
                <a:spcPts val="4845"/>
              </a:lnSpc>
            </a:pPr>
            <a:r>
              <a:rPr lang="en-US" sz="3461" spc="34" b="true">
                <a:solidFill>
                  <a:srgbClr val="333333"/>
                </a:solidFill>
                <a:latin typeface="Neue Montreal Bold"/>
                <a:ea typeface="Neue Montreal Bold"/>
                <a:cs typeface="Neue Montreal Bold"/>
                <a:sym typeface="Neue Montreal Bold"/>
              </a:rPr>
              <a:t>3D Cuboids Annotation</a:t>
            </a:r>
          </a:p>
          <a:p>
            <a:pPr algn="l">
              <a:lnSpc>
                <a:spcPts val="4845"/>
              </a:lnSpc>
            </a:pPr>
            <a:r>
              <a:rPr lang="en-US" sz="3461" spc="34">
                <a:solidFill>
                  <a:srgbClr val="333333"/>
                </a:solidFill>
                <a:latin typeface="Neue Montreal"/>
                <a:ea typeface="Neue Montreal"/>
                <a:cs typeface="Neue Montreal"/>
                <a:sym typeface="Neue Montreal"/>
              </a:rPr>
              <a:t>In</a:t>
            </a:r>
            <a:r>
              <a:rPr lang="en-US" sz="3461" spc="34">
                <a:solidFill>
                  <a:srgbClr val="333333"/>
                </a:solidFill>
                <a:latin typeface="Neue Montreal"/>
                <a:ea typeface="Neue Montreal"/>
                <a:cs typeface="Neue Montreal"/>
                <a:sym typeface="Neue Montreal"/>
              </a:rPr>
              <a:t> 3D cuboid annotation, a three-dimensional cube is used to scale all three dimensions of an object within an image, in order to produce more accurate results. This technique is especially useful in situations where the precise size of an item, and the distance between multiple items, matters significantly such as in autonomous-vehicle perception systems.</a:t>
            </a:r>
          </a:p>
          <a:p>
            <a:pPr algn="l">
              <a:lnSpc>
                <a:spcPts val="4845"/>
              </a:lnSpc>
            </a:pPr>
          </a:p>
          <a:p>
            <a:pPr algn="l">
              <a:lnSpc>
                <a:spcPts val="4845"/>
              </a:lnSpc>
            </a:pPr>
            <a:r>
              <a:rPr lang="en-US" b="true" sz="3461" spc="34">
                <a:solidFill>
                  <a:srgbClr val="333333"/>
                </a:solidFill>
                <a:latin typeface="Neue Montreal Bold"/>
                <a:ea typeface="Neue Montreal Bold"/>
                <a:cs typeface="Neue Montreal Bold"/>
                <a:sym typeface="Neue Montreal Bold"/>
              </a:rPr>
              <a:t>P</a:t>
            </a:r>
            <a:r>
              <a:rPr lang="en-US" b="true" sz="3461" spc="34">
                <a:solidFill>
                  <a:srgbClr val="333333"/>
                </a:solidFill>
                <a:latin typeface="Neue Montreal Bold"/>
                <a:ea typeface="Neue Montreal Bold"/>
                <a:cs typeface="Neue Montreal Bold"/>
                <a:sym typeface="Neue Montreal Bold"/>
              </a:rPr>
              <a:t>olygon Annotation</a:t>
            </a:r>
          </a:p>
          <a:p>
            <a:pPr algn="l">
              <a:lnSpc>
                <a:spcPts val="4845"/>
              </a:lnSpc>
            </a:pPr>
            <a:r>
              <a:rPr lang="en-US" sz="3461" spc="34">
                <a:solidFill>
                  <a:srgbClr val="333333"/>
                </a:solidFill>
                <a:latin typeface="Neue Montreal"/>
                <a:ea typeface="Neue Montreal"/>
                <a:cs typeface="Neue Montreal"/>
                <a:sym typeface="Neue Montreal"/>
              </a:rPr>
              <a:t>N</a:t>
            </a:r>
            <a:r>
              <a:rPr lang="en-US" sz="3461" spc="34">
                <a:solidFill>
                  <a:srgbClr val="333333"/>
                </a:solidFill>
                <a:latin typeface="Neue Montreal"/>
                <a:ea typeface="Neue Montreal"/>
                <a:cs typeface="Neue Montreal"/>
                <a:sym typeface="Neue Montreal"/>
              </a:rPr>
              <a:t>ot every object in an image has a regular shape that can be neatly mapped using a square bounding box or a cuboid. Polygon</a:t>
            </a:r>
            <a:r>
              <a:rPr lang="en-US" sz="3461" spc="34">
                <a:solidFill>
                  <a:srgbClr val="333333"/>
                </a:solidFill>
                <a:latin typeface="Neue Montreal"/>
                <a:ea typeface="Neue Montreal"/>
                <a:cs typeface="Neue Montreal"/>
                <a:sym typeface="Neue Montreal"/>
              </a:rPr>
              <a:t> annotation solves this problem by marking all of an</a:t>
            </a:r>
            <a:r>
              <a:rPr lang="en-US" sz="3461" spc="34">
                <a:solidFill>
                  <a:srgbClr val="333333"/>
                </a:solidFill>
                <a:latin typeface="Neue Montreal"/>
                <a:ea typeface="Neue Montreal"/>
                <a:cs typeface="Neue Montreal"/>
                <a:sym typeface="Neue Montreal"/>
              </a:rPr>
              <a:t> object's edges and other distinguishing features using a multi-sided polygon shape, producing much greater accuracy in representing the object's true shape and size.</a:t>
            </a:r>
          </a:p>
          <a:p>
            <a:pPr algn="l">
              <a:lnSpc>
                <a:spcPts val="4845"/>
              </a:lnSpc>
            </a:pP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85875" y="1860245"/>
            <a:ext cx="16116250" cy="4985797"/>
          </a:xfrm>
          <a:prstGeom prst="rect">
            <a:avLst/>
          </a:prstGeom>
        </p:spPr>
        <p:txBody>
          <a:bodyPr anchor="t" rtlCol="false" tIns="0" lIns="0" bIns="0" rIns="0">
            <a:spAutoFit/>
          </a:bodyPr>
          <a:lstStyle/>
          <a:p>
            <a:pPr algn="just">
              <a:lnSpc>
                <a:spcPts val="5672"/>
              </a:lnSpc>
            </a:pPr>
            <a:r>
              <a:rPr lang="en-US" b="true" sz="4052" spc="40">
                <a:solidFill>
                  <a:srgbClr val="333333"/>
                </a:solidFill>
                <a:latin typeface="Neue Montreal Bold"/>
                <a:ea typeface="Neue Montreal Bold"/>
                <a:cs typeface="Neue Montreal Bold"/>
                <a:sym typeface="Neue Montreal Bold"/>
              </a:rPr>
              <a:t>Semantic Se</a:t>
            </a:r>
            <a:r>
              <a:rPr lang="en-US" b="true" sz="4052" spc="40">
                <a:solidFill>
                  <a:srgbClr val="333333"/>
                </a:solidFill>
                <a:latin typeface="Neue Montreal Bold"/>
                <a:ea typeface="Neue Montreal Bold"/>
                <a:cs typeface="Neue Montreal Bold"/>
                <a:sym typeface="Neue Montreal Bold"/>
              </a:rPr>
              <a:t>gmentation</a:t>
            </a:r>
          </a:p>
          <a:p>
            <a:pPr algn="just">
              <a:lnSpc>
                <a:spcPts val="5672"/>
              </a:lnSpc>
            </a:pPr>
            <a:r>
              <a:rPr lang="en-US" sz="4052" spc="40">
                <a:solidFill>
                  <a:srgbClr val="333333"/>
                </a:solidFill>
                <a:latin typeface="Neue Montreal"/>
                <a:ea typeface="Neue Montreal"/>
                <a:cs typeface="Neue Montreal"/>
                <a:sym typeface="Neue Montreal"/>
              </a:rPr>
              <a:t>In semantic segmentation, every single part and point of an image is assigned a descriptive label, providing a much deeper, pixel-level understanding of the overall l</a:t>
            </a:r>
            <a:r>
              <a:rPr lang="en-US" sz="4052" spc="40">
                <a:solidFill>
                  <a:srgbClr val="333333"/>
                </a:solidFill>
                <a:latin typeface="Neue Montreal"/>
                <a:ea typeface="Neue Montreal"/>
                <a:cs typeface="Neue Montreal"/>
                <a:sym typeface="Neue Montreal"/>
              </a:rPr>
              <a:t>andscape or scene depicted in the image. Multiple poin</a:t>
            </a:r>
            <a:r>
              <a:rPr lang="en-US" sz="4052" spc="40">
                <a:solidFill>
                  <a:srgbClr val="333333"/>
                </a:solidFill>
                <a:latin typeface="Neue Montreal"/>
                <a:ea typeface="Neue Montreal"/>
                <a:cs typeface="Neue Montreal"/>
                <a:sym typeface="Neue Montreal"/>
              </a:rPr>
              <a:t>ts or items that share the same category are treated identically in this technique and are marked using the same label or color across the whole image.</a:t>
            </a: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581198" y="1825035"/>
            <a:ext cx="8958391" cy="994687"/>
          </a:xfrm>
          <a:prstGeom prst="rect">
            <a:avLst/>
          </a:prstGeom>
        </p:spPr>
        <p:txBody>
          <a:bodyPr anchor="t" rtlCol="false" tIns="0" lIns="0" bIns="0" rIns="0">
            <a:spAutoFit/>
          </a:bodyPr>
          <a:lstStyle/>
          <a:p>
            <a:pPr algn="l">
              <a:lnSpc>
                <a:spcPts val="7509"/>
              </a:lnSpc>
            </a:pPr>
            <a:r>
              <a:rPr lang="en-US" sz="7151" b="true">
                <a:solidFill>
                  <a:srgbClr val="333333"/>
                </a:solidFill>
                <a:latin typeface="Neue Montreal Medium"/>
                <a:ea typeface="Neue Montreal Medium"/>
                <a:cs typeface="Neue Montreal Medium"/>
                <a:sym typeface="Neue Montreal Medium"/>
              </a:rPr>
              <a:t>Text Data Annota</a:t>
            </a:r>
            <a:r>
              <a:rPr lang="en-US" b="true" sz="7151">
                <a:solidFill>
                  <a:srgbClr val="333333"/>
                </a:solidFill>
                <a:latin typeface="Neue Montreal Medium"/>
                <a:ea typeface="Neue Montreal Medium"/>
                <a:cs typeface="Neue Montreal Medium"/>
                <a:sym typeface="Neue Montreal Medium"/>
              </a:rPr>
              <a:t>tion</a:t>
            </a:r>
          </a:p>
        </p:txBody>
      </p:sp>
      <p:sp>
        <p:nvSpPr>
          <p:cNvPr name="TextBox 8" id="8"/>
          <p:cNvSpPr txBox="true"/>
          <p:nvPr/>
        </p:nvSpPr>
        <p:spPr>
          <a:xfrm rot="0">
            <a:off x="1202978" y="3082183"/>
            <a:ext cx="15882045" cy="5931121"/>
          </a:xfrm>
          <a:prstGeom prst="rect">
            <a:avLst/>
          </a:prstGeom>
        </p:spPr>
        <p:txBody>
          <a:bodyPr anchor="t" rtlCol="false" tIns="0" lIns="0" bIns="0" rIns="0">
            <a:spAutoFit/>
          </a:bodyPr>
          <a:lstStyle/>
          <a:p>
            <a:pPr algn="l">
              <a:lnSpc>
                <a:spcPts val="5237"/>
              </a:lnSpc>
            </a:pPr>
            <a:r>
              <a:rPr lang="en-US" sz="3740" spc="37" b="true">
                <a:solidFill>
                  <a:srgbClr val="333333"/>
                </a:solidFill>
                <a:latin typeface="Neue Montreal Bold"/>
                <a:ea typeface="Neue Montreal Bold"/>
                <a:cs typeface="Neue Montreal Bold"/>
                <a:sym typeface="Neue Montreal Bold"/>
              </a:rPr>
              <a:t>Entity</a:t>
            </a:r>
            <a:r>
              <a:rPr lang="en-US" b="true" sz="3740" spc="37">
                <a:solidFill>
                  <a:srgbClr val="333333"/>
                </a:solidFill>
                <a:latin typeface="Neue Montreal Bold"/>
                <a:ea typeface="Neue Montreal Bold"/>
                <a:cs typeface="Neue Montreal Bold"/>
                <a:sym typeface="Neue Montreal Bold"/>
              </a:rPr>
              <a:t> Annotation </a:t>
            </a:r>
            <a:r>
              <a:rPr lang="en-US" sz="3740" spc="37">
                <a:solidFill>
                  <a:srgbClr val="333333"/>
                </a:solidFill>
                <a:latin typeface="Neue Montreal"/>
                <a:ea typeface="Neue Montreal"/>
                <a:cs typeface="Neue Montreal"/>
                <a:sym typeface="Neue Montreal"/>
              </a:rPr>
              <a:t>— identifies entities such as people, organizations, locations, or other meaningful items.</a:t>
            </a:r>
          </a:p>
          <a:p>
            <a:pPr algn="l">
              <a:lnSpc>
                <a:spcPts val="5237"/>
              </a:lnSpc>
            </a:pPr>
            <a:r>
              <a:rPr lang="en-US" b="true" sz="3740" spc="37">
                <a:solidFill>
                  <a:srgbClr val="333333"/>
                </a:solidFill>
                <a:latin typeface="Neue Montreal Bold"/>
                <a:ea typeface="Neue Montreal Bold"/>
                <a:cs typeface="Neue Montreal Bold"/>
                <a:sym typeface="Neue Montreal Bold"/>
              </a:rPr>
              <a:t>Entity</a:t>
            </a:r>
            <a:r>
              <a:rPr lang="en-US" b="true" sz="3740" spc="37">
                <a:solidFill>
                  <a:srgbClr val="333333"/>
                </a:solidFill>
                <a:latin typeface="Neue Montreal Bold"/>
                <a:ea typeface="Neue Montreal Bold"/>
                <a:cs typeface="Neue Montreal Bold"/>
                <a:sym typeface="Neue Montreal Bold"/>
              </a:rPr>
              <a:t> Linking</a:t>
            </a:r>
            <a:r>
              <a:rPr lang="en-US" sz="3740" spc="37">
                <a:solidFill>
                  <a:srgbClr val="333333"/>
                </a:solidFill>
                <a:latin typeface="Neue Montreal"/>
                <a:ea typeface="Neue Montreal"/>
                <a:cs typeface="Neue Montreal"/>
                <a:sym typeface="Neue Montreal"/>
              </a:rPr>
              <a:t> — connects recognized entities to specific known entities or representations.</a:t>
            </a:r>
          </a:p>
          <a:p>
            <a:pPr algn="l">
              <a:lnSpc>
                <a:spcPts val="5237"/>
              </a:lnSpc>
            </a:pPr>
            <a:r>
              <a:rPr lang="en-US" b="true" sz="3740" spc="37">
                <a:solidFill>
                  <a:srgbClr val="333333"/>
                </a:solidFill>
                <a:latin typeface="Neue Montreal Bold"/>
                <a:ea typeface="Neue Montreal Bold"/>
                <a:cs typeface="Neue Montreal Bold"/>
                <a:sym typeface="Neue Montreal Bold"/>
              </a:rPr>
              <a:t>Se</a:t>
            </a:r>
            <a:r>
              <a:rPr lang="en-US" b="true" sz="3740" spc="37">
                <a:solidFill>
                  <a:srgbClr val="333333"/>
                </a:solidFill>
                <a:latin typeface="Neue Montreal Bold"/>
                <a:ea typeface="Neue Montreal Bold"/>
                <a:cs typeface="Neue Montreal Bold"/>
                <a:sym typeface="Neue Montreal Bold"/>
              </a:rPr>
              <a:t>ntiment Annotation</a:t>
            </a:r>
            <a:r>
              <a:rPr lang="en-US" sz="3740" spc="37">
                <a:solidFill>
                  <a:srgbClr val="333333"/>
                </a:solidFill>
                <a:latin typeface="Neue Montreal"/>
                <a:ea typeface="Neue Montreal"/>
                <a:cs typeface="Neue Montreal"/>
                <a:sym typeface="Neue Montreal"/>
              </a:rPr>
              <a:t> — labels sentiment or opinion characteristics.</a:t>
            </a:r>
          </a:p>
          <a:p>
            <a:pPr algn="l">
              <a:lnSpc>
                <a:spcPts val="5237"/>
              </a:lnSpc>
            </a:pPr>
            <a:r>
              <a:rPr lang="en-US" b="true" sz="3740" spc="37">
                <a:solidFill>
                  <a:srgbClr val="333333"/>
                </a:solidFill>
                <a:latin typeface="Neue Montreal Bold"/>
                <a:ea typeface="Neue Montreal Bold"/>
                <a:cs typeface="Neue Montreal Bold"/>
                <a:sym typeface="Neue Montreal Bold"/>
              </a:rPr>
              <a:t>Text Cl</a:t>
            </a:r>
            <a:r>
              <a:rPr lang="en-US" b="true" sz="3740" spc="37">
                <a:solidFill>
                  <a:srgbClr val="333333"/>
                </a:solidFill>
                <a:latin typeface="Neue Montreal Bold"/>
                <a:ea typeface="Neue Montreal Bold"/>
                <a:cs typeface="Neue Montreal Bold"/>
                <a:sym typeface="Neue Montreal Bold"/>
              </a:rPr>
              <a:t>assification </a:t>
            </a:r>
            <a:r>
              <a:rPr lang="en-US" sz="3740" spc="37">
                <a:solidFill>
                  <a:srgbClr val="333333"/>
                </a:solidFill>
                <a:latin typeface="Neue Montreal"/>
                <a:ea typeface="Neue Montreal"/>
                <a:cs typeface="Neue Montreal"/>
                <a:sym typeface="Neue Montreal"/>
              </a:rPr>
              <a:t>— assigns text to defined categories.</a:t>
            </a:r>
          </a:p>
          <a:p>
            <a:pPr algn="l">
              <a:lnSpc>
                <a:spcPts val="5237"/>
              </a:lnSpc>
            </a:pPr>
          </a:p>
          <a:p>
            <a:pPr algn="l">
              <a:lnSpc>
                <a:spcPts val="5237"/>
              </a:lnSpc>
            </a:pPr>
            <a:r>
              <a:rPr lang="en-US" sz="3740" spc="37">
                <a:solidFill>
                  <a:srgbClr val="333333"/>
                </a:solidFill>
                <a:latin typeface="Neue Montreal"/>
                <a:ea typeface="Neue Montreal"/>
                <a:cs typeface="Neue Montreal"/>
                <a:sym typeface="Neue Montreal"/>
              </a:rPr>
              <a:t>T</a:t>
            </a:r>
            <a:r>
              <a:rPr lang="en-US" sz="3740" spc="37">
                <a:solidFill>
                  <a:srgbClr val="333333"/>
                </a:solidFill>
                <a:latin typeface="Neue Montreal"/>
                <a:ea typeface="Neue Montreal"/>
                <a:cs typeface="Neue Montreal"/>
                <a:sym typeface="Neue Montreal"/>
              </a:rPr>
              <a:t>hese</a:t>
            </a:r>
            <a:r>
              <a:rPr lang="en-US" sz="3740" spc="37">
                <a:solidFill>
                  <a:srgbClr val="333333"/>
                </a:solidFill>
                <a:latin typeface="Neue Montreal"/>
                <a:ea typeface="Neue Montreal"/>
                <a:cs typeface="Neue Montreal"/>
                <a:sym typeface="Neue Montreal"/>
              </a:rPr>
              <a:t> labels can support supervised NLP systems.</a:t>
            </a:r>
          </a:p>
          <a:p>
            <a:pPr algn="l">
              <a:lnSpc>
                <a:spcPts val="5237"/>
              </a:lnSpc>
            </a:pP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924472" y="2294585"/>
            <a:ext cx="16439057" cy="4017598"/>
          </a:xfrm>
          <a:prstGeom prst="rect">
            <a:avLst/>
          </a:prstGeom>
        </p:spPr>
        <p:txBody>
          <a:bodyPr anchor="t" rtlCol="false" tIns="0" lIns="0" bIns="0" rIns="0">
            <a:spAutoFit/>
          </a:bodyPr>
          <a:lstStyle/>
          <a:p>
            <a:pPr algn="just">
              <a:lnSpc>
                <a:spcPts val="5357"/>
              </a:lnSpc>
            </a:pPr>
            <a:r>
              <a:rPr lang="en-US" b="true" sz="3826" spc="38">
                <a:solidFill>
                  <a:srgbClr val="333333"/>
                </a:solidFill>
                <a:latin typeface="Neue Montreal Bold"/>
                <a:ea typeface="Neue Montreal Bold"/>
                <a:cs typeface="Neue Montreal Bold"/>
                <a:sym typeface="Neue Montreal Bold"/>
              </a:rPr>
              <a:t>Text Data Annot</a:t>
            </a:r>
            <a:r>
              <a:rPr lang="en-US" b="true" sz="3826" spc="38">
                <a:solidFill>
                  <a:srgbClr val="333333"/>
                </a:solidFill>
                <a:latin typeface="Neue Montreal Bold"/>
                <a:ea typeface="Neue Montreal Bold"/>
                <a:cs typeface="Neue Montreal Bold"/>
                <a:sym typeface="Neue Montreal Bold"/>
              </a:rPr>
              <a:t>ation</a:t>
            </a:r>
          </a:p>
          <a:p>
            <a:pPr algn="just">
              <a:lnSpc>
                <a:spcPts val="5357"/>
              </a:lnSpc>
            </a:pPr>
            <a:r>
              <a:rPr lang="en-US" sz="3826" spc="38">
                <a:solidFill>
                  <a:srgbClr val="333333"/>
                </a:solidFill>
                <a:latin typeface="Neue Montreal"/>
                <a:ea typeface="Neue Montreal"/>
                <a:cs typeface="Neue Montreal"/>
                <a:sym typeface="Neue Montreal"/>
              </a:rPr>
              <a:t>Text data annotation is the process of identifying and assigning labels to text contained within a digital file, used specifically to support supervised machine learning. A digital file, in this context, can be a scanned document, a text file in any of a range of formats, or another digital text source. There are five major classes of text annotation, each of which uses its own set of sub-types, described below.</a:t>
            </a: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839781" y="1618310"/>
            <a:ext cx="16608439" cy="5065599"/>
          </a:xfrm>
          <a:prstGeom prst="rect">
            <a:avLst/>
          </a:prstGeom>
        </p:spPr>
        <p:txBody>
          <a:bodyPr anchor="t" rtlCol="false" tIns="0" lIns="0" bIns="0" rIns="0">
            <a:spAutoFit/>
          </a:bodyPr>
          <a:lstStyle/>
          <a:p>
            <a:pPr algn="just">
              <a:lnSpc>
                <a:spcPts val="5064"/>
              </a:lnSpc>
            </a:pPr>
            <a:r>
              <a:rPr lang="en-US" b="true" sz="3617" spc="36">
                <a:solidFill>
                  <a:srgbClr val="333333"/>
                </a:solidFill>
                <a:latin typeface="Neue Montreal Bold"/>
                <a:ea typeface="Neue Montreal Bold"/>
                <a:cs typeface="Neue Montreal Bold"/>
                <a:sym typeface="Neue Montreal Bold"/>
              </a:rPr>
              <a:t>Entity A</a:t>
            </a:r>
            <a:r>
              <a:rPr lang="en-US" b="true" sz="3617" spc="36">
                <a:solidFill>
                  <a:srgbClr val="333333"/>
                </a:solidFill>
                <a:latin typeface="Neue Montreal Bold"/>
                <a:ea typeface="Neue Montreal Bold"/>
                <a:cs typeface="Neue Montreal Bold"/>
                <a:sym typeface="Neue Montreal Bold"/>
              </a:rPr>
              <a:t>nnotation</a:t>
            </a:r>
          </a:p>
          <a:p>
            <a:pPr algn="just">
              <a:lnSpc>
                <a:spcPts val="5064"/>
              </a:lnSpc>
            </a:pPr>
            <a:r>
              <a:rPr lang="en-US" sz="3617" spc="36">
                <a:solidFill>
                  <a:srgbClr val="333333"/>
                </a:solidFill>
                <a:latin typeface="Neue Montreal"/>
                <a:ea typeface="Neue Montreal"/>
                <a:cs typeface="Neue Montreal"/>
                <a:sym typeface="Neue Montreal"/>
              </a:rPr>
              <a:t>In entity annotation, the names of places, people, values, times, distances, and other simil</a:t>
            </a:r>
            <a:r>
              <a:rPr lang="en-US" sz="3617" spc="36">
                <a:solidFill>
                  <a:srgbClr val="333333"/>
                </a:solidFill>
                <a:latin typeface="Neue Montreal"/>
                <a:ea typeface="Neue Montreal"/>
                <a:cs typeface="Neue Montreal"/>
                <a:sym typeface="Neue Montreal"/>
              </a:rPr>
              <a:t>ar categories mentioned in the text are identified and</a:t>
            </a:r>
            <a:r>
              <a:rPr lang="en-US" sz="3617" spc="36">
                <a:solidFill>
                  <a:srgbClr val="333333"/>
                </a:solidFill>
                <a:latin typeface="Neue Montreal"/>
                <a:ea typeface="Neue Montreal"/>
                <a:cs typeface="Neue Montreal"/>
                <a:sym typeface="Neue Montreal"/>
              </a:rPr>
              <a:t> formally assigned. A few key sub-functions within entity annotation include:</a:t>
            </a:r>
          </a:p>
          <a:p>
            <a:pPr algn="just">
              <a:lnSpc>
                <a:spcPts val="5064"/>
              </a:lnSpc>
            </a:pPr>
            <a:r>
              <a:rPr lang="en-US" sz="3617" spc="36">
                <a:solidFill>
                  <a:srgbClr val="333333"/>
                </a:solidFill>
                <a:latin typeface="Neue Montreal"/>
                <a:ea typeface="Neue Montreal"/>
                <a:cs typeface="Neue Montreal"/>
                <a:sym typeface="Neue Montreal"/>
              </a:rPr>
              <a:t>• Named Entity Recognition (NER)</a:t>
            </a:r>
          </a:p>
          <a:p>
            <a:pPr algn="just">
              <a:lnSpc>
                <a:spcPts val="5064"/>
              </a:lnSpc>
            </a:pPr>
            <a:r>
              <a:rPr lang="en-US" sz="3617" spc="36">
                <a:solidFill>
                  <a:srgbClr val="333333"/>
                </a:solidFill>
                <a:latin typeface="Neue Montreal"/>
                <a:ea typeface="Neue Montreal"/>
                <a:cs typeface="Neue Montreal"/>
                <a:sym typeface="Neue Montreal"/>
              </a:rPr>
              <a:t>• Key Phrase Tagging</a:t>
            </a:r>
          </a:p>
          <a:p>
            <a:pPr algn="just">
              <a:lnSpc>
                <a:spcPts val="5064"/>
              </a:lnSpc>
            </a:pPr>
            <a:r>
              <a:rPr lang="en-US" sz="3617" spc="36">
                <a:solidFill>
                  <a:srgbClr val="333333"/>
                </a:solidFill>
                <a:latin typeface="Neue Montreal"/>
                <a:ea typeface="Neue Montreal"/>
                <a:cs typeface="Neue Montreal"/>
                <a:sym typeface="Neue Montreal"/>
              </a:rPr>
              <a:t>• Parts of Speech (POS) Tagging</a:t>
            </a:r>
          </a:p>
          <a:p>
            <a:pPr algn="just">
              <a:lnSpc>
                <a:spcPts val="5064"/>
              </a:lnSpc>
            </a:pPr>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851600" y="1927995"/>
            <a:ext cx="16584801" cy="5023725"/>
          </a:xfrm>
          <a:prstGeom prst="rect">
            <a:avLst/>
          </a:prstGeom>
        </p:spPr>
        <p:txBody>
          <a:bodyPr anchor="t" rtlCol="false" tIns="0" lIns="0" bIns="0" rIns="0">
            <a:spAutoFit/>
          </a:bodyPr>
          <a:lstStyle/>
          <a:p>
            <a:pPr algn="just">
              <a:lnSpc>
                <a:spcPts val="5012"/>
              </a:lnSpc>
            </a:pPr>
            <a:r>
              <a:rPr lang="en-US" b="true" sz="3580" spc="35">
                <a:solidFill>
                  <a:srgbClr val="333333"/>
                </a:solidFill>
                <a:latin typeface="Neue Montreal Bold"/>
                <a:ea typeface="Neue Montreal Bold"/>
                <a:cs typeface="Neue Montreal Bold"/>
                <a:sym typeface="Neue Montreal Bold"/>
              </a:rPr>
              <a:t>En</a:t>
            </a:r>
            <a:r>
              <a:rPr lang="en-US" b="true" sz="3580" spc="35">
                <a:solidFill>
                  <a:srgbClr val="333333"/>
                </a:solidFill>
                <a:latin typeface="Neue Montreal Bold"/>
                <a:ea typeface="Neue Montreal Bold"/>
                <a:cs typeface="Neue Montreal Bold"/>
                <a:sym typeface="Neue Montreal Bold"/>
              </a:rPr>
              <a:t>tity Linking</a:t>
            </a:r>
          </a:p>
          <a:p>
            <a:pPr algn="just">
              <a:lnSpc>
                <a:spcPts val="5012"/>
              </a:lnSpc>
            </a:pPr>
            <a:r>
              <a:rPr lang="en-US" sz="3580" spc="35">
                <a:solidFill>
                  <a:srgbClr val="333333"/>
                </a:solidFill>
                <a:latin typeface="Neue Montreal"/>
                <a:ea typeface="Neue Montreal"/>
                <a:cs typeface="Neue Montreal"/>
                <a:sym typeface="Neue Montreal"/>
              </a:rPr>
              <a:t>As its name implies, entity linking identifies entities within a text and links them to the broader category or concept they represent  often through a URL link making the concept far more understandable and useful for a machine to learn from. This technique becomes a very effective way for machines to develop a deeper understanding of a given concept. Major sub-types of entity linking include:</a:t>
            </a:r>
          </a:p>
          <a:p>
            <a:pPr algn="just">
              <a:lnSpc>
                <a:spcPts val="5012"/>
              </a:lnSpc>
            </a:pPr>
            <a:r>
              <a:rPr lang="en-US" sz="3580" spc="35">
                <a:solidFill>
                  <a:srgbClr val="333333"/>
                </a:solidFill>
                <a:latin typeface="Neue Montreal"/>
                <a:ea typeface="Neue Montreal"/>
                <a:cs typeface="Neue Montreal"/>
                <a:sym typeface="Neue Montreal"/>
              </a:rPr>
              <a:t>• End-to-End Entity Linking</a:t>
            </a:r>
          </a:p>
          <a:p>
            <a:pPr algn="just">
              <a:lnSpc>
                <a:spcPts val="5012"/>
              </a:lnSpc>
            </a:pPr>
            <a:r>
              <a:rPr lang="en-US" sz="3580" spc="35">
                <a:solidFill>
                  <a:srgbClr val="333333"/>
                </a:solidFill>
                <a:latin typeface="Neue Montreal"/>
                <a:ea typeface="Neue Montreal"/>
                <a:cs typeface="Neue Montreal"/>
                <a:sym typeface="Neue Montreal"/>
              </a:rPr>
              <a:t>• Entity Disambiguation</a:t>
            </a: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141608" y="1951685"/>
            <a:ext cx="16004784" cy="4243750"/>
          </a:xfrm>
          <a:prstGeom prst="rect">
            <a:avLst/>
          </a:prstGeom>
        </p:spPr>
        <p:txBody>
          <a:bodyPr anchor="t" rtlCol="false" tIns="0" lIns="0" bIns="0" rIns="0">
            <a:spAutoFit/>
          </a:bodyPr>
          <a:lstStyle/>
          <a:p>
            <a:pPr algn="l">
              <a:lnSpc>
                <a:spcPts val="5664"/>
              </a:lnSpc>
            </a:pPr>
            <a:r>
              <a:rPr lang="en-US" b="true" sz="4046" spc="40">
                <a:solidFill>
                  <a:srgbClr val="333333"/>
                </a:solidFill>
                <a:latin typeface="Neue Montreal Bold"/>
                <a:ea typeface="Neue Montreal Bold"/>
                <a:cs typeface="Neue Montreal Bold"/>
                <a:sym typeface="Neue Montreal Bold"/>
              </a:rPr>
              <a:t>Sentiment A</a:t>
            </a:r>
            <a:r>
              <a:rPr lang="en-US" b="true" sz="4046" spc="40">
                <a:solidFill>
                  <a:srgbClr val="333333"/>
                </a:solidFill>
                <a:latin typeface="Neue Montreal Bold"/>
                <a:ea typeface="Neue Montreal Bold"/>
                <a:cs typeface="Neue Montreal Bold"/>
                <a:sym typeface="Neue Montreal Bold"/>
              </a:rPr>
              <a:t>nnotation</a:t>
            </a:r>
          </a:p>
          <a:p>
            <a:pPr algn="l">
              <a:lnSpc>
                <a:spcPts val="5664"/>
              </a:lnSpc>
            </a:pPr>
            <a:r>
              <a:rPr lang="en-US" sz="4046" spc="40">
                <a:solidFill>
                  <a:srgbClr val="333333"/>
                </a:solidFill>
                <a:latin typeface="Neue Montreal"/>
                <a:ea typeface="Neue Montreal"/>
                <a:cs typeface="Neue Montreal"/>
                <a:sym typeface="Neue Montreal"/>
              </a:rPr>
              <a:t>S</a:t>
            </a:r>
            <a:r>
              <a:rPr lang="en-US" sz="4046" spc="40">
                <a:solidFill>
                  <a:srgbClr val="333333"/>
                </a:solidFill>
                <a:latin typeface="Neue Montreal"/>
                <a:ea typeface="Neue Montreal"/>
                <a:cs typeface="Neue Montreal"/>
                <a:sym typeface="Neue Montreal"/>
              </a:rPr>
              <a:t>entiment annotation involves labeling the words and si</a:t>
            </a:r>
            <a:r>
              <a:rPr lang="en-US" sz="4046" spc="40">
                <a:solidFill>
                  <a:srgbClr val="333333"/>
                </a:solidFill>
                <a:latin typeface="Neue Montreal"/>
                <a:ea typeface="Neue Montreal"/>
                <a:cs typeface="Neue Montreal"/>
                <a:sym typeface="Neue Montreal"/>
              </a:rPr>
              <a:t>gns within a piece of text with the sentiment</a:t>
            </a:r>
            <a:r>
              <a:rPr lang="en-US" sz="4046" spc="40">
                <a:solidFill>
                  <a:srgbClr val="333333"/>
                </a:solidFill>
                <a:latin typeface="Neue Montreal"/>
                <a:ea typeface="Neue Montreal"/>
                <a:cs typeface="Neue Montreal"/>
                <a:sym typeface="Neue Montreal"/>
              </a:rPr>
              <a:t> or emotion associated with the writer's intent. With the help of sentiment annotation, data annotators can effectively train machines to understand the emotional undertones behind a given piece of writing.</a:t>
            </a: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946958" y="1612522"/>
            <a:ext cx="16322269" cy="6995281"/>
          </a:xfrm>
          <a:prstGeom prst="rect">
            <a:avLst/>
          </a:prstGeom>
        </p:spPr>
        <p:txBody>
          <a:bodyPr anchor="t" rtlCol="false" tIns="0" lIns="0" bIns="0" rIns="0">
            <a:spAutoFit/>
          </a:bodyPr>
          <a:lstStyle/>
          <a:p>
            <a:pPr algn="just">
              <a:lnSpc>
                <a:spcPts val="5079"/>
              </a:lnSpc>
            </a:pPr>
            <a:r>
              <a:rPr lang="en-US" b="true" sz="3628" spc="36">
                <a:solidFill>
                  <a:srgbClr val="333333"/>
                </a:solidFill>
                <a:latin typeface="Neue Montreal Bold"/>
                <a:ea typeface="Neue Montreal Bold"/>
                <a:cs typeface="Neue Montreal Bold"/>
                <a:sym typeface="Neue Montreal Bold"/>
              </a:rPr>
              <a:t>Text Classifica</a:t>
            </a:r>
            <a:r>
              <a:rPr lang="en-US" b="true" sz="3628" spc="36">
                <a:solidFill>
                  <a:srgbClr val="333333"/>
                </a:solidFill>
                <a:latin typeface="Neue Montreal Bold"/>
                <a:ea typeface="Neue Montreal Bold"/>
                <a:cs typeface="Neue Montreal Bold"/>
                <a:sym typeface="Neue Montreal Bold"/>
              </a:rPr>
              <a:t>tion</a:t>
            </a:r>
          </a:p>
          <a:p>
            <a:pPr algn="just">
              <a:lnSpc>
                <a:spcPts val="5079"/>
              </a:lnSpc>
            </a:pPr>
            <a:r>
              <a:rPr lang="en-US" sz="3628" spc="36">
                <a:solidFill>
                  <a:srgbClr val="333333"/>
                </a:solidFill>
                <a:latin typeface="Neue Montreal"/>
                <a:ea typeface="Neue Montreal"/>
                <a:cs typeface="Neue Montreal"/>
                <a:sym typeface="Neue Montreal"/>
              </a:rPr>
              <a:t>Text classification is the process of determining and tagging an entire document with a single word, phrase, or short descriptive sentence, representing its overall category, class, tone, sentiment, or another relevant attribute. This technique applies to the whole document as a single unit, rath</a:t>
            </a:r>
            <a:r>
              <a:rPr lang="en-US" sz="3628" spc="36">
                <a:solidFill>
                  <a:srgbClr val="333333"/>
                </a:solidFill>
                <a:latin typeface="Neue Montreal"/>
                <a:ea typeface="Neue Montreal"/>
                <a:cs typeface="Neue Montreal"/>
                <a:sym typeface="Neue Montreal"/>
              </a:rPr>
              <a:t>er </a:t>
            </a:r>
            <a:r>
              <a:rPr lang="en-US" sz="3628" spc="36">
                <a:solidFill>
                  <a:srgbClr val="333333"/>
                </a:solidFill>
                <a:latin typeface="Neue Montreal"/>
                <a:ea typeface="Neue Montreal"/>
                <a:cs typeface="Neue Montreal"/>
                <a:sym typeface="Neue Montreal"/>
              </a:rPr>
              <a:t>than to individual entitie</a:t>
            </a:r>
            <a:r>
              <a:rPr lang="en-US" sz="3628" spc="36">
                <a:solidFill>
                  <a:srgbClr val="333333"/>
                </a:solidFill>
                <a:latin typeface="Neue Montreal"/>
                <a:ea typeface="Neue Montreal"/>
                <a:cs typeface="Neue Montreal"/>
                <a:sym typeface="Neue Montreal"/>
              </a:rPr>
              <a:t>s within it. A few sub-t</a:t>
            </a:r>
            <a:r>
              <a:rPr lang="en-US" sz="3628" spc="36">
                <a:solidFill>
                  <a:srgbClr val="333333"/>
                </a:solidFill>
                <a:latin typeface="Neue Montreal"/>
                <a:ea typeface="Neue Montreal"/>
                <a:cs typeface="Neue Montreal"/>
                <a:sym typeface="Neue Montreal"/>
              </a:rPr>
              <a:t>opics within text classification include:</a:t>
            </a:r>
          </a:p>
          <a:p>
            <a:pPr algn="just">
              <a:lnSpc>
                <a:spcPts val="5079"/>
              </a:lnSpc>
            </a:pPr>
          </a:p>
          <a:p>
            <a:pPr algn="just">
              <a:lnSpc>
                <a:spcPts val="5079"/>
              </a:lnSpc>
            </a:pPr>
            <a:r>
              <a:rPr lang="en-US" sz="3628" spc="36">
                <a:solidFill>
                  <a:srgbClr val="333333"/>
                </a:solidFill>
                <a:latin typeface="Neue Montreal"/>
                <a:ea typeface="Neue Montreal"/>
                <a:cs typeface="Neue Montreal"/>
                <a:sym typeface="Neue Montreal"/>
              </a:rPr>
              <a:t>• Document classification</a:t>
            </a:r>
          </a:p>
          <a:p>
            <a:pPr algn="just">
              <a:lnSpc>
                <a:spcPts val="5079"/>
              </a:lnSpc>
            </a:pPr>
            <a:r>
              <a:rPr lang="en-US" sz="3628" spc="36">
                <a:solidFill>
                  <a:srgbClr val="333333"/>
                </a:solidFill>
                <a:latin typeface="Neue Montreal"/>
                <a:ea typeface="Neue Montreal"/>
                <a:cs typeface="Neue Montreal"/>
                <a:sym typeface="Neue Montreal"/>
              </a:rPr>
              <a:t>• Product categorization</a:t>
            </a:r>
          </a:p>
          <a:p>
            <a:pPr algn="just">
              <a:lnSpc>
                <a:spcPts val="5079"/>
              </a:lnSpc>
            </a:pPr>
            <a:r>
              <a:rPr lang="en-US" sz="3628" spc="36">
                <a:solidFill>
                  <a:srgbClr val="333333"/>
                </a:solidFill>
                <a:latin typeface="Neue Montreal"/>
                <a:ea typeface="Neue Montreal"/>
                <a:cs typeface="Neue Montreal"/>
                <a:sym typeface="Neue Montreal"/>
              </a:rPr>
              <a:t>• Sentiment annotation</a:t>
            </a:r>
          </a:p>
          <a:p>
            <a:pPr algn="just">
              <a:lnSpc>
                <a:spcPts val="5079"/>
              </a:lnSpc>
            </a:pP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768570" y="2116927"/>
            <a:ext cx="14307631" cy="994687"/>
          </a:xfrm>
          <a:prstGeom prst="rect">
            <a:avLst/>
          </a:prstGeom>
        </p:spPr>
        <p:txBody>
          <a:bodyPr anchor="t" rtlCol="false" tIns="0" lIns="0" bIns="0" rIns="0">
            <a:spAutoFit/>
          </a:bodyPr>
          <a:lstStyle/>
          <a:p>
            <a:pPr algn="l">
              <a:lnSpc>
                <a:spcPts val="7509"/>
              </a:lnSpc>
            </a:pPr>
            <a:r>
              <a:rPr lang="en-US" sz="7151" b="true">
                <a:solidFill>
                  <a:srgbClr val="333333"/>
                </a:solidFill>
                <a:latin typeface="Neue Montreal Medium"/>
                <a:ea typeface="Neue Montreal Medium"/>
                <a:cs typeface="Neue Montreal Medium"/>
                <a:sym typeface="Neue Montreal Medium"/>
              </a:rPr>
              <a:t>Audio Data Annota</a:t>
            </a:r>
            <a:r>
              <a:rPr lang="en-US" b="true" sz="7151">
                <a:solidFill>
                  <a:srgbClr val="333333"/>
                </a:solidFill>
                <a:latin typeface="Neue Montreal Medium"/>
                <a:ea typeface="Neue Montreal Medium"/>
                <a:cs typeface="Neue Montreal Medium"/>
                <a:sym typeface="Neue Montreal Medium"/>
              </a:rPr>
              <a:t>tion</a:t>
            </a:r>
          </a:p>
        </p:txBody>
      </p:sp>
      <p:sp>
        <p:nvSpPr>
          <p:cNvPr name="TextBox 8" id="8"/>
          <p:cNvSpPr txBox="true"/>
          <p:nvPr/>
        </p:nvSpPr>
        <p:spPr>
          <a:xfrm rot="0">
            <a:off x="1324401" y="3287923"/>
            <a:ext cx="15639198" cy="5306264"/>
          </a:xfrm>
          <a:prstGeom prst="rect">
            <a:avLst/>
          </a:prstGeom>
        </p:spPr>
        <p:txBody>
          <a:bodyPr anchor="t" rtlCol="false" tIns="0" lIns="0" bIns="0" rIns="0">
            <a:spAutoFit/>
          </a:bodyPr>
          <a:lstStyle/>
          <a:p>
            <a:pPr algn="just">
              <a:lnSpc>
                <a:spcPts val="5273"/>
              </a:lnSpc>
            </a:pPr>
            <a:r>
              <a:rPr lang="en-US" b="true" sz="3767" spc="37">
                <a:solidFill>
                  <a:srgbClr val="333333"/>
                </a:solidFill>
                <a:latin typeface="Neue Montreal Bold"/>
                <a:ea typeface="Neue Montreal Bold"/>
                <a:cs typeface="Neue Montreal Bold"/>
                <a:sym typeface="Neue Montreal Bold"/>
              </a:rPr>
              <a:t>Sound</a:t>
            </a:r>
            <a:r>
              <a:rPr lang="en-US" b="true" sz="3767" spc="37">
                <a:solidFill>
                  <a:srgbClr val="333333"/>
                </a:solidFill>
                <a:latin typeface="Neue Montreal Bold"/>
                <a:ea typeface="Neue Montreal Bold"/>
                <a:cs typeface="Neue Montreal Bold"/>
                <a:sym typeface="Neue Montreal Bold"/>
              </a:rPr>
              <a:t> Labeling </a:t>
            </a:r>
            <a:r>
              <a:rPr lang="en-US" sz="3767" spc="37">
                <a:solidFill>
                  <a:srgbClr val="333333"/>
                </a:solidFill>
                <a:latin typeface="Neue Montreal"/>
                <a:ea typeface="Neue Montreal"/>
                <a:cs typeface="Neue Montreal"/>
                <a:sym typeface="Neue Montreal"/>
              </a:rPr>
              <a:t>— identifies sounds in recordings.</a:t>
            </a:r>
          </a:p>
          <a:p>
            <a:pPr algn="just">
              <a:lnSpc>
                <a:spcPts val="5273"/>
              </a:lnSpc>
            </a:pPr>
            <a:r>
              <a:rPr lang="en-US" b="true" sz="3767" spc="37">
                <a:solidFill>
                  <a:srgbClr val="333333"/>
                </a:solidFill>
                <a:latin typeface="Neue Montreal Bold"/>
                <a:ea typeface="Neue Montreal Bold"/>
                <a:cs typeface="Neue Montreal Bold"/>
                <a:sym typeface="Neue Montreal Bold"/>
              </a:rPr>
              <a:t>Event</a:t>
            </a:r>
            <a:r>
              <a:rPr lang="en-US" b="true" sz="3767" spc="37">
                <a:solidFill>
                  <a:srgbClr val="333333"/>
                </a:solidFill>
                <a:latin typeface="Neue Montreal Bold"/>
                <a:ea typeface="Neue Montreal Bold"/>
                <a:cs typeface="Neue Montreal Bold"/>
                <a:sym typeface="Neue Montreal Bold"/>
              </a:rPr>
              <a:t> Tracking</a:t>
            </a:r>
            <a:r>
              <a:rPr lang="en-US" sz="3767" spc="37">
                <a:solidFill>
                  <a:srgbClr val="333333"/>
                </a:solidFill>
                <a:latin typeface="Neue Montreal"/>
                <a:ea typeface="Neue Montreal"/>
                <a:cs typeface="Neue Montreal"/>
                <a:sym typeface="Neue Montreal"/>
              </a:rPr>
              <a:t> — marks events over time.</a:t>
            </a:r>
          </a:p>
          <a:p>
            <a:pPr algn="just">
              <a:lnSpc>
                <a:spcPts val="5273"/>
              </a:lnSpc>
            </a:pPr>
            <a:r>
              <a:rPr lang="en-US" b="true" sz="3767" spc="37">
                <a:solidFill>
                  <a:srgbClr val="333333"/>
                </a:solidFill>
                <a:latin typeface="Neue Montreal Bold"/>
                <a:ea typeface="Neue Montreal Bold"/>
                <a:cs typeface="Neue Montreal Bold"/>
                <a:sym typeface="Neue Montreal Bold"/>
              </a:rPr>
              <a:t>Speech-to-Text Transcription</a:t>
            </a:r>
            <a:r>
              <a:rPr lang="en-US" sz="3767" spc="37">
                <a:solidFill>
                  <a:srgbClr val="333333"/>
                </a:solidFill>
                <a:latin typeface="Neue Montreal"/>
                <a:ea typeface="Neue Montreal"/>
                <a:cs typeface="Neue Montreal"/>
                <a:sym typeface="Neue Montreal"/>
              </a:rPr>
              <a:t> — converts speech into written text.</a:t>
            </a:r>
          </a:p>
          <a:p>
            <a:pPr algn="just">
              <a:lnSpc>
                <a:spcPts val="5273"/>
              </a:lnSpc>
            </a:pPr>
            <a:r>
              <a:rPr lang="en-US" b="true" sz="3767" spc="37">
                <a:solidFill>
                  <a:srgbClr val="333333"/>
                </a:solidFill>
                <a:latin typeface="Neue Montreal Bold"/>
                <a:ea typeface="Neue Montreal Bold"/>
                <a:cs typeface="Neue Montreal Bold"/>
                <a:sym typeface="Neue Montreal Bold"/>
              </a:rPr>
              <a:t>Audio Cl</a:t>
            </a:r>
            <a:r>
              <a:rPr lang="en-US" b="true" sz="3767" spc="37">
                <a:solidFill>
                  <a:srgbClr val="333333"/>
                </a:solidFill>
                <a:latin typeface="Neue Montreal Bold"/>
                <a:ea typeface="Neue Montreal Bold"/>
                <a:cs typeface="Neue Montreal Bold"/>
                <a:sym typeface="Neue Montreal Bold"/>
              </a:rPr>
              <a:t>assification </a:t>
            </a:r>
            <a:r>
              <a:rPr lang="en-US" sz="3767" spc="37">
                <a:solidFill>
                  <a:srgbClr val="333333"/>
                </a:solidFill>
                <a:latin typeface="Neue Montreal"/>
                <a:ea typeface="Neue Montreal"/>
                <a:cs typeface="Neue Montreal"/>
                <a:sym typeface="Neue Montreal"/>
              </a:rPr>
              <a:t>— assigns audio to defined categories.</a:t>
            </a:r>
          </a:p>
          <a:p>
            <a:pPr algn="just">
              <a:lnSpc>
                <a:spcPts val="5273"/>
              </a:lnSpc>
            </a:pPr>
          </a:p>
          <a:p>
            <a:pPr algn="just">
              <a:lnSpc>
                <a:spcPts val="5273"/>
              </a:lnSpc>
            </a:pPr>
            <a:r>
              <a:rPr lang="en-US" sz="3767" spc="37">
                <a:solidFill>
                  <a:srgbClr val="333333"/>
                </a:solidFill>
                <a:latin typeface="Neue Montreal"/>
                <a:ea typeface="Neue Montreal"/>
                <a:cs typeface="Neue Montreal"/>
                <a:sym typeface="Neue Montreal"/>
              </a:rPr>
              <a:t>Annotated</a:t>
            </a:r>
            <a:r>
              <a:rPr lang="en-US" sz="3767" spc="37">
                <a:solidFill>
                  <a:srgbClr val="333333"/>
                </a:solidFill>
                <a:latin typeface="Neue Montreal"/>
                <a:ea typeface="Neue Montreal"/>
                <a:cs typeface="Neue Montreal"/>
                <a:sym typeface="Neue Montreal"/>
              </a:rPr>
              <a:t> audio can support speech-recognition and sound-classification systems.</a:t>
            </a:r>
          </a:p>
          <a:p>
            <a:pPr algn="just">
              <a:lnSpc>
                <a:spcPts val="5273"/>
              </a:lnSpc>
            </a:pPr>
          </a:p>
        </p:txBody>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150395" y="1566638"/>
            <a:ext cx="15987210" cy="7077524"/>
          </a:xfrm>
          <a:prstGeom prst="rect">
            <a:avLst/>
          </a:prstGeom>
        </p:spPr>
        <p:txBody>
          <a:bodyPr anchor="t" rtlCol="false" tIns="0" lIns="0" bIns="0" rIns="0">
            <a:spAutoFit/>
          </a:bodyPr>
          <a:lstStyle/>
          <a:p>
            <a:pPr algn="l">
              <a:lnSpc>
                <a:spcPts val="4700"/>
              </a:lnSpc>
            </a:pPr>
            <a:r>
              <a:rPr lang="en-US" sz="3357" spc="33" b="true">
                <a:solidFill>
                  <a:srgbClr val="333333"/>
                </a:solidFill>
                <a:latin typeface="Neue Montreal Bold"/>
                <a:ea typeface="Neue Montreal Bold"/>
                <a:cs typeface="Neue Montreal Bold"/>
                <a:sym typeface="Neue Montreal Bold"/>
              </a:rPr>
              <a:t>Audio Data Annota</a:t>
            </a:r>
            <a:r>
              <a:rPr lang="en-US" b="true" sz="3357" spc="33">
                <a:solidFill>
                  <a:srgbClr val="333333"/>
                </a:solidFill>
                <a:latin typeface="Neue Montreal Bold"/>
                <a:ea typeface="Neue Montreal Bold"/>
                <a:cs typeface="Neue Montreal Bold"/>
                <a:sym typeface="Neue Montreal Bold"/>
              </a:rPr>
              <a:t>tion</a:t>
            </a:r>
          </a:p>
          <a:p>
            <a:pPr algn="l">
              <a:lnSpc>
                <a:spcPts val="4700"/>
              </a:lnSpc>
            </a:pPr>
            <a:r>
              <a:rPr lang="en-US" sz="3357" spc="33">
                <a:solidFill>
                  <a:srgbClr val="333333"/>
                </a:solidFill>
                <a:latin typeface="Neue Montreal"/>
                <a:ea typeface="Neue Montreal"/>
                <a:cs typeface="Neue Montreal"/>
                <a:sym typeface="Neue Montreal"/>
              </a:rPr>
              <a:t>Audio da</a:t>
            </a:r>
            <a:r>
              <a:rPr lang="en-US" sz="3357" spc="33">
                <a:solidFill>
                  <a:srgbClr val="333333"/>
                </a:solidFill>
                <a:latin typeface="Neue Montreal"/>
                <a:ea typeface="Neue Montreal"/>
                <a:cs typeface="Neue Montreal"/>
                <a:sym typeface="Neue Montreal"/>
              </a:rPr>
              <a:t>ta annotation is the process of labeling different types of audio files with predefined attributes such as speaker names, audio quality, background noise, sound type, frequency, and detected emotion. An audio file may include speech as well as other real-world sounds, such as machine noise, music, and bird sounds. Different types of audio annotation used within this category are described below.</a:t>
            </a:r>
          </a:p>
          <a:p>
            <a:pPr algn="l">
              <a:lnSpc>
                <a:spcPts val="4700"/>
              </a:lnSpc>
            </a:pPr>
          </a:p>
          <a:p>
            <a:pPr algn="just">
              <a:lnSpc>
                <a:spcPts val="4700"/>
              </a:lnSpc>
            </a:pPr>
            <a:r>
              <a:rPr lang="en-US" b="true" sz="3357" spc="33">
                <a:solidFill>
                  <a:srgbClr val="333333"/>
                </a:solidFill>
                <a:latin typeface="Neue Montreal Bold"/>
                <a:ea typeface="Neue Montreal Bold"/>
                <a:cs typeface="Neue Montreal Bold"/>
                <a:sym typeface="Neue Montreal Bold"/>
              </a:rPr>
              <a:t>Sound Labeling</a:t>
            </a:r>
          </a:p>
          <a:p>
            <a:pPr algn="l">
              <a:lnSpc>
                <a:spcPts val="4700"/>
              </a:lnSpc>
            </a:pPr>
            <a:r>
              <a:rPr lang="en-US" sz="3357" spc="33">
                <a:solidFill>
                  <a:srgbClr val="333333"/>
                </a:solidFill>
                <a:latin typeface="Neue Montreal"/>
                <a:ea typeface="Neue Montreal"/>
                <a:cs typeface="Neue Montreal"/>
                <a:sym typeface="Neue Montreal"/>
              </a:rPr>
              <a:t>Sound labeling is the process of adding additional information to a sound or speech recording, in th</a:t>
            </a:r>
            <a:r>
              <a:rPr lang="en-US" sz="3357" spc="33">
                <a:solidFill>
                  <a:srgbClr val="333333"/>
                </a:solidFill>
                <a:latin typeface="Neue Montreal"/>
                <a:ea typeface="Neue Montreal"/>
                <a:cs typeface="Neue Montreal"/>
                <a:sym typeface="Neue Montreal"/>
              </a:rPr>
              <a:t>e form of me</a:t>
            </a:r>
            <a:r>
              <a:rPr lang="en-US" sz="3357" spc="33">
                <a:solidFill>
                  <a:srgbClr val="333333"/>
                </a:solidFill>
                <a:latin typeface="Neue Montreal"/>
                <a:ea typeface="Neue Montreal"/>
                <a:cs typeface="Neue Montreal"/>
                <a:sym typeface="Neue Montreal"/>
              </a:rPr>
              <a:t>tadata, tags, or notes. Adding these additional labels enable</a:t>
            </a:r>
            <a:r>
              <a:rPr lang="en-US" sz="3357" spc="33">
                <a:solidFill>
                  <a:srgbClr val="333333"/>
                </a:solidFill>
                <a:latin typeface="Neue Montreal"/>
                <a:ea typeface="Neue Montreal"/>
                <a:cs typeface="Neue Montreal"/>
                <a:sym typeface="Neue Montreal"/>
              </a:rPr>
              <a:t>s a machine learning project to better under</a:t>
            </a:r>
            <a:r>
              <a:rPr lang="en-US" sz="3357" spc="33">
                <a:solidFill>
                  <a:srgbClr val="333333"/>
                </a:solidFill>
                <a:latin typeface="Neue Montreal"/>
                <a:ea typeface="Neue Montreal"/>
                <a:cs typeface="Neue Montreal"/>
                <a:sym typeface="Neue Montreal"/>
              </a:rPr>
              <a:t>stand the reason, objective, or other relevant factors associated with a particular format or nature of sound.</a:t>
            </a:r>
          </a:p>
        </p:txBody>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223857" y="1271363"/>
            <a:ext cx="15840287" cy="7668074"/>
          </a:xfrm>
          <a:prstGeom prst="rect">
            <a:avLst/>
          </a:prstGeom>
        </p:spPr>
        <p:txBody>
          <a:bodyPr anchor="t" rtlCol="false" tIns="0" lIns="0" bIns="0" rIns="0">
            <a:spAutoFit/>
          </a:bodyPr>
          <a:lstStyle/>
          <a:p>
            <a:pPr algn="l">
              <a:lnSpc>
                <a:spcPts val="4700"/>
              </a:lnSpc>
            </a:pPr>
            <a:r>
              <a:rPr lang="en-US" sz="3357" spc="33" b="true">
                <a:solidFill>
                  <a:srgbClr val="333333"/>
                </a:solidFill>
                <a:latin typeface="Neue Montreal Bold"/>
                <a:ea typeface="Neue Montreal Bold"/>
                <a:cs typeface="Neue Montreal Bold"/>
                <a:sym typeface="Neue Montreal Bold"/>
              </a:rPr>
              <a:t>Event Tracking</a:t>
            </a:r>
          </a:p>
          <a:p>
            <a:pPr algn="l">
              <a:lnSpc>
                <a:spcPts val="4700"/>
              </a:lnSpc>
            </a:pPr>
            <a:r>
              <a:rPr lang="en-US" sz="3357" spc="33">
                <a:solidFill>
                  <a:srgbClr val="333333"/>
                </a:solidFill>
                <a:latin typeface="Neue Montreal"/>
                <a:ea typeface="Neue Montreal"/>
                <a:cs typeface="Neue Montreal"/>
                <a:sym typeface="Neue Montreal"/>
              </a:rPr>
              <a:t>Event tracking is a technique used to highlight certain notable events within a complex, overlapped sound environment, so that a machine can learn to understand distinct sound events that occur amid a mix of multiple sources and frequencies within one continuous speech or audio file.</a:t>
            </a:r>
          </a:p>
          <a:p>
            <a:pPr algn="just">
              <a:lnSpc>
                <a:spcPts val="4700"/>
              </a:lnSpc>
            </a:pPr>
          </a:p>
          <a:p>
            <a:pPr algn="l">
              <a:lnSpc>
                <a:spcPts val="4700"/>
              </a:lnSpc>
            </a:pPr>
            <a:r>
              <a:rPr lang="en-US" sz="3357" spc="33" b="true">
                <a:solidFill>
                  <a:srgbClr val="333333"/>
                </a:solidFill>
                <a:latin typeface="Neue Montreal Bold"/>
                <a:ea typeface="Neue Montreal Bold"/>
                <a:cs typeface="Neue Montreal Bold"/>
                <a:sym typeface="Neue Montreal Bold"/>
              </a:rPr>
              <a:t>Speech to Text Transcrip</a:t>
            </a:r>
            <a:r>
              <a:rPr lang="en-US" b="true" sz="3357" spc="33">
                <a:solidFill>
                  <a:srgbClr val="333333"/>
                </a:solidFill>
                <a:latin typeface="Neue Montreal Bold"/>
                <a:ea typeface="Neue Montreal Bold"/>
                <a:cs typeface="Neue Montreal Bold"/>
                <a:sym typeface="Neue Montreal Bold"/>
              </a:rPr>
              <a:t>tion</a:t>
            </a:r>
          </a:p>
          <a:p>
            <a:pPr algn="l">
              <a:lnSpc>
                <a:spcPts val="4700"/>
              </a:lnSpc>
            </a:pPr>
            <a:r>
              <a:rPr lang="en-US" sz="3357" spc="33">
                <a:solidFill>
                  <a:srgbClr val="333333"/>
                </a:solidFill>
                <a:latin typeface="Neue Montreal"/>
                <a:ea typeface="Neue Montreal"/>
                <a:cs typeface="Neue Montreal"/>
                <a:sym typeface="Neue Montreal"/>
              </a:rPr>
              <a:t>Speech-to-tex</a:t>
            </a:r>
            <a:r>
              <a:rPr lang="en-US" sz="3357" spc="33">
                <a:solidFill>
                  <a:srgbClr val="333333"/>
                </a:solidFill>
                <a:latin typeface="Neue Montreal"/>
                <a:ea typeface="Neue Montreal"/>
                <a:cs typeface="Neue Montreal"/>
                <a:sym typeface="Neue Montreal"/>
              </a:rPr>
              <a:t>t transcription is the process of converting spoken audio into written text. This is one of the most important types of training data used to help machine learning projects and systems learn about speech through a comprehensive, readable text representation, and it plays a vital role in modern applications such as chatbots, virtual assistants, and other NLP-powered systems.</a:t>
            </a:r>
          </a:p>
          <a:p>
            <a:pPr algn="l">
              <a:lnSpc>
                <a:spcPts val="4700"/>
              </a:lnSpc>
            </a:pPr>
          </a:p>
        </p:txBody>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612822" y="2526802"/>
            <a:ext cx="17062355" cy="4147679"/>
          </a:xfrm>
          <a:prstGeom prst="rect">
            <a:avLst/>
          </a:prstGeom>
        </p:spPr>
        <p:txBody>
          <a:bodyPr anchor="t" rtlCol="false" tIns="0" lIns="0" bIns="0" rIns="0">
            <a:spAutoFit/>
          </a:bodyPr>
          <a:lstStyle/>
          <a:p>
            <a:pPr algn="l">
              <a:lnSpc>
                <a:spcPts val="5534"/>
              </a:lnSpc>
            </a:pPr>
            <a:r>
              <a:rPr lang="en-US" sz="3952" spc="39" b="true">
                <a:solidFill>
                  <a:srgbClr val="333333"/>
                </a:solidFill>
                <a:latin typeface="Neue Montreal Bold"/>
                <a:ea typeface="Neue Montreal Bold"/>
                <a:cs typeface="Neue Montreal Bold"/>
                <a:sym typeface="Neue Montreal Bold"/>
              </a:rPr>
              <a:t>Audio</a:t>
            </a:r>
            <a:r>
              <a:rPr lang="en-US" sz="3952" spc="39" b="true">
                <a:solidFill>
                  <a:srgbClr val="333333"/>
                </a:solidFill>
                <a:latin typeface="Neue Montreal Bold"/>
                <a:ea typeface="Neue Montreal Bold"/>
                <a:cs typeface="Neue Montreal Bold"/>
                <a:sym typeface="Neue Montreal Bold"/>
              </a:rPr>
              <a:t> Classification</a:t>
            </a:r>
          </a:p>
          <a:p>
            <a:pPr algn="just">
              <a:lnSpc>
                <a:spcPts val="5534"/>
              </a:lnSpc>
            </a:pPr>
            <a:r>
              <a:rPr lang="en-US" sz="3952" spc="39">
                <a:solidFill>
                  <a:srgbClr val="333333"/>
                </a:solidFill>
                <a:latin typeface="Neue Montreal"/>
                <a:ea typeface="Neue Montreal"/>
                <a:cs typeface="Neue Montreal"/>
                <a:sym typeface="Neue Montreal"/>
              </a:rPr>
              <a:t>Audio classification is a process used to tag sounds in order to distinguish between speech ins</a:t>
            </a:r>
            <a:r>
              <a:rPr lang="en-US" sz="3952" spc="39">
                <a:solidFill>
                  <a:srgbClr val="333333"/>
                </a:solidFill>
                <a:latin typeface="Neue Montreal"/>
                <a:ea typeface="Neue Montreal"/>
                <a:cs typeface="Neue Montreal"/>
                <a:sym typeface="Neue Montreal"/>
              </a:rPr>
              <a:t>truc</a:t>
            </a:r>
            <a:r>
              <a:rPr lang="en-US" sz="3952" spc="39">
                <a:solidFill>
                  <a:srgbClr val="333333"/>
                </a:solidFill>
                <a:latin typeface="Neue Montreal"/>
                <a:ea typeface="Neue Montreal"/>
                <a:cs typeface="Neue Montreal"/>
                <a:sym typeface="Neue Montreal"/>
              </a:rPr>
              <a:t>tions and other, non-speech sound instructions within a machine learning project for example, feeding a range of commands into a machine so it can correctly distinguish between an intentional voice command and background noise.</a:t>
            </a:r>
          </a:p>
        </p:txBody>
      </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946958" y="1802175"/>
            <a:ext cx="8844091" cy="994687"/>
          </a:xfrm>
          <a:prstGeom prst="rect">
            <a:avLst/>
          </a:prstGeom>
        </p:spPr>
        <p:txBody>
          <a:bodyPr anchor="t" rtlCol="false" tIns="0" lIns="0" bIns="0" rIns="0">
            <a:spAutoFit/>
          </a:bodyPr>
          <a:lstStyle/>
          <a:p>
            <a:pPr algn="l">
              <a:lnSpc>
                <a:spcPts val="7509"/>
              </a:lnSpc>
            </a:pPr>
            <a:r>
              <a:rPr lang="en-US" sz="7151" b="true">
                <a:solidFill>
                  <a:srgbClr val="333333"/>
                </a:solidFill>
                <a:latin typeface="Neue Montreal Medium"/>
                <a:ea typeface="Neue Montreal Medium"/>
                <a:cs typeface="Neue Montreal Medium"/>
                <a:sym typeface="Neue Montreal Medium"/>
              </a:rPr>
              <a:t>Video Data Annota</a:t>
            </a:r>
            <a:r>
              <a:rPr lang="en-US" b="true" sz="7151">
                <a:solidFill>
                  <a:srgbClr val="333333"/>
                </a:solidFill>
                <a:latin typeface="Neue Montreal Medium"/>
                <a:ea typeface="Neue Montreal Medium"/>
                <a:cs typeface="Neue Montreal Medium"/>
                <a:sym typeface="Neue Montreal Medium"/>
              </a:rPr>
              <a:t>tion</a:t>
            </a:r>
          </a:p>
        </p:txBody>
      </p:sp>
      <p:sp>
        <p:nvSpPr>
          <p:cNvPr name="TextBox 8" id="8"/>
          <p:cNvSpPr txBox="true"/>
          <p:nvPr/>
        </p:nvSpPr>
        <p:spPr>
          <a:xfrm rot="0">
            <a:off x="1462052" y="3160288"/>
            <a:ext cx="15363896" cy="4565290"/>
          </a:xfrm>
          <a:prstGeom prst="rect">
            <a:avLst/>
          </a:prstGeom>
        </p:spPr>
        <p:txBody>
          <a:bodyPr anchor="t" rtlCol="false" tIns="0" lIns="0" bIns="0" rIns="0">
            <a:spAutoFit/>
          </a:bodyPr>
          <a:lstStyle/>
          <a:p>
            <a:pPr algn="just">
              <a:lnSpc>
                <a:spcPts val="5197"/>
              </a:lnSpc>
            </a:pPr>
            <a:r>
              <a:rPr lang="en-US" b="true" sz="3712" spc="37">
                <a:solidFill>
                  <a:srgbClr val="333333"/>
                </a:solidFill>
                <a:latin typeface="Neue Montreal Bold"/>
                <a:ea typeface="Neue Montreal Bold"/>
                <a:cs typeface="Neue Montreal Bold"/>
                <a:sym typeface="Neue Montreal Bold"/>
              </a:rPr>
              <a:t>Key Points /</a:t>
            </a:r>
            <a:r>
              <a:rPr lang="en-US" b="true" sz="3712" spc="37">
                <a:solidFill>
                  <a:srgbClr val="333333"/>
                </a:solidFill>
                <a:latin typeface="Neue Montreal Bold"/>
                <a:ea typeface="Neue Montreal Bold"/>
                <a:cs typeface="Neue Montreal Bold"/>
                <a:sym typeface="Neue Montreal Bold"/>
              </a:rPr>
              <a:t> Landmarks</a:t>
            </a:r>
            <a:r>
              <a:rPr lang="en-US" sz="3712" spc="37">
                <a:solidFill>
                  <a:srgbClr val="333333"/>
                </a:solidFill>
                <a:latin typeface="Neue Montreal"/>
                <a:ea typeface="Neue Montreal"/>
                <a:cs typeface="Neue Montreal"/>
                <a:sym typeface="Neue Montreal"/>
              </a:rPr>
              <a:t> — identifies important points on people or objects.</a:t>
            </a:r>
          </a:p>
          <a:p>
            <a:pPr algn="just">
              <a:lnSpc>
                <a:spcPts val="5197"/>
              </a:lnSpc>
            </a:pPr>
            <a:r>
              <a:rPr lang="en-US" b="true" sz="3712" spc="37">
                <a:solidFill>
                  <a:srgbClr val="333333"/>
                </a:solidFill>
                <a:latin typeface="Neue Montreal Bold"/>
                <a:ea typeface="Neue Montreal Bold"/>
                <a:cs typeface="Neue Montreal Bold"/>
                <a:sym typeface="Neue Montreal Bold"/>
              </a:rPr>
              <a:t>Object</a:t>
            </a:r>
            <a:r>
              <a:rPr lang="en-US" b="true" sz="3712" spc="37">
                <a:solidFill>
                  <a:srgbClr val="333333"/>
                </a:solidFill>
                <a:latin typeface="Neue Montreal Bold"/>
                <a:ea typeface="Neue Montreal Bold"/>
                <a:cs typeface="Neue Montreal Bold"/>
                <a:sym typeface="Neue Montreal Bold"/>
              </a:rPr>
              <a:t> Localization</a:t>
            </a:r>
            <a:r>
              <a:rPr lang="en-US" sz="3712" spc="37">
                <a:solidFill>
                  <a:srgbClr val="333333"/>
                </a:solidFill>
                <a:latin typeface="Neue Montreal"/>
                <a:ea typeface="Neue Montreal"/>
                <a:cs typeface="Neue Montreal"/>
                <a:sym typeface="Neue Montreal"/>
              </a:rPr>
              <a:t> — identifies where an object occurs.</a:t>
            </a:r>
          </a:p>
          <a:p>
            <a:pPr algn="just">
              <a:lnSpc>
                <a:spcPts val="5197"/>
              </a:lnSpc>
            </a:pPr>
            <a:r>
              <a:rPr lang="en-US" b="true" sz="3712" spc="37">
                <a:solidFill>
                  <a:srgbClr val="333333"/>
                </a:solidFill>
                <a:latin typeface="Neue Montreal Bold"/>
                <a:ea typeface="Neue Montreal Bold"/>
                <a:cs typeface="Neue Montreal Bold"/>
                <a:sym typeface="Neue Montreal Bold"/>
              </a:rPr>
              <a:t>Obj</a:t>
            </a:r>
            <a:r>
              <a:rPr lang="en-US" b="true" sz="3712" spc="37">
                <a:solidFill>
                  <a:srgbClr val="333333"/>
                </a:solidFill>
                <a:latin typeface="Neue Montreal Bold"/>
                <a:ea typeface="Neue Montreal Bold"/>
                <a:cs typeface="Neue Montreal Bold"/>
                <a:sym typeface="Neue Montreal Bold"/>
              </a:rPr>
              <a:t>ect Tracking</a:t>
            </a:r>
            <a:r>
              <a:rPr lang="en-US" sz="3712" spc="37">
                <a:solidFill>
                  <a:srgbClr val="333333"/>
                </a:solidFill>
                <a:latin typeface="Neue Montreal"/>
                <a:ea typeface="Neue Montreal"/>
                <a:cs typeface="Neue Montreal"/>
                <a:sym typeface="Neue Montreal"/>
              </a:rPr>
              <a:t> — follows objects across video frames.</a:t>
            </a:r>
          </a:p>
          <a:p>
            <a:pPr algn="just">
              <a:lnSpc>
                <a:spcPts val="5197"/>
              </a:lnSpc>
            </a:pPr>
            <a:r>
              <a:rPr lang="en-US" b="true" sz="3712" spc="37">
                <a:solidFill>
                  <a:srgbClr val="333333"/>
                </a:solidFill>
                <a:latin typeface="Neue Montreal Bold"/>
                <a:ea typeface="Neue Montreal Bold"/>
                <a:cs typeface="Neue Montreal Bold"/>
                <a:sym typeface="Neue Montreal Bold"/>
              </a:rPr>
              <a:t>Mult</a:t>
            </a:r>
            <a:r>
              <a:rPr lang="en-US" b="true" sz="3712" spc="37">
                <a:solidFill>
                  <a:srgbClr val="333333"/>
                </a:solidFill>
                <a:latin typeface="Neue Montreal Bold"/>
                <a:ea typeface="Neue Montreal Bold"/>
                <a:cs typeface="Neue Montreal Bold"/>
                <a:sym typeface="Neue Montreal Bold"/>
              </a:rPr>
              <a:t>i-Labeling</a:t>
            </a:r>
            <a:r>
              <a:rPr lang="en-US" sz="3712" spc="37">
                <a:solidFill>
                  <a:srgbClr val="333333"/>
                </a:solidFill>
                <a:latin typeface="Neue Montreal"/>
                <a:ea typeface="Neue Montreal"/>
                <a:cs typeface="Neue Montreal"/>
                <a:sym typeface="Neue Montreal"/>
              </a:rPr>
              <a:t> — applies multiple labels to relevant video content.</a:t>
            </a:r>
          </a:p>
          <a:p>
            <a:pPr algn="just">
              <a:lnSpc>
                <a:spcPts val="5197"/>
              </a:lnSpc>
            </a:pPr>
          </a:p>
          <a:p>
            <a:pPr algn="just">
              <a:lnSpc>
                <a:spcPts val="5197"/>
              </a:lnSpc>
            </a:pPr>
            <a:r>
              <a:rPr lang="en-US" sz="3712" spc="37">
                <a:solidFill>
                  <a:srgbClr val="333333"/>
                </a:solidFill>
                <a:latin typeface="Neue Montreal"/>
                <a:ea typeface="Neue Montreal"/>
                <a:cs typeface="Neue Montreal"/>
                <a:sym typeface="Neue Montreal"/>
              </a:rPr>
              <a:t>Video a</a:t>
            </a:r>
            <a:r>
              <a:rPr lang="en-US" sz="3712" spc="37">
                <a:solidFill>
                  <a:srgbClr val="333333"/>
                </a:solidFill>
                <a:latin typeface="Neue Montreal"/>
                <a:ea typeface="Neue Montreal"/>
                <a:cs typeface="Neue Montreal"/>
                <a:sym typeface="Neue Montreal"/>
              </a:rPr>
              <a:t>nnotat</a:t>
            </a:r>
            <a:r>
              <a:rPr lang="en-US" sz="3712" spc="37">
                <a:solidFill>
                  <a:srgbClr val="333333"/>
                </a:solidFill>
                <a:latin typeface="Neue Montreal"/>
                <a:ea typeface="Neue Montreal"/>
                <a:cs typeface="Neue Montreal"/>
                <a:sym typeface="Neue Montreal"/>
              </a:rPr>
              <a:t>ion is especially important for computer vision and motion-related ML.</a:t>
            </a:r>
          </a:p>
        </p:txBody>
      </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161252" y="1946171"/>
            <a:ext cx="15965497" cy="6379059"/>
          </a:xfrm>
          <a:prstGeom prst="rect">
            <a:avLst/>
          </a:prstGeom>
        </p:spPr>
        <p:txBody>
          <a:bodyPr anchor="t" rtlCol="false" tIns="0" lIns="0" bIns="0" rIns="0">
            <a:spAutoFit/>
          </a:bodyPr>
          <a:lstStyle/>
          <a:p>
            <a:pPr algn="just">
              <a:lnSpc>
                <a:spcPts val="4177"/>
              </a:lnSpc>
            </a:pPr>
            <a:r>
              <a:rPr lang="en-US" sz="3978" b="true">
                <a:solidFill>
                  <a:srgbClr val="333333"/>
                </a:solidFill>
                <a:latin typeface="Neue Montreal Bold"/>
                <a:ea typeface="Neue Montreal Bold"/>
                <a:cs typeface="Neue Montreal Bold"/>
                <a:sym typeface="Neue Montreal Bold"/>
              </a:rPr>
              <a:t>Video annotation is a process in which video clips are tagged or labeled on a frame-by-frame basis, in order to generate a training dataset for machine learning and deep learning projects. This process is especially useful in modern computer vision applications, one of the most popular technology areas within contemporary AI-based projects.</a:t>
            </a:r>
          </a:p>
          <a:p>
            <a:pPr algn="just">
              <a:lnSpc>
                <a:spcPts val="4177"/>
              </a:lnSpc>
            </a:pPr>
          </a:p>
          <a:p>
            <a:pPr algn="just">
              <a:lnSpc>
                <a:spcPts val="4177"/>
              </a:lnSpc>
            </a:pPr>
            <a:r>
              <a:rPr lang="en-US" sz="3978" b="true">
                <a:solidFill>
                  <a:srgbClr val="333333"/>
                </a:solidFill>
                <a:latin typeface="Neue Montreal Bold"/>
                <a:ea typeface="Neue Montreal Bold"/>
                <a:cs typeface="Neue Montreal Bold"/>
                <a:sym typeface="Neue Montreal Bold"/>
              </a:rPr>
              <a:t>Video annota</a:t>
            </a:r>
            <a:r>
              <a:rPr lang="en-US" b="true" sz="3978">
                <a:solidFill>
                  <a:srgbClr val="333333"/>
                </a:solidFill>
                <a:latin typeface="Neue Montreal Bold"/>
                <a:ea typeface="Neue Montreal Bold"/>
                <a:cs typeface="Neue Montreal Bold"/>
                <a:sym typeface="Neue Montreal Bold"/>
              </a:rPr>
              <a:t>tion is very similar to image annotation, with one major difference: video annotation must be performed across a clip consisting of a large number of individual frames, each of which effectively acts as its own image. Labeling within a video is done based on predefined item categories that appear throughout the clip. </a:t>
            </a:r>
          </a:p>
        </p:txBody>
      </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852515" y="2197482"/>
            <a:ext cx="16582971" cy="4909329"/>
          </a:xfrm>
          <a:prstGeom prst="rect">
            <a:avLst/>
          </a:prstGeom>
        </p:spPr>
        <p:txBody>
          <a:bodyPr anchor="t" rtlCol="false" tIns="0" lIns="0" bIns="0" rIns="0">
            <a:spAutoFit/>
          </a:bodyPr>
          <a:lstStyle/>
          <a:p>
            <a:pPr algn="l">
              <a:lnSpc>
                <a:spcPts val="5584"/>
              </a:lnSpc>
            </a:pPr>
            <a:r>
              <a:rPr lang="en-US" sz="3988" spc="39" b="true">
                <a:solidFill>
                  <a:srgbClr val="333333"/>
                </a:solidFill>
                <a:latin typeface="Neue Montreal Bold"/>
                <a:ea typeface="Neue Montreal Bold"/>
                <a:cs typeface="Neue Montreal Bold"/>
                <a:sym typeface="Neue Montreal Bold"/>
              </a:rPr>
              <a:t>Key Points Annotation /</a:t>
            </a:r>
            <a:r>
              <a:rPr lang="en-US" b="true" sz="3988" spc="39">
                <a:solidFill>
                  <a:srgbClr val="333333"/>
                </a:solidFill>
                <a:latin typeface="Neue Montreal Bold"/>
                <a:ea typeface="Neue Montreal Bold"/>
                <a:cs typeface="Neue Montreal Bold"/>
                <a:sym typeface="Neue Montreal Bold"/>
              </a:rPr>
              <a:t> Landmarks</a:t>
            </a:r>
          </a:p>
          <a:p>
            <a:pPr algn="just">
              <a:lnSpc>
                <a:spcPts val="5584"/>
              </a:lnSpc>
            </a:pPr>
            <a:r>
              <a:rPr lang="en-US" sz="3988" spc="39">
                <a:solidFill>
                  <a:srgbClr val="333333"/>
                </a:solidFill>
                <a:latin typeface="Neue Montreal"/>
                <a:ea typeface="Neue Montreal"/>
                <a:cs typeface="Neue Montreal"/>
                <a:sym typeface="Neue Montreal"/>
              </a:rPr>
              <a:t>Key points annotation, also referred to as landmark annotation, is a </a:t>
            </a:r>
            <a:r>
              <a:rPr lang="en-US" sz="3988" spc="39">
                <a:solidFill>
                  <a:srgbClr val="333333"/>
                </a:solidFill>
                <a:latin typeface="Neue Montreal"/>
                <a:ea typeface="Neue Montreal"/>
                <a:cs typeface="Neue Montreal"/>
                <a:sym typeface="Neue Montreal"/>
              </a:rPr>
              <a:t>type</a:t>
            </a:r>
            <a:r>
              <a:rPr lang="en-US" sz="3988" spc="39">
                <a:solidFill>
                  <a:srgbClr val="333333"/>
                </a:solidFill>
                <a:latin typeface="Neue Montreal"/>
                <a:ea typeface="Neue Montreal"/>
                <a:cs typeface="Neue Montreal"/>
                <a:sym typeface="Neue Montreal"/>
              </a:rPr>
              <a:t> of video annotation used to mark smaller, specific features of an object or smaller elements within a video and connect them together to form postures, sen</a:t>
            </a:r>
            <a:r>
              <a:rPr lang="en-US" sz="3988" spc="39">
                <a:solidFill>
                  <a:srgbClr val="333333"/>
                </a:solidFill>
                <a:latin typeface="Neue Montreal"/>
                <a:ea typeface="Neue Montreal"/>
                <a:cs typeface="Neue Montreal"/>
                <a:sym typeface="Neue Montreal"/>
              </a:rPr>
              <a:t>t</a:t>
            </a:r>
            <a:r>
              <a:rPr lang="en-US" sz="3988" spc="39">
                <a:solidFill>
                  <a:srgbClr val="333333"/>
                </a:solidFill>
                <a:latin typeface="Neue Montreal"/>
                <a:ea typeface="Neue Montreal"/>
                <a:cs typeface="Neue Montreal"/>
                <a:sym typeface="Neue Montreal"/>
              </a:rPr>
              <a:t>iments, movements, and other higher-level attributes. This type of a</a:t>
            </a:r>
            <a:r>
              <a:rPr lang="en-US" sz="3988" spc="39">
                <a:solidFill>
                  <a:srgbClr val="333333"/>
                </a:solidFill>
                <a:latin typeface="Neue Montreal"/>
                <a:ea typeface="Neue Montreal"/>
                <a:cs typeface="Neue Montreal"/>
                <a:sym typeface="Neue Montreal"/>
              </a:rPr>
              <a:t>nnotat</a:t>
            </a:r>
            <a:r>
              <a:rPr lang="en-US" sz="3988" spc="39">
                <a:solidFill>
                  <a:srgbClr val="333333"/>
                </a:solidFill>
                <a:latin typeface="Neue Montreal"/>
                <a:ea typeface="Neue Montreal"/>
                <a:cs typeface="Neue Montreal"/>
                <a:sym typeface="Neue Montreal"/>
              </a:rPr>
              <a:t>ion plays a very important role in precision computer-vision applications, such as facial recognition and sporting analytics.</a:t>
            </a:r>
          </a:p>
        </p:txBody>
      </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878818" y="1576783"/>
            <a:ext cx="16530363" cy="5342296"/>
          </a:xfrm>
          <a:prstGeom prst="rect">
            <a:avLst/>
          </a:prstGeom>
        </p:spPr>
        <p:txBody>
          <a:bodyPr anchor="t" rtlCol="false" tIns="0" lIns="0" bIns="0" rIns="0">
            <a:spAutoFit/>
          </a:bodyPr>
          <a:lstStyle/>
          <a:p>
            <a:pPr algn="just">
              <a:lnSpc>
                <a:spcPts val="6073"/>
              </a:lnSpc>
            </a:pPr>
            <a:r>
              <a:rPr lang="en-US" b="true" sz="4338" spc="43">
                <a:solidFill>
                  <a:srgbClr val="333333"/>
                </a:solidFill>
                <a:latin typeface="Neue Montreal Bold"/>
                <a:ea typeface="Neue Montreal Bold"/>
                <a:cs typeface="Neue Montreal Bold"/>
                <a:sym typeface="Neue Montreal Bold"/>
              </a:rPr>
              <a:t>Object Localization</a:t>
            </a:r>
          </a:p>
          <a:p>
            <a:pPr algn="just">
              <a:lnSpc>
                <a:spcPts val="6073"/>
              </a:lnSpc>
            </a:pPr>
            <a:r>
              <a:rPr lang="en-US" sz="4338" spc="43">
                <a:solidFill>
                  <a:srgbClr val="333333"/>
                </a:solidFill>
                <a:latin typeface="Neue Montreal"/>
                <a:ea typeface="Neue Montreal"/>
                <a:cs typeface="Neue Montreal"/>
                <a:sym typeface="Neue Montreal"/>
              </a:rPr>
              <a:t>Object localization is</a:t>
            </a:r>
            <a:r>
              <a:rPr lang="en-US" sz="4338" spc="43">
                <a:solidFill>
                  <a:srgbClr val="333333"/>
                </a:solidFill>
                <a:latin typeface="Neue Montreal"/>
                <a:ea typeface="Neue Montreal"/>
                <a:cs typeface="Neue Montreal"/>
                <a:sym typeface="Neue Montreal"/>
              </a:rPr>
              <a:t> a type of video annotation in which one or more items belonging to a similar category are identified and tagged with that particular class, </a:t>
            </a:r>
            <a:r>
              <a:rPr lang="en-US" sz="4338" spc="43">
                <a:solidFill>
                  <a:srgbClr val="333333"/>
                </a:solidFill>
                <a:latin typeface="Neue Montreal"/>
                <a:ea typeface="Neue Montreal"/>
                <a:cs typeface="Neue Montreal"/>
                <a:sym typeface="Neue Montreal"/>
              </a:rPr>
              <a:t>typically</a:t>
            </a:r>
            <a:r>
              <a:rPr lang="en-US" sz="4338" spc="43">
                <a:solidFill>
                  <a:srgbClr val="333333"/>
                </a:solidFill>
                <a:latin typeface="Neue Montreal"/>
                <a:ea typeface="Neue Montreal"/>
                <a:cs typeface="Neue Montreal"/>
                <a:sym typeface="Neue Montreal"/>
              </a:rPr>
              <a:t> surrounded by a marking sign such as a 2D bounding box. This function helps computers and intelligent systems identify and track objects, supporting a better understanding of the real-world environment in motion.</a:t>
            </a:r>
          </a:p>
        </p:txBody>
      </p:sp>
      <p:sp>
        <p:nvSpPr>
          <p:cNvPr name="TextBox 8" id="8"/>
          <p:cNvSpPr txBox="true"/>
          <p:nvPr/>
        </p:nvSpPr>
        <p:spPr>
          <a:xfrm rot="0">
            <a:off x="16096376" y="9340399"/>
            <a:ext cx="873698" cy="273701"/>
          </a:xfrm>
          <a:prstGeom prst="rect">
            <a:avLst/>
          </a:prstGeom>
        </p:spPr>
        <p:txBody>
          <a:bodyPr anchor="t" rtlCol="false" tIns="0" lIns="0" bIns="0" rIns="0">
            <a:spAutoFit/>
          </a:bodyPr>
          <a:lstStyle/>
          <a:p>
            <a:pPr algn="r">
              <a:lnSpc>
                <a:spcPts val="2240"/>
              </a:lnSpc>
              <a:spcBef>
                <a:spcPct val="0"/>
              </a:spcBef>
            </a:pPr>
            <a:r>
              <a:rPr lang="en-US" b="true" sz="1600" spc="16">
                <a:solidFill>
                  <a:srgbClr val="333333"/>
                </a:solidFill>
                <a:latin typeface="Neue Montreal Bold"/>
                <a:ea typeface="Neue Montreal Bold"/>
                <a:cs typeface="Neue Montreal Bold"/>
                <a:sym typeface="Neue Montreal Bold"/>
              </a:rPr>
              <a:t>Page</a:t>
            </a:r>
          </a:p>
        </p:txBody>
      </p:sp>
      <p:sp>
        <p:nvSpPr>
          <p:cNvPr name="TextBox 9" id="9"/>
          <p:cNvSpPr txBox="true"/>
          <p:nvPr/>
        </p:nvSpPr>
        <p:spPr>
          <a:xfrm rot="0">
            <a:off x="16882414" y="9340399"/>
            <a:ext cx="450503" cy="273684"/>
          </a:xfrm>
          <a:prstGeom prst="rect">
            <a:avLst/>
          </a:prstGeom>
        </p:spPr>
        <p:txBody>
          <a:bodyPr anchor="t" rtlCol="false" tIns="0" lIns="0" bIns="0" rIns="0">
            <a:spAutoFit/>
          </a:bodyPr>
          <a:lstStyle/>
          <a:p>
            <a:pPr algn="r">
              <a:lnSpc>
                <a:spcPts val="2240"/>
              </a:lnSpc>
              <a:spcBef>
                <a:spcPct val="0"/>
              </a:spcBef>
            </a:pPr>
            <a:r>
              <a:rPr lang="en-US" sz="1600" spc="16">
                <a:solidFill>
                  <a:srgbClr val="333333"/>
                </a:solidFill>
                <a:latin typeface="Neue Montreal"/>
                <a:ea typeface="Neue Montreal"/>
                <a:cs typeface="Neue Montreal"/>
                <a:sym typeface="Neue Montreal"/>
              </a:rPr>
              <a:t>26</a:t>
            </a:r>
          </a:p>
        </p:txBody>
      </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65562" y="1622503"/>
            <a:ext cx="16156875" cy="5653609"/>
          </a:xfrm>
          <a:prstGeom prst="rect">
            <a:avLst/>
          </a:prstGeom>
        </p:spPr>
        <p:txBody>
          <a:bodyPr anchor="t" rtlCol="false" tIns="0" lIns="0" bIns="0" rIns="0">
            <a:spAutoFit/>
          </a:bodyPr>
          <a:lstStyle/>
          <a:p>
            <a:pPr algn="just">
              <a:lnSpc>
                <a:spcPts val="5614"/>
              </a:lnSpc>
            </a:pPr>
            <a:r>
              <a:rPr lang="en-US" b="true" sz="4010" spc="40">
                <a:solidFill>
                  <a:srgbClr val="333333"/>
                </a:solidFill>
                <a:latin typeface="Neue Montreal Bold"/>
                <a:ea typeface="Neue Montreal Bold"/>
                <a:cs typeface="Neue Montreal Bold"/>
                <a:sym typeface="Neue Montreal Bold"/>
              </a:rPr>
              <a:t>Object Tracking</a:t>
            </a:r>
          </a:p>
          <a:p>
            <a:pPr algn="just">
              <a:lnSpc>
                <a:spcPts val="5614"/>
              </a:lnSpc>
            </a:pPr>
            <a:r>
              <a:rPr lang="en-US" sz="4010" spc="40">
                <a:solidFill>
                  <a:srgbClr val="333333"/>
                </a:solidFill>
                <a:latin typeface="Neue Montreal"/>
                <a:ea typeface="Neue Montreal"/>
                <a:cs typeface="Neue Montreal"/>
                <a:sym typeface="Neue Montreal"/>
              </a:rPr>
              <a:t>Object tracking is an application of video annotation that follows moving objects based on certain pre-trained video-annotation techniques. It is extensively used in applicatio</a:t>
            </a:r>
            <a:r>
              <a:rPr lang="en-US" sz="4010" spc="40">
                <a:solidFill>
                  <a:srgbClr val="333333"/>
                </a:solidFill>
                <a:latin typeface="Neue Montreal"/>
                <a:ea typeface="Neue Montreal"/>
                <a:cs typeface="Neue Montreal"/>
                <a:sym typeface="Neue Montreal"/>
              </a:rPr>
              <a:t>ns designed to ident</a:t>
            </a:r>
            <a:r>
              <a:rPr lang="en-US" sz="4010" spc="40">
                <a:solidFill>
                  <a:srgbClr val="333333"/>
                </a:solidFill>
                <a:latin typeface="Neue Montreal"/>
                <a:ea typeface="Neue Montreal"/>
                <a:cs typeface="Neue Montreal"/>
                <a:sym typeface="Neue Montreal"/>
              </a:rPr>
              <a:t>ify and locate specific objects within a video captured through a camera. Object tracking is especially prominent in security and surveillance applications used to maintain peace and safety in a given area, and it is also used in traffic-signal management, medical imaging, and many other applications.</a:t>
            </a:r>
          </a:p>
        </p:txBody>
      </p:sp>
      <p:sp>
        <p:nvSpPr>
          <p:cNvPr name="TextBox 8" id="8"/>
          <p:cNvSpPr txBox="true"/>
          <p:nvPr/>
        </p:nvSpPr>
        <p:spPr>
          <a:xfrm rot="0">
            <a:off x="16096376" y="9340399"/>
            <a:ext cx="873698" cy="273701"/>
          </a:xfrm>
          <a:prstGeom prst="rect">
            <a:avLst/>
          </a:prstGeom>
        </p:spPr>
        <p:txBody>
          <a:bodyPr anchor="t" rtlCol="false" tIns="0" lIns="0" bIns="0" rIns="0">
            <a:spAutoFit/>
          </a:bodyPr>
          <a:lstStyle/>
          <a:p>
            <a:pPr algn="r">
              <a:lnSpc>
                <a:spcPts val="2240"/>
              </a:lnSpc>
              <a:spcBef>
                <a:spcPct val="0"/>
              </a:spcBef>
            </a:pPr>
            <a:r>
              <a:rPr lang="en-US" b="true" sz="1600" spc="16">
                <a:solidFill>
                  <a:srgbClr val="333333"/>
                </a:solidFill>
                <a:latin typeface="Neue Montreal Bold"/>
                <a:ea typeface="Neue Montreal Bold"/>
                <a:cs typeface="Neue Montreal Bold"/>
                <a:sym typeface="Neue Montreal Bold"/>
              </a:rPr>
              <a:t>Page</a:t>
            </a:r>
          </a:p>
        </p:txBody>
      </p:sp>
      <p:sp>
        <p:nvSpPr>
          <p:cNvPr name="TextBox 9" id="9"/>
          <p:cNvSpPr txBox="true"/>
          <p:nvPr/>
        </p:nvSpPr>
        <p:spPr>
          <a:xfrm rot="0">
            <a:off x="16882414" y="9340399"/>
            <a:ext cx="450503" cy="273684"/>
          </a:xfrm>
          <a:prstGeom prst="rect">
            <a:avLst/>
          </a:prstGeom>
        </p:spPr>
        <p:txBody>
          <a:bodyPr anchor="t" rtlCol="false" tIns="0" lIns="0" bIns="0" rIns="0">
            <a:spAutoFit/>
          </a:bodyPr>
          <a:lstStyle/>
          <a:p>
            <a:pPr algn="r">
              <a:lnSpc>
                <a:spcPts val="2240"/>
              </a:lnSpc>
              <a:spcBef>
                <a:spcPct val="0"/>
              </a:spcBef>
            </a:pPr>
            <a:r>
              <a:rPr lang="en-US" sz="1600" spc="16">
                <a:solidFill>
                  <a:srgbClr val="333333"/>
                </a:solidFill>
                <a:latin typeface="Neue Montreal"/>
                <a:ea typeface="Neue Montreal"/>
                <a:cs typeface="Neue Montreal"/>
                <a:sym typeface="Neue Montreal"/>
              </a:rPr>
              <a:t>26</a:t>
            </a:r>
          </a:p>
        </p:txBody>
      </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69671" y="1882757"/>
            <a:ext cx="16148658" cy="5106509"/>
          </a:xfrm>
          <a:prstGeom prst="rect">
            <a:avLst/>
          </a:prstGeom>
        </p:spPr>
        <p:txBody>
          <a:bodyPr anchor="t" rtlCol="false" tIns="0" lIns="0" bIns="0" rIns="0">
            <a:spAutoFit/>
          </a:bodyPr>
          <a:lstStyle/>
          <a:p>
            <a:pPr algn="just">
              <a:lnSpc>
                <a:spcPts val="5801"/>
              </a:lnSpc>
            </a:pPr>
            <a:r>
              <a:rPr lang="en-US" b="true" sz="4143" spc="41">
                <a:solidFill>
                  <a:srgbClr val="333333"/>
                </a:solidFill>
                <a:latin typeface="Neue Montreal Bold"/>
                <a:ea typeface="Neue Montreal Bold"/>
                <a:cs typeface="Neue Montreal Bold"/>
                <a:sym typeface="Neue Montreal Bold"/>
              </a:rPr>
              <a:t>Multi-labeling</a:t>
            </a:r>
          </a:p>
          <a:p>
            <a:pPr algn="just">
              <a:lnSpc>
                <a:spcPts val="5801"/>
              </a:lnSpc>
            </a:pPr>
            <a:r>
              <a:rPr lang="en-US" sz="4143" spc="41">
                <a:solidFill>
                  <a:srgbClr val="333333"/>
                </a:solidFill>
                <a:latin typeface="Neue Montreal"/>
                <a:ea typeface="Neue Montreal"/>
                <a:cs typeface="Neue Montreal"/>
                <a:sym typeface="Neue Montreal"/>
              </a:rPr>
              <a:t>Mul</a:t>
            </a:r>
            <a:r>
              <a:rPr lang="en-US" sz="4143" spc="41">
                <a:solidFill>
                  <a:srgbClr val="333333"/>
                </a:solidFill>
                <a:latin typeface="Neue Montreal"/>
                <a:ea typeface="Neue Montreal"/>
                <a:cs typeface="Neue Montreal"/>
                <a:sym typeface="Neue Montreal"/>
              </a:rPr>
              <a:t>ti-labeling of a sound or speech file is the process of tagging multiple sources of audio data with several different predefined categories at once. This typ</a:t>
            </a:r>
            <a:r>
              <a:rPr lang="en-US" sz="4143" spc="41">
                <a:solidFill>
                  <a:srgbClr val="333333"/>
                </a:solidFill>
                <a:latin typeface="Neue Montreal"/>
                <a:ea typeface="Neue Montreal"/>
                <a:cs typeface="Neue Montreal"/>
                <a:sym typeface="Neue Montreal"/>
              </a:rPr>
              <a:t>e o</a:t>
            </a:r>
            <a:r>
              <a:rPr lang="en-US" sz="4143" spc="41">
                <a:solidFill>
                  <a:srgbClr val="333333"/>
                </a:solidFill>
                <a:latin typeface="Neue Montreal"/>
                <a:ea typeface="Neue Montreal"/>
                <a:cs typeface="Neue Montreal"/>
                <a:sym typeface="Neue Montreal"/>
              </a:rPr>
              <a:t>f audio-data labeling is further divided into two main categories:</a:t>
            </a:r>
          </a:p>
          <a:p>
            <a:pPr algn="just">
              <a:lnSpc>
                <a:spcPts val="5801"/>
              </a:lnSpc>
            </a:pPr>
            <a:r>
              <a:rPr lang="en-US" sz="4143" spc="41">
                <a:solidFill>
                  <a:srgbClr val="333333"/>
                </a:solidFill>
                <a:latin typeface="Neue Montreal"/>
                <a:ea typeface="Neue Montreal"/>
                <a:cs typeface="Neue Montreal"/>
                <a:sym typeface="Neue Montreal"/>
              </a:rPr>
              <a:t>• One-stage multi-labeling</a:t>
            </a:r>
          </a:p>
          <a:p>
            <a:pPr algn="just">
              <a:lnSpc>
                <a:spcPts val="5801"/>
              </a:lnSpc>
            </a:pPr>
            <a:r>
              <a:rPr lang="en-US" sz="4143" spc="41">
                <a:solidFill>
                  <a:srgbClr val="333333"/>
                </a:solidFill>
                <a:latin typeface="Neue Montreal"/>
                <a:ea typeface="Neue Montreal"/>
                <a:cs typeface="Neue Montreal"/>
                <a:sym typeface="Neue Montreal"/>
              </a:rPr>
              <a:t>• Two-stage multi-labeling</a:t>
            </a:r>
          </a:p>
        </p:txBody>
      </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544658">
            <a:off x="3310848" y="-9099481"/>
            <a:ext cx="13448288" cy="13414668"/>
          </a:xfrm>
          <a:custGeom>
            <a:avLst/>
            <a:gdLst/>
            <a:ahLst/>
            <a:cxnLst/>
            <a:rect r="r" b="b" t="t" l="l"/>
            <a:pathLst>
              <a:path h="13414668" w="13448288">
                <a:moveTo>
                  <a:pt x="0" y="0"/>
                </a:moveTo>
                <a:lnTo>
                  <a:pt x="13448289" y="0"/>
                </a:lnTo>
                <a:lnTo>
                  <a:pt x="13448289" y="13414668"/>
                </a:lnTo>
                <a:lnTo>
                  <a:pt x="0" y="13414668"/>
                </a:lnTo>
                <a:lnTo>
                  <a:pt x="0" y="0"/>
                </a:lnTo>
                <a:close/>
              </a:path>
            </a:pathLst>
          </a:custGeom>
          <a:blipFill>
            <a:blip r:embed="rId2"/>
            <a:stretch>
              <a:fillRect l="0" t="0" r="0" b="0"/>
            </a:stretch>
          </a:blipFill>
        </p:spPr>
      </p:sp>
      <p:sp>
        <p:nvSpPr>
          <p:cNvPr name="Freeform 3" id="3"/>
          <p:cNvSpPr/>
          <p:nvPr/>
        </p:nvSpPr>
        <p:spPr>
          <a:xfrm flipH="false" flipV="false" rot="2046621">
            <a:off x="-498788" y="8055066"/>
            <a:ext cx="7762300" cy="7742895"/>
          </a:xfrm>
          <a:custGeom>
            <a:avLst/>
            <a:gdLst/>
            <a:ahLst/>
            <a:cxnLst/>
            <a:rect r="r" b="b" t="t" l="l"/>
            <a:pathLst>
              <a:path h="7742895" w="7762300">
                <a:moveTo>
                  <a:pt x="0" y="0"/>
                </a:moveTo>
                <a:lnTo>
                  <a:pt x="7762301" y="0"/>
                </a:lnTo>
                <a:lnTo>
                  <a:pt x="7762301" y="7742895"/>
                </a:lnTo>
                <a:lnTo>
                  <a:pt x="0" y="7742895"/>
                </a:lnTo>
                <a:lnTo>
                  <a:pt x="0" y="0"/>
                </a:lnTo>
                <a:close/>
              </a:path>
            </a:pathLst>
          </a:custGeom>
          <a:blipFill>
            <a:blip r:embed="rId2"/>
            <a:stretch>
              <a:fillRect l="0" t="0" r="0" b="0"/>
            </a:stretch>
          </a:blipFill>
        </p:spPr>
      </p:sp>
      <p:sp>
        <p:nvSpPr>
          <p:cNvPr name="TextBox 4" id="4"/>
          <p:cNvSpPr txBox="true"/>
          <p:nvPr/>
        </p:nvSpPr>
        <p:spPr>
          <a:xfrm rot="0">
            <a:off x="946958" y="2846687"/>
            <a:ext cx="13092627" cy="3337943"/>
          </a:xfrm>
          <a:prstGeom prst="rect">
            <a:avLst/>
          </a:prstGeom>
        </p:spPr>
        <p:txBody>
          <a:bodyPr anchor="t" rtlCol="false" tIns="0" lIns="0" bIns="0" rIns="0">
            <a:spAutoFit/>
          </a:bodyPr>
          <a:lstStyle/>
          <a:p>
            <a:pPr algn="l">
              <a:lnSpc>
                <a:spcPts val="13318"/>
              </a:lnSpc>
              <a:spcBef>
                <a:spcPct val="0"/>
              </a:spcBef>
            </a:pPr>
            <a:r>
              <a:rPr lang="en-US" b="true" sz="9512">
                <a:solidFill>
                  <a:srgbClr val="000000"/>
                </a:solidFill>
                <a:latin typeface="Neue Montreal Bold"/>
                <a:ea typeface="Neue Montreal Bold"/>
                <a:cs typeface="Neue Montreal Bold"/>
                <a:sym typeface="Neue Montreal Bold"/>
              </a:rPr>
              <a:t>APPLICATIONS &amp; IMPACT</a:t>
            </a:r>
          </a:p>
        </p:txBody>
      </p:sp>
      <p:sp>
        <p:nvSpPr>
          <p:cNvPr name="Freeform 5" id="5"/>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6698626" y="472575"/>
            <a:ext cx="641254" cy="484209"/>
            <a:chOff x="0" y="0"/>
            <a:chExt cx="168890" cy="127528"/>
          </a:xfrm>
        </p:grpSpPr>
        <p:sp>
          <p:nvSpPr>
            <p:cNvPr name="Freeform 7" id="7"/>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8" id="8"/>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9" id="9"/>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10" id="10"/>
          <p:cNvSpPr/>
          <p:nvPr/>
        </p:nvSpPr>
        <p:spPr>
          <a:xfrm>
            <a:off x="946958" y="8269795"/>
            <a:ext cx="14204746" cy="0"/>
          </a:xfrm>
          <a:prstGeom prst="line">
            <a:avLst/>
          </a:prstGeom>
          <a:ln cap="rnd" w="9525">
            <a:solidFill>
              <a:srgbClr val="D9D9D9"/>
            </a:solidFill>
            <a:prstDash val="solid"/>
            <a:headEnd type="none" len="sm" w="sm"/>
            <a:tailEnd type="none" len="sm" w="sm"/>
          </a:ln>
        </p:spPr>
      </p:sp>
      <p:sp>
        <p:nvSpPr>
          <p:cNvPr name="TextBox 11" id="11"/>
          <p:cNvSpPr txBox="true"/>
          <p:nvPr/>
        </p:nvSpPr>
        <p:spPr>
          <a:xfrm rot="0">
            <a:off x="1028700" y="6700609"/>
            <a:ext cx="8544934" cy="349249"/>
          </a:xfrm>
          <a:prstGeom prst="rect">
            <a:avLst/>
          </a:prstGeom>
        </p:spPr>
        <p:txBody>
          <a:bodyPr anchor="t" rtlCol="false" tIns="0" lIns="0" bIns="0" rIns="0">
            <a:spAutoFit/>
          </a:bodyPr>
          <a:lstStyle/>
          <a:p>
            <a:pPr algn="l">
              <a:lnSpc>
                <a:spcPts val="2800"/>
              </a:lnSpc>
              <a:spcBef>
                <a:spcPct val="0"/>
              </a:spcBef>
            </a:pPr>
            <a:r>
              <a:rPr lang="en-US" sz="2000" spc="20">
                <a:solidFill>
                  <a:srgbClr val="000000"/>
                </a:solidFill>
                <a:latin typeface="Neue Montreal"/>
                <a:ea typeface="Neue Montreal"/>
                <a:cs typeface="Neue Montreal"/>
                <a:sym typeface="Neue Montreal"/>
              </a:rPr>
              <a:t>Where AI and</a:t>
            </a:r>
            <a:r>
              <a:rPr lang="en-US" sz="2000" spc="20">
                <a:solidFill>
                  <a:srgbClr val="000000"/>
                </a:solidFill>
                <a:latin typeface="Neue Montreal"/>
                <a:ea typeface="Neue Montreal"/>
                <a:cs typeface="Neue Montreal"/>
                <a:sym typeface="Neue Montreal"/>
              </a:rPr>
              <a:t> machine learning are used</a:t>
            </a:r>
          </a:p>
        </p:txBody>
      </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946958" y="1433777"/>
            <a:ext cx="14307631" cy="994687"/>
          </a:xfrm>
          <a:prstGeom prst="rect">
            <a:avLst/>
          </a:prstGeom>
        </p:spPr>
        <p:txBody>
          <a:bodyPr anchor="t" rtlCol="false" tIns="0" lIns="0" bIns="0" rIns="0">
            <a:spAutoFit/>
          </a:bodyPr>
          <a:lstStyle/>
          <a:p>
            <a:pPr algn="l">
              <a:lnSpc>
                <a:spcPts val="7509"/>
              </a:lnSpc>
            </a:pPr>
            <a:r>
              <a:rPr lang="en-US" sz="7151" b="true">
                <a:solidFill>
                  <a:srgbClr val="333333"/>
                </a:solidFill>
                <a:latin typeface="Neue Montreal Medium"/>
                <a:ea typeface="Neue Montreal Medium"/>
                <a:cs typeface="Neue Montreal Medium"/>
                <a:sym typeface="Neue Montreal Medium"/>
              </a:rPr>
              <a:t>Top Uses of Machine Learning</a:t>
            </a:r>
          </a:p>
        </p:txBody>
      </p:sp>
      <p:sp>
        <p:nvSpPr>
          <p:cNvPr name="TextBox 8" id="8"/>
          <p:cNvSpPr txBox="true"/>
          <p:nvPr/>
        </p:nvSpPr>
        <p:spPr>
          <a:xfrm rot="0">
            <a:off x="1978237" y="2604822"/>
            <a:ext cx="14331527" cy="6891469"/>
          </a:xfrm>
          <a:prstGeom prst="rect">
            <a:avLst/>
          </a:prstGeom>
        </p:spPr>
        <p:txBody>
          <a:bodyPr anchor="t" rtlCol="false" tIns="0" lIns="0" bIns="0" rIns="0">
            <a:spAutoFit/>
          </a:bodyPr>
          <a:lstStyle/>
          <a:p>
            <a:pPr algn="just">
              <a:lnSpc>
                <a:spcPts val="4980"/>
              </a:lnSpc>
            </a:pPr>
            <a:r>
              <a:rPr lang="en-US" b="true" sz="3557" spc="35">
                <a:solidFill>
                  <a:srgbClr val="333333"/>
                </a:solidFill>
                <a:latin typeface="Neue Montreal Bold"/>
                <a:ea typeface="Neue Montreal Bold"/>
                <a:cs typeface="Neue Montreal Bold"/>
                <a:sym typeface="Neue Montreal Bold"/>
              </a:rPr>
              <a:t>Big Data</a:t>
            </a:r>
          </a:p>
          <a:p>
            <a:pPr algn="just">
              <a:lnSpc>
                <a:spcPts val="4980"/>
              </a:lnSpc>
            </a:pPr>
            <a:r>
              <a:rPr lang="en-US" b="true" sz="3557" spc="35">
                <a:solidFill>
                  <a:srgbClr val="333333"/>
                </a:solidFill>
                <a:latin typeface="Neue Montreal Bold"/>
                <a:ea typeface="Neue Montreal Bold"/>
                <a:cs typeface="Neue Montreal Bold"/>
                <a:sym typeface="Neue Montreal Bold"/>
              </a:rPr>
              <a:t>Data Analytics</a:t>
            </a:r>
          </a:p>
          <a:p>
            <a:pPr algn="just">
              <a:lnSpc>
                <a:spcPts val="4980"/>
              </a:lnSpc>
            </a:pPr>
            <a:r>
              <a:rPr lang="en-US" b="true" sz="3557" spc="35">
                <a:solidFill>
                  <a:srgbClr val="333333"/>
                </a:solidFill>
                <a:latin typeface="Neue Montreal Bold"/>
                <a:ea typeface="Neue Montreal Bold"/>
                <a:cs typeface="Neue Montreal Bold"/>
                <a:sym typeface="Neue Montreal Bold"/>
              </a:rPr>
              <a:t>Cyb</a:t>
            </a:r>
            <a:r>
              <a:rPr lang="en-US" b="true" sz="3557" spc="35">
                <a:solidFill>
                  <a:srgbClr val="333333"/>
                </a:solidFill>
                <a:latin typeface="Neue Montreal Bold"/>
                <a:ea typeface="Neue Montreal Bold"/>
                <a:cs typeface="Neue Montreal Bold"/>
                <a:sym typeface="Neue Montreal Bold"/>
              </a:rPr>
              <a:t>ersecurity</a:t>
            </a:r>
          </a:p>
          <a:p>
            <a:pPr algn="just">
              <a:lnSpc>
                <a:spcPts val="4980"/>
              </a:lnSpc>
            </a:pPr>
            <a:r>
              <a:rPr lang="en-US" b="true" sz="3557" spc="35">
                <a:solidFill>
                  <a:srgbClr val="333333"/>
                </a:solidFill>
                <a:latin typeface="Neue Montreal Bold"/>
                <a:ea typeface="Neue Montreal Bold"/>
                <a:cs typeface="Neue Montreal Bold"/>
                <a:sym typeface="Neue Montreal Bold"/>
              </a:rPr>
              <a:t>Digital Marketing</a:t>
            </a:r>
          </a:p>
          <a:p>
            <a:pPr algn="just">
              <a:lnSpc>
                <a:spcPts val="4980"/>
              </a:lnSpc>
            </a:pPr>
            <a:r>
              <a:rPr lang="en-US" b="true" sz="3557" spc="35">
                <a:solidFill>
                  <a:srgbClr val="333333"/>
                </a:solidFill>
                <a:latin typeface="Neue Montreal Bold"/>
                <a:ea typeface="Neue Montreal Bold"/>
                <a:cs typeface="Neue Montreal Bold"/>
                <a:sym typeface="Neue Montreal Bold"/>
              </a:rPr>
              <a:t>Business Intelligence</a:t>
            </a:r>
          </a:p>
          <a:p>
            <a:pPr algn="just">
              <a:lnSpc>
                <a:spcPts val="4980"/>
              </a:lnSpc>
            </a:pPr>
            <a:r>
              <a:rPr lang="en-US" b="true" sz="3557" spc="35">
                <a:solidFill>
                  <a:srgbClr val="333333"/>
                </a:solidFill>
                <a:latin typeface="Neue Montreal Bold"/>
                <a:ea typeface="Neue Montreal Bold"/>
                <a:cs typeface="Neue Montreal Bold"/>
                <a:sym typeface="Neue Montreal Bold"/>
              </a:rPr>
              <a:t>Process Automation</a:t>
            </a:r>
          </a:p>
          <a:p>
            <a:pPr algn="just">
              <a:lnSpc>
                <a:spcPts val="4980"/>
              </a:lnSpc>
            </a:pPr>
            <a:r>
              <a:rPr lang="en-US" b="true" sz="3557" spc="35">
                <a:solidFill>
                  <a:srgbClr val="333333"/>
                </a:solidFill>
                <a:latin typeface="Neue Montreal Bold"/>
                <a:ea typeface="Neue Montreal Bold"/>
                <a:cs typeface="Neue Montreal Bold"/>
                <a:sym typeface="Neue Montreal Bold"/>
              </a:rPr>
              <a:t>Automobiles</a:t>
            </a:r>
          </a:p>
          <a:p>
            <a:pPr algn="just">
              <a:lnSpc>
                <a:spcPts val="4980"/>
              </a:lnSpc>
            </a:pPr>
            <a:r>
              <a:rPr lang="en-US" b="true" sz="3557" spc="35">
                <a:solidFill>
                  <a:srgbClr val="333333"/>
                </a:solidFill>
                <a:latin typeface="Neue Montreal Bold"/>
                <a:ea typeface="Neue Montreal Bold"/>
                <a:cs typeface="Neue Montreal Bold"/>
                <a:sym typeface="Neue Montreal Bold"/>
              </a:rPr>
              <a:t>E-Commerce</a:t>
            </a:r>
          </a:p>
          <a:p>
            <a:pPr algn="just">
              <a:lnSpc>
                <a:spcPts val="4980"/>
              </a:lnSpc>
            </a:pPr>
          </a:p>
          <a:p>
            <a:pPr algn="just">
              <a:lnSpc>
                <a:spcPts val="4980"/>
              </a:lnSpc>
            </a:pPr>
            <a:r>
              <a:rPr lang="en-US" sz="3557" spc="35">
                <a:solidFill>
                  <a:srgbClr val="333333"/>
                </a:solidFill>
                <a:latin typeface="Neue Montreal"/>
                <a:ea typeface="Neue Montreal"/>
                <a:cs typeface="Neue Montreal"/>
                <a:sym typeface="Neue Montreal"/>
              </a:rPr>
              <a:t>The source emphasizes that ML's impact spans virtually every business domain, not only the technology sector.</a:t>
            </a:r>
          </a:p>
        </p:txBody>
      </p:sp>
    </p:spTree>
  </p:cSld>
  <p:clrMapOvr>
    <a:masterClrMapping/>
  </p:clrMapOvr>
</p:sld>
</file>

<file path=ppt/slides/slide68.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889337" y="1418236"/>
            <a:ext cx="16509326" cy="5775069"/>
          </a:xfrm>
          <a:prstGeom prst="rect">
            <a:avLst/>
          </a:prstGeom>
        </p:spPr>
        <p:txBody>
          <a:bodyPr anchor="t" rtlCol="false" tIns="0" lIns="0" bIns="0" rIns="0">
            <a:spAutoFit/>
          </a:bodyPr>
          <a:lstStyle/>
          <a:p>
            <a:pPr algn="just">
              <a:lnSpc>
                <a:spcPts val="5737"/>
              </a:lnSpc>
            </a:pPr>
            <a:r>
              <a:rPr lang="en-US" b="true" sz="4097" spc="40">
                <a:solidFill>
                  <a:srgbClr val="333333"/>
                </a:solidFill>
                <a:latin typeface="Neue Montreal Bold"/>
                <a:ea typeface="Neue Montreal Bold"/>
                <a:cs typeface="Neue Montreal Bold"/>
                <a:sym typeface="Neue Montreal Bold"/>
              </a:rPr>
              <a:t>Big Data</a:t>
            </a:r>
          </a:p>
          <a:p>
            <a:pPr algn="just">
              <a:lnSpc>
                <a:spcPts val="5737"/>
              </a:lnSpc>
            </a:pPr>
            <a:r>
              <a:rPr lang="en-US" sz="4097" spc="40">
                <a:solidFill>
                  <a:srgbClr val="333333"/>
                </a:solidFill>
                <a:latin typeface="Neue Montreal"/>
                <a:ea typeface="Neue Montreal"/>
                <a:cs typeface="Neue Montreal"/>
                <a:sym typeface="Neue Montreal"/>
              </a:rPr>
              <a:t>Big d</a:t>
            </a:r>
            <a:r>
              <a:rPr lang="en-US" sz="4097" spc="40">
                <a:solidFill>
                  <a:srgbClr val="333333"/>
                </a:solidFill>
                <a:latin typeface="Neue Montreal"/>
                <a:ea typeface="Neue Montreal"/>
                <a:cs typeface="Neue Montreal"/>
                <a:sym typeface="Neue Montreal"/>
              </a:rPr>
              <a:t>ata is typically characterized by the “3 Vs” Volume (the sheer amount of data), Velocity (the speed at which it is gen</a:t>
            </a:r>
            <a:r>
              <a:rPr lang="en-US" sz="4097" spc="40">
                <a:solidFill>
                  <a:srgbClr val="333333"/>
                </a:solidFill>
                <a:latin typeface="Neue Montreal"/>
                <a:ea typeface="Neue Montreal"/>
                <a:cs typeface="Neue Montreal"/>
                <a:sym typeface="Neue Montreal"/>
              </a:rPr>
              <a:t>erated and must be processed), and Variety (the range of different data types and formats involved). Big data is best managed with the power of AI and machine learning, which can dig out hidden value and meaningful patterns from massive datasets that would otherwise represent an unmanageable liability for a business, rather than a useful asset.</a:t>
            </a:r>
          </a:p>
        </p:txBody>
      </p:sp>
    </p:spTree>
  </p:cSld>
  <p:clrMapOvr>
    <a:masterClrMapping/>
  </p:clrMapOvr>
</p:sld>
</file>

<file path=ppt/slides/slide69.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42136" y="1564921"/>
            <a:ext cx="16217164" cy="4953497"/>
          </a:xfrm>
          <a:prstGeom prst="rect">
            <a:avLst/>
          </a:prstGeom>
        </p:spPr>
        <p:txBody>
          <a:bodyPr anchor="t" rtlCol="false" tIns="0" lIns="0" bIns="0" rIns="0">
            <a:spAutoFit/>
          </a:bodyPr>
          <a:lstStyle/>
          <a:p>
            <a:pPr algn="just">
              <a:lnSpc>
                <a:spcPts val="5635"/>
              </a:lnSpc>
            </a:pPr>
            <a:r>
              <a:rPr lang="en-US" b="true" sz="4025" spc="40">
                <a:solidFill>
                  <a:srgbClr val="333333"/>
                </a:solidFill>
                <a:latin typeface="Neue Montreal Bold"/>
                <a:ea typeface="Neue Montreal Bold"/>
                <a:cs typeface="Neue Montreal Bold"/>
                <a:sym typeface="Neue Montreal Bold"/>
              </a:rPr>
              <a:t>Data Analytics</a:t>
            </a:r>
          </a:p>
          <a:p>
            <a:pPr algn="just">
              <a:lnSpc>
                <a:spcPts val="5635"/>
              </a:lnSpc>
            </a:pPr>
            <a:r>
              <a:rPr lang="en-US" sz="4025" spc="40">
                <a:solidFill>
                  <a:srgbClr val="333333"/>
                </a:solidFill>
                <a:latin typeface="Neue Montreal"/>
                <a:ea typeface="Neue Montreal"/>
                <a:cs typeface="Neue Montreal"/>
                <a:sym typeface="Neue Montreal"/>
              </a:rPr>
              <a:t>Machine-learning-powered data analytics has become fast and dynamic enough to produce real-time results, delivering a range of business benefits, including: deeper insight into market and user behavior, more accurate demand and supply forecasting, more precisely targeted marketing efforts, genuinely data-driven business operations, more efficient use of available resources, and an overall improved customer experience.</a:t>
            </a:r>
          </a:p>
        </p:txBody>
      </p:sp>
    </p:spTree>
  </p:cSld>
  <p:clrMapOvr>
    <a:masterClrMapping/>
  </p:clrMapOvr>
</p:sld>
</file>

<file path=ppt/slides/slide70.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223413" y="1350103"/>
            <a:ext cx="15746660" cy="7520119"/>
          </a:xfrm>
          <a:prstGeom prst="rect">
            <a:avLst/>
          </a:prstGeom>
        </p:spPr>
        <p:txBody>
          <a:bodyPr anchor="t" rtlCol="false" tIns="0" lIns="0" bIns="0" rIns="0">
            <a:spAutoFit/>
          </a:bodyPr>
          <a:lstStyle/>
          <a:p>
            <a:pPr algn="l">
              <a:lnSpc>
                <a:spcPts val="4980"/>
              </a:lnSpc>
            </a:pPr>
            <a:r>
              <a:rPr lang="en-US" sz="3557" spc="35" b="true">
                <a:solidFill>
                  <a:srgbClr val="333333"/>
                </a:solidFill>
                <a:latin typeface="Neue Montreal Bold"/>
                <a:ea typeface="Neue Montreal Bold"/>
                <a:cs typeface="Neue Montreal Bold"/>
                <a:sym typeface="Neue Montreal Bold"/>
              </a:rPr>
              <a:t>Cybersecurity</a:t>
            </a:r>
          </a:p>
          <a:p>
            <a:pPr algn="l">
              <a:lnSpc>
                <a:spcPts val="4980"/>
              </a:lnSpc>
            </a:pPr>
            <a:r>
              <a:rPr lang="en-US" sz="3557" spc="35">
                <a:solidFill>
                  <a:srgbClr val="333333"/>
                </a:solidFill>
                <a:latin typeface="Neue Montreal"/>
                <a:ea typeface="Neue Montreal"/>
                <a:cs typeface="Neue Montreal"/>
                <a:sym typeface="Neue Montreal"/>
              </a:rPr>
              <a:t>M</a:t>
            </a:r>
            <a:r>
              <a:rPr lang="en-US" sz="3557" spc="35">
                <a:solidFill>
                  <a:srgbClr val="333333"/>
                </a:solidFill>
                <a:latin typeface="Neue Montreal"/>
                <a:ea typeface="Neue Montreal"/>
                <a:cs typeface="Neue Montreal"/>
                <a:sym typeface="Neue Montreal"/>
              </a:rPr>
              <a:t>achine learning strengthens cybersecurity applications an</a:t>
            </a:r>
            <a:r>
              <a:rPr lang="en-US" sz="3557" spc="35">
                <a:solidFill>
                  <a:srgbClr val="333333"/>
                </a:solidFill>
                <a:latin typeface="Neue Montreal"/>
                <a:ea typeface="Neue Montreal"/>
                <a:cs typeface="Neue Montreal"/>
                <a:sym typeface="Neue Montreal"/>
              </a:rPr>
              <a:t>d appliances, helping to secure communication across email and collaboration platforms. Common cybersecurity uses of ML include spam filters, vulnerability assessment tools, and automated security response algorithms capable of reacting to threats faster than a purely manual process could.</a:t>
            </a:r>
          </a:p>
          <a:p>
            <a:pPr algn="l">
              <a:lnSpc>
                <a:spcPts val="4980"/>
              </a:lnSpc>
            </a:pPr>
          </a:p>
          <a:p>
            <a:pPr algn="l">
              <a:lnSpc>
                <a:spcPts val="4980"/>
              </a:lnSpc>
            </a:pPr>
            <a:r>
              <a:rPr lang="en-US" b="true" sz="3557" spc="35">
                <a:solidFill>
                  <a:srgbClr val="333333"/>
                </a:solidFill>
                <a:latin typeface="Neue Montreal Bold"/>
                <a:ea typeface="Neue Montreal Bold"/>
                <a:cs typeface="Neue Montreal Bold"/>
                <a:sym typeface="Neue Montreal Bold"/>
              </a:rPr>
              <a:t>Digital Marketing</a:t>
            </a:r>
          </a:p>
          <a:p>
            <a:pPr algn="just">
              <a:lnSpc>
                <a:spcPts val="4980"/>
              </a:lnSpc>
            </a:pPr>
            <a:r>
              <a:rPr lang="en-US" sz="3557" spc="35">
                <a:solidFill>
                  <a:srgbClr val="333333"/>
                </a:solidFill>
                <a:latin typeface="Neue Montreal"/>
                <a:ea typeface="Neue Montreal"/>
                <a:cs typeface="Neue Montreal"/>
                <a:sym typeface="Neue Montreal"/>
              </a:rPr>
              <a:t>Machine </a:t>
            </a:r>
            <a:r>
              <a:rPr lang="en-US" sz="3557" spc="35">
                <a:solidFill>
                  <a:srgbClr val="333333"/>
                </a:solidFill>
                <a:latin typeface="Neue Montreal"/>
                <a:ea typeface="Neue Montreal"/>
                <a:cs typeface="Neue Montreal"/>
                <a:sym typeface="Neue Montreal"/>
              </a:rPr>
              <a:t>learning shapes modern digital marketing practice across several fronts, including search engine optimization (SEO), targeted email marketing, content marketing, social media marketing, and paid digital advertisement helping marketers reach the right audience with the right message at the right time</a:t>
            </a:r>
          </a:p>
        </p:txBody>
      </p:sp>
    </p:spTree>
  </p:cSld>
  <p:clrMapOvr>
    <a:masterClrMapping/>
  </p:clrMapOvr>
</p:sld>
</file>

<file path=ppt/slides/slide71.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30393" y="2384116"/>
            <a:ext cx="16228907" cy="5005519"/>
          </a:xfrm>
          <a:prstGeom prst="rect">
            <a:avLst/>
          </a:prstGeom>
        </p:spPr>
        <p:txBody>
          <a:bodyPr anchor="t" rtlCol="false" tIns="0" lIns="0" bIns="0" rIns="0">
            <a:spAutoFit/>
          </a:bodyPr>
          <a:lstStyle/>
          <a:p>
            <a:pPr algn="just">
              <a:lnSpc>
                <a:spcPts val="4980"/>
              </a:lnSpc>
            </a:pPr>
            <a:r>
              <a:rPr lang="en-US" b="true" sz="3557" spc="35">
                <a:solidFill>
                  <a:srgbClr val="333333"/>
                </a:solidFill>
                <a:latin typeface="Neue Montreal Bold"/>
                <a:ea typeface="Neue Montreal Bold"/>
                <a:cs typeface="Neue Montreal Bold"/>
                <a:sym typeface="Neue Montreal Bold"/>
              </a:rPr>
              <a:t>Business Intelligence</a:t>
            </a:r>
          </a:p>
          <a:p>
            <a:pPr algn="just">
              <a:lnSpc>
                <a:spcPts val="4980"/>
              </a:lnSpc>
            </a:pPr>
            <a:r>
              <a:rPr lang="en-US" sz="3557" spc="35">
                <a:solidFill>
                  <a:srgbClr val="333333"/>
                </a:solidFill>
                <a:latin typeface="Neue Montreal"/>
                <a:ea typeface="Neue Montreal"/>
                <a:cs typeface="Neue Montreal"/>
                <a:sym typeface="Neue Montreal"/>
              </a:rPr>
              <a:t>Modern bus</a:t>
            </a:r>
            <a:r>
              <a:rPr lang="en-US" sz="3557" spc="35">
                <a:solidFill>
                  <a:srgbClr val="333333"/>
                </a:solidFill>
                <a:latin typeface="Neue Montreal"/>
                <a:ea typeface="Neue Montreal"/>
                <a:cs typeface="Neue Montreal"/>
                <a:sym typeface="Neue Montreal"/>
              </a:rPr>
              <a:t>inesses increasingly depend on data-driven business intelligence rather than instinct or guesswork alone. AI an</a:t>
            </a:r>
            <a:r>
              <a:rPr lang="en-US" sz="3557" spc="35">
                <a:solidFill>
                  <a:srgbClr val="333333"/>
                </a:solidFill>
                <a:latin typeface="Neue Montreal"/>
                <a:ea typeface="Neue Montreal"/>
                <a:cs typeface="Neue Montreal"/>
                <a:sym typeface="Neue Montreal"/>
              </a:rPr>
              <a:t>d ML applications gather intelligence from a wide variety of sources, including customer support interactions and feedback, customer behavior analysis, browsing and shopping patterns, search behavior, social media activity, ongoing data-quality checks, cybersecurity threat monitoring, and automated response systems — combining all of these signals into actionable business insight.</a:t>
            </a:r>
          </a:p>
        </p:txBody>
      </p:sp>
    </p:spTree>
  </p:cSld>
  <p:clrMapOvr>
    <a:masterClrMapping/>
  </p:clrMapOvr>
</p:sld>
</file>

<file path=ppt/slides/slide72.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942380" y="2132656"/>
            <a:ext cx="16228907" cy="4376869"/>
          </a:xfrm>
          <a:prstGeom prst="rect">
            <a:avLst/>
          </a:prstGeom>
        </p:spPr>
        <p:txBody>
          <a:bodyPr anchor="t" rtlCol="false" tIns="0" lIns="0" bIns="0" rIns="0">
            <a:spAutoFit/>
          </a:bodyPr>
          <a:lstStyle/>
          <a:p>
            <a:pPr algn="just">
              <a:lnSpc>
                <a:spcPts val="4980"/>
              </a:lnSpc>
            </a:pPr>
            <a:r>
              <a:rPr lang="en-US" b="true" sz="3557" spc="35">
                <a:solidFill>
                  <a:srgbClr val="333333"/>
                </a:solidFill>
                <a:latin typeface="Neue Montreal Bold"/>
                <a:ea typeface="Neue Montreal Bold"/>
                <a:cs typeface="Neue Montreal Bold"/>
                <a:sym typeface="Neue Montreal Bold"/>
              </a:rPr>
              <a:t>Process Automation</a:t>
            </a:r>
          </a:p>
          <a:p>
            <a:pPr algn="just">
              <a:lnSpc>
                <a:spcPts val="4980"/>
              </a:lnSpc>
            </a:pPr>
            <a:r>
              <a:rPr lang="en-US" sz="3557" spc="35">
                <a:solidFill>
                  <a:srgbClr val="333333"/>
                </a:solidFill>
                <a:latin typeface="Neue Montreal"/>
                <a:ea typeface="Neue Montreal"/>
                <a:cs typeface="Neue Montreal"/>
                <a:sym typeface="Neue Montreal"/>
              </a:rPr>
              <a:t>Machine </a:t>
            </a:r>
            <a:r>
              <a:rPr lang="en-US" sz="3557" spc="35">
                <a:solidFill>
                  <a:srgbClr val="333333"/>
                </a:solidFill>
                <a:latin typeface="Neue Montreal"/>
                <a:ea typeface="Neue Montreal"/>
                <a:cs typeface="Neue Montreal"/>
                <a:sym typeface="Neue Montreal"/>
              </a:rPr>
              <a:t>learning and AI power automation across a very wide range of domains, including manufacturing (through robotics), home automation (via IoT devices and sensors), access control and physical security, customer support, virtual assistance, product-defect detection, facial and voice recognition, cybersecurity monitoring, automated maintenance, agricultural automation, automated communication systems, and driverless vehicles and unmanned aerial vehicles (UAVs).</a:t>
            </a:r>
          </a:p>
        </p:txBody>
      </p:sp>
    </p:spTree>
  </p:cSld>
  <p:clrMapOvr>
    <a:masterClrMapping/>
  </p:clrMapOvr>
</p:sld>
</file>

<file path=ppt/slides/slide73.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946958" y="1765545"/>
            <a:ext cx="16495331" cy="7258308"/>
          </a:xfrm>
          <a:prstGeom prst="rect">
            <a:avLst/>
          </a:prstGeom>
        </p:spPr>
        <p:txBody>
          <a:bodyPr anchor="t" rtlCol="false" tIns="0" lIns="0" bIns="0" rIns="0">
            <a:spAutoFit/>
          </a:bodyPr>
          <a:lstStyle/>
          <a:p>
            <a:pPr algn="l">
              <a:lnSpc>
                <a:spcPts val="4431"/>
              </a:lnSpc>
            </a:pPr>
            <a:r>
              <a:rPr lang="en-US" sz="3165" spc="31" b="true">
                <a:solidFill>
                  <a:srgbClr val="333333"/>
                </a:solidFill>
                <a:latin typeface="Neue Montreal Bold"/>
                <a:ea typeface="Neue Montreal Bold"/>
                <a:cs typeface="Neue Montreal Bold"/>
                <a:sym typeface="Neue Montreal Bold"/>
              </a:rPr>
              <a:t>Automobiles</a:t>
            </a:r>
          </a:p>
          <a:p>
            <a:pPr algn="l">
              <a:lnSpc>
                <a:spcPts val="4431"/>
              </a:lnSpc>
            </a:pPr>
            <a:r>
              <a:rPr lang="en-US" sz="3165" spc="31">
                <a:solidFill>
                  <a:srgbClr val="333333"/>
                </a:solidFill>
                <a:latin typeface="Neue Montreal"/>
                <a:ea typeface="Neue Montreal"/>
                <a:cs typeface="Neue Montreal"/>
                <a:sym typeface="Neue Montreal"/>
              </a:rPr>
              <a:t>Automob</a:t>
            </a:r>
            <a:r>
              <a:rPr lang="en-US" sz="3165" spc="31">
                <a:solidFill>
                  <a:srgbClr val="333333"/>
                </a:solidFill>
                <a:latin typeface="Neue Montreal"/>
                <a:ea typeface="Neue Montreal"/>
                <a:cs typeface="Neue Montreal"/>
                <a:sym typeface="Neue Montreal"/>
              </a:rPr>
              <a:t>iles and especially driverless (autonomous) cars rely heavily on machine</a:t>
            </a:r>
            <a:r>
              <a:rPr lang="en-US" sz="3165" spc="31">
                <a:solidFill>
                  <a:srgbClr val="333333"/>
                </a:solidFill>
                <a:latin typeface="Neue Montreal"/>
                <a:ea typeface="Neue Montreal"/>
                <a:cs typeface="Neue Montreal"/>
                <a:sym typeface="Neue Montreal"/>
              </a:rPr>
              <a:t> learning and AI to learn from real-world surroundings, captured through sensors and cameras, and to make driving decisions in a manner that approximates how a careful human driver would respond to the same conditions.</a:t>
            </a:r>
          </a:p>
          <a:p>
            <a:pPr algn="just">
              <a:lnSpc>
                <a:spcPts val="4431"/>
              </a:lnSpc>
            </a:pPr>
          </a:p>
          <a:p>
            <a:pPr algn="l">
              <a:lnSpc>
                <a:spcPts val="4431"/>
              </a:lnSpc>
            </a:pPr>
            <a:r>
              <a:rPr lang="en-US" b="true" sz="3165" spc="31">
                <a:solidFill>
                  <a:srgbClr val="333333"/>
                </a:solidFill>
                <a:latin typeface="Neue Montreal Bold"/>
                <a:ea typeface="Neue Montreal Bold"/>
                <a:cs typeface="Neue Montreal Bold"/>
                <a:sym typeface="Neue Montreal Bold"/>
              </a:rPr>
              <a:t>e-Commerce</a:t>
            </a:r>
          </a:p>
          <a:p>
            <a:pPr algn="l">
              <a:lnSpc>
                <a:spcPts val="4431"/>
              </a:lnSpc>
            </a:pPr>
            <a:r>
              <a:rPr lang="en-US" sz="3165" spc="31">
                <a:solidFill>
                  <a:srgbClr val="333333"/>
                </a:solidFill>
                <a:latin typeface="Neue Montreal"/>
                <a:ea typeface="Neue Montreal"/>
                <a:cs typeface="Neue Montreal"/>
                <a:sym typeface="Neue Montreal"/>
              </a:rPr>
              <a:t>e-Commerce, now a multi-trillion-dollar global industry, uses m</a:t>
            </a:r>
            <a:r>
              <a:rPr lang="en-US" sz="3165" spc="31">
                <a:solidFill>
                  <a:srgbClr val="333333"/>
                </a:solidFill>
                <a:latin typeface="Neue Montreal"/>
                <a:ea typeface="Neue Montreal"/>
                <a:cs typeface="Neue Montreal"/>
                <a:sym typeface="Neue Montreal"/>
              </a:rPr>
              <a:t>achine </a:t>
            </a:r>
            <a:r>
              <a:rPr lang="en-US" sz="3165" spc="31">
                <a:solidFill>
                  <a:srgbClr val="333333"/>
                </a:solidFill>
                <a:latin typeface="Neue Montreal"/>
                <a:ea typeface="Neue Montreal"/>
                <a:cs typeface="Neue Montreal"/>
                <a:sym typeface="Neue Montreal"/>
              </a:rPr>
              <a:t>learning extensively to gain deeper insight into customer behavior and interests, make the online shopping experience more engaging and personalized, apply ML techniques across retail, marketing, banking, entertainment, and automation functions, and engage more effectively with prospective customers across social and community platforms.</a:t>
            </a:r>
          </a:p>
          <a:p>
            <a:pPr algn="l">
              <a:lnSpc>
                <a:spcPts val="4431"/>
              </a:lnSpc>
            </a:pPr>
          </a:p>
        </p:txBody>
      </p:sp>
    </p:spTree>
  </p:cSld>
  <p:clrMapOvr>
    <a:masterClrMapping/>
  </p:clrMapOvr>
</p:sld>
</file>

<file path=ppt/slides/slide7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544658">
            <a:off x="3310848" y="-9099481"/>
            <a:ext cx="13448288" cy="13414668"/>
          </a:xfrm>
          <a:custGeom>
            <a:avLst/>
            <a:gdLst/>
            <a:ahLst/>
            <a:cxnLst/>
            <a:rect r="r" b="b" t="t" l="l"/>
            <a:pathLst>
              <a:path h="13414668" w="13448288">
                <a:moveTo>
                  <a:pt x="0" y="0"/>
                </a:moveTo>
                <a:lnTo>
                  <a:pt x="13448289" y="0"/>
                </a:lnTo>
                <a:lnTo>
                  <a:pt x="13448289" y="13414668"/>
                </a:lnTo>
                <a:lnTo>
                  <a:pt x="0" y="13414668"/>
                </a:lnTo>
                <a:lnTo>
                  <a:pt x="0" y="0"/>
                </a:lnTo>
                <a:close/>
              </a:path>
            </a:pathLst>
          </a:custGeom>
          <a:blipFill>
            <a:blip r:embed="rId2"/>
            <a:stretch>
              <a:fillRect l="0" t="0" r="0" b="0"/>
            </a:stretch>
          </a:blipFill>
        </p:spPr>
      </p:sp>
      <p:sp>
        <p:nvSpPr>
          <p:cNvPr name="Freeform 3" id="3"/>
          <p:cNvSpPr/>
          <p:nvPr/>
        </p:nvSpPr>
        <p:spPr>
          <a:xfrm flipH="false" flipV="false" rot="2046621">
            <a:off x="-498788" y="8055066"/>
            <a:ext cx="7762300" cy="7742895"/>
          </a:xfrm>
          <a:custGeom>
            <a:avLst/>
            <a:gdLst/>
            <a:ahLst/>
            <a:cxnLst/>
            <a:rect r="r" b="b" t="t" l="l"/>
            <a:pathLst>
              <a:path h="7742895" w="7762300">
                <a:moveTo>
                  <a:pt x="0" y="0"/>
                </a:moveTo>
                <a:lnTo>
                  <a:pt x="7762301" y="0"/>
                </a:lnTo>
                <a:lnTo>
                  <a:pt x="7762301" y="7742895"/>
                </a:lnTo>
                <a:lnTo>
                  <a:pt x="0" y="7742895"/>
                </a:lnTo>
                <a:lnTo>
                  <a:pt x="0" y="0"/>
                </a:lnTo>
                <a:close/>
              </a:path>
            </a:pathLst>
          </a:custGeom>
          <a:blipFill>
            <a:blip r:embed="rId2"/>
            <a:stretch>
              <a:fillRect l="0" t="0" r="0" b="0"/>
            </a:stretch>
          </a:blipFill>
        </p:spPr>
      </p:sp>
      <p:sp>
        <p:nvSpPr>
          <p:cNvPr name="TextBox 4" id="4"/>
          <p:cNvSpPr txBox="true"/>
          <p:nvPr/>
        </p:nvSpPr>
        <p:spPr>
          <a:xfrm rot="0">
            <a:off x="946958" y="2846687"/>
            <a:ext cx="13092627" cy="3337943"/>
          </a:xfrm>
          <a:prstGeom prst="rect">
            <a:avLst/>
          </a:prstGeom>
        </p:spPr>
        <p:txBody>
          <a:bodyPr anchor="t" rtlCol="false" tIns="0" lIns="0" bIns="0" rIns="0">
            <a:spAutoFit/>
          </a:bodyPr>
          <a:lstStyle/>
          <a:p>
            <a:pPr algn="l">
              <a:lnSpc>
                <a:spcPts val="13318"/>
              </a:lnSpc>
              <a:spcBef>
                <a:spcPct val="0"/>
              </a:spcBef>
            </a:pPr>
            <a:r>
              <a:rPr lang="en-US" b="true" sz="9512">
                <a:solidFill>
                  <a:srgbClr val="000000"/>
                </a:solidFill>
                <a:latin typeface="Neue Montreal Bold"/>
                <a:ea typeface="Neue Montreal Bold"/>
                <a:cs typeface="Neue Montreal Bold"/>
                <a:sym typeface="Neue Montreal Bold"/>
              </a:rPr>
              <a:t>MACHINE LEARNING &amp; CYBERSECURITY</a:t>
            </a:r>
          </a:p>
        </p:txBody>
      </p:sp>
      <p:sp>
        <p:nvSpPr>
          <p:cNvPr name="Freeform 5" id="5"/>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6698626" y="472575"/>
            <a:ext cx="641254" cy="484209"/>
            <a:chOff x="0" y="0"/>
            <a:chExt cx="168890" cy="127528"/>
          </a:xfrm>
        </p:grpSpPr>
        <p:sp>
          <p:nvSpPr>
            <p:cNvPr name="Freeform 7" id="7"/>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8" id="8"/>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9" id="9"/>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10" id="10"/>
          <p:cNvSpPr/>
          <p:nvPr/>
        </p:nvSpPr>
        <p:spPr>
          <a:xfrm>
            <a:off x="946958" y="8269795"/>
            <a:ext cx="14204746" cy="0"/>
          </a:xfrm>
          <a:prstGeom prst="line">
            <a:avLst/>
          </a:prstGeom>
          <a:ln cap="rnd" w="9525">
            <a:solidFill>
              <a:srgbClr val="D9D9D9"/>
            </a:solidFill>
            <a:prstDash val="solid"/>
            <a:headEnd type="none" len="sm" w="sm"/>
            <a:tailEnd type="none" len="sm" w="sm"/>
          </a:ln>
        </p:spPr>
      </p:sp>
      <p:sp>
        <p:nvSpPr>
          <p:cNvPr name="TextBox 11" id="11"/>
          <p:cNvSpPr txBox="true"/>
          <p:nvPr/>
        </p:nvSpPr>
        <p:spPr>
          <a:xfrm rot="0">
            <a:off x="1028700" y="6700609"/>
            <a:ext cx="8544934" cy="349249"/>
          </a:xfrm>
          <a:prstGeom prst="rect">
            <a:avLst/>
          </a:prstGeom>
        </p:spPr>
        <p:txBody>
          <a:bodyPr anchor="t" rtlCol="false" tIns="0" lIns="0" bIns="0" rIns="0">
            <a:spAutoFit/>
          </a:bodyPr>
          <a:lstStyle/>
          <a:p>
            <a:pPr algn="l">
              <a:lnSpc>
                <a:spcPts val="2800"/>
              </a:lnSpc>
              <a:spcBef>
                <a:spcPct val="0"/>
              </a:spcBef>
            </a:pPr>
            <a:r>
              <a:rPr lang="en-US" sz="2000" spc="20">
                <a:solidFill>
                  <a:srgbClr val="000000"/>
                </a:solidFill>
                <a:latin typeface="Neue Montreal"/>
                <a:ea typeface="Neue Montreal"/>
                <a:cs typeface="Neue Montreal"/>
                <a:sym typeface="Neue Montreal"/>
              </a:rPr>
              <a:t>Benefits, risks, and</a:t>
            </a:r>
            <a:r>
              <a:rPr lang="en-US" sz="2000" spc="20">
                <a:solidFill>
                  <a:srgbClr val="000000"/>
                </a:solidFill>
                <a:latin typeface="Neue Montreal"/>
                <a:ea typeface="Neue Montreal"/>
                <a:cs typeface="Neue Montreal"/>
                <a:sym typeface="Neue Montreal"/>
              </a:rPr>
              <a:t> operational challenges</a:t>
            </a:r>
          </a:p>
        </p:txBody>
      </p:sp>
    </p:spTree>
  </p:cSld>
  <p:clrMapOvr>
    <a:masterClrMapping/>
  </p:clrMapOvr>
</p:sld>
</file>

<file path=ppt/slides/slide75.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654495" y="1760059"/>
            <a:ext cx="14331527" cy="895800"/>
          </a:xfrm>
          <a:prstGeom prst="rect">
            <a:avLst/>
          </a:prstGeom>
        </p:spPr>
        <p:txBody>
          <a:bodyPr anchor="t" rtlCol="false" tIns="0" lIns="0" bIns="0" rIns="0">
            <a:spAutoFit/>
          </a:bodyPr>
          <a:lstStyle/>
          <a:p>
            <a:pPr algn="l">
              <a:lnSpc>
                <a:spcPts val="7220"/>
              </a:lnSpc>
            </a:pPr>
            <a:r>
              <a:rPr lang="en-US" b="true" sz="5157" spc="51">
                <a:solidFill>
                  <a:srgbClr val="333333"/>
                </a:solidFill>
                <a:latin typeface="Neue Montreal Bold"/>
                <a:ea typeface="Neue Montreal Bold"/>
                <a:cs typeface="Neue Montreal Bold"/>
                <a:sym typeface="Neue Montreal Bold"/>
              </a:rPr>
              <a:t> Impact of ML on Cybersecurity</a:t>
            </a:r>
          </a:p>
        </p:txBody>
      </p:sp>
      <p:sp>
        <p:nvSpPr>
          <p:cNvPr name="TextBox 8" id="8"/>
          <p:cNvSpPr txBox="true"/>
          <p:nvPr/>
        </p:nvSpPr>
        <p:spPr>
          <a:xfrm rot="0">
            <a:off x="1554528" y="2975899"/>
            <a:ext cx="14331527" cy="3119569"/>
          </a:xfrm>
          <a:prstGeom prst="rect">
            <a:avLst/>
          </a:prstGeom>
        </p:spPr>
        <p:txBody>
          <a:bodyPr anchor="t" rtlCol="false" tIns="0" lIns="0" bIns="0" rIns="0">
            <a:spAutoFit/>
          </a:bodyPr>
          <a:lstStyle/>
          <a:p>
            <a:pPr algn="just">
              <a:lnSpc>
                <a:spcPts val="4980"/>
              </a:lnSpc>
            </a:pPr>
            <a:r>
              <a:rPr lang="en-US" sz="3557" spc="35">
                <a:solidFill>
                  <a:srgbClr val="333333"/>
                </a:solidFill>
                <a:latin typeface="Neue Montreal"/>
                <a:ea typeface="Neue Montreal"/>
                <a:cs typeface="Neue Montreal"/>
                <a:sym typeface="Neue Montreal"/>
              </a:rPr>
              <a:t>Machine learning's impact on cybersecur</a:t>
            </a:r>
            <a:r>
              <a:rPr lang="en-US" sz="3557" spc="35">
                <a:solidFill>
                  <a:srgbClr val="333333"/>
                </a:solidFill>
                <a:latin typeface="Neue Montreal"/>
                <a:ea typeface="Neue Montreal"/>
                <a:cs typeface="Neue Montreal"/>
                <a:sym typeface="Neue Montreal"/>
              </a:rPr>
              <a:t>ity cuts both ways: the same underlying capabilities that make ML powerful for defenders can also be exploited by attackers, making this one of the more nuanced and important topics in the field of applied AI.</a:t>
            </a:r>
          </a:p>
          <a:p>
            <a:pPr algn="just">
              <a:lnSpc>
                <a:spcPts val="4980"/>
              </a:lnSpc>
            </a:pPr>
          </a:p>
        </p:txBody>
      </p:sp>
    </p:spTree>
  </p:cSld>
  <p:clrMapOvr>
    <a:masterClrMapping/>
  </p:clrMapOvr>
</p:sld>
</file>

<file path=ppt/slides/slide76.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28700" y="1555115"/>
            <a:ext cx="15990553" cy="4786913"/>
          </a:xfrm>
          <a:prstGeom prst="rect">
            <a:avLst/>
          </a:prstGeom>
        </p:spPr>
        <p:txBody>
          <a:bodyPr anchor="t" rtlCol="false" tIns="0" lIns="0" bIns="0" rIns="0">
            <a:spAutoFit/>
          </a:bodyPr>
          <a:lstStyle/>
          <a:p>
            <a:pPr algn="just">
              <a:lnSpc>
                <a:spcPts val="4258"/>
              </a:lnSpc>
            </a:pPr>
            <a:r>
              <a:rPr lang="en-US" b="true" sz="3041" spc="30">
                <a:solidFill>
                  <a:srgbClr val="333333"/>
                </a:solidFill>
                <a:latin typeface="Neue Montreal Bold"/>
                <a:ea typeface="Neue Montreal Bold"/>
                <a:cs typeface="Neue Montreal Bold"/>
                <a:sym typeface="Neue Montreal Bold"/>
              </a:rPr>
              <a:t>Positive Impact</a:t>
            </a:r>
          </a:p>
          <a:p>
            <a:pPr algn="just">
              <a:lnSpc>
                <a:spcPts val="4258"/>
              </a:lnSpc>
            </a:pPr>
            <a:r>
              <a:rPr lang="en-US" sz="3041" spc="30">
                <a:solidFill>
                  <a:srgbClr val="333333"/>
                </a:solidFill>
                <a:latin typeface="Neue Montreal"/>
                <a:ea typeface="Neue Montreal"/>
                <a:cs typeface="Neue Montreal"/>
                <a:sym typeface="Neue Montreal"/>
              </a:rPr>
              <a:t>Machine learning enables security systems to automatically analyze, detect, and respond to emerging threats, delivering a range of concrete benefits for organizations:</a:t>
            </a:r>
          </a:p>
          <a:p>
            <a:pPr algn="just">
              <a:lnSpc>
                <a:spcPts val="4258"/>
              </a:lnSpc>
            </a:pPr>
          </a:p>
          <a:p>
            <a:pPr algn="just">
              <a:lnSpc>
                <a:spcPts val="4258"/>
              </a:lnSpc>
            </a:pPr>
            <a:r>
              <a:rPr lang="en-US" sz="3041" spc="30">
                <a:solidFill>
                  <a:srgbClr val="333333"/>
                </a:solidFill>
                <a:latin typeface="Neue Montreal"/>
                <a:ea typeface="Neue Montreal"/>
                <a:cs typeface="Neue Montreal"/>
                <a:sym typeface="Neue Montreal"/>
              </a:rPr>
              <a:t>• More effective, reliable, and efficient secur</a:t>
            </a:r>
            <a:r>
              <a:rPr lang="en-US" sz="3041" spc="30">
                <a:solidFill>
                  <a:srgbClr val="333333"/>
                </a:solidFill>
                <a:latin typeface="Neue Montreal"/>
                <a:ea typeface="Neue Montreal"/>
                <a:cs typeface="Neue Montreal"/>
                <a:sym typeface="Neue Montreal"/>
              </a:rPr>
              <a:t>ity achieved at relatively low investment, through analytic, detective, scanning, monitoring, and reporting capabilities that would be far more costly to replicate manually</a:t>
            </a:r>
          </a:p>
          <a:p>
            <a:pPr algn="just">
              <a:lnSpc>
                <a:spcPts val="4258"/>
              </a:lnSpc>
            </a:pPr>
            <a:r>
              <a:rPr lang="en-US" sz="3041" spc="30">
                <a:solidFill>
                  <a:srgbClr val="333333"/>
                </a:solidFill>
                <a:latin typeface="Neue Montreal"/>
                <a:ea typeface="Neue Montreal"/>
                <a:cs typeface="Neue Montreal"/>
                <a:sym typeface="Neue Montreal"/>
              </a:rPr>
              <a:t>• Enhanced threat intelligence analyzing threat patterns, sources, frequency, and objectives with fewer false positives than traditional rule-based systems</a:t>
            </a:r>
          </a:p>
        </p:txBody>
      </p:sp>
    </p:spTree>
  </p:cSld>
  <p:clrMapOvr>
    <a:masterClrMapping/>
  </p:clrMapOvr>
</p:sld>
</file>

<file path=ppt/slides/slide77.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948120" y="1716233"/>
            <a:ext cx="16311180" cy="7542067"/>
          </a:xfrm>
          <a:prstGeom prst="rect">
            <a:avLst/>
          </a:prstGeom>
        </p:spPr>
        <p:txBody>
          <a:bodyPr anchor="t" rtlCol="false" tIns="0" lIns="0" bIns="0" rIns="0">
            <a:spAutoFit/>
          </a:bodyPr>
          <a:lstStyle/>
          <a:p>
            <a:pPr algn="just">
              <a:lnSpc>
                <a:spcPts val="4309"/>
              </a:lnSpc>
            </a:pPr>
            <a:r>
              <a:rPr lang="en-US" sz="3078" spc="30">
                <a:solidFill>
                  <a:srgbClr val="333333"/>
                </a:solidFill>
                <a:latin typeface="Neue Montreal"/>
                <a:ea typeface="Neue Montreal"/>
                <a:cs typeface="Neue Montreal"/>
                <a:sym typeface="Neue Montreal"/>
              </a:rPr>
              <a:t>• Faster detection of emerging threats, enabling security teams to take timely action before damage can spread across a network</a:t>
            </a:r>
          </a:p>
          <a:p>
            <a:pPr algn="just">
              <a:lnSpc>
                <a:spcPts val="4309"/>
              </a:lnSpc>
            </a:pPr>
            <a:r>
              <a:rPr lang="en-US" sz="3078" spc="30">
                <a:solidFill>
                  <a:srgbClr val="333333"/>
                </a:solidFill>
                <a:latin typeface="Neue Montreal"/>
                <a:ea typeface="Neue Montreal"/>
                <a:cs typeface="Neue Montreal"/>
                <a:sym typeface="Neue Montreal"/>
              </a:rPr>
              <a:t>• Deeper monitoring of weak points and device vulnerabilities, informing more effective preemptive action</a:t>
            </a:r>
          </a:p>
          <a:p>
            <a:pPr algn="just">
              <a:lnSpc>
                <a:spcPts val="4309"/>
              </a:lnSpc>
            </a:pPr>
            <a:r>
              <a:rPr lang="en-US" sz="3078" spc="30">
                <a:solidFill>
                  <a:srgbClr val="333333"/>
                </a:solidFill>
                <a:latin typeface="Neue Montreal"/>
                <a:ea typeface="Neue Montreal"/>
                <a:cs typeface="Neue Montreal"/>
                <a:sym typeface="Neue Montreal"/>
              </a:rPr>
              <a:t>• Real-time tracking of emerging threats as they evolve, rather than relying solely on periodic manual review</a:t>
            </a:r>
          </a:p>
          <a:p>
            <a:pPr algn="just">
              <a:lnSpc>
                <a:spcPts val="4309"/>
              </a:lnSpc>
            </a:pPr>
            <a:r>
              <a:rPr lang="en-US" sz="3078" spc="30">
                <a:solidFill>
                  <a:srgbClr val="333333"/>
                </a:solidFill>
                <a:latin typeface="Neue Montreal"/>
                <a:ea typeface="Neue Montreal"/>
                <a:cs typeface="Neue Montreal"/>
                <a:sym typeface="Neue Montreal"/>
              </a:rPr>
              <a:t>• Faster scanning, analysis, and threat-hunting capability compared to purely manual security operations</a:t>
            </a:r>
          </a:p>
          <a:p>
            <a:pPr algn="just">
              <a:lnSpc>
                <a:spcPts val="4309"/>
              </a:lnSpc>
            </a:pPr>
            <a:r>
              <a:rPr lang="en-US" sz="3078" spc="30">
                <a:solidFill>
                  <a:srgbClr val="333333"/>
                </a:solidFill>
                <a:latin typeface="Neue Montreal"/>
                <a:ea typeface="Neue Montreal"/>
                <a:cs typeface="Neue Montreal"/>
                <a:sym typeface="Neue Montreal"/>
              </a:rPr>
              <a:t>• User and Event Behavioral Analytics (UEBA) defining security policy based on established behavioral baselines for normal users, servers, and network elements, making it easier to spot deviations</a:t>
            </a:r>
          </a:p>
          <a:p>
            <a:pPr algn="just">
              <a:lnSpc>
                <a:spcPts val="4309"/>
              </a:lnSpc>
            </a:pPr>
            <a:r>
              <a:rPr lang="en-US" sz="3078" spc="30">
                <a:solidFill>
                  <a:srgbClr val="333333"/>
                </a:solidFill>
                <a:latin typeface="Neue Montreal"/>
                <a:ea typeface="Neue Montreal"/>
                <a:cs typeface="Neue Montreal"/>
                <a:sym typeface="Neue Montreal"/>
              </a:rPr>
              <a:t>• Traffic-pattern analysis capable of catching threats before they are able to reach their intended target</a:t>
            </a:r>
          </a:p>
          <a:p>
            <a:pPr algn="just">
              <a:lnSpc>
                <a:spcPts val="4309"/>
              </a:lnSpc>
            </a:pPr>
            <a:r>
              <a:rPr lang="en-US" sz="3078" spc="30">
                <a:solidFill>
                  <a:srgbClr val="333333"/>
                </a:solidFill>
                <a:latin typeface="Neue Montreal"/>
                <a:ea typeface="Neue Montreal"/>
                <a:cs typeface="Neue Montreal"/>
                <a:sym typeface="Neue Montreal"/>
              </a:rPr>
              <a:t>• Continuous monitoring for anomalies measured against a predefined security policy</a:t>
            </a:r>
          </a:p>
        </p:txBody>
      </p:sp>
    </p:spTree>
  </p:cSld>
  <p:clrMapOvr>
    <a:masterClrMapping/>
  </p:clrMapOvr>
</p:sld>
</file>

<file path=ppt/slides/slide78.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698626" y="472575"/>
            <a:ext cx="641254" cy="484209"/>
            <a:chOff x="0" y="0"/>
            <a:chExt cx="168890" cy="127528"/>
          </a:xfrm>
        </p:grpSpPr>
        <p:sp>
          <p:nvSpPr>
            <p:cNvPr name="Freeform 4" id="4"/>
            <p:cNvSpPr/>
            <p:nvPr/>
          </p:nvSpPr>
          <p:spPr>
            <a:xfrm flipH="false" flipV="false" rot="0">
              <a:off x="0" y="0"/>
              <a:ext cx="168890" cy="127528"/>
            </a:xfrm>
            <a:custGeom>
              <a:avLst/>
              <a:gdLst/>
              <a:ahLst/>
              <a:cxnLst/>
              <a:rect r="r" b="b" t="t" l="l"/>
              <a:pathLst>
                <a:path h="127528" w="168890">
                  <a:moveTo>
                    <a:pt x="63764" y="0"/>
                  </a:moveTo>
                  <a:lnTo>
                    <a:pt x="105126" y="0"/>
                  </a:lnTo>
                  <a:cubicBezTo>
                    <a:pt x="122037" y="0"/>
                    <a:pt x="138256" y="6718"/>
                    <a:pt x="150214" y="18676"/>
                  </a:cubicBezTo>
                  <a:cubicBezTo>
                    <a:pt x="162172" y="30634"/>
                    <a:pt x="168890" y="46853"/>
                    <a:pt x="168890" y="63764"/>
                  </a:cubicBezTo>
                  <a:lnTo>
                    <a:pt x="168890" y="63764"/>
                  </a:lnTo>
                  <a:cubicBezTo>
                    <a:pt x="168890" y="80675"/>
                    <a:pt x="162172" y="96894"/>
                    <a:pt x="150214" y="108852"/>
                  </a:cubicBezTo>
                  <a:cubicBezTo>
                    <a:pt x="138256" y="120810"/>
                    <a:pt x="122037" y="127528"/>
                    <a:pt x="105126" y="127528"/>
                  </a:cubicBezTo>
                  <a:lnTo>
                    <a:pt x="63764" y="127528"/>
                  </a:lnTo>
                  <a:cubicBezTo>
                    <a:pt x="46853" y="127528"/>
                    <a:pt x="30634" y="120810"/>
                    <a:pt x="18676" y="108852"/>
                  </a:cubicBezTo>
                  <a:cubicBezTo>
                    <a:pt x="6718" y="96894"/>
                    <a:pt x="0" y="80675"/>
                    <a:pt x="0" y="63764"/>
                  </a:cubicBezTo>
                  <a:lnTo>
                    <a:pt x="0" y="63764"/>
                  </a:lnTo>
                  <a:cubicBezTo>
                    <a:pt x="0" y="46853"/>
                    <a:pt x="6718" y="30634"/>
                    <a:pt x="18676" y="18676"/>
                  </a:cubicBezTo>
                  <a:cubicBezTo>
                    <a:pt x="30634" y="6718"/>
                    <a:pt x="46853" y="0"/>
                    <a:pt x="63764" y="0"/>
                  </a:cubicBezTo>
                  <a:close/>
                </a:path>
              </a:pathLst>
            </a:custGeom>
            <a:solidFill>
              <a:srgbClr val="0077FC"/>
            </a:solidFill>
            <a:ln cap="rnd">
              <a:noFill/>
              <a:prstDash val="solid"/>
              <a:round/>
            </a:ln>
          </p:spPr>
        </p:sp>
        <p:sp>
          <p:nvSpPr>
            <p:cNvPr name="TextBox 5" id="5"/>
            <p:cNvSpPr txBox="true"/>
            <p:nvPr/>
          </p:nvSpPr>
          <p:spPr>
            <a:xfrm>
              <a:off x="0" y="-38100"/>
              <a:ext cx="168890" cy="16562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110364" y="1758414"/>
            <a:ext cx="15766432" cy="6509712"/>
          </a:xfrm>
          <a:prstGeom prst="rect">
            <a:avLst/>
          </a:prstGeom>
        </p:spPr>
        <p:txBody>
          <a:bodyPr anchor="t" rtlCol="false" tIns="0" lIns="0" bIns="0" rIns="0">
            <a:spAutoFit/>
          </a:bodyPr>
          <a:lstStyle/>
          <a:p>
            <a:pPr algn="just">
              <a:lnSpc>
                <a:spcPts val="4003"/>
              </a:lnSpc>
            </a:pPr>
            <a:r>
              <a:rPr lang="en-US" b="true" sz="2859" spc="28">
                <a:solidFill>
                  <a:srgbClr val="333333"/>
                </a:solidFill>
                <a:latin typeface="Neue Montreal Bold"/>
                <a:ea typeface="Neue Montreal Bold"/>
                <a:cs typeface="Neue Montreal Bold"/>
                <a:sym typeface="Neue Montreal Bold"/>
              </a:rPr>
              <a:t>Negative Impact</a:t>
            </a:r>
          </a:p>
          <a:p>
            <a:pPr algn="just">
              <a:lnSpc>
                <a:spcPts val="4003"/>
              </a:lnSpc>
            </a:pPr>
            <a:r>
              <a:rPr lang="en-US" sz="2859" spc="28">
                <a:solidFill>
                  <a:srgbClr val="333333"/>
                </a:solidFill>
                <a:latin typeface="Neue Montreal"/>
                <a:ea typeface="Neue Montreal"/>
                <a:cs typeface="Neue Montreal"/>
                <a:sym typeface="Neue Montreal"/>
              </a:rPr>
              <a:t>T</a:t>
            </a:r>
            <a:r>
              <a:rPr lang="en-US" sz="2859" spc="28">
                <a:solidFill>
                  <a:srgbClr val="333333"/>
                </a:solidFill>
                <a:latin typeface="Neue Montreal"/>
                <a:ea typeface="Neue Montreal"/>
                <a:cs typeface="Neue Montreal"/>
                <a:sym typeface="Neue Montreal"/>
              </a:rPr>
              <a:t>he most significant negative impact of machine learning on cybersecurity is the malicious use of ML by at</a:t>
            </a:r>
            <a:r>
              <a:rPr lang="en-US" sz="2859" spc="28">
                <a:solidFill>
                  <a:srgbClr val="333333"/>
                </a:solidFill>
                <a:latin typeface="Neue Montreal"/>
                <a:ea typeface="Neue Montreal"/>
                <a:cs typeface="Neue Montreal"/>
                <a:sym typeface="Neue Montreal"/>
              </a:rPr>
              <a:t>tackers themselves, who can use the same techniques to design more sophisticated, harder-to-detect cyberattacks. Beyond this core risk, several other downsides are largely commercial or operational in nature:</a:t>
            </a:r>
          </a:p>
          <a:p>
            <a:pPr algn="just">
              <a:lnSpc>
                <a:spcPts val="4003"/>
              </a:lnSpc>
            </a:pPr>
          </a:p>
          <a:p>
            <a:pPr algn="just">
              <a:lnSpc>
                <a:spcPts val="4003"/>
              </a:lnSpc>
            </a:pPr>
            <a:r>
              <a:rPr lang="en-US" sz="2859" spc="28">
                <a:solidFill>
                  <a:srgbClr val="333333"/>
                </a:solidFill>
                <a:latin typeface="Neue Montreal"/>
                <a:ea typeface="Neue Montreal"/>
                <a:cs typeface="Neue Montreal"/>
                <a:sym typeface="Neue Montreal"/>
              </a:rPr>
              <a:t>• The direct cost of acquiring and maintaining machine learning resources and specialized security tools</a:t>
            </a:r>
          </a:p>
          <a:p>
            <a:pPr algn="just">
              <a:lnSpc>
                <a:spcPts val="4003"/>
              </a:lnSpc>
            </a:pPr>
            <a:r>
              <a:rPr lang="en-US" sz="2859" spc="28">
                <a:solidFill>
                  <a:srgbClr val="333333"/>
                </a:solidFill>
                <a:latin typeface="Neue Montreal"/>
                <a:ea typeface="Neue Montreal"/>
                <a:cs typeface="Neue Montreal"/>
                <a:sym typeface="Neue Montreal"/>
              </a:rPr>
              <a:t>• The ongoing need to continuously train security personnel on new datasets and evolving tools</a:t>
            </a:r>
          </a:p>
          <a:p>
            <a:pPr algn="just">
              <a:lnSpc>
                <a:spcPts val="4003"/>
              </a:lnSpc>
            </a:pPr>
            <a:r>
              <a:rPr lang="en-US" sz="2859" spc="28">
                <a:solidFill>
                  <a:srgbClr val="333333"/>
                </a:solidFill>
                <a:latin typeface="Neue Montreal"/>
                <a:ea typeface="Neue Montreal"/>
                <a:cs typeface="Neue Montreal"/>
                <a:sym typeface="Neue Montreal"/>
              </a:rPr>
              <a:t>• The continuous work required to update and manage ML-powered security tools as threats and technology both evolve</a:t>
            </a:r>
          </a:p>
          <a:p>
            <a:pPr algn="just">
              <a:lnSpc>
                <a:spcPts val="4003"/>
              </a:lnSpc>
            </a:pPr>
            <a:r>
              <a:rPr lang="en-US" sz="2859" spc="28">
                <a:solidFill>
                  <a:srgbClr val="333333"/>
                </a:solidFill>
                <a:latin typeface="Neue Montreal"/>
                <a:ea typeface="Neue Montreal"/>
                <a:cs typeface="Neue Montreal"/>
                <a:sym typeface="Neue Montreal"/>
              </a:rPr>
              <a:t>• The challenge of managing data integrity and privacy while processing very large volumes of sensitive data within an ML-powered cybersecurity environment</a:t>
            </a:r>
          </a:p>
          <a:p>
            <a:pPr algn="just">
              <a:lnSpc>
                <a:spcPts val="4003"/>
              </a:lnSpc>
            </a:pPr>
          </a:p>
        </p:txBody>
      </p:sp>
    </p:spTree>
  </p:cSld>
  <p:clrMapOvr>
    <a:masterClrMapping/>
  </p:clrMapOvr>
</p:sld>
</file>

<file path=ppt/slides/slide7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6027287"/>
            <a:chOff x="0" y="0"/>
            <a:chExt cx="2833290" cy="933784"/>
          </a:xfrm>
        </p:grpSpPr>
        <p:sp>
          <p:nvSpPr>
            <p:cNvPr name="Freeform 3" id="3"/>
            <p:cNvSpPr/>
            <p:nvPr/>
          </p:nvSpPr>
          <p:spPr>
            <a:xfrm flipH="false" flipV="false" rot="0">
              <a:off x="0" y="0"/>
              <a:ext cx="2833290" cy="933784"/>
            </a:xfrm>
            <a:custGeom>
              <a:avLst/>
              <a:gdLst/>
              <a:ahLst/>
              <a:cxnLst/>
              <a:rect r="r" b="b" t="t" l="l"/>
              <a:pathLst>
                <a:path h="933784" w="2833290">
                  <a:moveTo>
                    <a:pt x="0" y="0"/>
                  </a:moveTo>
                  <a:lnTo>
                    <a:pt x="2833290" y="0"/>
                  </a:lnTo>
                  <a:lnTo>
                    <a:pt x="2833290" y="933784"/>
                  </a:lnTo>
                  <a:lnTo>
                    <a:pt x="0" y="933784"/>
                  </a:lnTo>
                  <a:close/>
                </a:path>
              </a:pathLst>
            </a:custGeom>
            <a:blipFill>
              <a:blip r:embed="rId2"/>
              <a:stretch>
                <a:fillRect l="0" t="-38289" r="0" b="-61967"/>
              </a:stretch>
            </a:blipFill>
          </p:spPr>
        </p:sp>
      </p:grpSp>
      <p:sp>
        <p:nvSpPr>
          <p:cNvPr name="Freeform 4" id="4"/>
          <p:cNvSpPr/>
          <p:nvPr/>
        </p:nvSpPr>
        <p:spPr>
          <a:xfrm flipH="false" flipV="false" rot="0">
            <a:off x="510898" y="386216"/>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52375" y="5759074"/>
            <a:ext cx="2188176" cy="568479"/>
            <a:chOff x="0" y="0"/>
            <a:chExt cx="576310" cy="149723"/>
          </a:xfrm>
        </p:grpSpPr>
        <p:sp>
          <p:nvSpPr>
            <p:cNvPr name="Freeform 6" id="6"/>
            <p:cNvSpPr/>
            <p:nvPr/>
          </p:nvSpPr>
          <p:spPr>
            <a:xfrm flipH="false" flipV="false" rot="0">
              <a:off x="0" y="0"/>
              <a:ext cx="576310" cy="149723"/>
            </a:xfrm>
            <a:custGeom>
              <a:avLst/>
              <a:gdLst/>
              <a:ahLst/>
              <a:cxnLst/>
              <a:rect r="r" b="b" t="t" l="l"/>
              <a:pathLst>
                <a:path h="149723" w="576310">
                  <a:moveTo>
                    <a:pt x="74861" y="0"/>
                  </a:moveTo>
                  <a:lnTo>
                    <a:pt x="501448" y="0"/>
                  </a:lnTo>
                  <a:cubicBezTo>
                    <a:pt x="521303" y="0"/>
                    <a:pt x="540344" y="7887"/>
                    <a:pt x="554383" y="21926"/>
                  </a:cubicBezTo>
                  <a:cubicBezTo>
                    <a:pt x="568423" y="35966"/>
                    <a:pt x="576310" y="55007"/>
                    <a:pt x="576310" y="74861"/>
                  </a:cubicBezTo>
                  <a:lnTo>
                    <a:pt x="576310" y="74861"/>
                  </a:lnTo>
                  <a:cubicBezTo>
                    <a:pt x="576310" y="94716"/>
                    <a:pt x="568423" y="113757"/>
                    <a:pt x="554383" y="127797"/>
                  </a:cubicBezTo>
                  <a:cubicBezTo>
                    <a:pt x="540344" y="141836"/>
                    <a:pt x="521303" y="149723"/>
                    <a:pt x="501448" y="149723"/>
                  </a:cubicBezTo>
                  <a:lnTo>
                    <a:pt x="74861" y="149723"/>
                  </a:lnTo>
                  <a:cubicBezTo>
                    <a:pt x="55007" y="149723"/>
                    <a:pt x="35966" y="141836"/>
                    <a:pt x="21926" y="127797"/>
                  </a:cubicBezTo>
                  <a:cubicBezTo>
                    <a:pt x="7887" y="113757"/>
                    <a:pt x="0" y="94716"/>
                    <a:pt x="0" y="74861"/>
                  </a:cubicBezTo>
                  <a:lnTo>
                    <a:pt x="0" y="74861"/>
                  </a:lnTo>
                  <a:cubicBezTo>
                    <a:pt x="0" y="55007"/>
                    <a:pt x="7887" y="35966"/>
                    <a:pt x="21926" y="21926"/>
                  </a:cubicBezTo>
                  <a:cubicBezTo>
                    <a:pt x="35966" y="7887"/>
                    <a:pt x="55007" y="0"/>
                    <a:pt x="74861" y="0"/>
                  </a:cubicBezTo>
                  <a:close/>
                </a:path>
              </a:pathLst>
            </a:custGeom>
            <a:solidFill>
              <a:srgbClr val="0077FC"/>
            </a:solidFill>
            <a:ln cap="rnd">
              <a:noFill/>
              <a:prstDash val="solid"/>
              <a:round/>
            </a:ln>
          </p:spPr>
        </p:sp>
        <p:sp>
          <p:nvSpPr>
            <p:cNvPr name="TextBox 7" id="7"/>
            <p:cNvSpPr txBox="true"/>
            <p:nvPr/>
          </p:nvSpPr>
          <p:spPr>
            <a:xfrm>
              <a:off x="0" y="-38100"/>
              <a:ext cx="576310" cy="187823"/>
            </a:xfrm>
            <a:prstGeom prst="rect">
              <a:avLst/>
            </a:prstGeom>
          </p:spPr>
          <p:txBody>
            <a:bodyPr anchor="ctr" rtlCol="false" tIns="50800" lIns="50800" bIns="50800" rIns="50800"/>
            <a:lstStyle/>
            <a:p>
              <a:pPr algn="ctr">
                <a:lnSpc>
                  <a:spcPts val="2520"/>
                </a:lnSpc>
              </a:pPr>
              <a:r>
                <a:rPr lang="en-US" b="true" sz="1800" spc="18">
                  <a:solidFill>
                    <a:srgbClr val="FFFFFF"/>
                  </a:solidFill>
                  <a:latin typeface="Neue Montreal Bold"/>
                  <a:ea typeface="Neue Montreal Bold"/>
                  <a:cs typeface="Neue Montreal Bold"/>
                  <a:sym typeface="Neue Montreal Bold"/>
                </a:rPr>
                <a:t>&lt;3</a:t>
              </a:r>
            </a:p>
          </p:txBody>
        </p:sp>
      </p:grpSp>
      <p:sp>
        <p:nvSpPr>
          <p:cNvPr name="TextBox 8" id="8"/>
          <p:cNvSpPr txBox="true"/>
          <p:nvPr/>
        </p:nvSpPr>
        <p:spPr>
          <a:xfrm rot="0">
            <a:off x="3620684" y="7456708"/>
            <a:ext cx="11046633" cy="1546242"/>
          </a:xfrm>
          <a:prstGeom prst="rect">
            <a:avLst/>
          </a:prstGeom>
        </p:spPr>
        <p:txBody>
          <a:bodyPr anchor="t" rtlCol="false" tIns="0" lIns="0" bIns="0" rIns="0">
            <a:spAutoFit/>
          </a:bodyPr>
          <a:lstStyle/>
          <a:p>
            <a:pPr algn="ctr">
              <a:lnSpc>
                <a:spcPts val="11703"/>
              </a:lnSpc>
            </a:pPr>
            <a:r>
              <a:rPr lang="en-US" sz="11145" b="true">
                <a:solidFill>
                  <a:srgbClr val="000000"/>
                </a:solidFill>
                <a:latin typeface="Neue Montreal Medium"/>
                <a:ea typeface="Neue Montreal Medium"/>
                <a:cs typeface="Neue Montreal Medium"/>
                <a:sym typeface="Neue Montreal Medium"/>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DAHVFwHRHcE</dc:identifier>
  <dcterms:modified xsi:type="dcterms:W3CDTF">2011-08-01T06:04:30Z</dcterms:modified>
  <cp:revision>1</cp:revision>
  <dc:title>Artificial Intelligence &amp; Machine Learning</dc:title>
</cp:coreProperties>
</file>